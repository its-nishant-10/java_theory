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handoutMasterIdLst>
    <p:handoutMasterId r:id="rId46"/>
  </p:handoutMasterIdLst>
  <p:sldIdLst>
    <p:sldId id="258" r:id="rId3"/>
    <p:sldId id="260" r:id="rId4"/>
    <p:sldId id="261" r:id="rId5"/>
    <p:sldId id="262" r:id="rId6"/>
    <p:sldId id="263" r:id="rId7"/>
    <p:sldId id="264" r:id="rId8"/>
    <p:sldId id="350" r:id="rId9"/>
    <p:sldId id="351" r:id="rId10"/>
    <p:sldId id="352" r:id="rId11"/>
    <p:sldId id="353" r:id="rId12"/>
    <p:sldId id="355" r:id="rId13"/>
    <p:sldId id="356" r:id="rId14"/>
    <p:sldId id="357" r:id="rId15"/>
    <p:sldId id="358" r:id="rId16"/>
    <p:sldId id="359" r:id="rId17"/>
    <p:sldId id="360" r:id="rId18"/>
    <p:sldId id="361" r:id="rId19"/>
    <p:sldId id="362" r:id="rId20"/>
    <p:sldId id="363" r:id="rId21"/>
    <p:sldId id="364" r:id="rId22"/>
    <p:sldId id="365" r:id="rId23"/>
    <p:sldId id="366" r:id="rId24"/>
    <p:sldId id="367" r:id="rId25"/>
    <p:sldId id="368" r:id="rId26"/>
    <p:sldId id="369" r:id="rId27"/>
    <p:sldId id="370" r:id="rId28"/>
    <p:sldId id="371" r:id="rId29"/>
    <p:sldId id="372" r:id="rId30"/>
    <p:sldId id="373" r:id="rId31"/>
    <p:sldId id="374" r:id="rId32"/>
    <p:sldId id="375" r:id="rId33"/>
    <p:sldId id="376" r:id="rId34"/>
    <p:sldId id="377" r:id="rId35"/>
    <p:sldId id="259" r:id="rId36"/>
    <p:sldId id="378" r:id="rId37"/>
    <p:sldId id="379" r:id="rId38"/>
    <p:sldId id="381" r:id="rId39"/>
    <p:sldId id="383" r:id="rId40"/>
    <p:sldId id="384" r:id="rId41"/>
    <p:sldId id="385" r:id="rId42"/>
    <p:sldId id="386" r:id="rId43"/>
    <p:sldId id="387" r:id="rId44"/>
    <p:sldId id="388" r:id="rId45"/>
  </p:sldIdLst>
  <p:sldSz cx="9144000" cy="6858000" type="screen4x3"/>
  <p:notesSz cx="6858000" cy="9144000"/>
  <p:defaultTextStyle>
    <a:defPPr>
      <a:defRPr lang="en-US"/>
    </a:defPPr>
    <a:lvl1pPr marL="0" lvl="0"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sz="2400" b="0" i="0" u="none" kern="1200" baseline="0">
        <a:solidFill>
          <a:schemeClr val="tx1"/>
        </a:solidFill>
        <a:latin typeface="Arial" panose="020B060402020202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3300"/>
    <a:srgbClr val="FFCC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9654"/>
    <p:restoredTop sz="94660"/>
  </p:normalViewPr>
  <p:slideViewPr>
    <p:cSldViewPr showGuides="1">
      <p:cViewPr varScale="1">
        <p:scale>
          <a:sx n="69" d="100"/>
          <a:sy n="69" d="100"/>
        </p:scale>
        <p:origin x="-1412" y="-68"/>
      </p:cViewPr>
      <p:guideLst>
        <p:guide orient="horz" pos="2180"/>
        <p:guide pos="2904"/>
      </p:guideLst>
    </p:cSldViewPr>
  </p:slideViewPr>
  <p:outlineViewPr>
    <p:cViewPr>
      <p:scale>
        <a:sx n="33" d="100"/>
        <a:sy n="33" d="100"/>
      </p:scale>
      <p:origin x="0" y="120"/>
    </p:cViewPr>
  </p:outlineViewPr>
  <p:notesTextViewPr>
    <p:cViewPr>
      <p:scale>
        <a:sx n="100" d="100"/>
        <a:sy n="100" d="100"/>
      </p:scale>
      <p:origin x="0" y="0"/>
    </p:cViewPr>
  </p:notesTextViewPr>
  <p:sorterViewPr showFormatting="0">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9" Type="http://schemas.openxmlformats.org/officeDocument/2006/relationships/tableStyles" Target="tableStyles.xml"/><Relationship Id="rId48" Type="http://schemas.openxmlformats.org/officeDocument/2006/relationships/viewProps" Target="viewProps.xml"/><Relationship Id="rId47" Type="http://schemas.openxmlformats.org/officeDocument/2006/relationships/presProps" Target="presProps.xml"/><Relationship Id="rId46" Type="http://schemas.openxmlformats.org/officeDocument/2006/relationships/handoutMaster" Target="handoutMasters/handoutMaster1.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41986"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7" name="Rectangle 3"/>
          <p:cNvSpPr>
            <a:spLocks noGrp="1" noChangeArrowheads="1"/>
          </p:cNvSpPr>
          <p:nvPr>
            <p:ph type="dt" sz="quarter" idx="1"/>
          </p:nvPr>
        </p:nvSpPr>
        <p:spPr bwMode="auto">
          <a:xfrm>
            <a:off x="3886200"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8" name="Rectangle 4"/>
          <p:cNvSpPr>
            <a:spLocks noGrp="1" noChangeArrowheads="1"/>
          </p:cNvSpPr>
          <p:nvPr>
            <p:ph type="ftr" sz="quarter" idx="2"/>
          </p:nvPr>
        </p:nvSpPr>
        <p:spPr bwMode="auto">
          <a:xfrm>
            <a:off x="0" y="8686800"/>
            <a:ext cx="2971800" cy="457200"/>
          </a:xfrm>
          <a:prstGeom prst="rect">
            <a:avLst/>
          </a:prstGeom>
          <a:noFill/>
          <a:ln w="9525">
            <a:noFill/>
            <a:miter lim="800000"/>
          </a:ln>
          <a:effectLst/>
        </p:spPr>
        <p:txBody>
          <a:bodyPr vert="horz" wrap="square" lIns="91440" tIns="45720" rIns="91440" bIns="45720" numCol="1" anchor="b" anchorCtr="0" compatLnSpc="1"/>
          <a:lstStyle>
            <a:lvl1pPr>
              <a:defRPr sz="1200"/>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1989" name="Rectangle 5"/>
          <p:cNvSpPr>
            <a:spLocks noGrp="1" noChangeArrowheads="1"/>
          </p:cNvSpPr>
          <p:nvPr>
            <p:ph type="sldNum" sz="quarter" idx="3"/>
          </p:nvPr>
        </p:nvSpPr>
        <p:spPr bwMode="auto">
          <a:xfrm>
            <a:off x="3886200" y="8686800"/>
            <a:ext cx="2971800" cy="457200"/>
          </a:xfrm>
          <a:prstGeom prst="rect">
            <a:avLst/>
          </a:prstGeom>
          <a:noFill/>
          <a:ln w="9525">
            <a:noFill/>
            <a:miter lim="800000"/>
          </a:ln>
          <a:effectLst/>
        </p:spPr>
        <p:txBody>
          <a:bodyPr vert="horz" wrap="square" lIns="91440" tIns="45720" rIns="91440" bIns="45720" numCol="1" anchor="b" anchorCtr="0" compatLnSpc="1"/>
          <a:p>
            <a:pPr lvl="0" algn="r" eaLnBrk="1" hangingPunct="1"/>
            <a:fld id="{9A0DB2DC-4C9A-4742-B13C-FB6460FD3503}" type="slidenum">
              <a:rPr lang="en-US" sz="1200" dirty="0"/>
            </a:fld>
            <a:endParaRPr lang="en-US" sz="1200" dirty="0"/>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3074" name="Picture 3" descr="liquidgold_background_title"/>
          <p:cNvPicPr>
            <a:picLocks noChangeAspect="1"/>
          </p:cNvPicPr>
          <p:nvPr/>
        </p:nvPicPr>
        <p:blipFill>
          <a:blip r:embed="rId2"/>
          <a:stretch>
            <a:fillRect/>
          </a:stretch>
        </p:blipFill>
        <p:spPr>
          <a:xfrm>
            <a:off x="0" y="0"/>
            <a:ext cx="9144000" cy="6858000"/>
          </a:xfrm>
          <a:prstGeom prst="rect">
            <a:avLst/>
          </a:prstGeom>
          <a:noFill/>
          <a:ln w="9525">
            <a:noFill/>
          </a:ln>
        </p:spPr>
      </p:pic>
      <p:sp>
        <p:nvSpPr>
          <p:cNvPr id="4099" name="Rectangle 3"/>
          <p:cNvSpPr>
            <a:spLocks noGrp="1" noChangeArrowheads="1"/>
          </p:cNvSpPr>
          <p:nvPr>
            <p:ph type="ctrTitle"/>
          </p:nvPr>
        </p:nvSpPr>
        <p:spPr>
          <a:xfrm>
            <a:off x="533400" y="2438400"/>
            <a:ext cx="7772400" cy="1143000"/>
          </a:xfrm>
        </p:spPr>
        <p:txBody>
          <a:bodyPr/>
          <a:lstStyle>
            <a:lvl1pPr>
              <a:defRPr sz="4200">
                <a:solidFill>
                  <a:srgbClr val="CC3300"/>
                </a:solidFill>
              </a:defRPr>
            </a:lvl1pPr>
          </a:lstStyle>
          <a:p>
            <a:r>
              <a:rPr lang="en-US"/>
              <a:t>Click to edit Master title style</a:t>
            </a: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905000"/>
            <a:ext cx="3810000" cy="3352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rgbClr val="990000"/>
              </a:buClr>
              <a:buSzTx/>
              <a:buFont typeface="Wingdings" panose="05000000000000000000" pitchFamily="2" charset="2"/>
              <a:buNone/>
              <a:defRPr/>
            </a:pPr>
            <a:endParaRPr kumimoji="0" lang="en-US" sz="3200" b="0" i="0" u="none" strike="noStrike" kern="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533400"/>
            <a:ext cx="1943100" cy="4724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85800" y="533400"/>
            <a:ext cx="5676900" cy="472440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5" name="Rectangle 3"/>
          <p:cNvSpPr>
            <a:spLocks noGrp="1" noChangeArrowheads="1"/>
          </p:cNvSpPr>
          <p:nvPr>
            <p:ph type="title"/>
          </p:nvPr>
        </p:nvSpPr>
        <p:spPr bwMode="auto">
          <a:xfrm>
            <a:off x="685800" y="533400"/>
            <a:ext cx="7772400" cy="1143000"/>
          </a:xfrm>
          <a:prstGeom prst="rect">
            <a:avLst/>
          </a:prstGeom>
          <a:noFill/>
          <a:ln w="9525">
            <a:noFill/>
            <a:miter lim="800000"/>
          </a:ln>
          <a:effectLst>
            <a:outerShdw dist="35921" dir="2700000" algn="ctr" rotWithShape="0">
              <a:schemeClr val="bg2"/>
            </a:outerShdw>
          </a:effectLst>
        </p:spPr>
        <p:txBody>
          <a:bodyPr vert="horz" wrap="square" lIns="91440" tIns="45720" rIns="91440" bIns="45720" numCol="1" anchor="ctr" anchorCtr="0" compatLnSpc="1"/>
          <a:lstStyle/>
          <a:p>
            <a:pPr lvl="0"/>
            <a:r>
              <a:rPr lang="en-US" smtClean="0"/>
              <a:t>Click to edit Master title style</a:t>
            </a:r>
            <a:endParaRPr lang="en-US" smtClean="0"/>
          </a:p>
        </p:txBody>
      </p:sp>
      <p:sp>
        <p:nvSpPr>
          <p:cNvPr id="2051" name="Rectangle 4"/>
          <p:cNvSpPr>
            <a:spLocks noGrp="1"/>
          </p:cNvSpPr>
          <p:nvPr>
            <p:ph type="body" idx="1"/>
          </p:nvPr>
        </p:nvSpPr>
        <p:spPr>
          <a:xfrm>
            <a:off x="685800" y="1905000"/>
            <a:ext cx="7772400" cy="3352800"/>
          </a:xfrm>
          <a:prstGeom prst="rect">
            <a:avLst/>
          </a:prstGeom>
          <a:noFill/>
          <a:ln w="9525">
            <a:noFill/>
          </a:ln>
        </p:spPr>
        <p:txBody>
          <a:bodyPr/>
          <a:p>
            <a:pPr lvl="0"/>
            <a:r>
              <a:rPr dirty="0"/>
              <a:t>Click to edit Master text styles</a:t>
            </a:r>
            <a:endParaRPr dirty="0"/>
          </a:p>
          <a:p>
            <a:pPr lvl="1"/>
            <a:r>
              <a:rPr dirty="0"/>
              <a:t>Second level</a:t>
            </a:r>
            <a:endParaRPr dirty="0"/>
          </a:p>
          <a:p>
            <a:pPr lvl="2"/>
            <a:r>
              <a:rPr dirty="0"/>
              <a:t>Third level</a:t>
            </a:r>
            <a:endParaRPr dirty="0"/>
          </a:p>
          <a:p>
            <a:pPr lvl="3"/>
            <a:r>
              <a:rPr dirty="0"/>
              <a:t>Fourth level</a:t>
            </a:r>
            <a:endParaRPr dirty="0"/>
          </a:p>
          <a:p>
            <a:pPr lvl="4"/>
            <a:r>
              <a:rPr dirty="0"/>
              <a:t>Fifth level</a:t>
            </a:r>
            <a:endParaRPr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000" b="1">
          <a:solidFill>
            <a:srgbClr val="CC6600"/>
          </a:solidFill>
          <a:latin typeface="+mj-lt"/>
          <a:ea typeface="+mj-ea"/>
          <a:cs typeface="+mj-cs"/>
        </a:defRPr>
      </a:lvl1pPr>
      <a:lvl2pPr algn="ctr" rtl="0" eaLnBrk="0" fontAlgn="base" hangingPunct="0">
        <a:spcBef>
          <a:spcPct val="0"/>
        </a:spcBef>
        <a:spcAft>
          <a:spcPct val="0"/>
        </a:spcAft>
        <a:defRPr sz="4000" b="1">
          <a:solidFill>
            <a:srgbClr val="CC6600"/>
          </a:solidFill>
          <a:latin typeface="Arial" panose="020B0604020202020204" pitchFamily="34" charset="0"/>
        </a:defRPr>
      </a:lvl2pPr>
      <a:lvl3pPr algn="ctr" rtl="0" eaLnBrk="0" fontAlgn="base" hangingPunct="0">
        <a:spcBef>
          <a:spcPct val="0"/>
        </a:spcBef>
        <a:spcAft>
          <a:spcPct val="0"/>
        </a:spcAft>
        <a:defRPr sz="4000" b="1">
          <a:solidFill>
            <a:srgbClr val="CC6600"/>
          </a:solidFill>
          <a:latin typeface="Arial" panose="020B0604020202020204" pitchFamily="34" charset="0"/>
        </a:defRPr>
      </a:lvl3pPr>
      <a:lvl4pPr algn="ctr" rtl="0" eaLnBrk="0" fontAlgn="base" hangingPunct="0">
        <a:spcBef>
          <a:spcPct val="0"/>
        </a:spcBef>
        <a:spcAft>
          <a:spcPct val="0"/>
        </a:spcAft>
        <a:defRPr sz="4000" b="1">
          <a:solidFill>
            <a:srgbClr val="CC6600"/>
          </a:solidFill>
          <a:latin typeface="Arial" panose="020B0604020202020204" pitchFamily="34" charset="0"/>
        </a:defRPr>
      </a:lvl4pPr>
      <a:lvl5pPr algn="ctr" rtl="0" eaLnBrk="0" fontAlgn="base" hangingPunct="0">
        <a:spcBef>
          <a:spcPct val="0"/>
        </a:spcBef>
        <a:spcAft>
          <a:spcPct val="0"/>
        </a:spcAft>
        <a:defRPr sz="4000" b="1">
          <a:solidFill>
            <a:srgbClr val="CC6600"/>
          </a:solidFill>
          <a:latin typeface="Arial" panose="020B0604020202020204" pitchFamily="34" charset="0"/>
        </a:defRPr>
      </a:lvl5pPr>
      <a:lvl6pPr marL="457200" algn="ctr" rtl="0" fontAlgn="base">
        <a:spcBef>
          <a:spcPct val="0"/>
        </a:spcBef>
        <a:spcAft>
          <a:spcPct val="0"/>
        </a:spcAft>
        <a:defRPr sz="4000" b="1">
          <a:solidFill>
            <a:srgbClr val="CC6600"/>
          </a:solidFill>
          <a:latin typeface="Arial" panose="020B0604020202020204" pitchFamily="34" charset="0"/>
        </a:defRPr>
      </a:lvl6pPr>
      <a:lvl7pPr marL="914400" algn="ctr" rtl="0" fontAlgn="base">
        <a:spcBef>
          <a:spcPct val="0"/>
        </a:spcBef>
        <a:spcAft>
          <a:spcPct val="0"/>
        </a:spcAft>
        <a:defRPr sz="4000" b="1">
          <a:solidFill>
            <a:srgbClr val="CC6600"/>
          </a:solidFill>
          <a:latin typeface="Arial" panose="020B0604020202020204" pitchFamily="34" charset="0"/>
        </a:defRPr>
      </a:lvl7pPr>
      <a:lvl8pPr marL="1371600" algn="ctr" rtl="0" fontAlgn="base">
        <a:spcBef>
          <a:spcPct val="0"/>
        </a:spcBef>
        <a:spcAft>
          <a:spcPct val="0"/>
        </a:spcAft>
        <a:defRPr sz="4000" b="1">
          <a:solidFill>
            <a:srgbClr val="CC6600"/>
          </a:solidFill>
          <a:latin typeface="Arial" panose="020B0604020202020204" pitchFamily="34" charset="0"/>
        </a:defRPr>
      </a:lvl8pPr>
      <a:lvl9pPr marL="1828800" algn="ctr" rtl="0" fontAlgn="base">
        <a:spcBef>
          <a:spcPct val="0"/>
        </a:spcBef>
        <a:spcAft>
          <a:spcPct val="0"/>
        </a:spcAft>
        <a:defRPr sz="4000" b="1">
          <a:solidFill>
            <a:srgbClr val="CC6600"/>
          </a:solidFill>
          <a:latin typeface="Arial" panose="020B0604020202020204" pitchFamily="34" charset="0"/>
        </a:defRPr>
      </a:lvl9pPr>
    </p:titleStyle>
    <p:bodyStyle>
      <a:lvl1pPr marL="342900" indent="-342900" algn="l" rtl="0" eaLnBrk="0" fontAlgn="base" hangingPunct="0">
        <a:spcBef>
          <a:spcPct val="20000"/>
        </a:spcBef>
        <a:spcAft>
          <a:spcPct val="0"/>
        </a:spcAft>
        <a:buClr>
          <a:srgbClr val="990000"/>
        </a:buClr>
        <a:buFont typeface="Wingdings" panose="05000000000000000000" pitchFamily="2" charset="2"/>
        <a:buChar char="Ø"/>
        <a:defRPr sz="3200">
          <a:solidFill>
            <a:schemeClr val="tx1"/>
          </a:solidFill>
          <a:latin typeface="+mn-lt"/>
          <a:ea typeface="+mn-ea"/>
          <a:cs typeface="+mn-cs"/>
        </a:defRPr>
      </a:lvl1pPr>
      <a:lvl2pPr marL="742950" indent="-285750" algn="l" rtl="0" eaLnBrk="0" fontAlgn="base" hangingPunct="0">
        <a:spcBef>
          <a:spcPct val="20000"/>
        </a:spcBef>
        <a:spcAft>
          <a:spcPct val="0"/>
        </a:spcAft>
        <a:buClr>
          <a:srgbClr val="990000"/>
        </a:buClr>
        <a:buFont typeface="Wingdings" panose="05000000000000000000" pitchFamily="2" charset="2"/>
        <a:buChar char="Ø"/>
        <a:defRPr sz="2800">
          <a:solidFill>
            <a:schemeClr val="tx1"/>
          </a:solidFill>
          <a:latin typeface="+mn-lt"/>
        </a:defRPr>
      </a:lvl2pPr>
      <a:lvl3pPr marL="1143000" indent="-228600" algn="l" rtl="0" eaLnBrk="0" fontAlgn="base" hangingPunct="0">
        <a:spcBef>
          <a:spcPct val="20000"/>
        </a:spcBef>
        <a:spcAft>
          <a:spcPct val="0"/>
        </a:spcAft>
        <a:buClr>
          <a:srgbClr val="990000"/>
        </a:buClr>
        <a:buFont typeface="Wingdings" panose="05000000000000000000" pitchFamily="2" charset="2"/>
        <a:buChar char="Ø"/>
        <a:defRPr sz="2400">
          <a:solidFill>
            <a:schemeClr val="tx1"/>
          </a:solidFill>
          <a:latin typeface="+mn-lt"/>
        </a:defRPr>
      </a:lvl3pPr>
      <a:lvl4pPr marL="16002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4pPr>
      <a:lvl5pPr marL="2057400" indent="-228600" algn="l" rtl="0" eaLnBrk="0" fontAlgn="base" hangingPunct="0">
        <a:spcBef>
          <a:spcPct val="20000"/>
        </a:spcBef>
        <a:spcAft>
          <a:spcPct val="0"/>
        </a:spcAft>
        <a:buClr>
          <a:srgbClr val="990000"/>
        </a:buClr>
        <a:buFont typeface="Wingdings" panose="05000000000000000000" pitchFamily="2" charset="2"/>
        <a:buChar char="Ø"/>
        <a:defRPr sz="2000">
          <a:solidFill>
            <a:schemeClr val="tx1"/>
          </a:solidFill>
          <a:latin typeface="+mn-lt"/>
        </a:defRPr>
      </a:lvl5pPr>
      <a:lvl6pPr marL="25146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6pPr>
      <a:lvl7pPr marL="29718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7pPr>
      <a:lvl8pPr marL="34290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8pPr>
      <a:lvl9pPr marL="3886200" indent="-228600" algn="l" rtl="0" fontAlgn="base">
        <a:spcBef>
          <a:spcPct val="20000"/>
        </a:spcBef>
        <a:spcAft>
          <a:spcPct val="0"/>
        </a:spcAft>
        <a:buClr>
          <a:srgbClr val="990000"/>
        </a:buClr>
        <a:buFont typeface="Wingdings" panose="05000000000000000000" pitchFamily="2" charset="2"/>
        <a:buChar char="Ø"/>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9" name="Text Box 3"/>
          <p:cNvSpPr txBox="1"/>
          <p:nvPr/>
        </p:nvSpPr>
        <p:spPr>
          <a:xfrm>
            <a:off x="5181600" y="1371600"/>
            <a:ext cx="3657600" cy="457200"/>
          </a:xfrm>
          <a:prstGeom prst="rect">
            <a:avLst/>
          </a:prstGeom>
          <a:noFill/>
          <a:ln w="9525">
            <a:noFill/>
          </a:ln>
        </p:spPr>
        <p:txBody>
          <a:bodyPr>
            <a:spAutoFit/>
          </a:bodyPr>
          <a:p>
            <a:pPr>
              <a:spcBef>
                <a:spcPct val="50000"/>
              </a:spcBef>
            </a:pPr>
            <a:endParaRPr dirty="0">
              <a:latin typeface="Times New Roman" panose="02020603050405020304" pitchFamily="18" charset="0"/>
            </a:endParaRPr>
          </a:p>
        </p:txBody>
      </p:sp>
      <p:sp>
        <p:nvSpPr>
          <p:cNvPr id="6149" name="Text Box 5"/>
          <p:cNvSpPr txBox="1">
            <a:spLocks noChangeArrowheads="1"/>
          </p:cNvSpPr>
          <p:nvPr/>
        </p:nvSpPr>
        <p:spPr bwMode="auto">
          <a:xfrm>
            <a:off x="1905000" y="0"/>
            <a:ext cx="5105400" cy="579438"/>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b="1" kern="1200" cap="none" spc="0" normalizeH="0" baseline="0" noProof="0">
                <a:solidFill>
                  <a:srgbClr val="993300"/>
                </a:solidFill>
                <a:latin typeface="Impact" panose="020B0806030902050204" pitchFamily="34" charset="0"/>
                <a:ea typeface="+mn-ea"/>
                <a:cs typeface="Times New Roman" panose="02020603050405020304" pitchFamily="18" charset="0"/>
              </a:rPr>
              <a:t>              Introduction</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4102" name="Line 6"/>
          <p:cNvSpPr/>
          <p:nvPr/>
        </p:nvSpPr>
        <p:spPr>
          <a:xfrm>
            <a:off x="228600" y="7620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643255" y="1164590"/>
            <a:ext cx="4408805" cy="583565"/>
          </a:xfrm>
          <a:prstGeom prst="rect">
            <a:avLst/>
          </a:prstGeom>
          <a:noFill/>
        </p:spPr>
        <p:txBody>
          <a:bodyPr wrap="square" rtlCol="0" anchor="t">
            <a:spAutoFit/>
          </a:bodyPr>
          <a:p>
            <a:r>
              <a:rPr lang="en-US" sz="3200" b="1">
                <a:solidFill>
                  <a:srgbClr val="FF0000"/>
                </a:solidFill>
                <a:latin typeface="Times New Roman" panose="02020603050405020304" pitchFamily="18" charset="0"/>
                <a:cs typeface="Times New Roman" panose="02020603050405020304" pitchFamily="18" charset="0"/>
              </a:rPr>
              <a:t>What is Java  ?</a:t>
            </a:r>
            <a:endParaRPr lang="en-US" sz="3200" b="1">
              <a:solidFill>
                <a:srgbClr val="FF0000"/>
              </a:solidFill>
              <a:latin typeface="Times New Roman" panose="02020603050405020304" pitchFamily="18" charset="0"/>
              <a:cs typeface="Times New Roman" panose="02020603050405020304" pitchFamily="18" charset="0"/>
            </a:endParaRPr>
          </a:p>
        </p:txBody>
      </p:sp>
      <p:sp>
        <p:nvSpPr>
          <p:cNvPr id="4" name="Text Box 3"/>
          <p:cNvSpPr txBox="1"/>
          <p:nvPr/>
        </p:nvSpPr>
        <p:spPr>
          <a:xfrm>
            <a:off x="750570" y="1772285"/>
            <a:ext cx="7527290" cy="1568450"/>
          </a:xfrm>
          <a:prstGeom prst="rect">
            <a:avLst/>
          </a:prstGeom>
          <a:noFill/>
        </p:spPr>
        <p:txBody>
          <a:bodyPr wrap="square" rtlCol="0" anchor="t">
            <a:spAutoFit/>
          </a:bodyPr>
          <a:p>
            <a:r>
              <a:rPr lang="en-US">
                <a:latin typeface="Times New Roman" panose="02020603050405020304" pitchFamily="18" charset="0"/>
                <a:cs typeface="Times New Roman" panose="02020603050405020304" pitchFamily="18" charset="0"/>
              </a:rPr>
              <a:t>Java is a programming language and a platform.</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Java is a high level, robust, secured and object-oriented programming language.</a:t>
            </a:r>
            <a:endParaRPr lang="en-US">
              <a:latin typeface="Times New Roman" panose="02020603050405020304" pitchFamily="18" charset="0"/>
              <a:cs typeface="Times New Roman" panose="02020603050405020304" pitchFamily="18" charset="0"/>
            </a:endParaRPr>
          </a:p>
        </p:txBody>
      </p:sp>
      <p:sp>
        <p:nvSpPr>
          <p:cNvPr id="5" name="Text Box 4"/>
          <p:cNvSpPr txBox="1"/>
          <p:nvPr/>
        </p:nvSpPr>
        <p:spPr>
          <a:xfrm>
            <a:off x="751205" y="3884295"/>
            <a:ext cx="7675245" cy="1198880"/>
          </a:xfrm>
          <a:prstGeom prst="rect">
            <a:avLst/>
          </a:prstGeom>
          <a:noFill/>
        </p:spPr>
        <p:txBody>
          <a:bodyPr wrap="square" rtlCol="0" anchor="t">
            <a:spAutoFit/>
          </a:bodyPr>
          <a:p>
            <a:r>
              <a:rPr lang="en-US">
                <a:latin typeface="Times New Roman" panose="02020603050405020304" pitchFamily="18" charset="0"/>
                <a:cs typeface="Times New Roman" panose="02020603050405020304" pitchFamily="18" charset="0"/>
              </a:rPr>
              <a:t>Platform: Any hardware or software environment in which a program runs, is known as a platform. Since Java has its own runtime environment (JRE) and API, it is called platform.</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Text Box 4"/>
          <p:cNvSpPr txBox="1">
            <a:spLocks noChangeArrowheads="1"/>
          </p:cNvSpPr>
          <p:nvPr/>
        </p:nvSpPr>
        <p:spPr bwMode="auto">
          <a:xfrm>
            <a:off x="421005" y="27178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6149"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354330" y="1436370"/>
            <a:ext cx="3090545" cy="5835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Where it is used ?</a:t>
            </a:r>
            <a:endParaRPr lang="en-US" sz="3200" b="1">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21005" y="2019935"/>
            <a:ext cx="7725410" cy="4523105"/>
          </a:xfrm>
          <a:prstGeom prst="rect">
            <a:avLst/>
          </a:prstGeom>
          <a:noFill/>
        </p:spPr>
        <p:txBody>
          <a:bodyPr wrap="square" rtlCol="0" anchor="t">
            <a:spAutoFit/>
          </a:bodyPr>
          <a:p>
            <a:r>
              <a:rPr lang="en-US">
                <a:latin typeface="Times New Roman" panose="02020603050405020304" pitchFamily="18" charset="0"/>
                <a:cs typeface="Times New Roman" panose="02020603050405020304" pitchFamily="18" charset="0"/>
              </a:rPr>
              <a:t>According to Sun, 3 billion devices run java. There are many devices where Java is currently used. Some of them are as follows:</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1. Desktop Applications such as acrobat reader, media player, antivirus etc.</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2. Web Applications such as irctc.co.in, javatpoint.com etc.</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3. Enterprise Applications such as banking applications.</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4. Mobile</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5. Embedded System</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6. Smart Card</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7. Robotics</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8. Games etc.</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3" name="Line 5"/>
          <p:cNvSpPr/>
          <p:nvPr/>
        </p:nvSpPr>
        <p:spPr>
          <a:xfrm>
            <a:off x="304800" y="685800"/>
            <a:ext cx="8610600" cy="0"/>
          </a:xfrm>
          <a:prstGeom prst="line">
            <a:avLst/>
          </a:prstGeom>
          <a:ln w="9525" cap="flat" cmpd="sng">
            <a:solidFill>
              <a:srgbClr val="CC3300"/>
            </a:solidFill>
            <a:prstDash val="solid"/>
            <a:headEnd type="none" w="med" len="med"/>
            <a:tailEnd type="none" w="med" len="med"/>
          </a:ln>
        </p:spPr>
      </p:sp>
      <p:sp>
        <p:nvSpPr>
          <p:cNvPr id="8196" name="Text Box 4"/>
          <p:cNvSpPr txBox="1">
            <a:spLocks noChangeArrowheads="1"/>
          </p:cNvSpPr>
          <p:nvPr/>
        </p:nvSpPr>
        <p:spPr bwMode="auto">
          <a:xfrm>
            <a:off x="304800" y="102235"/>
            <a:ext cx="5486400" cy="583565"/>
          </a:xfrm>
          <a:prstGeom prst="rect">
            <a:avLst/>
          </a:prstGeom>
          <a:noFill/>
          <a:ln w="9525">
            <a:noFill/>
            <a:miter lim="800000"/>
          </a:ln>
          <a:effectLst>
            <a:outerShdw dist="35921" dir="2700000" algn="ctr" rotWithShape="0">
              <a:schemeClr val="bg2"/>
            </a:outerShdw>
          </a:effectLst>
        </p:spPr>
        <p:txBody>
          <a:bodyPr>
            <a:spAutoFit/>
          </a:bodyPr>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2" name="Text Box 1"/>
          <p:cNvSpPr txBox="1"/>
          <p:nvPr/>
        </p:nvSpPr>
        <p:spPr>
          <a:xfrm>
            <a:off x="304800" y="906145"/>
            <a:ext cx="4597400" cy="460375"/>
          </a:xfrm>
          <a:prstGeom prst="rect">
            <a:avLst/>
          </a:prstGeom>
          <a:noFill/>
        </p:spPr>
        <p:txBody>
          <a:bodyPr wrap="square" rtlCol="0" anchor="t">
            <a:spAutoFit/>
          </a:bodyPr>
          <a:p>
            <a:r>
              <a:rPr lang="en-US" b="1" u="sng">
                <a:solidFill>
                  <a:srgbClr val="C00000"/>
                </a:solidFill>
                <a:latin typeface="Times New Roman" panose="02020603050405020304" pitchFamily="18" charset="0"/>
                <a:cs typeface="Times New Roman" panose="02020603050405020304" pitchFamily="18" charset="0"/>
              </a:rPr>
              <a:t>Types of Java Applications :</a:t>
            </a:r>
            <a:endParaRPr lang="en-US" b="1" u="sng">
              <a:solidFill>
                <a:srgbClr val="C00000"/>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413385" y="1366520"/>
            <a:ext cx="8573135" cy="5631180"/>
          </a:xfrm>
          <a:prstGeom prst="rect">
            <a:avLst/>
          </a:prstGeom>
          <a:noFill/>
        </p:spPr>
        <p:txBody>
          <a:bodyPr wrap="square" rtlCol="0" anchor="t">
            <a:spAutoFit/>
          </a:bodyPr>
          <a:p>
            <a:r>
              <a:rPr lang="en-US">
                <a:latin typeface="Times New Roman" panose="02020603050405020304" pitchFamily="18" charset="0"/>
                <a:cs typeface="Times New Roman" panose="02020603050405020304" pitchFamily="18" charset="0"/>
              </a:rPr>
              <a:t>There are mainly 4 types of applications that can be created using java programming:</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1) </a:t>
            </a:r>
            <a:r>
              <a:rPr lang="en-US" b="1">
                <a:solidFill>
                  <a:srgbClr val="C00000"/>
                </a:solidFill>
                <a:latin typeface="Times New Roman" panose="02020603050405020304" pitchFamily="18" charset="0"/>
                <a:cs typeface="Times New Roman" panose="02020603050405020304" pitchFamily="18" charset="0"/>
              </a:rPr>
              <a:t>Standalone Application</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Standalone applications are also known as desktop applications or window-based applications. These are traditional software that we need to install on every machine.Example of standalone applications are: Media player, antivirus etc. AWT and Swing are used in java for creating standalone applications.</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2) </a:t>
            </a:r>
            <a:r>
              <a:rPr lang="en-US" b="1">
                <a:solidFill>
                  <a:srgbClr val="C00000"/>
                </a:solidFill>
                <a:latin typeface="Times New Roman" panose="02020603050405020304" pitchFamily="18" charset="0"/>
                <a:cs typeface="Times New Roman" panose="02020603050405020304" pitchFamily="18" charset="0"/>
              </a:rPr>
              <a:t>Web Application</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An application that runs on the server side and creates dynamic page, is called web application.Currently, Servlet, JSP, Struts, Spring, Hibernate, JSF etc. technologies are used for creating web applications in java.</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6" name="Line 7"/>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10248" name="Text Box 8"/>
          <p:cNvSpPr txBox="1">
            <a:spLocks noChangeArrowheads="1"/>
          </p:cNvSpPr>
          <p:nvPr/>
        </p:nvSpPr>
        <p:spPr bwMode="auto">
          <a:xfrm>
            <a:off x="304800" y="26543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2" name="Text Box 1"/>
          <p:cNvSpPr txBox="1"/>
          <p:nvPr/>
        </p:nvSpPr>
        <p:spPr>
          <a:xfrm>
            <a:off x="453390" y="1351915"/>
            <a:ext cx="7997190" cy="3784600"/>
          </a:xfrm>
          <a:prstGeom prst="rect">
            <a:avLst/>
          </a:prstGeom>
          <a:noFill/>
        </p:spPr>
        <p:txBody>
          <a:bodyPr wrap="square" rtlCol="0" anchor="t">
            <a:spAutoFit/>
          </a:bodyPr>
          <a:p>
            <a:r>
              <a:rPr lang="en-US"/>
              <a:t>3) </a:t>
            </a:r>
            <a:r>
              <a:rPr lang="en-US" b="1">
                <a:solidFill>
                  <a:srgbClr val="C00000"/>
                </a:solidFill>
                <a:latin typeface="Times New Roman" panose="02020603050405020304" pitchFamily="18" charset="0"/>
                <a:cs typeface="Times New Roman" panose="02020603050405020304" pitchFamily="18" charset="0"/>
              </a:rPr>
              <a:t>Enterprise Application</a:t>
            </a:r>
            <a:endParaRPr lang="en-US" b="1">
              <a:solidFill>
                <a:srgbClr val="C00000"/>
              </a:solidFill>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An application that is distributed in nature, such as banking applications etc. is called enterprise application. It has the advantage of high level security, load balancing and clustering. In java, EJB is used for creating enterprise applications.</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4) </a:t>
            </a:r>
            <a:r>
              <a:rPr lang="en-US" b="1">
                <a:solidFill>
                  <a:srgbClr val="C00000"/>
                </a:solidFill>
                <a:latin typeface="Times New Roman" panose="02020603050405020304" pitchFamily="18" charset="0"/>
                <a:cs typeface="Times New Roman" panose="02020603050405020304" pitchFamily="18" charset="0"/>
              </a:rPr>
              <a:t>Mobile Application</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An application that is created for mobile devices. Currently Android and Java ME are used for creating mobile applications.</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20" name="Line 6"/>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11271" name="Text Box 7"/>
          <p:cNvSpPr txBox="1">
            <a:spLocks noChangeArrowheads="1"/>
          </p:cNvSpPr>
          <p:nvPr/>
        </p:nvSpPr>
        <p:spPr bwMode="auto">
          <a:xfrm>
            <a:off x="304800" y="405130"/>
            <a:ext cx="5486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2" name="Text Box 1"/>
          <p:cNvSpPr txBox="1"/>
          <p:nvPr/>
        </p:nvSpPr>
        <p:spPr>
          <a:xfrm>
            <a:off x="378460" y="1314450"/>
            <a:ext cx="8458835" cy="5015865"/>
          </a:xfrm>
          <a:prstGeom prst="rect">
            <a:avLst/>
          </a:prstGeom>
          <a:noFill/>
        </p:spPr>
        <p:txBody>
          <a:bodyPr wrap="square" rtlCol="0" anchor="t">
            <a:spAutoFit/>
          </a:bodyPr>
          <a:p>
            <a:r>
              <a:rPr lang="en-US" sz="3200" b="1">
                <a:solidFill>
                  <a:srgbClr val="C00000"/>
                </a:solidFill>
                <a:latin typeface="Times New Roman" panose="02020603050405020304" pitchFamily="18" charset="0"/>
                <a:cs typeface="Times New Roman" panose="02020603050405020304" pitchFamily="18" charset="0"/>
              </a:rPr>
              <a:t>Java Platforms / Editions</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There are 4 platforms or editions of Java:</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1) </a:t>
            </a:r>
            <a:r>
              <a:rPr lang="en-US" b="1">
                <a:solidFill>
                  <a:srgbClr val="C00000"/>
                </a:solidFill>
                <a:latin typeface="Times New Roman" panose="02020603050405020304" pitchFamily="18" charset="0"/>
                <a:cs typeface="Times New Roman" panose="02020603050405020304" pitchFamily="18" charset="0"/>
              </a:rPr>
              <a:t>Java SE (Java Standard Edition)</a:t>
            </a:r>
            <a:endParaRPr lang="en-US" b="1">
              <a:solidFill>
                <a:srgbClr val="C00000"/>
              </a:solidFill>
              <a:latin typeface="Times New Roman" panose="02020603050405020304" pitchFamily="18" charset="0"/>
              <a:cs typeface="Times New Roman" panose="02020603050405020304" pitchFamily="18" charset="0"/>
            </a:endParaRPr>
          </a:p>
          <a:p>
            <a:endParaRPr lang="en-US" b="1">
              <a:solidFill>
                <a:srgbClr val="C00000"/>
              </a:solidFill>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It is a java programming platform. It includes Java programming APIs(application programming interface) such as java.lang, java.io, java.net, java.util, java.sql, java.math etc. It includes core topics like OOPs, String, Regex, Exception, Inner classes, Multithreading, I/O Stream, Networking, AWT, Swing, Reflection, Collection etc.</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381000" y="1411605"/>
            <a:ext cx="7543800" cy="2122805"/>
          </a:xfrm>
          <a:prstGeom prst="rect">
            <a:avLst/>
          </a:prstGeom>
          <a:noFill/>
          <a:ln w="9525">
            <a:noFill/>
          </a:ln>
        </p:spPr>
        <p:txBody>
          <a:bodyPr>
            <a:spAutoFit/>
          </a:bodyPr>
          <a:p>
            <a:pPr>
              <a:spcBef>
                <a:spcPct val="50000"/>
              </a:spcBef>
            </a:pPr>
            <a:r>
              <a:rPr lang="en-US">
                <a:latin typeface="Times New Roman" panose="02020603050405020304" pitchFamily="18" charset="0"/>
                <a:cs typeface="Times New Roman" panose="02020603050405020304" pitchFamily="18" charset="0"/>
                <a:sym typeface="+mn-ea"/>
              </a:rPr>
              <a:t>2) </a:t>
            </a:r>
            <a:r>
              <a:rPr lang="en-US" b="1">
                <a:solidFill>
                  <a:srgbClr val="C00000"/>
                </a:solidFill>
                <a:latin typeface="Times New Roman" panose="02020603050405020304" pitchFamily="18" charset="0"/>
                <a:cs typeface="Times New Roman" panose="02020603050405020304" pitchFamily="18" charset="0"/>
                <a:sym typeface="+mn-ea"/>
              </a:rPr>
              <a:t>Java EE (Java Enterprise Edition)</a:t>
            </a:r>
            <a:endParaRPr lang="en-US">
              <a:latin typeface="Times New Roman" panose="02020603050405020304" pitchFamily="18" charset="0"/>
              <a:cs typeface="Times New Roman" panose="02020603050405020304" pitchFamily="18" charset="0"/>
            </a:endParaRPr>
          </a:p>
          <a:p>
            <a:pPr>
              <a:spcBef>
                <a:spcPct val="50000"/>
              </a:spcBef>
            </a:pPr>
            <a:r>
              <a:rPr lang="en-US">
                <a:latin typeface="Times New Roman" panose="02020603050405020304" pitchFamily="18" charset="0"/>
                <a:cs typeface="Times New Roman" panose="02020603050405020304" pitchFamily="18" charset="0"/>
                <a:sym typeface="+mn-ea"/>
              </a:rPr>
              <a:t>It is an enterprise platform which is mainly used to develop web and enterprise applications. It is built on the top of Java SE platform. It includes topics like Servlet, JSP, Web Services, EJB, JPA etc.</a:t>
            </a:r>
            <a:endParaRPr b="1" dirty="0">
              <a:solidFill>
                <a:srgbClr val="993300"/>
              </a:solidFill>
              <a:latin typeface="Arial" panose="020B0604020202020204" pitchFamily="34" charset="0"/>
            </a:endParaRPr>
          </a:p>
        </p:txBody>
      </p:sp>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469900" y="4076065"/>
            <a:ext cx="7906385" cy="1568450"/>
          </a:xfrm>
          <a:prstGeom prst="rect">
            <a:avLst/>
          </a:prstGeom>
          <a:noFill/>
        </p:spPr>
        <p:txBody>
          <a:bodyPr wrap="square" rtlCol="0" anchor="t">
            <a:spAutoFit/>
          </a:bodyPr>
          <a:p>
            <a:r>
              <a:rPr lang="en-US"/>
              <a:t>3) </a:t>
            </a:r>
            <a:r>
              <a:rPr lang="en-US" b="1">
                <a:solidFill>
                  <a:srgbClr val="C00000"/>
                </a:solidFill>
              </a:rPr>
              <a:t>Java ME (Java Micro Edition)</a:t>
            </a:r>
            <a:endParaRPr lang="en-US" b="1">
              <a:solidFill>
                <a:srgbClr val="C00000"/>
              </a:solidFill>
            </a:endParaRPr>
          </a:p>
          <a:p>
            <a:endParaRPr lang="en-US"/>
          </a:p>
          <a:p>
            <a:r>
              <a:rPr lang="en-US"/>
              <a:t>It is a micro platform which is mainly used to develop mobile applications.</a:t>
            </a: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381000" y="1411605"/>
            <a:ext cx="7543800" cy="1938020"/>
          </a:xfrm>
          <a:prstGeom prst="rect">
            <a:avLst/>
          </a:prstGeom>
          <a:noFill/>
          <a:ln w="9525">
            <a:noFill/>
          </a:ln>
        </p:spPr>
        <p:txBody>
          <a:bodyPr>
            <a:spAutoFit/>
          </a:bodyPr>
          <a:p>
            <a:pPr>
              <a:spcBef>
                <a:spcPct val="50000"/>
              </a:spcBef>
            </a:pPr>
            <a:r>
              <a:rPr lang="en-US">
                <a:latin typeface="Times New Roman" panose="02020603050405020304" pitchFamily="18" charset="0"/>
                <a:cs typeface="Times New Roman" panose="02020603050405020304" pitchFamily="18" charset="0"/>
                <a:sym typeface="+mn-ea"/>
              </a:rPr>
              <a:t>4) </a:t>
            </a:r>
            <a:r>
              <a:rPr lang="en-US" b="1">
                <a:solidFill>
                  <a:srgbClr val="C00000"/>
                </a:solidFill>
                <a:latin typeface="Times New Roman" panose="02020603050405020304" pitchFamily="18" charset="0"/>
                <a:cs typeface="Times New Roman" panose="02020603050405020304" pitchFamily="18" charset="0"/>
                <a:sym typeface="+mn-ea"/>
              </a:rPr>
              <a:t>JavaFx</a:t>
            </a:r>
            <a:endParaRPr lang="en-US">
              <a:latin typeface="Times New Roman" panose="02020603050405020304" pitchFamily="18" charset="0"/>
              <a:cs typeface="Times New Roman" panose="02020603050405020304" pitchFamily="18" charset="0"/>
              <a:sym typeface="+mn-ea"/>
            </a:endParaRPr>
          </a:p>
          <a:p>
            <a:pPr>
              <a:spcBef>
                <a:spcPct val="50000"/>
              </a:spcBef>
            </a:pPr>
            <a:endParaRPr lang="en-US">
              <a:latin typeface="Times New Roman" panose="02020603050405020304" pitchFamily="18" charset="0"/>
              <a:cs typeface="Times New Roman" panose="02020603050405020304" pitchFamily="18" charset="0"/>
              <a:sym typeface="+mn-ea"/>
            </a:endParaRPr>
          </a:p>
          <a:p>
            <a:pPr>
              <a:spcBef>
                <a:spcPct val="50000"/>
              </a:spcBef>
            </a:pPr>
            <a:r>
              <a:rPr lang="en-US">
                <a:latin typeface="Times New Roman" panose="02020603050405020304" pitchFamily="18" charset="0"/>
                <a:cs typeface="Times New Roman" panose="02020603050405020304" pitchFamily="18" charset="0"/>
                <a:sym typeface="+mn-ea"/>
              </a:rPr>
              <a:t>It is used to develop rich internet applications. It uses light-weight user interface API.</a:t>
            </a:r>
            <a:endParaRPr lang="en-US">
              <a:latin typeface="Times New Roman" panose="02020603050405020304" pitchFamily="18" charset="0"/>
              <a:cs typeface="Times New Roman" panose="02020603050405020304" pitchFamily="18" charset="0"/>
              <a:sym typeface="+mn-ea"/>
            </a:endParaRPr>
          </a:p>
        </p:txBody>
      </p:sp>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Java Basic</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381000" y="1411605"/>
            <a:ext cx="8399780" cy="3046095"/>
          </a:xfrm>
          <a:prstGeom prst="rect">
            <a:avLst/>
          </a:prstGeom>
          <a:noFill/>
          <a:ln w="9525">
            <a:noFill/>
          </a:ln>
        </p:spPr>
        <p:txBody>
          <a:bodyPr wrap="square">
            <a:spAutoFit/>
          </a:bodyPr>
          <a:p>
            <a:pPr>
              <a:spcBef>
                <a:spcPct val="50000"/>
              </a:spcBef>
            </a:pPr>
            <a:r>
              <a:rPr lang="en-US">
                <a:latin typeface="Times New Roman" panose="02020603050405020304" pitchFamily="18" charset="0"/>
                <a:cs typeface="Times New Roman" panose="02020603050405020304" pitchFamily="18" charset="0"/>
                <a:sym typeface="+mn-ea"/>
              </a:rPr>
              <a:t>The history of Java is very interesting. Java was originally designed for interactive television, but it was too advanced technology for the digital cable television industry at the time. The history of java starts from Green Team. Java team members (also known as Green Team), initiated this project to develop a language for digital devices such as set-top boxes, televisions etc. But, it was suited for internet programming. Later, Java technology was incorporated by Netscape.</a:t>
            </a:r>
            <a:endParaRPr lang="en-US">
              <a:latin typeface="Times New Roman" panose="02020603050405020304" pitchFamily="18" charset="0"/>
              <a:cs typeface="Times New Roman" panose="02020603050405020304" pitchFamily="18" charset="0"/>
              <a:sym typeface="+mn-ea"/>
            </a:endParaRPr>
          </a:p>
        </p:txBody>
      </p:sp>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History of Java</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447040" y="4646930"/>
            <a:ext cx="8534400" cy="1568450"/>
          </a:xfrm>
          <a:prstGeom prst="rect">
            <a:avLst/>
          </a:prstGeom>
          <a:noFill/>
        </p:spPr>
        <p:txBody>
          <a:bodyPr wrap="square" rtlCol="0" anchor="t">
            <a:spAutoFit/>
          </a:bodyPr>
          <a:p>
            <a:r>
              <a:rPr lang="en-US">
                <a:latin typeface="Times New Roman" panose="02020603050405020304" pitchFamily="18" charset="0"/>
                <a:cs typeface="Times New Roman" panose="02020603050405020304" pitchFamily="18" charset="0"/>
              </a:rPr>
              <a:t>The principles for creating Java programming were "Simple, Robust, Portable, Platform-independent, Secured, High Performance, Multithreaded, Architecture Neutral, Object-Oriented, Interpreted and Dynamic".</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203200" y="1126490"/>
            <a:ext cx="8407400" cy="5815965"/>
          </a:xfrm>
          <a:prstGeom prst="rect">
            <a:avLst/>
          </a:prstGeom>
          <a:noFill/>
          <a:ln w="9525">
            <a:noFill/>
          </a:ln>
        </p:spPr>
        <p:txBody>
          <a:bodyPr wrap="square">
            <a:spAutoFit/>
          </a:bodyPr>
          <a:p>
            <a:pPr>
              <a:spcBef>
                <a:spcPct val="50000"/>
              </a:spcBef>
            </a:pPr>
            <a:r>
              <a:rPr lang="en-US">
                <a:latin typeface="Times New Roman" panose="02020603050405020304" pitchFamily="18" charset="0"/>
                <a:cs typeface="Times New Roman" panose="02020603050405020304" pitchFamily="18" charset="0"/>
                <a:sym typeface="+mn-ea"/>
              </a:rPr>
              <a:t>Currently, Java is used in internet programming, mobile devices, games, e-business solutions etc. There are given the major points that describes the history of java.</a:t>
            </a:r>
            <a:endParaRPr lang="en-US">
              <a:latin typeface="Times New Roman" panose="02020603050405020304" pitchFamily="18" charset="0"/>
              <a:cs typeface="Times New Roman" panose="02020603050405020304" pitchFamily="18" charset="0"/>
              <a:sym typeface="+mn-ea"/>
            </a:endParaRPr>
          </a:p>
          <a:p>
            <a:pPr>
              <a:spcBef>
                <a:spcPct val="50000"/>
              </a:spcBef>
            </a:pPr>
            <a:r>
              <a:rPr lang="en-US">
                <a:latin typeface="Times New Roman" panose="02020603050405020304" pitchFamily="18" charset="0"/>
                <a:cs typeface="Times New Roman" panose="02020603050405020304" pitchFamily="18" charset="0"/>
                <a:sym typeface="+mn-ea"/>
              </a:rPr>
              <a:t>Java History from Oak to Java</a:t>
            </a:r>
            <a:endParaRPr lang="en-US">
              <a:latin typeface="Times New Roman" panose="02020603050405020304" pitchFamily="18" charset="0"/>
              <a:cs typeface="Times New Roman" panose="02020603050405020304" pitchFamily="18" charset="0"/>
              <a:sym typeface="+mn-ea"/>
            </a:endParaRPr>
          </a:p>
          <a:p>
            <a:pPr>
              <a:spcBef>
                <a:spcPct val="50000"/>
              </a:spcBef>
            </a:pPr>
            <a:r>
              <a:rPr lang="en-US">
                <a:latin typeface="Times New Roman" panose="02020603050405020304" pitchFamily="18" charset="0"/>
                <a:cs typeface="Times New Roman" panose="02020603050405020304" pitchFamily="18" charset="0"/>
                <a:sym typeface="+mn-ea"/>
              </a:rPr>
              <a:t>1) James Gosling, Mike Sheridan, and Patrick Naughton initiated the Java language project in June 1991. The small team of sun engineers called Green Team.</a:t>
            </a:r>
            <a:endParaRPr lang="en-US">
              <a:latin typeface="Times New Roman" panose="02020603050405020304" pitchFamily="18" charset="0"/>
              <a:cs typeface="Times New Roman" panose="02020603050405020304" pitchFamily="18" charset="0"/>
              <a:sym typeface="+mn-ea"/>
            </a:endParaRPr>
          </a:p>
          <a:p>
            <a:pPr>
              <a:spcBef>
                <a:spcPct val="50000"/>
              </a:spcBef>
            </a:pPr>
            <a:r>
              <a:rPr lang="en-US">
                <a:latin typeface="Times New Roman" panose="02020603050405020304" pitchFamily="18" charset="0"/>
                <a:cs typeface="Times New Roman" panose="02020603050405020304" pitchFamily="18" charset="0"/>
                <a:sym typeface="+mn-ea"/>
              </a:rPr>
              <a:t>2) Originally designed for small, embedded systems in electronic appliances like set-top boxes.</a:t>
            </a:r>
            <a:endParaRPr lang="en-US">
              <a:latin typeface="Times New Roman" panose="02020603050405020304" pitchFamily="18" charset="0"/>
              <a:cs typeface="Times New Roman" panose="02020603050405020304" pitchFamily="18" charset="0"/>
              <a:sym typeface="+mn-ea"/>
            </a:endParaRPr>
          </a:p>
          <a:p>
            <a:pPr>
              <a:spcBef>
                <a:spcPct val="50000"/>
              </a:spcBef>
            </a:pPr>
            <a:r>
              <a:rPr lang="en-US">
                <a:latin typeface="Times New Roman" panose="02020603050405020304" pitchFamily="18" charset="0"/>
                <a:cs typeface="Times New Roman" panose="02020603050405020304" pitchFamily="18" charset="0"/>
                <a:sym typeface="+mn-ea"/>
              </a:rPr>
              <a:t>3) Firstly, it was called "Greentalk" by James Gosling and file extension was .gt.</a:t>
            </a:r>
            <a:endParaRPr lang="en-US">
              <a:latin typeface="Times New Roman" panose="02020603050405020304" pitchFamily="18" charset="0"/>
              <a:cs typeface="Times New Roman" panose="02020603050405020304" pitchFamily="18" charset="0"/>
              <a:sym typeface="+mn-ea"/>
            </a:endParaRPr>
          </a:p>
          <a:p>
            <a:pPr>
              <a:spcBef>
                <a:spcPct val="50000"/>
              </a:spcBef>
            </a:pPr>
            <a:r>
              <a:rPr lang="en-US">
                <a:latin typeface="Times New Roman" panose="02020603050405020304" pitchFamily="18" charset="0"/>
                <a:cs typeface="Times New Roman" panose="02020603050405020304" pitchFamily="18" charset="0"/>
                <a:sym typeface="+mn-ea"/>
              </a:rPr>
              <a:t>4) After that, it was called Oak and was developed as a part of the Green project.</a:t>
            </a:r>
            <a:endParaRPr lang="en-US">
              <a:latin typeface="Times New Roman" panose="02020603050405020304" pitchFamily="18" charset="0"/>
              <a:cs typeface="Times New Roman" panose="02020603050405020304" pitchFamily="18" charset="0"/>
              <a:sym typeface="+mn-ea"/>
            </a:endParaRPr>
          </a:p>
        </p:txBody>
      </p:sp>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History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203200" y="1126490"/>
            <a:ext cx="8407400" cy="2306955"/>
          </a:xfrm>
          <a:prstGeom prst="rect">
            <a:avLst/>
          </a:prstGeom>
          <a:noFill/>
          <a:ln w="9525">
            <a:noFill/>
          </a:ln>
        </p:spPr>
        <p:txBody>
          <a:bodyPr wrap="square">
            <a:spAutoFit/>
          </a:bodyPr>
          <a:p>
            <a:pPr>
              <a:spcBef>
                <a:spcPct val="50000"/>
              </a:spcBef>
            </a:pPr>
            <a:r>
              <a:rPr lang="en-US" b="1">
                <a:solidFill>
                  <a:srgbClr val="C00000"/>
                </a:solidFill>
                <a:latin typeface="Times New Roman" panose="02020603050405020304" pitchFamily="18" charset="0"/>
                <a:cs typeface="Times New Roman" panose="02020603050405020304" pitchFamily="18" charset="0"/>
                <a:sym typeface="+mn-ea"/>
              </a:rPr>
              <a:t>Why Java named as "Oak" ?</a:t>
            </a:r>
            <a:endParaRPr lang="en-US">
              <a:latin typeface="Times New Roman" panose="02020603050405020304" pitchFamily="18" charset="0"/>
              <a:cs typeface="Times New Roman" panose="02020603050405020304" pitchFamily="18" charset="0"/>
              <a:sym typeface="+mn-ea"/>
            </a:endParaRPr>
          </a:p>
          <a:p>
            <a:pPr>
              <a:spcBef>
                <a:spcPct val="50000"/>
              </a:spcBef>
            </a:pPr>
            <a:r>
              <a:rPr lang="en-US">
                <a:latin typeface="Times New Roman" panose="02020603050405020304" pitchFamily="18" charset="0"/>
                <a:cs typeface="Times New Roman" panose="02020603050405020304" pitchFamily="18" charset="0"/>
                <a:sym typeface="+mn-ea"/>
              </a:rPr>
              <a:t>Oak is a symbol of strength and choosen as a national tree of many countries like U.S.A., France, Germany, Romania etc.</a:t>
            </a:r>
            <a:endParaRPr lang="en-US">
              <a:latin typeface="Times New Roman" panose="02020603050405020304" pitchFamily="18" charset="0"/>
              <a:cs typeface="Times New Roman" panose="02020603050405020304" pitchFamily="18" charset="0"/>
              <a:sym typeface="+mn-ea"/>
            </a:endParaRPr>
          </a:p>
          <a:p>
            <a:pPr>
              <a:spcBef>
                <a:spcPct val="50000"/>
              </a:spcBef>
            </a:pPr>
            <a:r>
              <a:rPr lang="en-US">
                <a:latin typeface="Times New Roman" panose="02020603050405020304" pitchFamily="18" charset="0"/>
                <a:cs typeface="Times New Roman" panose="02020603050405020304" pitchFamily="18" charset="0"/>
                <a:sym typeface="+mn-ea"/>
              </a:rPr>
              <a:t> In 1995, Oak was renamed as "Java" because it was already a trademark by Oak Technologies.</a:t>
            </a:r>
            <a:endParaRPr lang="en-US">
              <a:latin typeface="Times New Roman" panose="02020603050405020304" pitchFamily="18" charset="0"/>
              <a:cs typeface="Times New Roman" panose="02020603050405020304" pitchFamily="18" charset="0"/>
              <a:sym typeface="+mn-ea"/>
            </a:endParaRPr>
          </a:p>
        </p:txBody>
      </p:sp>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History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203200" y="1126490"/>
            <a:ext cx="8407400" cy="5815965"/>
          </a:xfrm>
          <a:prstGeom prst="rect">
            <a:avLst/>
          </a:prstGeom>
          <a:noFill/>
          <a:ln w="9525">
            <a:noFill/>
          </a:ln>
        </p:spPr>
        <p:txBody>
          <a:bodyPr wrap="square">
            <a:spAutoFit/>
          </a:bodyPr>
          <a:p>
            <a:pPr>
              <a:spcBef>
                <a:spcPct val="50000"/>
              </a:spcBef>
            </a:pPr>
            <a:r>
              <a:rPr lang="en-US" b="1">
                <a:solidFill>
                  <a:srgbClr val="C00000"/>
                </a:solidFill>
                <a:latin typeface="Times New Roman" panose="02020603050405020304" pitchFamily="18" charset="0"/>
                <a:cs typeface="Times New Roman" panose="02020603050405020304" pitchFamily="18" charset="0"/>
                <a:sym typeface="+mn-ea"/>
              </a:rPr>
              <a:t>Why Java Programming named as "Java" ?</a:t>
            </a:r>
            <a:endParaRPr lang="en-US" b="1">
              <a:solidFill>
                <a:srgbClr val="C00000"/>
              </a:solidFill>
              <a:latin typeface="Times New Roman" panose="02020603050405020304" pitchFamily="18" charset="0"/>
              <a:cs typeface="Times New Roman" panose="02020603050405020304" pitchFamily="18" charset="0"/>
              <a:sym typeface="+mn-ea"/>
            </a:endParaRPr>
          </a:p>
          <a:p>
            <a:pPr>
              <a:spcBef>
                <a:spcPct val="50000"/>
              </a:spcBef>
            </a:pPr>
            <a:r>
              <a:rPr lang="en-US" b="1">
                <a:solidFill>
                  <a:srgbClr val="C00000"/>
                </a:solidFill>
                <a:latin typeface="Times New Roman" panose="02020603050405020304" pitchFamily="18" charset="0"/>
                <a:cs typeface="Times New Roman" panose="02020603050405020304" pitchFamily="18" charset="0"/>
                <a:sym typeface="+mn-ea"/>
              </a:rPr>
              <a:t> </a:t>
            </a:r>
            <a:r>
              <a:rPr lang="en-US">
                <a:solidFill>
                  <a:schemeClr val="tx1"/>
                </a:solidFill>
                <a:latin typeface="Times New Roman" panose="02020603050405020304" pitchFamily="18" charset="0"/>
                <a:cs typeface="Times New Roman" panose="02020603050405020304" pitchFamily="18" charset="0"/>
                <a:sym typeface="+mn-ea"/>
              </a:rPr>
              <a:t>Why had they choosen java name for java language? The team gathered to choose a new name. The suggested words were "dynamic", "revolutionary", "Silk", "jolt", "DNA" etc. They wanted something that reflected the essence of the technology: revolutionary, dynamic, lively, cool, unique, and easy to spell and fun to say.</a:t>
            </a:r>
            <a:endParaRPr lang="en-US">
              <a:solidFill>
                <a:schemeClr val="tx1"/>
              </a:solidFill>
              <a:latin typeface="Times New Roman" panose="02020603050405020304" pitchFamily="18" charset="0"/>
              <a:cs typeface="Times New Roman" panose="02020603050405020304" pitchFamily="18" charset="0"/>
              <a:sym typeface="+mn-ea"/>
            </a:endParaRPr>
          </a:p>
          <a:p>
            <a:pPr>
              <a:spcBef>
                <a:spcPct val="50000"/>
              </a:spcBef>
            </a:pPr>
            <a:endParaRPr lang="en-US">
              <a:solidFill>
                <a:schemeClr val="tx1"/>
              </a:solidFill>
              <a:latin typeface="Times New Roman" panose="02020603050405020304" pitchFamily="18" charset="0"/>
              <a:cs typeface="Times New Roman" panose="02020603050405020304" pitchFamily="18" charset="0"/>
              <a:sym typeface="+mn-ea"/>
            </a:endParaRPr>
          </a:p>
          <a:p>
            <a:pPr>
              <a:spcBef>
                <a:spcPct val="50000"/>
              </a:spcBef>
            </a:pPr>
            <a:r>
              <a:rPr lang="en-US">
                <a:solidFill>
                  <a:schemeClr val="tx1"/>
                </a:solidFill>
                <a:latin typeface="Times New Roman" panose="02020603050405020304" pitchFamily="18" charset="0"/>
                <a:cs typeface="Times New Roman" panose="02020603050405020304" pitchFamily="18" charset="0"/>
                <a:sym typeface="+mn-ea"/>
              </a:rPr>
              <a:t>According to James Gosling "Java was one of the top choices along with Silk". Since java was so unique, most of the team members preferred java.</a:t>
            </a:r>
            <a:endParaRPr lang="en-US">
              <a:solidFill>
                <a:schemeClr val="tx1"/>
              </a:solidFill>
              <a:latin typeface="Times New Roman" panose="02020603050405020304" pitchFamily="18" charset="0"/>
              <a:cs typeface="Times New Roman" panose="02020603050405020304" pitchFamily="18" charset="0"/>
              <a:sym typeface="+mn-ea"/>
            </a:endParaRPr>
          </a:p>
          <a:p>
            <a:pPr>
              <a:spcBef>
                <a:spcPct val="50000"/>
              </a:spcBef>
            </a:pPr>
            <a:endParaRPr lang="en-US">
              <a:solidFill>
                <a:schemeClr val="tx1"/>
              </a:solidFill>
              <a:latin typeface="Times New Roman" panose="02020603050405020304" pitchFamily="18" charset="0"/>
              <a:cs typeface="Times New Roman" panose="02020603050405020304" pitchFamily="18" charset="0"/>
              <a:sym typeface="+mn-ea"/>
            </a:endParaRPr>
          </a:p>
          <a:p>
            <a:pPr>
              <a:spcBef>
                <a:spcPct val="50000"/>
              </a:spcBef>
            </a:pP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History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203200" y="1126490"/>
            <a:ext cx="8407400" cy="5262245"/>
          </a:xfrm>
          <a:prstGeom prst="rect">
            <a:avLst/>
          </a:prstGeom>
          <a:noFill/>
          <a:ln w="9525">
            <a:noFill/>
          </a:ln>
        </p:spPr>
        <p:txBody>
          <a:bodyPr wrap="square">
            <a:spAutoFit/>
          </a:bodyPr>
          <a:p>
            <a:pPr>
              <a:spcBef>
                <a:spcPct val="50000"/>
              </a:spcBef>
            </a:pPr>
            <a:r>
              <a:rPr lang="en-US">
                <a:latin typeface="Times New Roman" panose="02020603050405020304" pitchFamily="18" charset="0"/>
                <a:cs typeface="Times New Roman" panose="02020603050405020304" pitchFamily="18" charset="0"/>
                <a:sym typeface="+mn-ea"/>
              </a:rPr>
              <a:t>Java is an island of Indonesia where first coffee was produced (called java coffee).</a:t>
            </a:r>
            <a:endParaRPr lang="en-US">
              <a:solidFill>
                <a:schemeClr val="tx1"/>
              </a:solidFill>
              <a:latin typeface="Times New Roman" panose="02020603050405020304" pitchFamily="18" charset="0"/>
              <a:cs typeface="Times New Roman" panose="02020603050405020304" pitchFamily="18" charset="0"/>
              <a:sym typeface="+mn-ea"/>
            </a:endParaRPr>
          </a:p>
          <a:p>
            <a:pPr>
              <a:spcBef>
                <a:spcPct val="50000"/>
              </a:spcBef>
            </a:pPr>
            <a:r>
              <a:rPr lang="en-US">
                <a:latin typeface="Times New Roman" panose="02020603050405020304" pitchFamily="18" charset="0"/>
                <a:cs typeface="Times New Roman" panose="02020603050405020304" pitchFamily="18" charset="0"/>
                <a:sym typeface="+mn-ea"/>
              </a:rPr>
              <a:t>Notice that Java is just a name not an acronym.</a:t>
            </a:r>
            <a:endParaRPr lang="en-US">
              <a:latin typeface="Times New Roman" panose="02020603050405020304" pitchFamily="18" charset="0"/>
              <a:cs typeface="Times New Roman" panose="02020603050405020304" pitchFamily="18" charset="0"/>
              <a:sym typeface="+mn-ea"/>
            </a:endParaRPr>
          </a:p>
          <a:p>
            <a:pPr>
              <a:spcBef>
                <a:spcPct val="50000"/>
              </a:spcBef>
            </a:pPr>
            <a:r>
              <a:rPr lang="en-US">
                <a:latin typeface="Times New Roman" panose="02020603050405020304" pitchFamily="18" charset="0"/>
                <a:cs typeface="Times New Roman" panose="02020603050405020304" pitchFamily="18" charset="0"/>
                <a:sym typeface="+mn-ea"/>
              </a:rPr>
              <a:t>Originally developed by James Gosling at Sun Microsystems (which is now a subsidiary of Oracle Corporation) and released in 1995.</a:t>
            </a:r>
            <a:endParaRPr lang="en-US">
              <a:latin typeface="Times New Roman" panose="02020603050405020304" pitchFamily="18" charset="0"/>
              <a:cs typeface="Times New Roman" panose="02020603050405020304" pitchFamily="18" charset="0"/>
              <a:sym typeface="+mn-ea"/>
            </a:endParaRPr>
          </a:p>
          <a:p>
            <a:pPr>
              <a:spcBef>
                <a:spcPct val="50000"/>
              </a:spcBef>
            </a:pPr>
            <a:r>
              <a:rPr lang="en-US">
                <a:latin typeface="Times New Roman" panose="02020603050405020304" pitchFamily="18" charset="0"/>
                <a:cs typeface="Times New Roman" panose="02020603050405020304" pitchFamily="18" charset="0"/>
                <a:sym typeface="+mn-ea"/>
              </a:rPr>
              <a:t>In 1995, Time magazine called Java one of the Ten Best Products of 1995.</a:t>
            </a:r>
            <a:endParaRPr lang="en-US">
              <a:solidFill>
                <a:schemeClr val="tx1"/>
              </a:solidFill>
              <a:latin typeface="Times New Roman" panose="02020603050405020304" pitchFamily="18" charset="0"/>
              <a:cs typeface="Times New Roman" panose="02020603050405020304" pitchFamily="18" charset="0"/>
              <a:sym typeface="+mn-ea"/>
            </a:endParaRPr>
          </a:p>
          <a:p>
            <a:pPr>
              <a:spcBef>
                <a:spcPct val="50000"/>
              </a:spcBef>
            </a:pPr>
            <a:r>
              <a:rPr lang="en-US">
                <a:latin typeface="Times New Roman" panose="02020603050405020304" pitchFamily="18" charset="0"/>
                <a:cs typeface="Times New Roman" panose="02020603050405020304" pitchFamily="18" charset="0"/>
                <a:sym typeface="+mn-ea"/>
              </a:rPr>
              <a:t>JDK 1.0 released in(January 23, 1996</a:t>
            </a:r>
            <a:r>
              <a:rPr lang="en-US" b="1">
                <a:solidFill>
                  <a:srgbClr val="C00000"/>
                </a:solidFill>
                <a:latin typeface="Times New Roman" panose="02020603050405020304" pitchFamily="18" charset="0"/>
                <a:cs typeface="Times New Roman" panose="02020603050405020304" pitchFamily="18" charset="0"/>
                <a:sym typeface="+mn-ea"/>
              </a:rPr>
              <a:t>).</a:t>
            </a:r>
            <a:endParaRPr lang="en-US" b="1">
              <a:solidFill>
                <a:srgbClr val="C00000"/>
              </a:solidFill>
              <a:latin typeface="Times New Roman" panose="02020603050405020304" pitchFamily="18" charset="0"/>
              <a:cs typeface="Times New Roman" panose="02020603050405020304" pitchFamily="18" charset="0"/>
              <a:sym typeface="+mn-ea"/>
            </a:endParaRPr>
          </a:p>
          <a:p>
            <a:pPr>
              <a:spcBef>
                <a:spcPct val="50000"/>
              </a:spcBef>
            </a:pPr>
            <a:endParaRPr lang="en-US">
              <a:solidFill>
                <a:schemeClr val="tx1"/>
              </a:solidFill>
              <a:latin typeface="Times New Roman" panose="02020603050405020304" pitchFamily="18" charset="0"/>
              <a:cs typeface="Times New Roman" panose="02020603050405020304" pitchFamily="18" charset="0"/>
              <a:sym typeface="+mn-ea"/>
            </a:endParaRPr>
          </a:p>
          <a:p>
            <a:pPr>
              <a:spcBef>
                <a:spcPct val="50000"/>
              </a:spcBef>
            </a:pPr>
            <a:endParaRPr lang="en-US" b="1">
              <a:solidFill>
                <a:srgbClr val="C00000"/>
              </a:solidFill>
              <a:latin typeface="Times New Roman" panose="02020603050405020304" pitchFamily="18" charset="0"/>
              <a:cs typeface="Times New Roman" panose="02020603050405020304" pitchFamily="18" charset="0"/>
              <a:sym typeface="+mn-ea"/>
            </a:endParaRPr>
          </a:p>
        </p:txBody>
      </p:sp>
      <p:sp>
        <p:nvSpPr>
          <p:cNvPr id="12292" name="Text Box 4"/>
          <p:cNvSpPr txBox="1">
            <a:spLocks noChangeArrowheads="1"/>
          </p:cNvSpPr>
          <p:nvPr/>
        </p:nvSpPr>
        <p:spPr bwMode="auto">
          <a:xfrm>
            <a:off x="609600" y="381000"/>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History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Text Box 3"/>
          <p:cNvSpPr txBox="1"/>
          <p:nvPr/>
        </p:nvSpPr>
        <p:spPr>
          <a:xfrm>
            <a:off x="203200" y="1126490"/>
            <a:ext cx="8407400" cy="3599815"/>
          </a:xfrm>
          <a:prstGeom prst="rect">
            <a:avLst/>
          </a:prstGeom>
          <a:noFill/>
          <a:ln w="9525">
            <a:noFill/>
          </a:ln>
        </p:spPr>
        <p:txBody>
          <a:bodyPr wrap="square">
            <a:spAutoFit/>
          </a:bodyPr>
          <a:p>
            <a:pPr>
              <a:spcBef>
                <a:spcPct val="50000"/>
              </a:spcBef>
            </a:pPr>
            <a:r>
              <a:rPr lang="en-US" b="1">
                <a:solidFill>
                  <a:srgbClr val="C00000"/>
                </a:solidFill>
                <a:latin typeface="Times New Roman" panose="02020603050405020304" pitchFamily="18" charset="0"/>
                <a:cs typeface="Times New Roman" panose="02020603050405020304" pitchFamily="18" charset="0"/>
                <a:sym typeface="+mn-ea"/>
              </a:rPr>
              <a:t>Features of Java</a:t>
            </a:r>
            <a:endParaRPr lang="en-US">
              <a:latin typeface="Times New Roman" panose="02020603050405020304" pitchFamily="18" charset="0"/>
              <a:cs typeface="Times New Roman" panose="02020603050405020304" pitchFamily="18" charset="0"/>
              <a:sym typeface="+mn-ea"/>
            </a:endParaRPr>
          </a:p>
          <a:p>
            <a:pPr>
              <a:spcBef>
                <a:spcPct val="50000"/>
              </a:spcBef>
            </a:pPr>
            <a:r>
              <a:rPr lang="en-US">
                <a:latin typeface="Times New Roman" panose="02020603050405020304" pitchFamily="18" charset="0"/>
                <a:cs typeface="Times New Roman" panose="02020603050405020304" pitchFamily="18" charset="0"/>
                <a:sym typeface="+mn-ea"/>
              </a:rPr>
              <a:t>The main objective of Java programming language creation was to make it portable, simple and secure programming language. Apart from this, there are also some awesome features which play important role in the popularity of this language. The features of Java are also known as java buzzwords.</a:t>
            </a:r>
            <a:endParaRPr lang="en-US">
              <a:latin typeface="Times New Roman" panose="02020603050405020304" pitchFamily="18" charset="0"/>
              <a:cs typeface="Times New Roman" panose="02020603050405020304" pitchFamily="18" charset="0"/>
              <a:sym typeface="+mn-ea"/>
            </a:endParaRPr>
          </a:p>
          <a:p>
            <a:pPr>
              <a:spcBef>
                <a:spcPct val="50000"/>
              </a:spcBef>
            </a:pPr>
            <a:endParaRPr lang="en-US">
              <a:latin typeface="Times New Roman" panose="02020603050405020304" pitchFamily="18" charset="0"/>
              <a:cs typeface="Times New Roman" panose="02020603050405020304" pitchFamily="18" charset="0"/>
              <a:sym typeface="+mn-ea"/>
            </a:endParaRPr>
          </a:p>
          <a:p>
            <a:pPr>
              <a:spcBef>
                <a:spcPct val="50000"/>
              </a:spcBef>
            </a:pPr>
            <a:endParaRPr lang="en-US">
              <a:latin typeface="Times New Roman" panose="02020603050405020304" pitchFamily="18" charset="0"/>
              <a:cs typeface="Times New Roman" panose="02020603050405020304" pitchFamily="18" charset="0"/>
              <a:sym typeface="+mn-ea"/>
            </a:endParaRPr>
          </a:p>
        </p:txBody>
      </p:sp>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pic>
        <p:nvPicPr>
          <p:cNvPr id="2" name="Picture 1" descr="java-features"/>
          <p:cNvPicPr>
            <a:picLocks noChangeAspect="1"/>
          </p:cNvPicPr>
          <p:nvPr/>
        </p:nvPicPr>
        <p:blipFill>
          <a:blip r:embed="rId1"/>
          <a:stretch>
            <a:fillRect/>
          </a:stretch>
        </p:blipFill>
        <p:spPr>
          <a:xfrm>
            <a:off x="363855" y="1338580"/>
            <a:ext cx="8299450" cy="499618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5435" y="1210310"/>
            <a:ext cx="8965565" cy="4523105"/>
          </a:xfrm>
          <a:prstGeom prst="rect">
            <a:avLst/>
          </a:prstGeom>
          <a:noFill/>
        </p:spPr>
        <p:txBody>
          <a:bodyPr wrap="square" rtlCol="0" anchor="t">
            <a:spAutoFit/>
          </a:bodyPr>
          <a:p>
            <a:r>
              <a:rPr lang="en-US" b="1">
                <a:solidFill>
                  <a:srgbClr val="C00000"/>
                </a:solidFill>
              </a:rPr>
              <a:t>1. Object-oriented</a:t>
            </a:r>
            <a:endParaRPr lang="en-US"/>
          </a:p>
          <a:p>
            <a:endParaRPr lang="en-US"/>
          </a:p>
          <a:p>
            <a:r>
              <a:rPr lang="en-US"/>
              <a:t>Java is object-oriented programming language. Everything in Java is an object. Object-oriented means we organize our software as a combination of different types of objects that incorporates both data and behaviour.</a:t>
            </a:r>
            <a:endParaRPr lang="en-US"/>
          </a:p>
          <a:p>
            <a:endParaRPr lang="en-US"/>
          </a:p>
          <a:p>
            <a:r>
              <a:rPr lang="en-US"/>
              <a:t>Object-oriented programming (OOPs) is a methodology that simplifies software development and maintenance by providing some rules.</a:t>
            </a:r>
            <a:endParaRPr lang="en-US"/>
          </a:p>
          <a:p>
            <a:endParaRPr lang="en-US"/>
          </a:p>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5435" y="1210310"/>
            <a:ext cx="8965565" cy="3046095"/>
          </a:xfrm>
          <a:prstGeom prst="rect">
            <a:avLst/>
          </a:prstGeom>
          <a:noFill/>
        </p:spPr>
        <p:txBody>
          <a:bodyPr wrap="square" rtlCol="0" anchor="t">
            <a:spAutoFit/>
          </a:bodyPr>
          <a:p>
            <a:r>
              <a:rPr lang="en-US">
                <a:sym typeface="+mn-ea"/>
              </a:rPr>
              <a:t>Basic concepts of OOPs are:</a:t>
            </a:r>
            <a:endParaRPr lang="en-US"/>
          </a:p>
          <a:p>
            <a:endParaRPr lang="en-US"/>
          </a:p>
          <a:p>
            <a:r>
              <a:rPr lang="en-US">
                <a:sym typeface="+mn-ea"/>
              </a:rPr>
              <a:t>    Object</a:t>
            </a:r>
            <a:endParaRPr lang="en-US"/>
          </a:p>
          <a:p>
            <a:r>
              <a:rPr lang="en-US">
                <a:sym typeface="+mn-ea"/>
              </a:rPr>
              <a:t>    Class</a:t>
            </a:r>
            <a:endParaRPr lang="en-US"/>
          </a:p>
          <a:p>
            <a:r>
              <a:rPr lang="en-US">
                <a:sym typeface="+mn-ea"/>
              </a:rPr>
              <a:t>    Inheritance</a:t>
            </a:r>
            <a:endParaRPr lang="en-US"/>
          </a:p>
          <a:p>
            <a:r>
              <a:rPr lang="en-US">
                <a:sym typeface="+mn-ea"/>
              </a:rPr>
              <a:t>    Polymorphism</a:t>
            </a:r>
            <a:endParaRPr lang="en-US"/>
          </a:p>
          <a:p>
            <a:r>
              <a:rPr lang="en-US">
                <a:sym typeface="+mn-ea"/>
              </a:rPr>
              <a:t>    Abstraction</a:t>
            </a:r>
            <a:endParaRPr lang="en-US"/>
          </a:p>
          <a:p>
            <a:r>
              <a:rPr lang="en-US">
                <a:sym typeface="+mn-ea"/>
              </a:rPr>
              <a:t>    Encapsulation</a:t>
            </a:r>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5435" y="1210310"/>
            <a:ext cx="8965565" cy="4523105"/>
          </a:xfrm>
          <a:prstGeom prst="rect">
            <a:avLst/>
          </a:prstGeom>
          <a:noFill/>
        </p:spPr>
        <p:txBody>
          <a:bodyPr wrap="square" rtlCol="0" anchor="t">
            <a:spAutoFit/>
          </a:bodyPr>
          <a:p>
            <a:r>
              <a:rPr lang="en-US" b="1">
                <a:solidFill>
                  <a:srgbClr val="C00000"/>
                </a:solidFill>
                <a:sym typeface="+mn-ea"/>
              </a:rPr>
              <a:t>2. Simple</a:t>
            </a:r>
            <a:endParaRPr lang="en-US">
              <a:sym typeface="+mn-ea"/>
            </a:endParaRPr>
          </a:p>
          <a:p>
            <a:endParaRPr lang="en-US">
              <a:sym typeface="+mn-ea"/>
            </a:endParaRPr>
          </a:p>
          <a:p>
            <a:r>
              <a:rPr lang="en-US">
                <a:sym typeface="+mn-ea"/>
              </a:rPr>
              <a:t>Java is very easy to learn and its syntax is simple, clean and easy to understand. According to Sun, Java language is a simple programming language because:</a:t>
            </a:r>
            <a:endParaRPr lang="en-US">
              <a:sym typeface="+mn-ea"/>
            </a:endParaRPr>
          </a:p>
          <a:p>
            <a:endParaRPr lang="en-US">
              <a:sym typeface="+mn-ea"/>
            </a:endParaRPr>
          </a:p>
          <a:p>
            <a:r>
              <a:rPr lang="en-US">
                <a:sym typeface="+mn-ea"/>
              </a:rPr>
              <a:t>    Java syntax is based on C++ (so easier for programmers to learn it after C++).</a:t>
            </a:r>
            <a:endParaRPr lang="en-US">
              <a:sym typeface="+mn-ea"/>
            </a:endParaRPr>
          </a:p>
          <a:p>
            <a:r>
              <a:rPr lang="en-US">
                <a:sym typeface="+mn-ea"/>
              </a:rPr>
              <a:t>    Java has removed many confusing and rarely-used features e.g. explicit pointers, operator overloading etc.</a:t>
            </a:r>
            <a:endParaRPr lang="en-US">
              <a:sym typeface="+mn-ea"/>
            </a:endParaRPr>
          </a:p>
          <a:p>
            <a:r>
              <a:rPr lang="en-US">
                <a:sym typeface="+mn-ea"/>
              </a:rPr>
              <a:t>    There is no need to remove unreferenced objects because there is Automatic Garbage Collection in java.</a:t>
            </a:r>
            <a:endParaRPr lang="en-US">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5435" y="1210310"/>
            <a:ext cx="8666480" cy="5262245"/>
          </a:xfrm>
          <a:prstGeom prst="rect">
            <a:avLst/>
          </a:prstGeom>
          <a:noFill/>
        </p:spPr>
        <p:txBody>
          <a:bodyPr wrap="square" rtlCol="0" anchor="t">
            <a:spAutoFit/>
          </a:bodyPr>
          <a:p>
            <a:r>
              <a:rPr lang="en-US" b="1">
                <a:solidFill>
                  <a:srgbClr val="C00000"/>
                </a:solidFill>
                <a:sym typeface="+mn-ea"/>
              </a:rPr>
              <a:t>3. Secured</a:t>
            </a:r>
            <a:endParaRPr lang="en-US" b="1">
              <a:solidFill>
                <a:srgbClr val="C00000"/>
              </a:solidFill>
              <a:sym typeface="+mn-ea"/>
            </a:endParaRPr>
          </a:p>
          <a:p>
            <a:endParaRPr lang="en-US" b="1">
              <a:solidFill>
                <a:srgbClr val="C00000"/>
              </a:solidFill>
              <a:sym typeface="+mn-ea"/>
            </a:endParaRPr>
          </a:p>
          <a:p>
            <a:r>
              <a:rPr lang="en-US">
                <a:solidFill>
                  <a:schemeClr val="tx1"/>
                </a:solidFill>
                <a:sym typeface="+mn-ea"/>
              </a:rPr>
              <a:t>Java is best known for its security. With Java, we can develop virus-free systems. Java is secured because:</a:t>
            </a:r>
            <a:endParaRPr lang="en-US">
              <a:solidFill>
                <a:schemeClr val="tx1"/>
              </a:solidFill>
              <a:sym typeface="+mn-ea"/>
            </a:endParaRPr>
          </a:p>
          <a:p>
            <a:endParaRPr lang="en-US">
              <a:solidFill>
                <a:schemeClr val="tx1"/>
              </a:solidFill>
              <a:sym typeface="+mn-ea"/>
            </a:endParaRPr>
          </a:p>
          <a:p>
            <a:r>
              <a:rPr lang="en-US">
                <a:solidFill>
                  <a:schemeClr val="tx1"/>
                </a:solidFill>
                <a:sym typeface="+mn-ea"/>
              </a:rPr>
              <a:t>i) </a:t>
            </a:r>
            <a:r>
              <a:rPr lang="en-US" b="1">
                <a:solidFill>
                  <a:schemeClr val="tx1"/>
                </a:solidFill>
                <a:sym typeface="+mn-ea"/>
              </a:rPr>
              <a:t>No explicit pointer</a:t>
            </a:r>
            <a:endParaRPr lang="en-US">
              <a:solidFill>
                <a:schemeClr val="tx1"/>
              </a:solidFill>
              <a:sym typeface="+mn-ea"/>
            </a:endParaRPr>
          </a:p>
          <a:p>
            <a:r>
              <a:rPr lang="en-US">
                <a:solidFill>
                  <a:schemeClr val="tx1"/>
                </a:solidFill>
                <a:sym typeface="+mn-ea"/>
              </a:rPr>
              <a:t>ii) </a:t>
            </a:r>
            <a:r>
              <a:rPr lang="en-US" b="1">
                <a:solidFill>
                  <a:schemeClr val="tx1"/>
                </a:solidFill>
                <a:sym typeface="+mn-ea"/>
              </a:rPr>
              <a:t>Java Programs run inside virtual machine sandbox</a:t>
            </a:r>
            <a:endParaRPr lang="en-US">
              <a:solidFill>
                <a:schemeClr val="tx1"/>
              </a:solidFill>
              <a:sym typeface="+mn-ea"/>
            </a:endParaRPr>
          </a:p>
          <a:p>
            <a:endParaRPr lang="en-US">
              <a:solidFill>
                <a:schemeClr val="tx1"/>
              </a:solidFill>
              <a:sym typeface="+mn-ea"/>
            </a:endParaRPr>
          </a:p>
          <a:p>
            <a:r>
              <a:rPr lang="en-US">
                <a:solidFill>
                  <a:schemeClr val="tx1"/>
                </a:solidFill>
                <a:sym typeface="+mn-ea"/>
              </a:rPr>
              <a:t>iii) </a:t>
            </a:r>
            <a:r>
              <a:rPr lang="en-US" b="1">
                <a:solidFill>
                  <a:schemeClr val="tx1"/>
                </a:solidFill>
                <a:sym typeface="+mn-ea"/>
              </a:rPr>
              <a:t>Classloader</a:t>
            </a:r>
            <a:r>
              <a:rPr lang="en-US">
                <a:solidFill>
                  <a:schemeClr val="tx1"/>
                </a:solidFill>
                <a:sym typeface="+mn-ea"/>
              </a:rPr>
              <a:t>: Classloader in Java is a part of the Java Runtime Environment(JRE) which is used to dynamically load Java classes into the Java Virtual Machine. It adds security by separating the package for the classes of the local file system from those that are imported from network sources.</a:t>
            </a:r>
            <a:endParaRPr lang="en-US">
              <a:solidFill>
                <a:schemeClr val="tx1"/>
              </a:solidFill>
              <a:sym typeface="+mn-ea"/>
            </a:endParaRPr>
          </a:p>
          <a:p>
            <a:r>
              <a:rPr lang="en-US">
                <a:solidFill>
                  <a:schemeClr val="tx1"/>
                </a:solidFill>
                <a:sym typeface="+mn-ea"/>
              </a:rPr>
              <a:t>    </a:t>
            </a:r>
            <a:endParaRPr lang="en-US">
              <a:solidFill>
                <a:schemeClr val="tx1"/>
              </a:solidFill>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5435" y="1210310"/>
            <a:ext cx="8965565" cy="3415030"/>
          </a:xfrm>
          <a:prstGeom prst="rect">
            <a:avLst/>
          </a:prstGeom>
          <a:noFill/>
        </p:spPr>
        <p:txBody>
          <a:bodyPr wrap="square" rtlCol="0" anchor="t">
            <a:spAutoFit/>
          </a:bodyPr>
          <a:p>
            <a:r>
              <a:rPr lang="en-US" b="1">
                <a:sym typeface="+mn-ea"/>
              </a:rPr>
              <a:t>iv) Bytecode Verifier :</a:t>
            </a:r>
            <a:r>
              <a:rPr lang="en-US">
                <a:sym typeface="+mn-ea"/>
              </a:rPr>
              <a:t> It checks the code fragments for illegal code that can violate access right to objects.</a:t>
            </a:r>
            <a:endParaRPr lang="en-US">
              <a:solidFill>
                <a:schemeClr val="tx1"/>
              </a:solidFill>
              <a:sym typeface="+mn-ea"/>
            </a:endParaRPr>
          </a:p>
          <a:p>
            <a:r>
              <a:rPr lang="en-US">
                <a:sym typeface="+mn-ea"/>
              </a:rPr>
              <a:t>    </a:t>
            </a:r>
            <a:endParaRPr lang="en-US">
              <a:sym typeface="+mn-ea"/>
            </a:endParaRPr>
          </a:p>
          <a:p>
            <a:r>
              <a:rPr lang="en-US" b="1">
                <a:sym typeface="+mn-ea"/>
              </a:rPr>
              <a:t>v) Security Manager :</a:t>
            </a:r>
            <a:r>
              <a:rPr lang="en-US">
                <a:sym typeface="+mn-ea"/>
              </a:rPr>
              <a:t> It determines what resources a class can access such as reading and writing to the local disk.</a:t>
            </a:r>
            <a:endParaRPr lang="en-US">
              <a:solidFill>
                <a:schemeClr val="tx1"/>
              </a:solidFill>
              <a:sym typeface="+mn-ea"/>
            </a:endParaRPr>
          </a:p>
          <a:p>
            <a:endParaRPr lang="en-US">
              <a:solidFill>
                <a:schemeClr val="tx1"/>
              </a:solidFill>
              <a:sym typeface="+mn-ea"/>
            </a:endParaRPr>
          </a:p>
          <a:p>
            <a:r>
              <a:rPr lang="en-US">
                <a:sym typeface="+mn-ea"/>
              </a:rPr>
              <a:t>These security are provided by java language. Some security can also be provided by application developer through SSL, JAAS, Cryptography etc.</a:t>
            </a:r>
            <a:endParaRPr lang="en-US">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pic>
        <p:nvPicPr>
          <p:cNvPr id="2" name="Picture 1" descr="java-security"/>
          <p:cNvPicPr>
            <a:picLocks noChangeAspect="1"/>
          </p:cNvPicPr>
          <p:nvPr/>
        </p:nvPicPr>
        <p:blipFill>
          <a:blip r:embed="rId1"/>
          <a:stretch>
            <a:fillRect/>
          </a:stretch>
        </p:blipFill>
        <p:spPr>
          <a:xfrm>
            <a:off x="56515" y="1581785"/>
            <a:ext cx="8744585" cy="48914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04165" y="974090"/>
            <a:ext cx="8844915" cy="5631180"/>
          </a:xfrm>
          <a:prstGeom prst="rect">
            <a:avLst/>
          </a:prstGeom>
          <a:noFill/>
        </p:spPr>
        <p:txBody>
          <a:bodyPr wrap="square" rtlCol="0" anchor="t">
            <a:spAutoFit/>
          </a:bodyPr>
          <a:p>
            <a:endParaRPr lang="en-US"/>
          </a:p>
          <a:p>
            <a:r>
              <a:rPr lang="en-US" b="1">
                <a:solidFill>
                  <a:srgbClr val="C00000"/>
                </a:solidFill>
              </a:rPr>
              <a:t>4. Platform Independent</a:t>
            </a:r>
            <a:endParaRPr lang="en-US" b="1">
              <a:solidFill>
                <a:srgbClr val="C00000"/>
              </a:solidFill>
            </a:endParaRPr>
          </a:p>
          <a:p>
            <a:endParaRPr lang="en-US"/>
          </a:p>
          <a:p>
            <a:r>
              <a:rPr lang="en-US"/>
              <a:t>Java is platform independent because it is different from other languages like C, C++ etc. which are compiled into platform specific machines while Java is a write once, run anywhere language. A platform is the hardware or software environment in which a program runs.</a:t>
            </a:r>
            <a:endParaRPr lang="en-US"/>
          </a:p>
          <a:p>
            <a:endParaRPr lang="en-US"/>
          </a:p>
          <a:p>
            <a:r>
              <a:rPr lang="en-US"/>
              <a:t>There are two types of platforms software-based and hardware-based. Java provides software-based platform.</a:t>
            </a:r>
            <a:endParaRPr lang="en-US"/>
          </a:p>
          <a:p>
            <a:endParaRPr lang="en-US"/>
          </a:p>
          <a:p>
            <a:r>
              <a:rPr lang="en-US"/>
              <a:t>The Java platform differs from most other platforms in the sense that it is a software-based platform that runs on the top of other hardware-based platforms. It has two components: </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67665" y="1347470"/>
            <a:ext cx="8345805" cy="3784600"/>
          </a:xfrm>
          <a:prstGeom prst="rect">
            <a:avLst/>
          </a:prstGeom>
          <a:noFill/>
        </p:spPr>
        <p:txBody>
          <a:bodyPr wrap="square" rtlCol="0" anchor="t">
            <a:spAutoFit/>
          </a:bodyPr>
          <a:p>
            <a:endParaRPr lang="en-US"/>
          </a:p>
          <a:p>
            <a:r>
              <a:rPr lang="en-US"/>
              <a:t>    a. Runtime Environment</a:t>
            </a:r>
            <a:endParaRPr lang="en-US"/>
          </a:p>
          <a:p>
            <a:r>
              <a:rPr lang="en-US"/>
              <a:t>    b. API(Application Programming Interface)</a:t>
            </a:r>
            <a:endParaRPr lang="en-US"/>
          </a:p>
          <a:p>
            <a:endParaRPr lang="en-US"/>
          </a:p>
          <a:p>
            <a:r>
              <a:rPr lang="en-US"/>
              <a:t>Java code can be run on multiple platforms e.g. Windows, Linux, Sun Solaris, Mac/OS etc. Java code is compiled by the compiler and converted into bytecode. This bytecode is a platform-independent code because it can be run on multiple platforms i.e. Write Once and Run Anywhere(WORA).</a:t>
            </a:r>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pic>
        <p:nvPicPr>
          <p:cNvPr id="2" name="Picture 1" descr="platform-independent-java"/>
          <p:cNvPicPr>
            <a:picLocks noChangeAspect="1"/>
          </p:cNvPicPr>
          <p:nvPr/>
        </p:nvPicPr>
        <p:blipFill>
          <a:blip r:embed="rId1"/>
          <a:stretch>
            <a:fillRect/>
          </a:stretch>
        </p:blipFill>
        <p:spPr>
          <a:xfrm>
            <a:off x="1374140" y="1603375"/>
            <a:ext cx="6419850" cy="438848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97510" y="1240790"/>
            <a:ext cx="8428355" cy="4892675"/>
          </a:xfrm>
          <a:prstGeom prst="rect">
            <a:avLst/>
          </a:prstGeom>
          <a:noFill/>
        </p:spPr>
        <p:txBody>
          <a:bodyPr wrap="square" rtlCol="0" anchor="t">
            <a:spAutoFit/>
          </a:bodyPr>
          <a:p>
            <a:r>
              <a:rPr lang="en-US" b="1">
                <a:solidFill>
                  <a:srgbClr val="C00000"/>
                </a:solidFill>
              </a:rPr>
              <a:t>5. Robust</a:t>
            </a:r>
            <a:endParaRPr lang="en-US"/>
          </a:p>
          <a:p>
            <a:r>
              <a:rPr lang="en-US"/>
              <a:t>Robust simply means strong. Java is robust because:</a:t>
            </a:r>
            <a:endParaRPr lang="en-US"/>
          </a:p>
          <a:p>
            <a:endParaRPr lang="en-US"/>
          </a:p>
          <a:p>
            <a:r>
              <a:rPr lang="en-US"/>
              <a:t>    a. It uses strong memory management.</a:t>
            </a:r>
            <a:endParaRPr lang="en-US"/>
          </a:p>
          <a:p>
            <a:endParaRPr lang="en-US"/>
          </a:p>
          <a:p>
            <a:r>
              <a:rPr lang="en-US"/>
              <a:t>    b. There are lack of pointers that avoids security problems.</a:t>
            </a:r>
            <a:endParaRPr lang="en-US"/>
          </a:p>
          <a:p>
            <a:endParaRPr lang="en-US"/>
          </a:p>
          <a:p>
            <a:r>
              <a:rPr lang="en-US"/>
              <a:t>    c. There is automatic garbage collection in java which runs       on the Java Virtual Machine to get rid of objects which are not being used by a Java application anymore.</a:t>
            </a:r>
            <a:endParaRPr lang="en-US"/>
          </a:p>
          <a:p>
            <a:endParaRPr lang="en-US"/>
          </a:p>
          <a:p>
            <a:r>
              <a:rPr lang="en-US"/>
              <a:t>    d. There is exception handling and type checking mechanism in java. All these points makes java robust.</a:t>
            </a:r>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97510" y="1240790"/>
            <a:ext cx="8428355" cy="5631180"/>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6. Portable</a:t>
            </a:r>
            <a:endParaRPr lang="en-US" b="1">
              <a:solidFill>
                <a:srgbClr val="C00000"/>
              </a:solidFill>
              <a:latin typeface="Times New Roman" panose="02020603050405020304" pitchFamily="18" charset="0"/>
              <a:cs typeface="Times New Roman" panose="02020603050405020304" pitchFamily="18" charset="0"/>
            </a:endParaRPr>
          </a:p>
          <a:p>
            <a:endParaRPr lang="en-US" b="1">
              <a:solidFill>
                <a:srgbClr val="C00000"/>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sym typeface="+mn-ea"/>
              </a:rPr>
              <a:t>Java is portable because it facilitates you to carry the java bytecode to any platform. It doesn't require any type of implementation. </a:t>
            </a:r>
            <a:endParaRPr lang="en-US">
              <a:solidFill>
                <a:schemeClr val="tx1"/>
              </a:solidFill>
              <a:latin typeface="Times New Roman" panose="02020603050405020304" pitchFamily="18" charset="0"/>
              <a:cs typeface="Times New Roman" panose="02020603050405020304" pitchFamily="18" charset="0"/>
            </a:endParaRPr>
          </a:p>
          <a:p>
            <a:endParaRPr lang="en-US" b="1">
              <a:solidFill>
                <a:srgbClr val="C00000"/>
              </a:solidFill>
              <a:latin typeface="Times New Roman" panose="02020603050405020304" pitchFamily="18" charset="0"/>
              <a:cs typeface="Times New Roman" panose="02020603050405020304" pitchFamily="18" charset="0"/>
            </a:endParaRPr>
          </a:p>
          <a:p>
            <a:r>
              <a:rPr lang="en-US" b="1">
                <a:solidFill>
                  <a:srgbClr val="C00000"/>
                </a:solidFill>
                <a:latin typeface="Times New Roman" panose="02020603050405020304" pitchFamily="18" charset="0"/>
                <a:cs typeface="Times New Roman" panose="02020603050405020304" pitchFamily="18" charset="0"/>
              </a:rPr>
              <a:t>7. Architecture-neutral</a:t>
            </a:r>
            <a:endParaRPr lang="en-US" b="1">
              <a:solidFill>
                <a:srgbClr val="C00000"/>
              </a:solidFill>
              <a:latin typeface="Times New Roman" panose="02020603050405020304" pitchFamily="18" charset="0"/>
              <a:cs typeface="Times New Roman" panose="02020603050405020304" pitchFamily="18" charset="0"/>
            </a:endParaRPr>
          </a:p>
          <a:p>
            <a:endParaRPr lang="en-US" b="1">
              <a:solidFill>
                <a:srgbClr val="C00000"/>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Java is architecture neutral because there is no implementation dependent features e.g. size of primitive types is fixed.</a:t>
            </a:r>
            <a:endParaRPr lang="en-US">
              <a:solidFill>
                <a:schemeClr val="tx1"/>
              </a:solidFill>
              <a:latin typeface="Times New Roman" panose="02020603050405020304" pitchFamily="18" charset="0"/>
              <a:cs typeface="Times New Roman" panose="02020603050405020304" pitchFamily="18" charset="0"/>
            </a:endParaRPr>
          </a:p>
          <a:p>
            <a:endParaRPr lang="en-US">
              <a:solidFill>
                <a:schemeClr val="tx1"/>
              </a:solidFill>
              <a:latin typeface="Times New Roman" panose="02020603050405020304" pitchFamily="18" charset="0"/>
              <a:cs typeface="Times New Roman" panose="02020603050405020304" pitchFamily="18" charset="0"/>
            </a:endParaRPr>
          </a:p>
          <a:p>
            <a:r>
              <a:rPr lang="en-US">
                <a:solidFill>
                  <a:schemeClr val="tx1"/>
                </a:solidFill>
                <a:latin typeface="Times New Roman" panose="02020603050405020304" pitchFamily="18" charset="0"/>
                <a:cs typeface="Times New Roman" panose="02020603050405020304" pitchFamily="18" charset="0"/>
              </a:rPr>
              <a:t>In C programming, int data type occupies 2 bytes of memory for 32-bit architecture and 4 bytes of memory for 64-bit architecture. But in java, it occupies 4 bytes of memory for both 32 and 64 bit architectures.</a:t>
            </a:r>
            <a:endParaRPr lang="en-US">
              <a:solidFill>
                <a:schemeClr val="tx1"/>
              </a:solidFill>
              <a:latin typeface="Times New Roman" panose="02020603050405020304" pitchFamily="18" charset="0"/>
              <a:cs typeface="Times New Roman" panose="02020603050405020304" pitchFamily="18" charset="0"/>
            </a:endParaRPr>
          </a:p>
          <a:p>
            <a:endParaRPr lang="en-US">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97510" y="1240790"/>
            <a:ext cx="8428355" cy="304609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8. Dynamic</a:t>
            </a:r>
            <a:endParaRPr lang="en-US" b="1">
              <a:solidFill>
                <a:srgbClr val="C00000"/>
              </a:solidFill>
              <a:latin typeface="Times New Roman" panose="02020603050405020304" pitchFamily="18" charset="0"/>
              <a:cs typeface="Times New Roman" panose="02020603050405020304" pitchFamily="18" charset="0"/>
              <a:sym typeface="+mn-ea"/>
            </a:endParaRPr>
          </a:p>
          <a:p>
            <a:endParaRPr lang="en-US" b="1">
              <a:solidFill>
                <a:srgbClr val="C00000"/>
              </a:solidFill>
              <a:latin typeface="Times New Roman" panose="02020603050405020304" pitchFamily="18" charset="0"/>
              <a:cs typeface="Times New Roman" panose="02020603050405020304" pitchFamily="18" charset="0"/>
              <a:sym typeface="+mn-ea"/>
            </a:endParaRPr>
          </a:p>
          <a:p>
            <a:r>
              <a:rPr lang="en-US">
                <a:solidFill>
                  <a:schemeClr val="tx1"/>
                </a:solidFill>
                <a:latin typeface="Times New Roman" panose="02020603050405020304" pitchFamily="18" charset="0"/>
                <a:cs typeface="Times New Roman" panose="02020603050405020304" pitchFamily="18" charset="0"/>
                <a:sym typeface="+mn-ea"/>
              </a:rPr>
              <a:t>Java is a dynamic language. It supports dynamic loading of classes. It means classes are loaded on demand. It also supports functions from its native languages i.e. C and C++.</a:t>
            </a:r>
            <a:endParaRPr lang="en-US">
              <a:solidFill>
                <a:schemeClr val="tx1"/>
              </a:solidFill>
              <a:latin typeface="Times New Roman" panose="02020603050405020304" pitchFamily="18" charset="0"/>
              <a:cs typeface="Times New Roman" panose="02020603050405020304" pitchFamily="18" charset="0"/>
              <a:sym typeface="+mn-ea"/>
            </a:endParaRPr>
          </a:p>
          <a:p>
            <a:endParaRPr lang="en-US">
              <a:solidFill>
                <a:schemeClr val="tx1"/>
              </a:solidFill>
              <a:latin typeface="Times New Roman" panose="02020603050405020304" pitchFamily="18" charset="0"/>
              <a:cs typeface="Times New Roman" panose="02020603050405020304" pitchFamily="18" charset="0"/>
              <a:sym typeface="+mn-ea"/>
            </a:endParaRPr>
          </a:p>
          <a:p>
            <a:r>
              <a:rPr lang="en-US">
                <a:solidFill>
                  <a:schemeClr val="tx1"/>
                </a:solidFill>
                <a:latin typeface="Times New Roman" panose="02020603050405020304" pitchFamily="18" charset="0"/>
                <a:cs typeface="Times New Roman" panose="02020603050405020304" pitchFamily="18" charset="0"/>
                <a:sym typeface="+mn-ea"/>
              </a:rPr>
              <a:t>Java supports dynamic compilation and automatic memory management (garbage collection).</a:t>
            </a:r>
            <a:endParaRPr lang="en-US">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97510" y="1240790"/>
            <a:ext cx="8428355" cy="5631180"/>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10. High-performance</a:t>
            </a:r>
            <a:endParaRPr lang="en-US" b="1">
              <a:solidFill>
                <a:srgbClr val="C00000"/>
              </a:solidFill>
              <a:latin typeface="Times New Roman" panose="02020603050405020304" pitchFamily="18" charset="0"/>
              <a:cs typeface="Times New Roman" panose="02020603050405020304" pitchFamily="18" charset="0"/>
              <a:sym typeface="+mn-ea"/>
            </a:endParaRPr>
          </a:p>
          <a:p>
            <a:endParaRPr lang="en-US" b="1">
              <a:solidFill>
                <a:srgbClr val="C00000"/>
              </a:solidFill>
              <a:latin typeface="Times New Roman" panose="02020603050405020304" pitchFamily="18" charset="0"/>
              <a:cs typeface="Times New Roman" panose="02020603050405020304" pitchFamily="18" charset="0"/>
              <a:sym typeface="+mn-ea"/>
            </a:endParaRPr>
          </a:p>
          <a:p>
            <a:r>
              <a:rPr lang="en-US">
                <a:solidFill>
                  <a:schemeClr val="tx1"/>
                </a:solidFill>
                <a:latin typeface="Times New Roman" panose="02020603050405020304" pitchFamily="18" charset="0"/>
                <a:cs typeface="Times New Roman" panose="02020603050405020304" pitchFamily="18" charset="0"/>
                <a:sym typeface="+mn-ea"/>
              </a:rPr>
              <a:t>Java is faster than other traditional interpreted programming languages because Java bytecode is "close" to native code. It is still a little bit slower than a compiled language (e.g. C++). Java is an interpreted language that is why it is slower than compiled languages e.g. C, C++ etc.</a:t>
            </a:r>
            <a:endParaRPr lang="en-US" b="1">
              <a:solidFill>
                <a:srgbClr val="C00000"/>
              </a:solidFill>
              <a:latin typeface="Times New Roman" panose="02020603050405020304" pitchFamily="18" charset="0"/>
              <a:cs typeface="Times New Roman" panose="02020603050405020304" pitchFamily="18" charset="0"/>
              <a:sym typeface="+mn-ea"/>
            </a:endParaRPr>
          </a:p>
          <a:p>
            <a:endParaRPr lang="en-US" b="1">
              <a:solidFill>
                <a:srgbClr val="C00000"/>
              </a:solidFill>
              <a:latin typeface="Times New Roman" panose="02020603050405020304" pitchFamily="18" charset="0"/>
              <a:cs typeface="Times New Roman" panose="02020603050405020304" pitchFamily="18" charset="0"/>
              <a:sym typeface="+mn-ea"/>
            </a:endParaRPr>
          </a:p>
          <a:p>
            <a:r>
              <a:rPr lang="en-US" b="1">
                <a:solidFill>
                  <a:srgbClr val="C00000"/>
                </a:solidFill>
                <a:latin typeface="Times New Roman" panose="02020603050405020304" pitchFamily="18" charset="0"/>
                <a:cs typeface="Times New Roman" panose="02020603050405020304" pitchFamily="18" charset="0"/>
                <a:sym typeface="+mn-ea"/>
              </a:rPr>
              <a:t>11. Multi-threaded</a:t>
            </a:r>
            <a:endParaRPr lang="en-US" b="1">
              <a:solidFill>
                <a:srgbClr val="C00000"/>
              </a:solidFill>
              <a:latin typeface="Times New Roman" panose="02020603050405020304" pitchFamily="18" charset="0"/>
              <a:cs typeface="Times New Roman" panose="02020603050405020304" pitchFamily="18" charset="0"/>
              <a:sym typeface="+mn-ea"/>
            </a:endParaRPr>
          </a:p>
          <a:p>
            <a:r>
              <a:rPr lang="en-US">
                <a:solidFill>
                  <a:schemeClr val="tx1"/>
                </a:solidFill>
                <a:latin typeface="Times New Roman" panose="02020603050405020304" pitchFamily="18" charset="0"/>
                <a:cs typeface="Times New Roman" panose="02020603050405020304" pitchFamily="18" charset="0"/>
                <a:sym typeface="+mn-ea"/>
              </a:rPr>
              <a:t>A thread is like a separate program, executing concurrently. We can write Java programs that deal with many tasks at once by defining multiple threads. The main advantage of multi-threading is that it doesn't occupy memory for each thread. It shares a common memory area. Threads are important for multi-media, Web applications etc. </a:t>
            </a:r>
            <a:endParaRPr lang="en-US">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Features of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97510" y="1240790"/>
            <a:ext cx="8428355" cy="2306955"/>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12. Distributed</a:t>
            </a:r>
            <a:endParaRPr lang="en-US" b="1">
              <a:solidFill>
                <a:srgbClr val="C00000"/>
              </a:solidFill>
              <a:latin typeface="Times New Roman" panose="02020603050405020304" pitchFamily="18" charset="0"/>
              <a:cs typeface="Times New Roman" panose="02020603050405020304" pitchFamily="18" charset="0"/>
              <a:sym typeface="+mn-ea"/>
            </a:endParaRPr>
          </a:p>
          <a:p>
            <a:endParaRPr lang="en-US" b="1">
              <a:solidFill>
                <a:srgbClr val="C00000"/>
              </a:solidFill>
              <a:latin typeface="Times New Roman" panose="02020603050405020304" pitchFamily="18" charset="0"/>
              <a:cs typeface="Times New Roman" panose="02020603050405020304" pitchFamily="18" charset="0"/>
              <a:sym typeface="+mn-ea"/>
            </a:endParaRPr>
          </a:p>
          <a:p>
            <a:r>
              <a:rPr lang="en-US">
                <a:solidFill>
                  <a:schemeClr val="tx1"/>
                </a:solidFill>
                <a:latin typeface="Times New Roman" panose="02020603050405020304" pitchFamily="18" charset="0"/>
                <a:cs typeface="Times New Roman" panose="02020603050405020304" pitchFamily="18" charset="0"/>
                <a:sym typeface="+mn-ea"/>
              </a:rPr>
              <a:t>Java is distributed because it facilitates users to create distributed applications in java. RMI and EJB are used for creating distributed applications. This feature of Java makes us able to access files by calling the methods from any machine on the internet.</a:t>
            </a:r>
            <a:endParaRPr lang="en-US">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C++ vs Java</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3" name="Text Box 2"/>
          <p:cNvSpPr txBox="1"/>
          <p:nvPr/>
        </p:nvSpPr>
        <p:spPr>
          <a:xfrm>
            <a:off x="397510" y="1240790"/>
            <a:ext cx="8428355" cy="1938020"/>
          </a:xfrm>
          <a:prstGeom prst="rect">
            <a:avLst/>
          </a:prstGeom>
          <a:noFill/>
        </p:spPr>
        <p:txBody>
          <a:bodyPr wrap="square" rtlCol="0" anchor="t">
            <a:spAutoFit/>
          </a:bodyPr>
          <a:p>
            <a:r>
              <a:rPr lang="en-US" b="1">
                <a:solidFill>
                  <a:srgbClr val="C00000"/>
                </a:solidFill>
                <a:latin typeface="Times New Roman" panose="02020603050405020304" pitchFamily="18" charset="0"/>
                <a:cs typeface="Times New Roman" panose="02020603050405020304" pitchFamily="18" charset="0"/>
                <a:sym typeface="+mn-ea"/>
              </a:rPr>
              <a:t>C++ vs Java</a:t>
            </a:r>
            <a:endParaRPr lang="en-US" b="1">
              <a:solidFill>
                <a:srgbClr val="C00000"/>
              </a:solidFill>
              <a:latin typeface="Times New Roman" panose="02020603050405020304" pitchFamily="18" charset="0"/>
              <a:cs typeface="Times New Roman" panose="02020603050405020304" pitchFamily="18" charset="0"/>
              <a:sym typeface="+mn-ea"/>
            </a:endParaRPr>
          </a:p>
          <a:p>
            <a:endParaRPr lang="en-US" b="1">
              <a:solidFill>
                <a:srgbClr val="C00000"/>
              </a:solidFill>
              <a:latin typeface="Times New Roman" panose="02020603050405020304" pitchFamily="18" charset="0"/>
              <a:cs typeface="Times New Roman" panose="02020603050405020304" pitchFamily="18" charset="0"/>
              <a:sym typeface="+mn-ea"/>
            </a:endParaRPr>
          </a:p>
          <a:p>
            <a:r>
              <a:rPr lang="en-US">
                <a:solidFill>
                  <a:schemeClr val="tx1"/>
                </a:solidFill>
                <a:latin typeface="Times New Roman" panose="02020603050405020304" pitchFamily="18" charset="0"/>
                <a:cs typeface="Times New Roman" panose="02020603050405020304" pitchFamily="18" charset="0"/>
                <a:sym typeface="+mn-ea"/>
              </a:rPr>
              <a:t>There are many differences and similarities between C++ programming language and Java. A list of top differences between C++ and Java are given below:</a:t>
            </a:r>
            <a:endParaRPr lang="en-US">
              <a:solidFill>
                <a:schemeClr val="tx1"/>
              </a:solidFill>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C++ vs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graphicFrame>
        <p:nvGraphicFramePr>
          <p:cNvPr id="2" name="Table 1"/>
          <p:cNvGraphicFramePr/>
          <p:nvPr/>
        </p:nvGraphicFramePr>
        <p:xfrm>
          <a:off x="481330" y="1544955"/>
          <a:ext cx="7649210" cy="4636770"/>
        </p:xfrm>
        <a:graphic>
          <a:graphicData uri="http://schemas.openxmlformats.org/drawingml/2006/table">
            <a:tbl>
              <a:tblPr firstRow="1" bandRow="1">
                <a:tableStyleId>{5C22544A-7EE6-4342-B048-85BDC9FD1C3A}</a:tableStyleId>
              </a:tblPr>
              <a:tblGrid>
                <a:gridCol w="1760220"/>
                <a:gridCol w="3092450"/>
                <a:gridCol w="2796540"/>
              </a:tblGrid>
              <a:tr h="1545590">
                <a:tc>
                  <a:txBody>
                    <a:bodyPr/>
                    <a:p>
                      <a:pPr>
                        <a:buNone/>
                      </a:pPr>
                      <a:r>
                        <a:rPr lang="en-US"/>
                        <a:t>Comparison Index</a:t>
                      </a:r>
                      <a:endParaRPr lang="en-US"/>
                    </a:p>
                  </a:txBody>
                  <a:tcPr/>
                </a:tc>
                <a:tc>
                  <a:txBody>
                    <a:bodyPr/>
                    <a:p>
                      <a:pPr>
                        <a:buNone/>
                      </a:pPr>
                      <a:r>
                        <a:rPr lang="en-US"/>
                        <a:t>C++</a:t>
                      </a:r>
                      <a:endParaRPr lang="en-US"/>
                    </a:p>
                  </a:txBody>
                  <a:tcPr/>
                </a:tc>
                <a:tc>
                  <a:txBody>
                    <a:bodyPr/>
                    <a:p>
                      <a:pPr>
                        <a:buNone/>
                      </a:pPr>
                      <a:r>
                        <a:rPr lang="en-US"/>
                        <a:t>Java</a:t>
                      </a:r>
                      <a:endParaRPr lang="en-US"/>
                    </a:p>
                  </a:txBody>
                  <a:tcPr/>
                </a:tc>
              </a:tr>
              <a:tr h="1545590">
                <a:tc>
                  <a:txBody>
                    <a:bodyPr/>
                    <a:p>
                      <a:pPr>
                        <a:buNone/>
                      </a:pPr>
                      <a:r>
                        <a:rPr lang="en-US" b="1"/>
                        <a:t>Platform-independent</a:t>
                      </a:r>
                      <a:endParaRPr lang="en-US" b="1"/>
                    </a:p>
                  </a:txBody>
                  <a:tcPr/>
                </a:tc>
                <a:tc>
                  <a:txBody>
                    <a:bodyPr/>
                    <a:p>
                      <a:pPr>
                        <a:buNone/>
                      </a:pPr>
                      <a:r>
                        <a:rPr lang="en-US"/>
                        <a:t>C++ is platform-dependent.</a:t>
                      </a:r>
                      <a:endParaRPr lang="en-US"/>
                    </a:p>
                  </a:txBody>
                  <a:tcPr/>
                </a:tc>
                <a:tc>
                  <a:txBody>
                    <a:bodyPr/>
                    <a:p>
                      <a:pPr>
                        <a:buNone/>
                      </a:pPr>
                      <a:r>
                        <a:rPr lang="en-US"/>
                        <a:t>Java is platform-independent.</a:t>
                      </a:r>
                      <a:endParaRPr lang="en-US"/>
                    </a:p>
                  </a:txBody>
                  <a:tcPr/>
                </a:tc>
              </a:tr>
              <a:tr h="1545590">
                <a:tc>
                  <a:txBody>
                    <a:bodyPr/>
                    <a:p>
                      <a:pPr>
                        <a:buNone/>
                      </a:pPr>
                      <a:r>
                        <a:rPr lang="en-US" b="1"/>
                        <a:t>Mainly used for</a:t>
                      </a:r>
                      <a:endParaRPr lang="en-US" b="1"/>
                    </a:p>
                  </a:txBody>
                  <a:tcPr/>
                </a:tc>
                <a:tc>
                  <a:txBody>
                    <a:bodyPr/>
                    <a:p>
                      <a:pPr>
                        <a:buNone/>
                      </a:pPr>
                      <a:r>
                        <a:rPr lang="en-US"/>
                        <a:t>C++ is mainly used for system programming.</a:t>
                      </a:r>
                      <a:endParaRPr lang="en-US"/>
                    </a:p>
                  </a:txBody>
                  <a:tcPr/>
                </a:tc>
                <a:tc>
                  <a:txBody>
                    <a:bodyPr/>
                    <a:p>
                      <a:pPr>
                        <a:buNone/>
                      </a:pPr>
                      <a:r>
                        <a:rPr lang="en-US"/>
                        <a:t>Java is mainly used for application programming. It is widely used in window, web-based, enterprise and mobile applications.</a:t>
                      </a:r>
                      <a:endParaRPr lang="en-US"/>
                    </a:p>
                  </a:txBody>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C++ vs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graphicFrame>
        <p:nvGraphicFramePr>
          <p:cNvPr id="2" name="Table 1"/>
          <p:cNvGraphicFramePr/>
          <p:nvPr/>
        </p:nvGraphicFramePr>
        <p:xfrm>
          <a:off x="481330" y="1544955"/>
          <a:ext cx="7649210" cy="5110480"/>
        </p:xfrm>
        <a:graphic>
          <a:graphicData uri="http://schemas.openxmlformats.org/drawingml/2006/table">
            <a:tbl>
              <a:tblPr firstRow="1" bandRow="1">
                <a:tableStyleId>{5C22544A-7EE6-4342-B048-85BDC9FD1C3A}</a:tableStyleId>
              </a:tblPr>
              <a:tblGrid>
                <a:gridCol w="1558925"/>
                <a:gridCol w="3293745"/>
                <a:gridCol w="2796540"/>
              </a:tblGrid>
              <a:tr h="730250">
                <a:tc>
                  <a:txBody>
                    <a:bodyPr/>
                    <a:p>
                      <a:pPr>
                        <a:buNone/>
                      </a:pPr>
                      <a:r>
                        <a:rPr lang="en-US"/>
                        <a:t>Comparison Index</a:t>
                      </a:r>
                      <a:endParaRPr lang="en-US"/>
                    </a:p>
                  </a:txBody>
                  <a:tcPr/>
                </a:tc>
                <a:tc>
                  <a:txBody>
                    <a:bodyPr/>
                    <a:p>
                      <a:pPr>
                        <a:buNone/>
                      </a:pPr>
                      <a:r>
                        <a:rPr lang="en-US"/>
                        <a:t>C++</a:t>
                      </a:r>
                      <a:endParaRPr lang="en-US"/>
                    </a:p>
                  </a:txBody>
                  <a:tcPr/>
                </a:tc>
                <a:tc>
                  <a:txBody>
                    <a:bodyPr/>
                    <a:p>
                      <a:pPr>
                        <a:buNone/>
                      </a:pPr>
                      <a:r>
                        <a:rPr lang="en-US"/>
                        <a:t>Java</a:t>
                      </a:r>
                      <a:endParaRPr lang="en-US"/>
                    </a:p>
                  </a:txBody>
                  <a:tcPr/>
                </a:tc>
              </a:tr>
              <a:tr h="1545590">
                <a:tc>
                  <a:txBody>
                    <a:bodyPr/>
                    <a:p>
                      <a:pPr>
                        <a:buNone/>
                      </a:pPr>
                      <a:r>
                        <a:rPr lang="en-US" b="1"/>
                        <a:t>Design Goal</a:t>
                      </a:r>
                      <a:endParaRPr lang="en-US" b="1"/>
                    </a:p>
                  </a:txBody>
                  <a:tcPr/>
                </a:tc>
                <a:tc>
                  <a:txBody>
                    <a:bodyPr/>
                    <a:p>
                      <a:pPr>
                        <a:buNone/>
                      </a:pPr>
                      <a:r>
                        <a:rPr lang="en-US"/>
                        <a:t>C++ was designed for systems and applications programming. It was an extension of C programming language.</a:t>
                      </a:r>
                      <a:endParaRPr lang="en-US"/>
                    </a:p>
                  </a:txBody>
                  <a:tcPr/>
                </a:tc>
                <a:tc>
                  <a:txBody>
                    <a:bodyPr/>
                    <a:p>
                      <a:pPr>
                        <a:buNone/>
                      </a:pPr>
                      <a:r>
                        <a:rPr lang="en-US"/>
                        <a:t>Java was designed and created as an interpreter for printing systems but later extended as a support network computing. It was designed with a goal of being easy to use and accessible to a wider audience.</a:t>
                      </a:r>
                      <a:endParaRPr lang="en-US"/>
                    </a:p>
                  </a:txBody>
                  <a:tcPr/>
                </a:tc>
              </a:tr>
              <a:tr h="1545590">
                <a:tc>
                  <a:txBody>
                    <a:bodyPr/>
                    <a:p>
                      <a:pPr>
                        <a:buNone/>
                      </a:pPr>
                      <a:r>
                        <a:rPr lang="en-US" b="1"/>
                        <a:t>Goto</a:t>
                      </a:r>
                      <a:endParaRPr lang="en-US" b="1"/>
                    </a:p>
                  </a:txBody>
                  <a:tcPr/>
                </a:tc>
                <a:tc>
                  <a:txBody>
                    <a:bodyPr/>
                    <a:p>
                      <a:pPr>
                        <a:buNone/>
                      </a:pPr>
                      <a:r>
                        <a:rPr lang="en-US"/>
                        <a:t>C++ supports goto statement.</a:t>
                      </a:r>
                      <a:endParaRPr lang="en-US"/>
                    </a:p>
                  </a:txBody>
                  <a:tcPr/>
                </a:tc>
                <a:tc>
                  <a:txBody>
                    <a:bodyPr/>
                    <a:p>
                      <a:pPr>
                        <a:buNone/>
                      </a:pPr>
                      <a:r>
                        <a:rPr lang="en-US"/>
                        <a:t>Java doesn't support goto statement.</a:t>
                      </a:r>
                      <a:endParaRPr lang="en-US"/>
                    </a:p>
                  </a:txBody>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C++ vs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graphicFrame>
        <p:nvGraphicFramePr>
          <p:cNvPr id="2" name="Table 1"/>
          <p:cNvGraphicFramePr/>
          <p:nvPr/>
        </p:nvGraphicFramePr>
        <p:xfrm>
          <a:off x="481330" y="1544955"/>
          <a:ext cx="7649210" cy="4902200"/>
        </p:xfrm>
        <a:graphic>
          <a:graphicData uri="http://schemas.openxmlformats.org/drawingml/2006/table">
            <a:tbl>
              <a:tblPr firstRow="1" bandRow="1">
                <a:tableStyleId>{5C22544A-7EE6-4342-B048-85BDC9FD1C3A}</a:tableStyleId>
              </a:tblPr>
              <a:tblGrid>
                <a:gridCol w="1558925"/>
                <a:gridCol w="3293745"/>
                <a:gridCol w="2796540"/>
              </a:tblGrid>
              <a:tr h="730250">
                <a:tc>
                  <a:txBody>
                    <a:bodyPr/>
                    <a:p>
                      <a:pPr>
                        <a:buNone/>
                      </a:pPr>
                      <a:r>
                        <a:rPr lang="en-US"/>
                        <a:t>Comparison Index</a:t>
                      </a:r>
                      <a:endParaRPr lang="en-US"/>
                    </a:p>
                  </a:txBody>
                  <a:tcPr/>
                </a:tc>
                <a:tc>
                  <a:txBody>
                    <a:bodyPr/>
                    <a:p>
                      <a:pPr>
                        <a:buNone/>
                      </a:pPr>
                      <a:r>
                        <a:rPr lang="en-US"/>
                        <a:t>C++</a:t>
                      </a:r>
                      <a:endParaRPr lang="en-US"/>
                    </a:p>
                  </a:txBody>
                  <a:tcPr/>
                </a:tc>
                <a:tc>
                  <a:txBody>
                    <a:bodyPr/>
                    <a:p>
                      <a:pPr>
                        <a:buNone/>
                      </a:pPr>
                      <a:r>
                        <a:rPr lang="en-US"/>
                        <a:t>Java</a:t>
                      </a:r>
                      <a:endParaRPr lang="en-US"/>
                    </a:p>
                  </a:txBody>
                  <a:tcPr/>
                </a:tc>
              </a:tr>
              <a:tr h="1545590">
                <a:tc>
                  <a:txBody>
                    <a:bodyPr/>
                    <a:p>
                      <a:pPr>
                        <a:buNone/>
                      </a:pPr>
                      <a:r>
                        <a:rPr lang="en-US" b="1"/>
                        <a:t>Multiple inheritance</a:t>
                      </a:r>
                      <a:endParaRPr lang="en-US" b="1"/>
                    </a:p>
                  </a:txBody>
                  <a:tcPr/>
                </a:tc>
                <a:tc>
                  <a:txBody>
                    <a:bodyPr/>
                    <a:p>
                      <a:pPr>
                        <a:buNone/>
                      </a:pPr>
                      <a:r>
                        <a:rPr lang="en-US"/>
                        <a:t>C++ supports multiple inheritance.</a:t>
                      </a:r>
                      <a:endParaRPr lang="en-US"/>
                    </a:p>
                  </a:txBody>
                  <a:tcPr/>
                </a:tc>
                <a:tc>
                  <a:txBody>
                    <a:bodyPr/>
                    <a:p>
                      <a:pPr>
                        <a:buNone/>
                      </a:pPr>
                      <a:r>
                        <a:rPr lang="en-US"/>
                        <a:t>Java doesn't support multiple inheritance through class. It can be achieved by interfaces in java.</a:t>
                      </a:r>
                      <a:endParaRPr lang="en-US"/>
                    </a:p>
                  </a:txBody>
                  <a:tcPr/>
                </a:tc>
              </a:tr>
              <a:tr h="889000">
                <a:tc>
                  <a:txBody>
                    <a:bodyPr/>
                    <a:p>
                      <a:pPr>
                        <a:buNone/>
                      </a:pPr>
                      <a:r>
                        <a:rPr lang="en-US" b="1"/>
                        <a:t>Operator Overloading</a:t>
                      </a:r>
                      <a:endParaRPr lang="en-US" b="1"/>
                    </a:p>
                  </a:txBody>
                  <a:tcPr/>
                </a:tc>
                <a:tc>
                  <a:txBody>
                    <a:bodyPr/>
                    <a:p>
                      <a:pPr>
                        <a:buNone/>
                      </a:pPr>
                      <a:r>
                        <a:rPr lang="en-US"/>
                        <a:t>C++ supports operator overloading.</a:t>
                      </a:r>
                      <a:endParaRPr lang="en-US"/>
                    </a:p>
                  </a:txBody>
                  <a:tcPr/>
                </a:tc>
                <a:tc>
                  <a:txBody>
                    <a:bodyPr/>
                    <a:p>
                      <a:pPr>
                        <a:buNone/>
                      </a:pPr>
                      <a:r>
                        <a:rPr lang="en-US"/>
                        <a:t>Java doesn't support operator overloading.</a:t>
                      </a:r>
                      <a:endParaRPr lang="en-US"/>
                    </a:p>
                  </a:txBody>
                  <a:tcPr/>
                </a:tc>
              </a:tr>
              <a:tr h="1545590">
                <a:tc>
                  <a:txBody>
                    <a:bodyPr/>
                    <a:p>
                      <a:pPr>
                        <a:buNone/>
                      </a:pPr>
                      <a:r>
                        <a:rPr lang="en-US" b="1"/>
                        <a:t>Pointers</a:t>
                      </a:r>
                      <a:endParaRPr lang="en-US" b="1"/>
                    </a:p>
                  </a:txBody>
                  <a:tcPr/>
                </a:tc>
                <a:tc>
                  <a:txBody>
                    <a:bodyPr/>
                    <a:p>
                      <a:pPr>
                        <a:buNone/>
                      </a:pPr>
                      <a:r>
                        <a:rPr lang="en-US"/>
                        <a:t>C++ supports pointers. You can write pointer program in C++.</a:t>
                      </a:r>
                      <a:endParaRPr lang="en-US"/>
                    </a:p>
                  </a:txBody>
                  <a:tcPr/>
                </a:tc>
                <a:tc>
                  <a:txBody>
                    <a:bodyPr/>
                    <a:p>
                      <a:pPr>
                        <a:buNone/>
                      </a:pPr>
                      <a:r>
                        <a:rPr lang="en-US"/>
                        <a:t>Java supports pointer internally. But you can't write the pointer program in java. It means java has restricted pointer support in java.</a:t>
                      </a:r>
                      <a:endParaRPr lang="en-US"/>
                    </a:p>
                  </a:txBody>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2" name="Text Box 4"/>
          <p:cNvSpPr txBox="1">
            <a:spLocks noChangeArrowheads="1"/>
          </p:cNvSpPr>
          <p:nvPr/>
        </p:nvSpPr>
        <p:spPr bwMode="auto">
          <a:xfrm>
            <a:off x="304800" y="390525"/>
            <a:ext cx="73152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lang="en-US" sz="3200" noProof="0">
                <a:solidFill>
                  <a:srgbClr val="993300"/>
                </a:solidFill>
                <a:latin typeface="Impact" panose="020B0806030902050204" pitchFamily="34" charset="0"/>
                <a:sym typeface="+mn-ea"/>
              </a:rPr>
              <a:t>C++ vs Java contd.....</a:t>
            </a:r>
            <a:endParaRPr lang="en-US" sz="3200" noProof="0">
              <a:solidFill>
                <a:srgbClr val="993300"/>
              </a:solidFill>
              <a:latin typeface="Impact" panose="020B0806030902050204" pitchFamily="34" charset="0"/>
              <a:sym typeface="+mn-ea"/>
            </a:endParaRPr>
          </a:p>
        </p:txBody>
      </p:sp>
      <p:sp>
        <p:nvSpPr>
          <p:cNvPr id="10244"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graphicFrame>
        <p:nvGraphicFramePr>
          <p:cNvPr id="2" name="Table 1"/>
          <p:cNvGraphicFramePr/>
          <p:nvPr/>
        </p:nvGraphicFramePr>
        <p:xfrm>
          <a:off x="304165" y="1291590"/>
          <a:ext cx="8408035" cy="5093335"/>
        </p:xfrm>
        <a:graphic>
          <a:graphicData uri="http://schemas.openxmlformats.org/drawingml/2006/table">
            <a:tbl>
              <a:tblPr firstRow="1" bandRow="1">
                <a:tableStyleId>{5C22544A-7EE6-4342-B048-85BDC9FD1C3A}</a:tableStyleId>
              </a:tblPr>
              <a:tblGrid>
                <a:gridCol w="1713865"/>
                <a:gridCol w="3186430"/>
                <a:gridCol w="3507740"/>
              </a:tblGrid>
              <a:tr h="640080">
                <a:tc>
                  <a:txBody>
                    <a:bodyPr/>
                    <a:p>
                      <a:pPr>
                        <a:buNone/>
                      </a:pPr>
                      <a:r>
                        <a:rPr lang="en-US"/>
                        <a:t>Comparison Index</a:t>
                      </a:r>
                      <a:endParaRPr lang="en-US"/>
                    </a:p>
                  </a:txBody>
                  <a:tcPr/>
                </a:tc>
                <a:tc>
                  <a:txBody>
                    <a:bodyPr/>
                    <a:p>
                      <a:pPr>
                        <a:buNone/>
                      </a:pPr>
                      <a:r>
                        <a:rPr lang="en-US"/>
                        <a:t>C++</a:t>
                      </a:r>
                      <a:endParaRPr lang="en-US"/>
                    </a:p>
                  </a:txBody>
                  <a:tcPr/>
                </a:tc>
                <a:tc>
                  <a:txBody>
                    <a:bodyPr/>
                    <a:p>
                      <a:pPr>
                        <a:buNone/>
                      </a:pPr>
                      <a:r>
                        <a:rPr lang="en-US"/>
                        <a:t>Java</a:t>
                      </a:r>
                      <a:endParaRPr lang="en-US"/>
                    </a:p>
                  </a:txBody>
                  <a:tcPr/>
                </a:tc>
              </a:tr>
              <a:tr h="2316480">
                <a:tc>
                  <a:txBody>
                    <a:bodyPr/>
                    <a:p>
                      <a:pPr>
                        <a:buNone/>
                      </a:pPr>
                      <a:r>
                        <a:rPr lang="en-US" b="1"/>
                        <a:t>Compiler and Interpreter</a:t>
                      </a:r>
                      <a:endParaRPr lang="en-US" b="1"/>
                    </a:p>
                  </a:txBody>
                  <a:tcPr/>
                </a:tc>
                <a:tc>
                  <a:txBody>
                    <a:bodyPr/>
                    <a:p>
                      <a:pPr>
                        <a:buNone/>
                      </a:pPr>
                      <a:r>
                        <a:rPr lang="en-US"/>
                        <a:t>C++ uses compiler only. C++ is compiled and run using compiler which converts source code into machine code so, C++ is platform dependent. </a:t>
                      </a:r>
                      <a:endParaRPr lang="en-US"/>
                    </a:p>
                  </a:txBody>
                  <a:tcPr/>
                </a:tc>
                <a:tc>
                  <a:txBody>
                    <a:bodyPr/>
                    <a:p>
                      <a:pPr>
                        <a:buNone/>
                      </a:pPr>
                      <a:r>
                        <a:rPr lang="en-US"/>
                        <a:t>Java uses compiler and interpreter both. Java source code is converted into byte code at compilation time. The interpreter executes this byte code at run time and produces output. Java is interpreted that is why it is platform independent.</a:t>
                      </a:r>
                      <a:endParaRPr lang="en-US"/>
                    </a:p>
                  </a:txBody>
                  <a:tcPr/>
                </a:tc>
              </a:tr>
              <a:tr h="914400">
                <a:tc>
                  <a:txBody>
                    <a:bodyPr/>
                    <a:p>
                      <a:pPr>
                        <a:buNone/>
                      </a:pPr>
                      <a:r>
                        <a:rPr lang="en-US" b="1"/>
                        <a:t>Call by Value and Call by reference</a:t>
                      </a:r>
                      <a:endParaRPr lang="en-US" b="1"/>
                    </a:p>
                  </a:txBody>
                  <a:tcPr/>
                </a:tc>
                <a:tc>
                  <a:txBody>
                    <a:bodyPr/>
                    <a:p>
                      <a:pPr>
                        <a:buNone/>
                      </a:pPr>
                      <a:r>
                        <a:rPr lang="en-US"/>
                        <a:t>C++ supports both call by value and call by reference.</a:t>
                      </a:r>
                      <a:endParaRPr lang="en-US"/>
                    </a:p>
                  </a:txBody>
                  <a:tcPr/>
                </a:tc>
                <a:tc>
                  <a:txBody>
                    <a:bodyPr/>
                    <a:p>
                      <a:pPr>
                        <a:buNone/>
                      </a:pPr>
                      <a:r>
                        <a:rPr lang="en-US"/>
                        <a:t>Java supports call by value only. There is no call by reference in java.</a:t>
                      </a:r>
                      <a:endParaRPr lang="en-US"/>
                    </a:p>
                  </a:txBody>
                  <a:tcPr/>
                </a:tc>
              </a:tr>
              <a:tr h="1222375">
                <a:tc>
                  <a:txBody>
                    <a:bodyPr/>
                    <a:p>
                      <a:pPr>
                        <a:buNone/>
                      </a:pPr>
                      <a:r>
                        <a:rPr lang="en-US" b="1"/>
                        <a:t>Structure and Union</a:t>
                      </a:r>
                      <a:endParaRPr lang="en-US" b="1"/>
                    </a:p>
                  </a:txBody>
                  <a:tcPr/>
                </a:tc>
                <a:tc>
                  <a:txBody>
                    <a:bodyPr/>
                    <a:p>
                      <a:pPr>
                        <a:buNone/>
                      </a:pPr>
                      <a:r>
                        <a:rPr lang="en-US"/>
                        <a:t>C++ supports structures and unions.</a:t>
                      </a:r>
                      <a:endParaRPr lang="en-US"/>
                    </a:p>
                  </a:txBody>
                  <a:tcPr/>
                </a:tc>
                <a:tc>
                  <a:txBody>
                    <a:bodyPr/>
                    <a:p>
                      <a:pPr>
                        <a:buNone/>
                      </a:pPr>
                      <a:r>
                        <a:rPr lang="en-US"/>
                        <a:t>Java doesn't support structures and unions.</a:t>
                      </a:r>
                      <a:endParaRPr lang="en-US"/>
                    </a:p>
                  </a:txBody>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2" name="Text Box 4"/>
          <p:cNvSpPr txBox="1">
            <a:spLocks noChangeArrowheads="1"/>
          </p:cNvSpPr>
          <p:nvPr/>
        </p:nvSpPr>
        <p:spPr bwMode="auto">
          <a:xfrm>
            <a:off x="1828800" y="304800"/>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Example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5125"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1375410" y="1885950"/>
            <a:ext cx="6903720" cy="2676525"/>
          </a:xfrm>
          <a:prstGeom prst="rect">
            <a:avLst/>
          </a:prstGeom>
          <a:noFill/>
        </p:spPr>
        <p:txBody>
          <a:bodyPr wrap="square" rtlCol="0" anchor="t">
            <a:spAutoFit/>
          </a:bodyPr>
          <a:p>
            <a:r>
              <a:rPr lang="en-US" b="1"/>
              <a:t>public class Simple</a:t>
            </a:r>
            <a:endParaRPr lang="en-US" b="1"/>
          </a:p>
          <a:p>
            <a:r>
              <a:rPr lang="en-US" b="1"/>
              <a:t>{</a:t>
            </a:r>
            <a:endParaRPr lang="en-US" b="1"/>
          </a:p>
          <a:p>
            <a:r>
              <a:rPr lang="en-US" b="1"/>
              <a:t>public static void main(String args[])</a:t>
            </a:r>
            <a:endParaRPr lang="en-US" b="1"/>
          </a:p>
          <a:p>
            <a:r>
              <a:rPr lang="en-US" b="1"/>
              <a:t>    {</a:t>
            </a:r>
            <a:endParaRPr lang="en-US" b="1"/>
          </a:p>
          <a:p>
            <a:r>
              <a:rPr lang="en-US" b="1"/>
              <a:t>      System.out.println("hello world");</a:t>
            </a:r>
            <a:endParaRPr lang="en-US" b="1"/>
          </a:p>
          <a:p>
            <a:r>
              <a:rPr lang="en-US" b="1"/>
              <a:t>    }</a:t>
            </a:r>
            <a:endParaRPr lang="en-US" b="1"/>
          </a:p>
          <a:p>
            <a:r>
              <a:rPr lang="en-US" b="1"/>
              <a:t>}</a:t>
            </a:r>
            <a:endParaRPr lang="en-US" b="1"/>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2" name="Text Box 4"/>
          <p:cNvSpPr txBox="1">
            <a:spLocks noChangeArrowheads="1"/>
          </p:cNvSpPr>
          <p:nvPr/>
        </p:nvSpPr>
        <p:spPr bwMode="auto">
          <a:xfrm>
            <a:off x="462915" y="304800"/>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Example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5125"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582295" y="1200150"/>
            <a:ext cx="8333105" cy="6000750"/>
          </a:xfrm>
          <a:prstGeom prst="rect">
            <a:avLst/>
          </a:prstGeom>
          <a:noFill/>
        </p:spPr>
        <p:txBody>
          <a:bodyPr wrap="square" rtlCol="0" anchor="t">
            <a:spAutoFit/>
          </a:bodyPr>
          <a:p>
            <a:r>
              <a:rPr lang="en-US" b="1">
                <a:solidFill>
                  <a:srgbClr val="C00000"/>
                </a:solidFill>
              </a:rPr>
              <a:t>Parameters used in first java program</a:t>
            </a:r>
            <a:endParaRPr lang="en-US"/>
          </a:p>
          <a:p>
            <a:endParaRPr lang="en-US"/>
          </a:p>
          <a:p>
            <a:r>
              <a:rPr lang="en-US"/>
              <a:t>Let's see what is the meaning of class, public, static, void, main, String[], System.out.println().</a:t>
            </a:r>
            <a:endParaRPr lang="en-US"/>
          </a:p>
          <a:p>
            <a:endParaRPr lang="en-US"/>
          </a:p>
          <a:p>
            <a:pPr marL="342900" indent="-342900">
              <a:buFont typeface="Wingdings" panose="05000000000000000000" charset="0"/>
              <a:buChar char="Ø"/>
            </a:pPr>
            <a:r>
              <a:rPr lang="en-US" b="1">
                <a:solidFill>
                  <a:srgbClr val="C00000"/>
                </a:solidFill>
              </a:rPr>
              <a:t>class </a:t>
            </a:r>
            <a:r>
              <a:rPr lang="en-US"/>
              <a:t>keyword is used to declare a class in java.</a:t>
            </a:r>
            <a:endParaRPr lang="en-US"/>
          </a:p>
          <a:p>
            <a:pPr marL="342900" indent="-342900">
              <a:buFont typeface="Wingdings" panose="05000000000000000000" charset="0"/>
              <a:buChar char="Ø"/>
            </a:pPr>
            <a:r>
              <a:rPr lang="en-US" b="1">
                <a:solidFill>
                  <a:srgbClr val="C00000"/>
                </a:solidFill>
              </a:rPr>
              <a:t>public</a:t>
            </a:r>
            <a:r>
              <a:rPr lang="en-US"/>
              <a:t> keyword is an access modifier which represents visibility, it means it is visible to all.</a:t>
            </a:r>
            <a:endParaRPr lang="en-US"/>
          </a:p>
          <a:p>
            <a:pPr marL="342900" indent="-342900">
              <a:buFont typeface="Wingdings" panose="05000000000000000000" charset="0"/>
              <a:buChar char="Ø"/>
            </a:pPr>
            <a:endParaRPr lang="en-US"/>
          </a:p>
          <a:p>
            <a:pPr marL="342900" indent="-342900">
              <a:buFont typeface="Wingdings" panose="05000000000000000000" charset="0"/>
              <a:buChar char="Ø"/>
            </a:pPr>
            <a:r>
              <a:rPr lang="en-US" b="1">
                <a:solidFill>
                  <a:srgbClr val="C00000"/>
                </a:solidFill>
              </a:rPr>
              <a:t>static</a:t>
            </a:r>
            <a:r>
              <a:rPr lang="en-US"/>
              <a:t> is a keyword, if we declare any method as static, it is known as static method. The core advantage of static method is that there is no need to create object to invoke the static method. The main method is executed by the JVM, so it doesn't require to create object to invoke the main method. So it saves memory.</a:t>
            </a:r>
            <a:endParaRPr lang="en-US"/>
          </a:p>
          <a:p>
            <a:r>
              <a:rPr lang="en-US"/>
              <a:t>   </a:t>
            </a:r>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2" name="Text Box 4"/>
          <p:cNvSpPr txBox="1">
            <a:spLocks noChangeArrowheads="1"/>
          </p:cNvSpPr>
          <p:nvPr/>
        </p:nvSpPr>
        <p:spPr bwMode="auto">
          <a:xfrm>
            <a:off x="462915" y="304800"/>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Java Example</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5125"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582295" y="1200150"/>
            <a:ext cx="8333105" cy="5262245"/>
          </a:xfrm>
          <a:prstGeom prst="rect">
            <a:avLst/>
          </a:prstGeom>
          <a:noFill/>
        </p:spPr>
        <p:txBody>
          <a:bodyPr wrap="square" rtlCol="0" anchor="t">
            <a:spAutoFit/>
          </a:bodyPr>
          <a:p>
            <a:pPr marL="342900" indent="-342900">
              <a:buFont typeface="Wingdings" panose="05000000000000000000" charset="0"/>
              <a:buChar char="Ø"/>
            </a:pPr>
            <a:r>
              <a:rPr lang="en-US" b="1">
                <a:solidFill>
                  <a:srgbClr val="C00000"/>
                </a:solidFill>
                <a:sym typeface="+mn-ea"/>
              </a:rPr>
              <a:t>void</a:t>
            </a:r>
            <a:r>
              <a:rPr lang="en-US">
                <a:sym typeface="+mn-ea"/>
              </a:rPr>
              <a:t> is the return type of the method, it means it doesn't return any value.</a:t>
            </a:r>
            <a:endParaRPr lang="en-US">
              <a:sym typeface="+mn-ea"/>
            </a:endParaRPr>
          </a:p>
          <a:p>
            <a:pPr>
              <a:buFont typeface="Wingdings" panose="05000000000000000000" charset="0"/>
            </a:pPr>
            <a:endParaRPr lang="en-US"/>
          </a:p>
          <a:p>
            <a:pPr marL="342900" indent="-342900">
              <a:buFont typeface="Wingdings" panose="05000000000000000000" charset="0"/>
              <a:buChar char="Ø"/>
            </a:pPr>
            <a:r>
              <a:rPr lang="en-US" b="1">
                <a:solidFill>
                  <a:srgbClr val="993300"/>
                </a:solidFill>
                <a:sym typeface="+mn-ea"/>
              </a:rPr>
              <a:t>main</a:t>
            </a:r>
            <a:r>
              <a:rPr lang="en-US">
                <a:sym typeface="+mn-ea"/>
              </a:rPr>
              <a:t> represents the starting point of the program.</a:t>
            </a:r>
            <a:endParaRPr lang="en-US">
              <a:sym typeface="+mn-ea"/>
            </a:endParaRPr>
          </a:p>
          <a:p>
            <a:pPr marL="342900" indent="-342900">
              <a:buFont typeface="Wingdings" panose="05000000000000000000" charset="0"/>
              <a:buChar char="Ø"/>
            </a:pPr>
            <a:endParaRPr lang="en-US">
              <a:sym typeface="+mn-ea"/>
            </a:endParaRPr>
          </a:p>
          <a:p>
            <a:pPr marL="342900" indent="-342900">
              <a:buFont typeface="Wingdings" panose="05000000000000000000" charset="0"/>
              <a:buChar char="Ø"/>
            </a:pPr>
            <a:r>
              <a:rPr lang="en-US" b="1">
                <a:solidFill>
                  <a:srgbClr val="C00000"/>
                </a:solidFill>
                <a:sym typeface="+mn-ea"/>
              </a:rPr>
              <a:t>String[] </a:t>
            </a:r>
            <a:r>
              <a:rPr lang="en-US">
                <a:sym typeface="+mn-ea"/>
              </a:rPr>
              <a:t>args is used for command line argument. We will learn it later.</a:t>
            </a:r>
            <a:endParaRPr lang="en-US">
              <a:sym typeface="+mn-ea"/>
            </a:endParaRPr>
          </a:p>
          <a:p>
            <a:pPr marL="342900" indent="-342900">
              <a:buFont typeface="Wingdings" panose="05000000000000000000" charset="0"/>
              <a:buChar char="Ø"/>
            </a:pPr>
            <a:endParaRPr lang="en-US">
              <a:sym typeface="+mn-ea"/>
            </a:endParaRPr>
          </a:p>
          <a:p>
            <a:pPr marL="342900" indent="-342900">
              <a:buFont typeface="Wingdings" panose="05000000000000000000" charset="0"/>
              <a:buChar char="Ø"/>
            </a:pPr>
            <a:r>
              <a:rPr lang="en-US" b="1">
                <a:solidFill>
                  <a:srgbClr val="C00000"/>
                </a:solidFill>
                <a:sym typeface="+mn-ea"/>
              </a:rPr>
              <a:t>System.out.println()</a:t>
            </a:r>
            <a:r>
              <a:rPr lang="en-US">
                <a:sym typeface="+mn-ea"/>
              </a:rPr>
              <a:t> is used print statement.</a:t>
            </a:r>
            <a:endParaRPr lang="en-US">
              <a:sym typeface="+mn-ea"/>
            </a:endParaRPr>
          </a:p>
          <a:p>
            <a:pPr marL="342900" indent="-342900">
              <a:buFont typeface="Wingdings" panose="05000000000000000000" charset="0"/>
              <a:buChar char="Ø"/>
            </a:pPr>
            <a:endParaRPr lang="en-US">
              <a:sym typeface="+mn-ea"/>
            </a:endParaRPr>
          </a:p>
          <a:p>
            <a:pPr>
              <a:buFont typeface="Wingdings" panose="05000000000000000000" charset="0"/>
            </a:pPr>
            <a:r>
              <a:rPr lang="en-US">
                <a:sym typeface="+mn-ea"/>
              </a:rPr>
              <a:t> We will learn about the internal working of System.out.println statement later.</a:t>
            </a:r>
            <a:endParaRPr lang="en-US"/>
          </a:p>
          <a:p>
            <a:endParaRPr lang="en-US"/>
          </a:p>
          <a:p>
            <a:r>
              <a:rPr lang="en-US"/>
              <a:t>   </a:t>
            </a:r>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2" name="Text Box 4"/>
          <p:cNvSpPr txBox="1">
            <a:spLocks noChangeArrowheads="1"/>
          </p:cNvSpPr>
          <p:nvPr/>
        </p:nvSpPr>
        <p:spPr bwMode="auto">
          <a:xfrm>
            <a:off x="462915" y="304800"/>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Basic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5125"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582295" y="1200150"/>
            <a:ext cx="8333105" cy="4523105"/>
          </a:xfrm>
          <a:prstGeom prst="rect">
            <a:avLst/>
          </a:prstGeom>
          <a:noFill/>
        </p:spPr>
        <p:txBody>
          <a:bodyPr wrap="square" rtlCol="0" anchor="t">
            <a:spAutoFit/>
          </a:bodyPr>
          <a:p>
            <a:pPr marL="342900" indent="-342900">
              <a:buFont typeface="Wingdings" panose="05000000000000000000" charset="0"/>
              <a:buChar char="Ø"/>
            </a:pPr>
            <a:r>
              <a:rPr lang="en-US" b="1">
                <a:solidFill>
                  <a:srgbClr val="993300"/>
                </a:solidFill>
                <a:sym typeface="+mn-ea"/>
              </a:rPr>
              <a:t>Difference between JDK, JRE and JVM</a:t>
            </a:r>
            <a:endParaRPr lang="en-US">
              <a:sym typeface="+mn-ea"/>
            </a:endParaRPr>
          </a:p>
          <a:p>
            <a:pPr marL="342900" indent="-342900">
              <a:buFont typeface="Wingdings" panose="05000000000000000000" charset="0"/>
              <a:buChar char="Ø"/>
            </a:pPr>
            <a:endParaRPr lang="en-US">
              <a:sym typeface="+mn-ea"/>
            </a:endParaRPr>
          </a:p>
          <a:p>
            <a:pPr>
              <a:buFont typeface="Wingdings" panose="05000000000000000000" charset="0"/>
            </a:pPr>
            <a:r>
              <a:rPr lang="en-US">
                <a:sym typeface="+mn-ea"/>
              </a:rPr>
              <a:t> </a:t>
            </a:r>
            <a:r>
              <a:rPr lang="en-US">
                <a:latin typeface="Times New Roman" panose="02020603050405020304" pitchFamily="18" charset="0"/>
                <a:cs typeface="Times New Roman" panose="02020603050405020304" pitchFamily="18" charset="0"/>
                <a:sym typeface="+mn-ea"/>
              </a:rPr>
              <a:t>Firstly, let's see the basic differences between the JDK, JRE and JVM.</a:t>
            </a:r>
            <a:endParaRPr lang="en-US">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b="1">
                <a:solidFill>
                  <a:srgbClr val="993300"/>
                </a:solidFill>
                <a:latin typeface="Times New Roman" panose="02020603050405020304" pitchFamily="18" charset="0"/>
                <a:cs typeface="Times New Roman" panose="02020603050405020304" pitchFamily="18" charset="0"/>
                <a:sym typeface="+mn-ea"/>
              </a:rPr>
              <a:t>JVM (Java Virtual Machine)</a:t>
            </a:r>
            <a:r>
              <a:rPr lang="en-US">
                <a:latin typeface="Times New Roman" panose="02020603050405020304" pitchFamily="18" charset="0"/>
                <a:cs typeface="Times New Roman" panose="02020603050405020304" pitchFamily="18" charset="0"/>
                <a:sym typeface="+mn-ea"/>
              </a:rPr>
              <a:t> is an abstract machine. It is called virtual machine because it doesn't physically exist. It is a specification that provides runtime environment in which java bytecode can be executed. It can also run those programs which are written in other languages and compiled to Java bytecode.</a:t>
            </a:r>
            <a:endParaRPr lang="en-US">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a:sym typeface="+mn-ea"/>
            </a:endParaRPr>
          </a:p>
          <a:p>
            <a:pPr>
              <a:buFont typeface="Wingdings" panose="05000000000000000000" charset="0"/>
            </a:pPr>
            <a:endParaRPr lang="en-US">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2" name="Text Box 4"/>
          <p:cNvSpPr txBox="1">
            <a:spLocks noChangeArrowheads="1"/>
          </p:cNvSpPr>
          <p:nvPr/>
        </p:nvSpPr>
        <p:spPr bwMode="auto">
          <a:xfrm>
            <a:off x="462915" y="304800"/>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Basic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5125"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582295" y="1200150"/>
            <a:ext cx="8333105" cy="4523105"/>
          </a:xfrm>
          <a:prstGeom prst="rect">
            <a:avLst/>
          </a:prstGeom>
          <a:noFill/>
        </p:spPr>
        <p:txBody>
          <a:bodyPr wrap="square" rtlCol="0" anchor="t">
            <a:spAutoFit/>
          </a:bodyPr>
          <a:p>
            <a:pPr>
              <a:buFont typeface="Wingdings" panose="05000000000000000000" charset="0"/>
            </a:pPr>
            <a:r>
              <a:rPr lang="en-US">
                <a:latin typeface="Times New Roman" panose="02020603050405020304" pitchFamily="18" charset="0"/>
                <a:cs typeface="Times New Roman" panose="02020603050405020304" pitchFamily="18" charset="0"/>
                <a:sym typeface="+mn-ea"/>
              </a:rPr>
              <a:t>JVMs are available for many hardware and software platforms. JVM, JRE and JDK are platform dependent because configuration of each OS are different from each other. But, Java is platform independent. There are three notions of the JVM: specification, implementation, and instance.</a:t>
            </a:r>
            <a:endParaRPr lang="en-US">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a:latin typeface="Times New Roman" panose="02020603050405020304" pitchFamily="18" charset="0"/>
                <a:cs typeface="Times New Roman" panose="02020603050405020304" pitchFamily="18" charset="0"/>
                <a:sym typeface="+mn-ea"/>
              </a:rPr>
              <a:t>The JVM performs following main tasks:</a:t>
            </a:r>
            <a:endParaRPr lang="en-US">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a:latin typeface="Times New Roman" panose="02020603050405020304" pitchFamily="18" charset="0"/>
                <a:cs typeface="Times New Roman" panose="02020603050405020304" pitchFamily="18" charset="0"/>
                <a:sym typeface="+mn-ea"/>
              </a:rPr>
              <a:t>    Loads code</a:t>
            </a:r>
            <a:endParaRPr lang="en-US">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a:latin typeface="Times New Roman" panose="02020603050405020304" pitchFamily="18" charset="0"/>
                <a:cs typeface="Times New Roman" panose="02020603050405020304" pitchFamily="18" charset="0"/>
                <a:sym typeface="+mn-ea"/>
              </a:rPr>
              <a:t>    Verifies code</a:t>
            </a:r>
            <a:endParaRPr lang="en-US">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a:latin typeface="Times New Roman" panose="02020603050405020304" pitchFamily="18" charset="0"/>
                <a:cs typeface="Times New Roman" panose="02020603050405020304" pitchFamily="18" charset="0"/>
                <a:sym typeface="+mn-ea"/>
              </a:rPr>
              <a:t>    Executes code</a:t>
            </a:r>
            <a:endParaRPr lang="en-US">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a:latin typeface="Times New Roman" panose="02020603050405020304" pitchFamily="18" charset="0"/>
                <a:cs typeface="Times New Roman" panose="02020603050405020304" pitchFamily="18" charset="0"/>
                <a:sym typeface="+mn-ea"/>
              </a:rPr>
              <a:t>    Provides runtime environment</a:t>
            </a:r>
            <a:endParaRPr lang="en-US">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2" name="Text Box 4"/>
          <p:cNvSpPr txBox="1">
            <a:spLocks noChangeArrowheads="1"/>
          </p:cNvSpPr>
          <p:nvPr/>
        </p:nvSpPr>
        <p:spPr bwMode="auto">
          <a:xfrm>
            <a:off x="462915" y="304800"/>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Basic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5125"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582295" y="1200150"/>
            <a:ext cx="8333105" cy="4154170"/>
          </a:xfrm>
          <a:prstGeom prst="rect">
            <a:avLst/>
          </a:prstGeom>
          <a:noFill/>
        </p:spPr>
        <p:txBody>
          <a:bodyPr wrap="square" rtlCol="0" anchor="t">
            <a:spAutoFit/>
          </a:bodyPr>
          <a:p>
            <a:pPr>
              <a:buFont typeface="Wingdings" panose="05000000000000000000" charset="0"/>
            </a:pPr>
            <a:r>
              <a:rPr lang="en-US" b="1">
                <a:solidFill>
                  <a:srgbClr val="993300"/>
                </a:solidFill>
                <a:latin typeface="Times New Roman" panose="02020603050405020304" pitchFamily="18" charset="0"/>
                <a:cs typeface="Times New Roman" panose="02020603050405020304" pitchFamily="18" charset="0"/>
                <a:sym typeface="+mn-ea"/>
              </a:rPr>
              <a:t>JRE</a:t>
            </a:r>
            <a:endParaRPr lang="en-US">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a:latin typeface="Times New Roman" panose="02020603050405020304" pitchFamily="18" charset="0"/>
                <a:cs typeface="Times New Roman" panose="02020603050405020304" pitchFamily="18" charset="0"/>
                <a:sym typeface="+mn-ea"/>
              </a:rPr>
              <a:t>JRE is an acronym for Java Runtime Environment. It is also written as Java RTE. The Java Runtime Environment is a set of software tools which are used for developing java applications. It is used to provide runtime environment. It is the implementation of JVM. It physically exists. It contains set of libraries + other files that JVM uses at runtime.</a:t>
            </a:r>
            <a:endParaRPr lang="en-US">
              <a:latin typeface="Times New Roman" panose="02020603050405020304" pitchFamily="18" charset="0"/>
              <a:cs typeface="Times New Roman" panose="02020603050405020304" pitchFamily="18" charset="0"/>
              <a:sym typeface="+mn-ea"/>
            </a:endParaRPr>
          </a:p>
          <a:p>
            <a:pPr>
              <a:buFont typeface="Wingdings" panose="05000000000000000000" charset="0"/>
            </a:pPr>
            <a:endParaRPr lang="en-US">
              <a:latin typeface="Times New Roman" panose="02020603050405020304" pitchFamily="18" charset="0"/>
              <a:cs typeface="Times New Roman" panose="02020603050405020304" pitchFamily="18" charset="0"/>
              <a:sym typeface="+mn-ea"/>
            </a:endParaRPr>
          </a:p>
          <a:p>
            <a:pPr>
              <a:buFont typeface="Wingdings" panose="05000000000000000000" charset="0"/>
            </a:pPr>
            <a:r>
              <a:rPr lang="en-US">
                <a:latin typeface="Times New Roman" panose="02020603050405020304" pitchFamily="18" charset="0"/>
                <a:cs typeface="Times New Roman" panose="02020603050405020304" pitchFamily="18" charset="0"/>
                <a:sym typeface="+mn-ea"/>
              </a:rPr>
              <a:t>Implementation of JVMs are also actively released by other companies besides Sun Micro Systems. </a:t>
            </a:r>
            <a:endParaRPr lang="en-US">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2" name="Text Box 4"/>
          <p:cNvSpPr txBox="1">
            <a:spLocks noChangeArrowheads="1"/>
          </p:cNvSpPr>
          <p:nvPr/>
        </p:nvSpPr>
        <p:spPr bwMode="auto">
          <a:xfrm>
            <a:off x="462915" y="304800"/>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Basic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5125"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pic>
        <p:nvPicPr>
          <p:cNvPr id="3" name="Picture 2" descr="jre2"/>
          <p:cNvPicPr>
            <a:picLocks noChangeAspect="1"/>
          </p:cNvPicPr>
          <p:nvPr/>
        </p:nvPicPr>
        <p:blipFill>
          <a:blip r:embed="rId1"/>
          <a:stretch>
            <a:fillRect/>
          </a:stretch>
        </p:blipFill>
        <p:spPr>
          <a:xfrm>
            <a:off x="664210" y="1303020"/>
            <a:ext cx="7317740" cy="512572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2" name="Text Box 4"/>
          <p:cNvSpPr txBox="1">
            <a:spLocks noChangeArrowheads="1"/>
          </p:cNvSpPr>
          <p:nvPr/>
        </p:nvSpPr>
        <p:spPr bwMode="auto">
          <a:xfrm>
            <a:off x="462915" y="304800"/>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Basic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5125"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461010" y="1294765"/>
            <a:ext cx="8074025" cy="5631180"/>
          </a:xfrm>
          <a:prstGeom prst="rect">
            <a:avLst/>
          </a:prstGeom>
          <a:noFill/>
        </p:spPr>
        <p:txBody>
          <a:bodyPr wrap="square" rtlCol="0" anchor="t">
            <a:spAutoFit/>
          </a:bodyPr>
          <a:p>
            <a:r>
              <a:rPr lang="en-US" b="1">
                <a:solidFill>
                  <a:srgbClr val="993300"/>
                </a:solidFill>
                <a:latin typeface="Times New Roman" panose="02020603050405020304" pitchFamily="18" charset="0"/>
                <a:cs typeface="Times New Roman" panose="02020603050405020304" pitchFamily="18" charset="0"/>
              </a:rPr>
              <a:t>JDK</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JDK is an acronym for Java Development Kit. The Java Development Kit (JDK) is a software development environment which is used to develop java applications and applets. It physically exists. It contains JRE + development tools.</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JDK is an implementation of any one of the below given Java Platforms released by Oracle corporation:</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Standard Edition Java Platform</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Enterprise Edition Java Platform</a:t>
            </a:r>
            <a:endParaRPr lang="en-US">
              <a:latin typeface="Times New Roman" panose="02020603050405020304" pitchFamily="18" charset="0"/>
              <a:cs typeface="Times New Roman" panose="02020603050405020304" pitchFamily="18" charset="0"/>
            </a:endParaRPr>
          </a:p>
          <a:p>
            <a:r>
              <a:rPr lang="en-US">
                <a:latin typeface="Times New Roman" panose="02020603050405020304" pitchFamily="18" charset="0"/>
                <a:cs typeface="Times New Roman" panose="02020603050405020304" pitchFamily="18" charset="0"/>
              </a:rPr>
              <a:t>    Micro Edition Java Platform</a:t>
            </a:r>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a:p>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2" name="Text Box 4"/>
          <p:cNvSpPr txBox="1">
            <a:spLocks noChangeArrowheads="1"/>
          </p:cNvSpPr>
          <p:nvPr/>
        </p:nvSpPr>
        <p:spPr bwMode="auto">
          <a:xfrm>
            <a:off x="462915" y="304800"/>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Basic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5125"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sp>
        <p:nvSpPr>
          <p:cNvPr id="2" name="Text Box 1"/>
          <p:cNvSpPr txBox="1"/>
          <p:nvPr/>
        </p:nvSpPr>
        <p:spPr>
          <a:xfrm>
            <a:off x="461010" y="1294765"/>
            <a:ext cx="8074025" cy="1938020"/>
          </a:xfrm>
          <a:prstGeom prst="rect">
            <a:avLst/>
          </a:prstGeom>
          <a:noFill/>
        </p:spPr>
        <p:txBody>
          <a:bodyPr wrap="square" rtlCol="0" anchor="t">
            <a:spAutoFit/>
          </a:bodyPr>
          <a:p>
            <a:r>
              <a:rPr lang="en-US">
                <a:latin typeface="Times New Roman" panose="02020603050405020304" pitchFamily="18" charset="0"/>
                <a:cs typeface="Times New Roman" panose="02020603050405020304" pitchFamily="18" charset="0"/>
                <a:sym typeface="+mn-ea"/>
              </a:rPr>
              <a:t>The JDK contains a private Java Virtual Machine (JVM) and a few other resources such as an interpreter/loader (Java), a compiler (javac), an archiver (jar), a documentation generator (Javadoc) etc. to complete the development of a Java Application. </a:t>
            </a:r>
            <a:endParaRPr 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2" name="Text Box 4"/>
          <p:cNvSpPr txBox="1">
            <a:spLocks noChangeArrowheads="1"/>
          </p:cNvSpPr>
          <p:nvPr/>
        </p:nvSpPr>
        <p:spPr bwMode="auto">
          <a:xfrm>
            <a:off x="462915" y="304800"/>
            <a:ext cx="5105400" cy="583565"/>
          </a:xfrm>
          <a:prstGeom prst="rect">
            <a:avLst/>
          </a:prstGeom>
          <a:noFill/>
          <a:ln w="9525">
            <a:noFill/>
            <a:miter lim="800000"/>
          </a:ln>
          <a:effectLst>
            <a:outerShdw dist="35921" dir="2700000" algn="ctr" rotWithShape="0">
              <a:schemeClr val="bg2"/>
            </a:outerShdw>
          </a:effectLst>
        </p:spPr>
        <p:txBody>
          <a:bodyPr>
            <a:spAutoFit/>
          </a:bodyPr>
          <a:lstStyle/>
          <a:p>
            <a:pPr marR="0" defTabSz="914400">
              <a:spcBef>
                <a:spcPct val="50000"/>
              </a:spcBef>
              <a:buClrTx/>
              <a:buSzTx/>
              <a:buFontTx/>
              <a:buNone/>
              <a:defRPr/>
            </a:pPr>
            <a:r>
              <a:rPr kumimoji="0" lang="en-US" sz="3200" kern="1200" cap="none" spc="0" normalizeH="0" baseline="0" noProof="0">
                <a:solidFill>
                  <a:srgbClr val="993300"/>
                </a:solidFill>
                <a:latin typeface="Impact" panose="020B0806030902050204" pitchFamily="34" charset="0"/>
                <a:ea typeface="+mn-ea"/>
                <a:cs typeface="+mn-cs"/>
              </a:rPr>
              <a:t>Basic Java</a:t>
            </a:r>
            <a:endParaRPr kumimoji="0" lang="en-US" sz="3200" kern="1200" cap="none" spc="0" normalizeH="0" baseline="0" noProof="0">
              <a:solidFill>
                <a:srgbClr val="993300"/>
              </a:solidFill>
              <a:latin typeface="Impact" panose="020B0806030902050204" pitchFamily="34" charset="0"/>
              <a:ea typeface="+mn-ea"/>
              <a:cs typeface="+mn-cs"/>
            </a:endParaRPr>
          </a:p>
        </p:txBody>
      </p:sp>
      <p:sp>
        <p:nvSpPr>
          <p:cNvPr id="5125" name="Line 5"/>
          <p:cNvSpPr/>
          <p:nvPr/>
        </p:nvSpPr>
        <p:spPr>
          <a:xfrm>
            <a:off x="304800" y="1066800"/>
            <a:ext cx="8610600" cy="0"/>
          </a:xfrm>
          <a:prstGeom prst="line">
            <a:avLst/>
          </a:prstGeom>
          <a:ln w="9525" cap="flat" cmpd="sng">
            <a:solidFill>
              <a:srgbClr val="CC3300"/>
            </a:solidFill>
            <a:prstDash val="solid"/>
            <a:headEnd type="none" w="med" len="med"/>
            <a:tailEnd type="none" w="med" len="med"/>
          </a:ln>
        </p:spPr>
      </p:sp>
      <p:pic>
        <p:nvPicPr>
          <p:cNvPr id="3" name="Picture 2" descr="jdk2"/>
          <p:cNvPicPr>
            <a:picLocks noChangeAspect="1"/>
          </p:cNvPicPr>
          <p:nvPr/>
        </p:nvPicPr>
        <p:blipFill>
          <a:blip r:embed="rId1"/>
          <a:stretch>
            <a:fillRect/>
          </a:stretch>
        </p:blipFill>
        <p:spPr>
          <a:xfrm>
            <a:off x="721360" y="1564005"/>
            <a:ext cx="7815580" cy="5005705"/>
          </a:xfrm>
          <a:prstGeom prst="rect">
            <a:avLst/>
          </a:prstGeom>
        </p:spPr>
      </p:pic>
    </p:spTree>
  </p:cSld>
  <p:clrMapOvr>
    <a:masterClrMapping/>
  </p:clrMapOvr>
</p:sld>
</file>

<file path=ppt/theme/theme1.xml><?xml version="1.0" encoding="utf-8"?>
<a:theme xmlns:a="http://schemas.openxmlformats.org/drawingml/2006/main" name="LiquidGold">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33CC"/>
      </a:hlink>
      <a:folHlink>
        <a:srgbClr val="B2B2B2"/>
      </a:folHlink>
    </a:clrScheme>
    <a:fontScheme name="LiquidGold">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LiquidGold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iquidGold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iquidGold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iquidGold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iquidGol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iquidGol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iquidGol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LiquidGold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99"/>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C:\WINNT\Profiles\Administrator\Application Data\Microsoft\Templates\LiquidGold.pot</Template>
  <TotalTime>0</TotalTime>
  <Words>16101</Words>
  <Application>WPS Presentation</Application>
  <PresentationFormat/>
  <Paragraphs>427</Paragraphs>
  <Slides>43</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43</vt:i4>
      </vt:variant>
    </vt:vector>
  </HeadingPairs>
  <TitlesOfParts>
    <vt:vector size="54" baseType="lpstr">
      <vt:lpstr>Arial</vt:lpstr>
      <vt:lpstr>SimSun</vt:lpstr>
      <vt:lpstr>Wingdings</vt:lpstr>
      <vt:lpstr>Times New Roman</vt:lpstr>
      <vt:lpstr>Impact</vt:lpstr>
      <vt:lpstr>Microsoft YaHei</vt:lpstr>
      <vt:lpstr>Arial Unicode MS</vt:lpstr>
      <vt:lpstr>Calibri</vt:lpstr>
      <vt:lpstr>Wingdings</vt:lpstr>
      <vt:lpstr>Franklin Gothic Demi</vt:lpstr>
      <vt:lpstr>LiquidGold</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comp1</dc:creator>
  <cp:lastModifiedBy>nEW u</cp:lastModifiedBy>
  <cp:revision>356</cp:revision>
  <dcterms:created xsi:type="dcterms:W3CDTF">2001-06-04T11:43:00Z</dcterms:created>
  <dcterms:modified xsi:type="dcterms:W3CDTF">2018-07-26T06:21:04Z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1033-10.2.0.7439</vt:lpwstr>
  </property>
</Properties>
</file>