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2"/>
  </p:handoutMasterIdLst>
  <p:sldIdLst>
    <p:sldId id="260" r:id="rId3"/>
    <p:sldId id="511" r:id="rId4"/>
    <p:sldId id="512" r:id="rId5"/>
    <p:sldId id="513" r:id="rId6"/>
    <p:sldId id="514" r:id="rId7"/>
    <p:sldId id="515" r:id="rId8"/>
    <p:sldId id="516" r:id="rId9"/>
    <p:sldId id="517" r:id="rId10"/>
    <p:sldId id="519" r:id="rId11"/>
    <p:sldId id="518" r:id="rId12"/>
    <p:sldId id="539" r:id="rId13"/>
    <p:sldId id="520" r:id="rId14"/>
    <p:sldId id="521" r:id="rId15"/>
    <p:sldId id="522" r:id="rId16"/>
    <p:sldId id="523" r:id="rId17"/>
    <p:sldId id="524" r:id="rId18"/>
    <p:sldId id="525" r:id="rId19"/>
    <p:sldId id="526" r:id="rId20"/>
    <p:sldId id="528" r:id="rId21"/>
    <p:sldId id="529" r:id="rId22"/>
    <p:sldId id="530" r:id="rId23"/>
    <p:sldId id="531" r:id="rId24"/>
    <p:sldId id="532" r:id="rId25"/>
    <p:sldId id="533" r:id="rId26"/>
    <p:sldId id="534" r:id="rId27"/>
    <p:sldId id="535" r:id="rId28"/>
    <p:sldId id="536" r:id="rId29"/>
    <p:sldId id="537" r:id="rId30"/>
    <p:sldId id="538" r:id="rId31"/>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886"/>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Interface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78355"/>
            <a:ext cx="772541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An interface in java is a blueprint of a class. It has static constants and abstract methods.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interface in Java is a mechanism to achieve abstraction. There can be only abstract methods in the Java interface, not method body. It is used to achieve abstraction and multiple inheritance in Java.</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In other words, you can say that interfaces can have abstract methods and variables. It cannot have a method body.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Why use Java interface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78355"/>
            <a:ext cx="7725410" cy="341503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There are mainly three reasons to use interface. They are given below.</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It is used to achieve abstraction.</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By interface, we can support the functionality of      multiple inheritance.</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It can be used to achieve loose coupling.</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How to declare an interface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78355"/>
            <a:ext cx="7725410"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An interface is declared by using the interface keyword. It provides total abstraction; means all the methods in an interface are declared with the empty body, and all the fields are public, static and final by default. A class that implements an interface must implement all the methods declared in the interface.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Syntax:</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78355"/>
            <a:ext cx="7725410" cy="3046095"/>
          </a:xfrm>
          <a:prstGeom prst="rect">
            <a:avLst/>
          </a:prstGeom>
          <a:noFill/>
        </p:spPr>
        <p:txBody>
          <a:bodyPr wrap="square" rtlCol="0" anchor="t">
            <a:spAutoFit/>
          </a:bodyPr>
          <a:p>
            <a:endParaRPr lang="en-US" b="1">
              <a:solidFill>
                <a:srgbClr val="FF0000"/>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interface &lt;interface_name&gt;</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 // declare constant fields  </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sym typeface="+mn-ea"/>
              </a:rPr>
              <a:t>        // declare methods that abstract   </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sym typeface="+mn-ea"/>
              </a:rPr>
              <a:t>        // by default.  </a:t>
            </a:r>
            <a:endParaRPr lang="en-US" b="1">
              <a:solidFill>
                <a:srgbClr val="00B050"/>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Internal addition by the compiler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840" y="2078355"/>
            <a:ext cx="7725410" cy="119888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rPr>
              <a:t>The Java compiler adds public and abstract keywords before the interface method. Moreover, it adds public, static and final keywords before data members.</a:t>
            </a:r>
            <a:endParaRPr lang="en-US" b="1">
              <a:solidFill>
                <a:schemeClr val="tx1"/>
              </a:solidFill>
              <a:latin typeface="Times New Roman" panose="02020603050405020304" pitchFamily="18" charset="0"/>
              <a:cs typeface="Times New Roman" panose="02020603050405020304" pitchFamily="18" charset="0"/>
            </a:endParaRPr>
          </a:p>
        </p:txBody>
      </p:sp>
      <p:pic>
        <p:nvPicPr>
          <p:cNvPr id="4" name="Picture 3" descr="interface"/>
          <p:cNvPicPr>
            <a:picLocks noChangeAspect="1"/>
          </p:cNvPicPr>
          <p:nvPr/>
        </p:nvPicPr>
        <p:blipFill>
          <a:blip r:embed="rId1"/>
          <a:stretch>
            <a:fillRect/>
          </a:stretch>
        </p:blipFill>
        <p:spPr>
          <a:xfrm>
            <a:off x="485140" y="3862705"/>
            <a:ext cx="7433945" cy="2139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844804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The relationship between classes and interfaces</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840" y="2078355"/>
            <a:ext cx="8193405" cy="119888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rPr>
              <a:t>As shown in the figure given below, a class extends another class, an interface extends another interface, but a class implements an interface.</a:t>
            </a:r>
            <a:endParaRPr lang="en-US" b="1">
              <a:solidFill>
                <a:schemeClr val="tx1"/>
              </a:solidFill>
              <a:latin typeface="Times New Roman" panose="02020603050405020304" pitchFamily="18" charset="0"/>
              <a:cs typeface="Times New Roman" panose="02020603050405020304" pitchFamily="18" charset="0"/>
            </a:endParaRPr>
          </a:p>
        </p:txBody>
      </p:sp>
      <p:pic>
        <p:nvPicPr>
          <p:cNvPr id="4" name="Picture 3" descr="interfacerelation"/>
          <p:cNvPicPr>
            <a:picLocks noChangeAspect="1"/>
          </p:cNvPicPr>
          <p:nvPr/>
        </p:nvPicPr>
        <p:blipFill>
          <a:blip r:embed="rId1"/>
          <a:stretch>
            <a:fillRect/>
          </a:stretch>
        </p:blipFill>
        <p:spPr>
          <a:xfrm>
            <a:off x="421005" y="3451860"/>
            <a:ext cx="8010525" cy="285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Java Interface Example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840" y="2078355"/>
            <a:ext cx="7725410" cy="4154170"/>
          </a:xfrm>
          <a:prstGeom prst="rect">
            <a:avLst/>
          </a:prstGeom>
          <a:noFill/>
        </p:spPr>
        <p:txBody>
          <a:bodyPr wrap="square" rtlCol="0" anchor="t">
            <a:spAutoFit/>
          </a:bodyPr>
          <a:p>
            <a:r>
              <a:rPr lang="en-US" b="1">
                <a:solidFill>
                  <a:srgbClr val="FF0000"/>
                </a:solidFill>
                <a:latin typeface="Times New Roman" panose="02020603050405020304" pitchFamily="18" charset="0"/>
                <a:cs typeface="Times New Roman" panose="02020603050405020304" pitchFamily="18" charset="0"/>
              </a:rPr>
              <a:t>  </a:t>
            </a:r>
            <a:r>
              <a:rPr lang="en-US" b="1">
                <a:solidFill>
                  <a:schemeClr val="tx1"/>
                </a:solidFill>
                <a:latin typeface="Times New Roman" panose="02020603050405020304" pitchFamily="18" charset="0"/>
                <a:cs typeface="Times New Roman" panose="02020603050405020304" pitchFamily="18" charset="0"/>
              </a:rPr>
              <a:t>  interface printable{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void print();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class A implements printable{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public void print(){System.out.println("Hello");}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public static void main(String args[]){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 obj = new A();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obj.print();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Java Interface Example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840" y="2078355"/>
            <a:ext cx="8343265" cy="4154170"/>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rPr>
              <a:t>//Interface declaration: by first user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interface Drawable{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void draw();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//Implementation: by second user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Rectangle implements Drawable{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void draw(){System.out.println("drawing rectangle");}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Circle implements Drawable{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void draw(){System.out.println("drawing circle");}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Java Interface Example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840" y="2078355"/>
            <a:ext cx="8343265" cy="2676525"/>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rPr>
              <a:t>//Using interface: by third user  </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class TestInterface{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public static void main(String args[]){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Drawable d=new Circle();</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d.draw();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Java Interface Example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00050" y="1823085"/>
            <a:ext cx="8343265" cy="378460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rPr>
              <a:t>    interface Bank</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float rateOfInterest();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class SBI implements Bank</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public float rateOfInterest()</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{return 9.15f;}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Java Interface Example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00050" y="1823085"/>
            <a:ext cx="8343265" cy="304609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rPr>
              <a:t>class PNB implements Bank{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public float rateOfInterest(){return 9.7f;}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class TestInterface2{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public static void main(String[] args){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Bank b=new SBI();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System.out.println("ROI: "+b.rateOfInterest());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Multiple inheritance in Java by interface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00050" y="1823085"/>
            <a:ext cx="8343265" cy="8299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a class implements multiple interfaces, or an interface extends multiple interfaces, it is known as multiple inheritance.</a:t>
            </a:r>
            <a:endParaRPr lang="en-US" b="1">
              <a:latin typeface="Times New Roman" panose="02020603050405020304" pitchFamily="18" charset="0"/>
              <a:cs typeface="Times New Roman" panose="02020603050405020304" pitchFamily="18" charset="0"/>
              <a:sym typeface="+mn-ea"/>
            </a:endParaRPr>
          </a:p>
        </p:txBody>
      </p:sp>
      <p:pic>
        <p:nvPicPr>
          <p:cNvPr id="4" name="Picture 3" descr="multipleinheritance"/>
          <p:cNvPicPr>
            <a:picLocks noChangeAspect="1"/>
          </p:cNvPicPr>
          <p:nvPr/>
        </p:nvPicPr>
        <p:blipFill>
          <a:blip r:embed="rId1"/>
          <a:stretch>
            <a:fillRect/>
          </a:stretch>
        </p:blipFill>
        <p:spPr>
          <a:xfrm>
            <a:off x="400685" y="3236595"/>
            <a:ext cx="8342630" cy="25126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Java Multiple Interface Example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00050" y="1823085"/>
            <a:ext cx="8343265" cy="415417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rPr>
              <a:t>    interface Printable{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void print();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interface Showable{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void show();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class A implements Printable,Showable{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public void print(){System.out.println("Hello");}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public void show(){System.out.println("Welcome");}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Java Multiple Interface Example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00050" y="1823085"/>
            <a:ext cx="8343265"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 obj = new A();  </a:t>
            </a:r>
            <a:endParaRPr lang="en-US" b="1">
              <a:solidFill>
                <a:schemeClr val="tx1"/>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obj.print();  </a:t>
            </a:r>
            <a:endParaRPr lang="en-US" b="1">
              <a:solidFill>
                <a:schemeClr val="tx1"/>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obj.show();  </a:t>
            </a:r>
            <a:endParaRPr lang="en-US" b="1">
              <a:solidFill>
                <a:schemeClr val="tx1"/>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1568450"/>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Multiple inheritance is not supported through class in java, but it is possible by an interface, why?</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38785" y="3088005"/>
            <a:ext cx="8343265" cy="156845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Multiple inheritance is not supported in the case of class because of ambiguity. However, it is supported in case of an interface because there is no ambiguity. It is because its implementation is provided by the implementation class.</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Interface inheritance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00050" y="2141855"/>
            <a:ext cx="834326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interface Printable{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print();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interface Showable extends Printable{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show();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TestInterface implements Showable{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print(){System.out.println("Hello");}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show(){System.out.println("Welcome");}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Interface inheritance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00050" y="2141855"/>
            <a:ext cx="8343265"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TestInterface obj = new TestInterface();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obj.print();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obj.show();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Default Method in Interface</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0370" y="1822450"/>
            <a:ext cx="832294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interface Drawable{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draw();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default void msg()</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{System.out.println("default method");}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Rectangle implements Drawable{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void draw()</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{System.out.println("drawing rectangle");}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Default Method in Interface</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0370" y="1822450"/>
            <a:ext cx="8322945"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TestInterfaceDefault{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Drawable d=new Rectangle();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d.draw();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Static Method in Interface</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0370" y="1822450"/>
            <a:ext cx="832294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interface Drawable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draw();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static int cube(int x)</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{return x*x*x;}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Rectangle implements Drawable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void draw()</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{System.out.println("drawing rectangle");}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Static Method in Interface</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0370" y="1822450"/>
            <a:ext cx="8322945" cy="341503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TestInterfaceStatic</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Drawable d=new Rectangle();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d.draw();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System.out.println(Drawable.cube(3));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What is marker or tagged interface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1005" y="1981835"/>
            <a:ext cx="832294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An interface which has no member is known as a marker or tagged interface, for example, Serializable, Cloneable, Remote, etc. They are used to provide some essential information to the JVM so that JVM may perform some useful operation.</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 //How Serializable interface is written?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interface Serializable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Nested Interface in Java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1005" y="1981835"/>
            <a:ext cx="8322945"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interface printable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print();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interface MessagePrintable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Nested Interface in Java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1005" y="1981835"/>
            <a:ext cx="8322945" cy="341503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interface Showable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show();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interface Message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785749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Nested Interface in Java :</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1005" y="1981835"/>
            <a:ext cx="832294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TestNestedInterface implements Showable.Message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void msg()</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{System.out.println("Hello nested interface");}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Showable.Message message=new TestNestedInterface();</a:t>
            </a:r>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//upcasting here</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message.msg();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84385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Difference between abstract class and interface</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graphicFrame>
        <p:nvGraphicFramePr>
          <p:cNvPr id="4" name="Table 3"/>
          <p:cNvGraphicFramePr/>
          <p:nvPr/>
        </p:nvGraphicFramePr>
        <p:xfrm>
          <a:off x="421005" y="1823085"/>
          <a:ext cx="7730490" cy="4737735"/>
        </p:xfrm>
        <a:graphic>
          <a:graphicData uri="http://schemas.openxmlformats.org/drawingml/2006/table">
            <a:tbl>
              <a:tblPr firstRow="1" bandRow="1">
                <a:tableStyleId>{5C22544A-7EE6-4342-B048-85BDC9FD1C3A}</a:tableStyleId>
              </a:tblPr>
              <a:tblGrid>
                <a:gridCol w="3865245"/>
                <a:gridCol w="3865245"/>
              </a:tblGrid>
              <a:tr h="417195">
                <a:tc>
                  <a:txBody>
                    <a:bodyPr/>
                    <a:p>
                      <a:pPr>
                        <a:buNone/>
                      </a:pPr>
                      <a:r>
                        <a:rPr lang="en-US"/>
                        <a:t>Abstract class</a:t>
                      </a:r>
                      <a:endParaRPr lang="en-US"/>
                    </a:p>
                  </a:txBody>
                  <a:tcPr/>
                </a:tc>
                <a:tc>
                  <a:txBody>
                    <a:bodyPr/>
                    <a:p>
                      <a:pPr>
                        <a:buNone/>
                      </a:pPr>
                      <a:r>
                        <a:rPr lang="en-US"/>
                        <a:t>Interface</a:t>
                      </a:r>
                      <a:endParaRPr lang="en-US"/>
                    </a:p>
                  </a:txBody>
                  <a:tcPr/>
                </a:tc>
              </a:tr>
              <a:tr h="1019810">
                <a:tc>
                  <a:txBody>
                    <a:bodyPr/>
                    <a:p>
                      <a:pPr>
                        <a:buNone/>
                      </a:pPr>
                      <a:r>
                        <a:rPr lang="en-US"/>
                        <a:t>1) Abstract class can have abstract and non-abstract methods.</a:t>
                      </a:r>
                      <a:endParaRPr lang="en-US"/>
                    </a:p>
                  </a:txBody>
                  <a:tcPr/>
                </a:tc>
                <a:tc>
                  <a:txBody>
                    <a:bodyPr/>
                    <a:p>
                      <a:pPr>
                        <a:buNone/>
                      </a:pPr>
                      <a:r>
                        <a:rPr lang="en-US"/>
                        <a:t>Interface can have only abstract methods. Since Java 8, it can have default and static methods also.</a:t>
                      </a:r>
                      <a:endParaRPr lang="en-US"/>
                    </a:p>
                  </a:txBody>
                  <a:tcPr/>
                </a:tc>
              </a:tr>
              <a:tr h="700405">
                <a:tc>
                  <a:txBody>
                    <a:bodyPr/>
                    <a:p>
                      <a:pPr>
                        <a:buNone/>
                      </a:pPr>
                      <a:r>
                        <a:rPr lang="en-US"/>
                        <a:t>2) Abstract class doesn't support multiple inheritance.</a:t>
                      </a:r>
                      <a:endParaRPr lang="en-US"/>
                    </a:p>
                  </a:txBody>
                  <a:tcPr/>
                </a:tc>
                <a:tc>
                  <a:txBody>
                    <a:bodyPr/>
                    <a:p>
                      <a:pPr>
                        <a:buNone/>
                      </a:pPr>
                      <a:r>
                        <a:rPr lang="en-US"/>
                        <a:t>Interface supports multiple inheritance.</a:t>
                      </a:r>
                      <a:endParaRPr lang="en-US"/>
                    </a:p>
                  </a:txBody>
                  <a:tcPr/>
                </a:tc>
              </a:tr>
              <a:tr h="1001395">
                <a:tc>
                  <a:txBody>
                    <a:bodyPr/>
                    <a:p>
                      <a:pPr>
                        <a:buNone/>
                      </a:pPr>
                      <a:r>
                        <a:rPr lang="en-US"/>
                        <a:t>3) Abstract class can have final, non-final, static and non-static variables.</a:t>
                      </a:r>
                      <a:endParaRPr lang="en-US"/>
                    </a:p>
                  </a:txBody>
                  <a:tcPr/>
                </a:tc>
                <a:tc>
                  <a:txBody>
                    <a:bodyPr/>
                    <a:p>
                      <a:pPr>
                        <a:buNone/>
                      </a:pPr>
                      <a:r>
                        <a:rPr lang="en-US"/>
                        <a:t>Interface has only static and final variables.</a:t>
                      </a:r>
                      <a:endParaRPr lang="en-US"/>
                    </a:p>
                  </a:txBody>
                  <a:tcPr/>
                </a:tc>
              </a:tr>
              <a:tr h="748030">
                <a:tc>
                  <a:txBody>
                    <a:bodyPr/>
                    <a:p>
                      <a:pPr>
                        <a:buNone/>
                      </a:pPr>
                      <a:r>
                        <a:rPr lang="en-US"/>
                        <a:t>4) Abstract class can provide the implementation of interface.</a:t>
                      </a:r>
                      <a:endParaRPr lang="en-US"/>
                    </a:p>
                  </a:txBody>
                  <a:tcPr/>
                </a:tc>
                <a:tc>
                  <a:txBody>
                    <a:bodyPr/>
                    <a:p>
                      <a:pPr>
                        <a:buNone/>
                      </a:pPr>
                      <a:r>
                        <a:rPr lang="en-US"/>
                        <a:t>Interface can't provide the implementation of abstract class.</a:t>
                      </a:r>
                      <a:endParaRPr lang="en-US"/>
                    </a:p>
                  </a:txBody>
                  <a:tcPr/>
                </a:tc>
              </a:tr>
              <a:tr h="850900">
                <a:tc>
                  <a:txBody>
                    <a:bodyPr/>
                    <a:p>
                      <a:pPr>
                        <a:buNone/>
                      </a:pPr>
                      <a:r>
                        <a:rPr lang="en-US"/>
                        <a:t>5) The abstract keyword is used to declare abstract class.</a:t>
                      </a:r>
                      <a:endParaRPr lang="en-US"/>
                    </a:p>
                  </a:txBody>
                  <a:tcPr/>
                </a:tc>
                <a:tc>
                  <a:txBody>
                    <a:bodyPr/>
                    <a:p>
                      <a:pPr>
                        <a:buNone/>
                      </a:pPr>
                      <a:r>
                        <a:rPr lang="en-US"/>
                        <a:t>The interface keyword is used to declare interface.</a:t>
                      </a:r>
                      <a:endParaRPr lang="en-US"/>
                    </a:p>
                  </a:txBody>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843851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Difference between abstract class and interface</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graphicFrame>
        <p:nvGraphicFramePr>
          <p:cNvPr id="4" name="Table 3"/>
          <p:cNvGraphicFramePr/>
          <p:nvPr/>
        </p:nvGraphicFramePr>
        <p:xfrm>
          <a:off x="421005" y="1823085"/>
          <a:ext cx="7730490" cy="4737735"/>
        </p:xfrm>
        <a:graphic>
          <a:graphicData uri="http://schemas.openxmlformats.org/drawingml/2006/table">
            <a:tbl>
              <a:tblPr firstRow="1" bandRow="1">
                <a:tableStyleId>{5C22544A-7EE6-4342-B048-85BDC9FD1C3A}</a:tableStyleId>
              </a:tblPr>
              <a:tblGrid>
                <a:gridCol w="3865245"/>
                <a:gridCol w="3865245"/>
              </a:tblGrid>
              <a:tr h="417195">
                <a:tc>
                  <a:txBody>
                    <a:bodyPr/>
                    <a:p>
                      <a:pPr>
                        <a:buNone/>
                      </a:pPr>
                      <a:r>
                        <a:rPr lang="en-US"/>
                        <a:t>Abstract class</a:t>
                      </a:r>
                      <a:endParaRPr lang="en-US"/>
                    </a:p>
                  </a:txBody>
                  <a:tcPr/>
                </a:tc>
                <a:tc>
                  <a:txBody>
                    <a:bodyPr/>
                    <a:p>
                      <a:pPr>
                        <a:buNone/>
                      </a:pPr>
                      <a:r>
                        <a:rPr lang="en-US"/>
                        <a:t>Interface</a:t>
                      </a:r>
                      <a:endParaRPr lang="en-US"/>
                    </a:p>
                  </a:txBody>
                  <a:tcPr/>
                </a:tc>
              </a:tr>
              <a:tr h="1019810">
                <a:tc>
                  <a:txBody>
                    <a:bodyPr/>
                    <a:p>
                      <a:pPr>
                        <a:buNone/>
                      </a:pPr>
                      <a:r>
                        <a:rPr lang="en-US"/>
                        <a:t>6) An abstract class can extend another Java class and implement multiple Java interfaces.</a:t>
                      </a:r>
                      <a:endParaRPr lang="en-US"/>
                    </a:p>
                  </a:txBody>
                  <a:tcPr/>
                </a:tc>
                <a:tc>
                  <a:txBody>
                    <a:bodyPr/>
                    <a:p>
                      <a:pPr>
                        <a:buNone/>
                      </a:pPr>
                      <a:r>
                        <a:rPr lang="en-US"/>
                        <a:t>An interface can extend another Java interface only.</a:t>
                      </a:r>
                      <a:endParaRPr lang="en-US"/>
                    </a:p>
                  </a:txBody>
                  <a:tcPr/>
                </a:tc>
              </a:tr>
              <a:tr h="700405">
                <a:tc>
                  <a:txBody>
                    <a:bodyPr/>
                    <a:p>
                      <a:pPr>
                        <a:buNone/>
                      </a:pPr>
                      <a:r>
                        <a:rPr lang="en-US"/>
                        <a:t>7) An abstract class can be extended using keyword “extends”.</a:t>
                      </a:r>
                      <a:endParaRPr lang="en-US"/>
                    </a:p>
                  </a:txBody>
                  <a:tcPr/>
                </a:tc>
                <a:tc>
                  <a:txBody>
                    <a:bodyPr/>
                    <a:p>
                      <a:pPr>
                        <a:buNone/>
                      </a:pPr>
                      <a:r>
                        <a:rPr lang="en-US"/>
                        <a:t>An interface class can be implemented using keyword “implements”.</a:t>
                      </a:r>
                      <a:endParaRPr lang="en-US"/>
                    </a:p>
                  </a:txBody>
                  <a:tcPr/>
                </a:tc>
              </a:tr>
              <a:tr h="1001395">
                <a:tc>
                  <a:txBody>
                    <a:bodyPr/>
                    <a:p>
                      <a:pPr>
                        <a:buNone/>
                      </a:pPr>
                      <a:r>
                        <a:rPr lang="en-US"/>
                        <a:t>8) A Java abstract class can have class members like private, protected, etc.</a:t>
                      </a:r>
                      <a:endParaRPr lang="en-US"/>
                    </a:p>
                  </a:txBody>
                  <a:tcPr/>
                </a:tc>
                <a:tc>
                  <a:txBody>
                    <a:bodyPr/>
                    <a:p>
                      <a:pPr>
                        <a:buNone/>
                      </a:pPr>
                      <a:r>
                        <a:rPr lang="en-US"/>
                        <a:t>Members of a Java interface are public by default.</a:t>
                      </a:r>
                      <a:endParaRPr lang="en-US"/>
                    </a:p>
                  </a:txBody>
                  <a:tcPr/>
                </a:tc>
              </a:tr>
              <a:tr h="748030">
                <a:tc>
                  <a:txBody>
                    <a:bodyPr/>
                    <a:p>
                      <a:pPr>
                        <a:buNone/>
                      </a:pPr>
                      <a:r>
                        <a:rPr lang="en-US"/>
                        <a:t>9)Example:</a:t>
                      </a:r>
                      <a:endParaRPr lang="en-US"/>
                    </a:p>
                    <a:p>
                      <a:pPr>
                        <a:buNone/>
                      </a:pPr>
                      <a:r>
                        <a:rPr lang="en-US"/>
                        <a:t>public abstract class Shape{</a:t>
                      </a:r>
                      <a:endParaRPr lang="en-US"/>
                    </a:p>
                    <a:p>
                      <a:pPr>
                        <a:buNone/>
                      </a:pPr>
                      <a:r>
                        <a:rPr lang="en-US"/>
                        <a:t>public abstract void draw();</a:t>
                      </a:r>
                      <a:endParaRPr lang="en-US"/>
                    </a:p>
                    <a:p>
                      <a:pPr>
                        <a:buNone/>
                      </a:pPr>
                      <a:r>
                        <a:rPr lang="en-US"/>
                        <a:t>}</a:t>
                      </a:r>
                      <a:endParaRPr lang="en-US"/>
                    </a:p>
                  </a:txBody>
                  <a:tcPr/>
                </a:tc>
                <a:tc>
                  <a:txBody>
                    <a:bodyPr/>
                    <a:p>
                      <a:pPr>
                        <a:buNone/>
                      </a:pPr>
                      <a:r>
                        <a:rPr lang="en-US" sz="1800">
                          <a:sym typeface="+mn-ea"/>
                        </a:rPr>
                        <a:t>Example:</a:t>
                      </a:r>
                      <a:endParaRPr lang="en-US" sz="1800">
                        <a:sym typeface="+mn-ea"/>
                      </a:endParaRPr>
                    </a:p>
                    <a:p>
                      <a:pPr>
                        <a:buNone/>
                      </a:pPr>
                      <a:r>
                        <a:rPr lang="en-US"/>
                        <a:t>public interface Drawable{</a:t>
                      </a:r>
                      <a:endParaRPr lang="en-US"/>
                    </a:p>
                    <a:p>
                      <a:pPr>
                        <a:buNone/>
                      </a:pPr>
                      <a:r>
                        <a:rPr lang="en-US"/>
                        <a:t>void draw();</a:t>
                      </a:r>
                      <a:endParaRPr lang="en-US"/>
                    </a:p>
                    <a:p>
                      <a:pPr>
                        <a:buNone/>
                      </a:pPr>
                      <a:r>
                        <a:rPr lang="en-US"/>
                        <a:t>}</a:t>
                      </a:r>
                      <a:endParaRPr lang="en-US"/>
                    </a:p>
                  </a:txBody>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861060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Example of abstract class and interface in Java</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1005" y="1981835"/>
            <a:ext cx="8322945" cy="4892675"/>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sym typeface="+mn-ea"/>
              </a:rPr>
              <a:t>//Creating interface that has 4 methods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interface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a();</a:t>
            </a:r>
            <a:r>
              <a:rPr lang="en-US" b="1">
                <a:solidFill>
                  <a:srgbClr val="00B050"/>
                </a:solidFill>
                <a:latin typeface="Times New Roman" panose="02020603050405020304" pitchFamily="18" charset="0"/>
                <a:cs typeface="Times New Roman" panose="02020603050405020304" pitchFamily="18" charset="0"/>
                <a:sym typeface="+mn-ea"/>
              </a:rPr>
              <a:t>//by default, public and abstract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b();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c();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//Creating abstract class that provides the implementation of one method of A interface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abstract class B implements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void c(){System.out.println("I am C");}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Interface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39520"/>
            <a:ext cx="861060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Example of abstract class and interface in Java</a:t>
            </a:r>
            <a:endParaRPr lang="en-US" sz="32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21005" y="1981835"/>
            <a:ext cx="8322945" cy="4523105"/>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sym typeface="+mn-ea"/>
              </a:rPr>
              <a:t>//Creating subclass of abstract class, now we need to provide the implementation of rest of the methods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class M extends B{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public void a(){System.out.println("I am a");}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public void b(){System.out.println("I am b");}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public void d(){System.out.println("I am 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//Creating a test class that calls the methods of A interface</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class Test{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A a=new M();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a.a();  a.b();  a.c();  a.d();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8616</Words>
  <Application>WPS Presentation</Application>
  <PresentationFormat/>
  <Paragraphs>395</Paragraphs>
  <Slides>29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29</vt:i4>
      </vt:variant>
    </vt:vector>
  </HeadingPairs>
  <TitlesOfParts>
    <vt:vector size="39" baseType="lpstr">
      <vt:lpstr>Arial</vt:lpstr>
      <vt:lpstr>SimSun</vt:lpstr>
      <vt:lpstr>Wingdings</vt:lpstr>
      <vt:lpstr>Impact</vt:lpstr>
      <vt:lpstr>Times New Roman</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389</cp:revision>
  <dcterms:created xsi:type="dcterms:W3CDTF">2001-06-04T11:43:00Z</dcterms:created>
  <dcterms:modified xsi:type="dcterms:W3CDTF">2018-09-01T18:23:34Z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1033-10.2.0.7456</vt:lpwstr>
  </property>
</Properties>
</file>