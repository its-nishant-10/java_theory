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5"/>
  </p:handoutMasterIdLst>
  <p:sldIdLst>
    <p:sldId id="260" r:id="rId3"/>
    <p:sldId id="512" r:id="rId4"/>
    <p:sldId id="513" r:id="rId5"/>
    <p:sldId id="514" r:id="rId6"/>
    <p:sldId id="515" r:id="rId7"/>
    <p:sldId id="516" r:id="rId8"/>
    <p:sldId id="517" r:id="rId9"/>
    <p:sldId id="518"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31" r:id="rId23"/>
    <p:sldId id="532" r:id="rId24"/>
    <p:sldId id="533" r:id="rId25"/>
    <p:sldId id="534" r:id="rId26"/>
    <p:sldId id="535" r:id="rId27"/>
    <p:sldId id="536" r:id="rId28"/>
    <p:sldId id="537" r:id="rId29"/>
    <p:sldId id="538" r:id="rId30"/>
    <p:sldId id="539" r:id="rId31"/>
    <p:sldId id="540" r:id="rId32"/>
    <p:sldId id="541" r:id="rId33"/>
    <p:sldId id="542" r:id="rId34"/>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04"/>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Package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A java package is a group of similar types of classes, interfaces and sub-packages.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Package in java can be categorized in two form, built-in package and user-defined package.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There are many built-in packages such as java, lang, awt, javax, swing, net, io, util, sql etc.</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Here, we will have the detailed learning of creating and using user-defined packages.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Advantage of Java Package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2676525"/>
          </a:xfrm>
          <a:prstGeom prst="rect">
            <a:avLst/>
          </a:prstGeom>
          <a:noFill/>
        </p:spPr>
        <p:txBody>
          <a:bodyPr wrap="square" rtlCol="0" anchor="t">
            <a:spAutoFit/>
          </a:bodyPr>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Java package is used to categorize the classes and interfaces so that they can be easily maintained.</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Java package provides access protection.</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Java package removes naming collision.</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Structure of Java Package :</a:t>
            </a:r>
            <a:endParaRPr lang="en-US" sz="3200" b="1">
              <a:solidFill>
                <a:srgbClr val="C00000"/>
              </a:solidFill>
              <a:latin typeface="Times New Roman" panose="02020603050405020304" pitchFamily="18" charset="0"/>
              <a:cs typeface="Times New Roman" panose="02020603050405020304" pitchFamily="18" charset="0"/>
            </a:endParaRPr>
          </a:p>
        </p:txBody>
      </p:sp>
      <p:pic>
        <p:nvPicPr>
          <p:cNvPr id="4" name="Picture 3" descr="package"/>
          <p:cNvPicPr>
            <a:picLocks noChangeAspect="1"/>
          </p:cNvPicPr>
          <p:nvPr/>
        </p:nvPicPr>
        <p:blipFill>
          <a:blip r:embed="rId1"/>
          <a:stretch>
            <a:fillRect/>
          </a:stretch>
        </p:blipFill>
        <p:spPr>
          <a:xfrm>
            <a:off x="718185" y="2047875"/>
            <a:ext cx="7341870" cy="41776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Simple example of java package</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341503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 package keyword is used to create a package in java.</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//save as Simple.java</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F0"/>
                </a:solidFill>
                <a:latin typeface="Times New Roman" panose="02020603050405020304" pitchFamily="18" charset="0"/>
                <a:cs typeface="Times New Roman" panose="02020603050405020304" pitchFamily="18" charset="0"/>
              </a:rPr>
              <a:t>package mypack;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class Simple{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System.out.println("Welcome to package");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How to compile java package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you are not using any IDE, you need to follow the syntax given below:</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r>
              <a:rPr lang="en-US" b="1">
                <a:solidFill>
                  <a:srgbClr val="00B0F0"/>
                </a:solidFill>
                <a:latin typeface="Times New Roman" panose="02020603050405020304" pitchFamily="18" charset="0"/>
                <a:cs typeface="Times New Roman" panose="02020603050405020304" pitchFamily="18" charset="0"/>
              </a:rPr>
              <a:t>javac -d directory javafilename</a:t>
            </a:r>
            <a:endParaRPr lang="en-US" b="1">
              <a:solidFill>
                <a:srgbClr val="00B0F0"/>
              </a:solidFill>
              <a:latin typeface="Times New Roman" panose="02020603050405020304" pitchFamily="18" charset="0"/>
              <a:cs typeface="Times New Roman" panose="02020603050405020304" pitchFamily="18" charset="0"/>
            </a:endParaRPr>
          </a:p>
          <a:p>
            <a:endParaRPr lang="en-US" b="1">
              <a:solidFill>
                <a:srgbClr val="00B0F0"/>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For example</a:t>
            </a:r>
            <a:endParaRPr lang="en-US" b="1">
              <a:solidFill>
                <a:srgbClr val="00B0F0"/>
              </a:solidFill>
              <a:latin typeface="Times New Roman" panose="02020603050405020304" pitchFamily="18" charset="0"/>
              <a:cs typeface="Times New Roman" panose="02020603050405020304" pitchFamily="18" charset="0"/>
            </a:endParaRPr>
          </a:p>
          <a:p>
            <a:r>
              <a:rPr lang="en-US" b="1">
                <a:solidFill>
                  <a:srgbClr val="00B0F0"/>
                </a:solidFill>
                <a:latin typeface="Times New Roman" panose="02020603050405020304" pitchFamily="18" charset="0"/>
                <a:cs typeface="Times New Roman" panose="02020603050405020304" pitchFamily="18" charset="0"/>
              </a:rPr>
              <a:t>    javac -d . Simple.java  </a:t>
            </a:r>
            <a:endParaRPr lang="en-US" b="1">
              <a:solidFill>
                <a:srgbClr val="00B0F0"/>
              </a:solidFill>
              <a:latin typeface="Times New Roman" panose="02020603050405020304" pitchFamily="18" charset="0"/>
              <a:cs typeface="Times New Roman" panose="02020603050405020304" pitchFamily="18" charset="0"/>
            </a:endParaRPr>
          </a:p>
          <a:p>
            <a:endParaRPr lang="en-US" b="1">
              <a:solidFill>
                <a:srgbClr val="00B0F0"/>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The -d switch specifies the destination where to put the generated class file. You can use any directory name like /home (in case of Linux), d:/abc (in case of windows) etc. If you want to keep the package within the same directory, you can use . (dot). </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How to run java package program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You need to use fully qualified name e.g. mypack.Simple etc to run the class.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00B0F0"/>
                </a:solidFill>
                <a:latin typeface="Times New Roman" panose="02020603050405020304" pitchFamily="18" charset="0"/>
                <a:cs typeface="Times New Roman" panose="02020603050405020304" pitchFamily="18" charset="0"/>
              </a:rPr>
              <a:t>To Compile: javac -d . Simple.java</a:t>
            </a:r>
            <a:endParaRPr lang="en-US" b="1">
              <a:solidFill>
                <a:srgbClr val="00B0F0"/>
              </a:solidFill>
              <a:latin typeface="Times New Roman" panose="02020603050405020304" pitchFamily="18" charset="0"/>
              <a:cs typeface="Times New Roman" panose="02020603050405020304" pitchFamily="18" charset="0"/>
            </a:endParaRPr>
          </a:p>
          <a:p>
            <a:endParaRPr lang="en-US" b="1">
              <a:solidFill>
                <a:srgbClr val="00B0F0"/>
              </a:solidFill>
              <a:latin typeface="Times New Roman" panose="02020603050405020304" pitchFamily="18" charset="0"/>
              <a:cs typeface="Times New Roman" panose="02020603050405020304" pitchFamily="18" charset="0"/>
            </a:endParaRPr>
          </a:p>
          <a:p>
            <a:r>
              <a:rPr lang="en-US" b="1">
                <a:solidFill>
                  <a:srgbClr val="00B0F0"/>
                </a:solidFill>
                <a:latin typeface="Times New Roman" panose="02020603050405020304" pitchFamily="18" charset="0"/>
                <a:cs typeface="Times New Roman" panose="02020603050405020304" pitchFamily="18" charset="0"/>
              </a:rPr>
              <a:t>To Run: java mypack.Simple</a:t>
            </a:r>
            <a:endParaRPr lang="en-US" b="1">
              <a:solidFill>
                <a:srgbClr val="00B0F0"/>
              </a:solidFill>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Output:Welcome to package</a:t>
            </a:r>
            <a:endParaRPr lang="en-US" b="1">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How to access package from another package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There are three ways to access the package from outside the package.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pPr marL="342900" indent="-342900">
              <a:buClr>
                <a:srgbClr val="0070C0"/>
              </a:buClr>
              <a:buFont typeface="Wingdings" panose="05000000000000000000" charset="0"/>
              <a:buChar char="Ø"/>
            </a:pPr>
            <a:r>
              <a:rPr lang="en-US" b="1">
                <a:latin typeface="Times New Roman" panose="02020603050405020304" pitchFamily="18" charset="0"/>
                <a:cs typeface="Times New Roman" panose="02020603050405020304" pitchFamily="18" charset="0"/>
              </a:rPr>
              <a:t>    import package.*;</a:t>
            </a:r>
            <a:endParaRPr lang="en-US" b="1">
              <a:latin typeface="Times New Roman" panose="02020603050405020304" pitchFamily="18" charset="0"/>
              <a:cs typeface="Times New Roman" panose="02020603050405020304" pitchFamily="18" charset="0"/>
            </a:endParaRPr>
          </a:p>
          <a:p>
            <a:pPr marL="342900" indent="-342900">
              <a:buClr>
                <a:srgbClr val="0070C0"/>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0070C0"/>
              </a:buClr>
              <a:buFont typeface="Wingdings" panose="05000000000000000000" charset="0"/>
              <a:buChar char="Ø"/>
            </a:pPr>
            <a:r>
              <a:rPr lang="en-US" b="1">
                <a:latin typeface="Times New Roman" panose="02020603050405020304" pitchFamily="18" charset="0"/>
                <a:cs typeface="Times New Roman" panose="02020603050405020304" pitchFamily="18" charset="0"/>
              </a:rPr>
              <a:t>    import package.classname;</a:t>
            </a:r>
            <a:endParaRPr lang="en-US" b="1">
              <a:latin typeface="Times New Roman" panose="02020603050405020304" pitchFamily="18" charset="0"/>
              <a:cs typeface="Times New Roman" panose="02020603050405020304" pitchFamily="18" charset="0"/>
            </a:endParaRPr>
          </a:p>
          <a:p>
            <a:pPr marL="342900" indent="-342900">
              <a:buClr>
                <a:srgbClr val="0070C0"/>
              </a:buClr>
              <a:buFont typeface="Wingdings" panose="05000000000000000000" charset="0"/>
              <a:buChar char="Ø"/>
            </a:pPr>
            <a:endParaRPr lang="en-US" b="1">
              <a:latin typeface="Times New Roman" panose="02020603050405020304" pitchFamily="18" charset="0"/>
              <a:cs typeface="Times New Roman" panose="02020603050405020304" pitchFamily="18" charset="0"/>
            </a:endParaRPr>
          </a:p>
          <a:p>
            <a:pPr marL="342900" indent="-342900">
              <a:buClr>
                <a:srgbClr val="0070C0"/>
              </a:buClr>
              <a:buFont typeface="Wingdings" panose="05000000000000000000" charset="0"/>
              <a:buChar char="Ø"/>
            </a:pPr>
            <a:r>
              <a:rPr lang="en-US" b="1">
                <a:latin typeface="Times New Roman" panose="02020603050405020304" pitchFamily="18" charset="0"/>
                <a:cs typeface="Times New Roman" panose="02020603050405020304" pitchFamily="18" charset="0"/>
              </a:rPr>
              <a:t>    fully qualified name.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Using packagename.*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you use package.* then all the classes and interfaces of this package will be accessible but not subpackages.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 import keyword is used to make the classes and interface of another package accessible to the current package.</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package that import the packagename.*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26765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//save by A.java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package pack;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class A</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msg()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{System.out.println("Hello");}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package that import the packagename.*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//save by B.java</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package mypack;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import pack.*;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 obj = new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obj.msg();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Output:Hello</a:t>
            </a:r>
            <a:endParaRPr lang="en-US" b="1">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Using packagename.classname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82994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you import package.classname then only declared class of this package will be accessible.</a:t>
            </a:r>
            <a:endParaRPr lang="en-US" b="1">
              <a:latin typeface="Times New Roman" panose="02020603050405020304" pitchFamily="18" charset="0"/>
              <a:cs typeface="Times New Roman" panose="02020603050405020304" pitchFamily="18" charset="0"/>
            </a:endParaRPr>
          </a:p>
        </p:txBody>
      </p:sp>
      <p:sp>
        <p:nvSpPr>
          <p:cNvPr id="4" name="Text Box 3"/>
          <p:cNvSpPr txBox="1"/>
          <p:nvPr/>
        </p:nvSpPr>
        <p:spPr>
          <a:xfrm>
            <a:off x="421005" y="3030855"/>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package by import package.classname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5" name="Text Box 4"/>
          <p:cNvSpPr txBox="1"/>
          <p:nvPr/>
        </p:nvSpPr>
        <p:spPr>
          <a:xfrm>
            <a:off x="549275" y="3745230"/>
            <a:ext cx="8036560" cy="1938020"/>
          </a:xfrm>
          <a:prstGeom prst="rect">
            <a:avLst/>
          </a:prstGeom>
          <a:noFill/>
        </p:spPr>
        <p:txBody>
          <a:bodyPr wrap="square" rtlCol="0" anchor="t">
            <a:spAutoFit/>
          </a:bodyPr>
          <a:p>
            <a:r>
              <a:rPr lang="en-US"/>
              <a:t>   </a:t>
            </a:r>
            <a:r>
              <a:rPr lang="en-US" b="1">
                <a:solidFill>
                  <a:srgbClr val="00B050"/>
                </a:solidFill>
                <a:latin typeface="Times New Roman" panose="02020603050405020304" pitchFamily="18" charset="0"/>
                <a:cs typeface="Times New Roman" panose="02020603050405020304" pitchFamily="18" charset="0"/>
              </a:rPr>
              <a:t> //save by A.java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package pack;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class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msg(){System.out.println("Hello");}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package by import package.classname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 //save by B.java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package mypack;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import pack.A;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 obj = new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obj.msg();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Output:Hello</a:t>
            </a:r>
            <a:endParaRPr lang="en-US" b="1">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Using fully qualified name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26765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you use fully qualified name then only declared class of this package will be accessible. Now there is no need to import. But you need to use fully qualified name every time when you are accessing the class or interface.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It is generally used when two packages have same class name e.g. java.util and java.sql packages contain Date class.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package by import fully qualified name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26765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//save by A.java </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package pack;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class A</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msg()</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{System.out.println("Hello");}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package by import fully qualified name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910080"/>
            <a:ext cx="8164830"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//save by B.java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package mypack;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B{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pack.A obj = new pack.A();</a:t>
            </a:r>
            <a:r>
              <a:rPr lang="en-US" b="1">
                <a:solidFill>
                  <a:srgbClr val="00B050"/>
                </a:solidFill>
                <a:latin typeface="Times New Roman" panose="02020603050405020304" pitchFamily="18" charset="0"/>
                <a:cs typeface="Times New Roman" panose="02020603050405020304" pitchFamily="18" charset="0"/>
              </a:rPr>
              <a:t>//using fully qualified name</a:t>
            </a: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obj.msg();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Output:Hello  </a:t>
            </a:r>
            <a:endParaRPr lang="en-US" b="1">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953135"/>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Note: If you import a package, subpackages will not be imported.</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74980" y="2386330"/>
            <a:ext cx="8164830" cy="156845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If you import a package, all the classes and interface of that package will be imported excluding the classes and interfaces of the subpackages. Hence, you need to import the subpackage as well.</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Subpackage in java</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0710"/>
            <a:ext cx="816483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Package inside the package is called the subpackage. It should be created to categorize the package further.</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Let's take an example, Sun Microsystem has definded a package named java that contains many classes like System, String, Reader, Writer, Socket etc. These classes represent a particular group e.g. Reader and Writer classes are for Input/Output operation, Socket and ServerSocket classes are for networking etc and so on. So, Sun has subcategorized the java package into subpackages such as lang, net, io etc. and put the Input/Output related classes in io package, Server and ServerSocket classes in net packages and so on.</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Example of Subpackage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0710"/>
            <a:ext cx="8427085"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package com.javatpoint.core;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Simple{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System.out.println("Hello subpackage");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To Compile: javac -d . Simple.java</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To Run: java com.javatpoint.core.Simple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Output:Hello subpackage</a:t>
            </a:r>
            <a:endParaRPr lang="en-US" b="1">
              <a:solidFill>
                <a:srgbClr val="00B05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1383665"/>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Rule: There can be only one public class in a java source file and it must be saved by the public class name.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88315" y="2652395"/>
            <a:ext cx="8427085" cy="1938020"/>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rPr>
              <a:t>//save as C.java otherwise Compilte Time Error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class B{}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public class C{}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Package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How to put two public classes in a package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427085" cy="415417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rPr>
              <a:t>If you want to put two public classes in a package, have two java source files containing one public class, but keep the package name same. For example:</a:t>
            </a:r>
            <a:endParaRPr lang="en-US" b="1">
              <a:solidFill>
                <a:srgbClr val="00B050"/>
              </a:solidFill>
              <a:latin typeface="Times New Roman" panose="02020603050405020304" pitchFamily="18" charset="0"/>
              <a:cs typeface="Times New Roman" panose="02020603050405020304" pitchFamily="18" charset="0"/>
            </a:endParaRPr>
          </a:p>
          <a:p>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    //save as A.java  </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   </a:t>
            </a:r>
            <a:r>
              <a:rPr lang="en-US" b="1">
                <a:solidFill>
                  <a:schemeClr val="tx1"/>
                </a:solidFill>
                <a:latin typeface="Times New Roman" panose="02020603050405020304" pitchFamily="18" charset="0"/>
                <a:cs typeface="Times New Roman" panose="02020603050405020304" pitchFamily="18" charset="0"/>
              </a:rPr>
              <a:t> package javatpoint;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public class A{}  </a:t>
            </a:r>
            <a:endParaRPr lang="en-US" b="1">
              <a:solidFill>
                <a:schemeClr val="tx1"/>
              </a:solidFill>
              <a:latin typeface="Times New Roman" panose="02020603050405020304" pitchFamily="18" charset="0"/>
              <a:cs typeface="Times New Roman" panose="02020603050405020304" pitchFamily="18" charset="0"/>
            </a:endParaRPr>
          </a:p>
          <a:p>
            <a:endParaRPr lang="en-US" b="1">
              <a:solidFill>
                <a:schemeClr val="tx1"/>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    //save as B.java  </a:t>
            </a:r>
            <a:endParaRPr lang="en-US" b="1">
              <a:solidFill>
                <a:srgbClr val="00B050"/>
              </a:solidFill>
              <a:latin typeface="Times New Roman" panose="02020603050405020304" pitchFamily="18" charset="0"/>
              <a:cs typeface="Times New Roman" panose="02020603050405020304" pitchFamily="18" charset="0"/>
            </a:endParaRPr>
          </a:p>
          <a:p>
            <a:r>
              <a:rPr lang="en-US" b="1">
                <a:solidFill>
                  <a:srgbClr val="00B050"/>
                </a:solidFill>
                <a:latin typeface="Times New Roman" panose="02020603050405020304" pitchFamily="18" charset="0"/>
                <a:cs typeface="Times New Roman" panose="02020603050405020304" pitchFamily="18" charset="0"/>
              </a:rPr>
              <a:t>   </a:t>
            </a:r>
            <a:r>
              <a:rPr lang="en-US" b="1">
                <a:solidFill>
                  <a:schemeClr val="tx1"/>
                </a:solidFill>
                <a:latin typeface="Times New Roman" panose="02020603050405020304" pitchFamily="18" charset="0"/>
                <a:cs typeface="Times New Roman" panose="02020603050405020304" pitchFamily="18" charset="0"/>
              </a:rPr>
              <a:t> package javatpoint;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    public class B{}  </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Access Modifiers in java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062595" cy="452310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rPr>
              <a:t>There are two types of modifiers in java: </a:t>
            </a:r>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access modifiers and non-access modifiers.</a:t>
            </a:r>
            <a:endParaRPr lang="en-US" b="1">
              <a:solidFill>
                <a:schemeClr val="tx1"/>
              </a:solidFill>
              <a:latin typeface="Times New Roman" panose="02020603050405020304" pitchFamily="18" charset="0"/>
              <a:cs typeface="Times New Roman" panose="02020603050405020304" pitchFamily="18" charset="0"/>
            </a:endParaRPr>
          </a:p>
          <a:p>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The access modifiers in java specifies accessibility (scope) of a data member, method, constructor or class.</a:t>
            </a:r>
            <a:endParaRPr lang="en-US" b="1">
              <a:solidFill>
                <a:schemeClr val="tx1"/>
              </a:solidFill>
              <a:latin typeface="Times New Roman" panose="02020603050405020304" pitchFamily="18" charset="0"/>
              <a:cs typeface="Times New Roman" panose="02020603050405020304" pitchFamily="18" charset="0"/>
            </a:endParaRPr>
          </a:p>
          <a:p>
            <a:endParaRPr lang="en-US" b="1">
              <a:solidFill>
                <a:schemeClr val="tx1"/>
              </a:solidFill>
              <a:latin typeface="Times New Roman" panose="02020603050405020304" pitchFamily="18" charset="0"/>
              <a:cs typeface="Times New Roman" panose="02020603050405020304" pitchFamily="18" charset="0"/>
            </a:endParaRPr>
          </a:p>
          <a:p>
            <a:r>
              <a:rPr lang="en-US" b="1">
                <a:solidFill>
                  <a:schemeClr val="tx1"/>
                </a:solidFill>
                <a:latin typeface="Times New Roman" panose="02020603050405020304" pitchFamily="18" charset="0"/>
                <a:cs typeface="Times New Roman" panose="02020603050405020304" pitchFamily="18" charset="0"/>
              </a:rPr>
              <a:t>There are 4 types of java access modifiers:</a:t>
            </a:r>
            <a:endParaRPr lang="en-US" b="1">
              <a:solidFill>
                <a:schemeClr val="tx1"/>
              </a:solidFill>
              <a:latin typeface="Times New Roman" panose="02020603050405020304" pitchFamily="18" charset="0"/>
              <a:cs typeface="Times New Roman" panose="02020603050405020304" pitchFamily="18" charset="0"/>
            </a:endParaRPr>
          </a:p>
          <a:p>
            <a:endParaRPr lang="en-US" b="1">
              <a:solidFill>
                <a:schemeClr val="tx1"/>
              </a:solidFill>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solidFill>
                  <a:schemeClr val="tx1"/>
                </a:solidFill>
                <a:latin typeface="Times New Roman" panose="02020603050405020304" pitchFamily="18" charset="0"/>
                <a:cs typeface="Times New Roman" panose="02020603050405020304" pitchFamily="18" charset="0"/>
              </a:rPr>
              <a:t>    private</a:t>
            </a:r>
            <a:endParaRPr lang="en-US" b="1">
              <a:solidFill>
                <a:schemeClr val="tx1"/>
              </a:solidFill>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solidFill>
                  <a:schemeClr val="tx1"/>
                </a:solidFill>
                <a:latin typeface="Times New Roman" panose="02020603050405020304" pitchFamily="18" charset="0"/>
                <a:cs typeface="Times New Roman" panose="02020603050405020304" pitchFamily="18" charset="0"/>
              </a:rPr>
              <a:t>    default</a:t>
            </a:r>
            <a:endParaRPr lang="en-US" b="1">
              <a:solidFill>
                <a:schemeClr val="tx1"/>
              </a:solidFill>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solidFill>
                  <a:schemeClr val="tx1"/>
                </a:solidFill>
                <a:latin typeface="Times New Roman" panose="02020603050405020304" pitchFamily="18" charset="0"/>
                <a:cs typeface="Times New Roman" panose="02020603050405020304" pitchFamily="18" charset="0"/>
              </a:rPr>
              <a:t>    protected</a:t>
            </a:r>
            <a:endParaRPr lang="en-US" b="1">
              <a:solidFill>
                <a:schemeClr val="tx1"/>
              </a:solidFill>
              <a:latin typeface="Times New Roman" panose="02020603050405020304" pitchFamily="18" charset="0"/>
              <a:cs typeface="Times New Roman" panose="02020603050405020304" pitchFamily="18" charset="0"/>
            </a:endParaRPr>
          </a:p>
          <a:p>
            <a:pPr marL="342900" indent="-342900">
              <a:buClr>
                <a:srgbClr val="262699"/>
              </a:buClr>
              <a:buFont typeface="Wingdings" panose="05000000000000000000" charset="0"/>
              <a:buChar char="Ø"/>
            </a:pPr>
            <a:r>
              <a:rPr lang="en-US" b="1">
                <a:solidFill>
                  <a:schemeClr val="tx1"/>
                </a:solidFill>
                <a:latin typeface="Times New Roman" panose="02020603050405020304" pitchFamily="18" charset="0"/>
                <a:cs typeface="Times New Roman" panose="02020603050405020304" pitchFamily="18" charset="0"/>
              </a:rPr>
              <a:t>    public</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Access Modifiers in java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062595" cy="119888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There are many non-access modifiers such as static, abstract, synchronized, native, volatile, transient etc. Here, we will learn access modifiers.</a:t>
            </a:r>
            <a:endParaRPr lang="en-US" b="1">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private access modifier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062595"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The private access modifier is accessible only within class.</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private int data=40;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private void msg(){System.out.println("Hello java");}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class Simple{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 obj=new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System.out.println(obj.data);</a:t>
            </a:r>
            <a:r>
              <a:rPr lang="en-US" b="1">
                <a:solidFill>
                  <a:srgbClr val="00B050"/>
                </a:solidFill>
                <a:latin typeface="Times New Roman" panose="02020603050405020304" pitchFamily="18" charset="0"/>
                <a:cs typeface="Times New Roman" panose="02020603050405020304" pitchFamily="18" charset="0"/>
                <a:sym typeface="+mn-ea"/>
              </a:rPr>
              <a:t>//Compile Time Error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obj.msg();</a:t>
            </a:r>
            <a:r>
              <a:rPr lang="en-US" b="1">
                <a:solidFill>
                  <a:srgbClr val="00B050"/>
                </a:solidFill>
                <a:latin typeface="Times New Roman" panose="02020603050405020304" pitchFamily="18" charset="0"/>
                <a:cs typeface="Times New Roman" panose="02020603050405020304" pitchFamily="18" charset="0"/>
                <a:sym typeface="+mn-ea"/>
              </a:rPr>
              <a:t>//Compile Time Error</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Role of Private Constructor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401685"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you make any class constructor private, you cannot create the instance of that class from outside the class. For example: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private A(){}</a:t>
            </a:r>
            <a:r>
              <a:rPr lang="en-US" b="1">
                <a:solidFill>
                  <a:srgbClr val="00B050"/>
                </a:solidFill>
                <a:latin typeface="Times New Roman" panose="02020603050405020304" pitchFamily="18" charset="0"/>
                <a:cs typeface="Times New Roman" panose="02020603050405020304" pitchFamily="18" charset="0"/>
                <a:sym typeface="+mn-ea"/>
              </a:rPr>
              <a:t>//private constructor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msg(){System.out.println("Hello java");}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class Simple{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 obj=new A();</a:t>
            </a:r>
            <a:r>
              <a:rPr lang="en-US" b="1">
                <a:solidFill>
                  <a:srgbClr val="00B050"/>
                </a:solidFill>
                <a:latin typeface="Times New Roman" panose="02020603050405020304" pitchFamily="18" charset="0"/>
                <a:cs typeface="Times New Roman" panose="02020603050405020304" pitchFamily="18" charset="0"/>
                <a:sym typeface="+mn-ea"/>
              </a:rPr>
              <a:t>//Compile Time Error</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solidFill>
                  <a:srgbClr val="0070C0"/>
                </a:solidFill>
                <a:latin typeface="Times New Roman" panose="02020603050405020304" pitchFamily="18" charset="0"/>
                <a:cs typeface="Times New Roman" panose="02020603050405020304" pitchFamily="18" charset="0"/>
                <a:sym typeface="+mn-ea"/>
              </a:rPr>
              <a:t>Note: A class cannot be private or protected except nested class.</a:t>
            </a:r>
            <a:endParaRPr lang="en-US" b="1">
              <a:solidFill>
                <a:srgbClr val="0070C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Default access modifier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401685"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you don't use any modifier, it is treated as default bydefault. The default modifier is accessible only within package.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In this example, we have created two packages pack and mypack. We are accessing the A class from outside its package, since A class is not public, so it cannot be accessed from outside the package.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//save by A.java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package pack;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msg(){System.out.println("Hello");}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Default access modifier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401685" cy="341503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//save by B.java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package mypack;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import pack.*;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 obj = new A();</a:t>
            </a:r>
            <a:r>
              <a:rPr lang="en-US" b="1">
                <a:solidFill>
                  <a:srgbClr val="00B050"/>
                </a:solidFill>
                <a:latin typeface="Times New Roman" panose="02020603050405020304" pitchFamily="18" charset="0"/>
                <a:cs typeface="Times New Roman" panose="02020603050405020304" pitchFamily="18" charset="0"/>
                <a:sym typeface="+mn-ea"/>
              </a:rPr>
              <a:t>//Compile Time Error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obj.msg();</a:t>
            </a:r>
            <a:r>
              <a:rPr lang="en-US" b="1">
                <a:solidFill>
                  <a:srgbClr val="00B050"/>
                </a:solidFill>
                <a:latin typeface="Times New Roman" panose="02020603050405020304" pitchFamily="18" charset="0"/>
                <a:cs typeface="Times New Roman" panose="02020603050405020304" pitchFamily="18" charset="0"/>
                <a:sym typeface="+mn-ea"/>
              </a:rPr>
              <a:t>//Compile Time Error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Protected access modifier</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40168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The protected access modifier is accessible within package and outside the package but through inheritance only.</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The protected access modifier can be applied on the data member, method and constructor. </a:t>
            </a:r>
            <a:r>
              <a:rPr lang="en-US" b="1">
                <a:solidFill>
                  <a:srgbClr val="00B050"/>
                </a:solidFill>
                <a:latin typeface="Times New Roman" panose="02020603050405020304" pitchFamily="18" charset="0"/>
                <a:cs typeface="Times New Roman" panose="02020603050405020304" pitchFamily="18" charset="0"/>
                <a:sym typeface="+mn-ea"/>
              </a:rPr>
              <a:t>It can't be applied on the class. </a:t>
            </a:r>
            <a:endParaRPr lang="en-US" b="1">
              <a:solidFill>
                <a:srgbClr val="00B050"/>
              </a:solidFill>
              <a:latin typeface="Times New Roman" panose="02020603050405020304" pitchFamily="18" charset="0"/>
              <a:cs typeface="Times New Roman" panose="02020603050405020304" pitchFamily="18" charset="0"/>
              <a:sym typeface="+mn-ea"/>
            </a:endParaRPr>
          </a:p>
          <a:p>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//save by A.java  </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    </a:t>
            </a:r>
            <a:r>
              <a:rPr lang="en-US" b="1">
                <a:solidFill>
                  <a:schemeClr val="tx1"/>
                </a:solidFill>
                <a:latin typeface="Times New Roman" panose="02020603050405020304" pitchFamily="18" charset="0"/>
                <a:cs typeface="Times New Roman" panose="02020603050405020304" pitchFamily="18" charset="0"/>
                <a:sym typeface="+mn-ea"/>
              </a:rPr>
              <a:t>package pack;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class A{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protected void msg(){System.out.println("Hello");}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Protected access modifier</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40168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//save by B.java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package mypack;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import pack.*;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 extends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 obj = new B();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Output:Hello</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Public access modifier</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401685"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The public access modifier is accessible everywhere. It has the widest scope among all other modifiers.</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//save by A.java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package pack;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class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void msg(){System.out.println("Hello");}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Public access modifier</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401685"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//save by B.java  </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package mypack;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import pack.*;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 obj = new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obj.msg();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Output:Hello</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Understanding all java access modifiers</a:t>
            </a:r>
            <a:endParaRPr lang="en-US" sz="2800" b="1">
              <a:solidFill>
                <a:srgbClr val="C00000"/>
              </a:solidFill>
              <a:latin typeface="Times New Roman" panose="02020603050405020304" pitchFamily="18" charset="0"/>
              <a:cs typeface="Times New Roman" panose="02020603050405020304" pitchFamily="18" charset="0"/>
            </a:endParaRPr>
          </a:p>
        </p:txBody>
      </p:sp>
      <p:graphicFrame>
        <p:nvGraphicFramePr>
          <p:cNvPr id="4" name="Table 3"/>
          <p:cNvGraphicFramePr/>
          <p:nvPr/>
        </p:nvGraphicFramePr>
        <p:xfrm>
          <a:off x="421005" y="2373630"/>
          <a:ext cx="8040370" cy="3188970"/>
        </p:xfrm>
        <a:graphic>
          <a:graphicData uri="http://schemas.openxmlformats.org/drawingml/2006/table">
            <a:tbl>
              <a:tblPr firstRow="1" bandRow="1">
                <a:tableStyleId>{5C22544A-7EE6-4342-B048-85BDC9FD1C3A}</a:tableStyleId>
              </a:tblPr>
              <a:tblGrid>
                <a:gridCol w="1607820"/>
                <a:gridCol w="1452245"/>
                <a:gridCol w="1411605"/>
                <a:gridCol w="1960880"/>
                <a:gridCol w="1607820"/>
              </a:tblGrid>
              <a:tr h="1125855">
                <a:tc>
                  <a:txBody>
                    <a:bodyPr/>
                    <a:p>
                      <a:pPr>
                        <a:buNone/>
                      </a:pPr>
                      <a:r>
                        <a:rPr lang="en-US"/>
                        <a:t>Access Modifier</a:t>
                      </a:r>
                      <a:endParaRPr lang="en-US"/>
                    </a:p>
                  </a:txBody>
                  <a:tcPr/>
                </a:tc>
                <a:tc>
                  <a:txBody>
                    <a:bodyPr/>
                    <a:p>
                      <a:pPr>
                        <a:buNone/>
                      </a:pPr>
                      <a:r>
                        <a:rPr lang="en-US"/>
                        <a:t>within class</a:t>
                      </a:r>
                      <a:endParaRPr lang="en-US"/>
                    </a:p>
                  </a:txBody>
                  <a:tcPr/>
                </a:tc>
                <a:tc>
                  <a:txBody>
                    <a:bodyPr/>
                    <a:p>
                      <a:pPr>
                        <a:buNone/>
                      </a:pPr>
                      <a:r>
                        <a:rPr lang="en-US"/>
                        <a:t>within package</a:t>
                      </a:r>
                      <a:endParaRPr lang="en-US"/>
                    </a:p>
                  </a:txBody>
                  <a:tcPr/>
                </a:tc>
                <a:tc>
                  <a:txBody>
                    <a:bodyPr/>
                    <a:p>
                      <a:pPr>
                        <a:buNone/>
                      </a:pPr>
                      <a:r>
                        <a:rPr lang="en-US"/>
                        <a:t>outside package by subclass only</a:t>
                      </a:r>
                      <a:endParaRPr lang="en-US"/>
                    </a:p>
                  </a:txBody>
                  <a:tcPr/>
                </a:tc>
                <a:tc>
                  <a:txBody>
                    <a:bodyPr/>
                    <a:p>
                      <a:pPr>
                        <a:buNone/>
                      </a:pPr>
                      <a:r>
                        <a:rPr lang="en-US"/>
                        <a:t>outside package</a:t>
                      </a:r>
                      <a:endParaRPr lang="en-US"/>
                    </a:p>
                  </a:txBody>
                  <a:tcPr/>
                </a:tc>
              </a:tr>
              <a:tr h="515620">
                <a:tc>
                  <a:txBody>
                    <a:bodyPr/>
                    <a:p>
                      <a:pPr>
                        <a:buNone/>
                      </a:pPr>
                      <a:r>
                        <a:rPr lang="en-US"/>
                        <a:t>Private</a:t>
                      </a:r>
                      <a:endParaRPr lang="en-US"/>
                    </a:p>
                  </a:txBody>
                  <a:tcPr/>
                </a:tc>
                <a:tc>
                  <a:txBody>
                    <a:bodyPr/>
                    <a:p>
                      <a:pPr>
                        <a:buNone/>
                      </a:pPr>
                      <a:r>
                        <a:rPr lang="en-US"/>
                        <a:t>Y</a:t>
                      </a:r>
                      <a:endParaRPr lang="en-US"/>
                    </a:p>
                  </a:txBody>
                  <a:tcPr/>
                </a:tc>
                <a:tc>
                  <a:txBody>
                    <a:bodyPr/>
                    <a:p>
                      <a:pPr>
                        <a:buNone/>
                      </a:pPr>
                      <a:r>
                        <a:rPr lang="en-US"/>
                        <a:t>N</a:t>
                      </a:r>
                      <a:endParaRPr lang="en-US"/>
                    </a:p>
                  </a:txBody>
                  <a:tcPr/>
                </a:tc>
                <a:tc>
                  <a:txBody>
                    <a:bodyPr/>
                    <a:p>
                      <a:pPr>
                        <a:buNone/>
                      </a:pPr>
                      <a:r>
                        <a:rPr lang="en-US"/>
                        <a:t>N</a:t>
                      </a:r>
                      <a:endParaRPr lang="en-US"/>
                    </a:p>
                  </a:txBody>
                  <a:tcPr/>
                </a:tc>
                <a:tc>
                  <a:txBody>
                    <a:bodyPr/>
                    <a:p>
                      <a:pPr>
                        <a:buNone/>
                      </a:pPr>
                      <a:r>
                        <a:rPr lang="en-US"/>
                        <a:t>N</a:t>
                      </a:r>
                      <a:endParaRPr lang="en-US"/>
                    </a:p>
                  </a:txBody>
                  <a:tcPr/>
                </a:tc>
              </a:tr>
              <a:tr h="516255">
                <a:tc>
                  <a:txBody>
                    <a:bodyPr/>
                    <a:p>
                      <a:pPr>
                        <a:buNone/>
                      </a:pPr>
                      <a:r>
                        <a:rPr lang="en-US"/>
                        <a:t>Default</a:t>
                      </a:r>
                      <a:endParaRPr lang="en-US"/>
                    </a:p>
                  </a:txBody>
                  <a:tcPr/>
                </a:tc>
                <a:tc>
                  <a:txBody>
                    <a:bodyPr/>
                    <a:p>
                      <a:pPr>
                        <a:buNone/>
                      </a:pPr>
                      <a:r>
                        <a:rPr lang="en-US"/>
                        <a:t>Y</a:t>
                      </a:r>
                      <a:endParaRPr lang="en-US"/>
                    </a:p>
                  </a:txBody>
                  <a:tcPr/>
                </a:tc>
                <a:tc>
                  <a:txBody>
                    <a:bodyPr/>
                    <a:p>
                      <a:pPr>
                        <a:buNone/>
                      </a:pPr>
                      <a:r>
                        <a:rPr lang="en-US"/>
                        <a:t>Y</a:t>
                      </a:r>
                      <a:endParaRPr lang="en-US"/>
                    </a:p>
                  </a:txBody>
                  <a:tcPr/>
                </a:tc>
                <a:tc>
                  <a:txBody>
                    <a:bodyPr/>
                    <a:p>
                      <a:pPr>
                        <a:buNone/>
                      </a:pPr>
                      <a:r>
                        <a:rPr lang="en-US"/>
                        <a:t>N</a:t>
                      </a:r>
                      <a:endParaRPr lang="en-US"/>
                    </a:p>
                  </a:txBody>
                  <a:tcPr/>
                </a:tc>
                <a:tc>
                  <a:txBody>
                    <a:bodyPr/>
                    <a:p>
                      <a:pPr>
                        <a:buNone/>
                      </a:pPr>
                      <a:r>
                        <a:rPr lang="en-US"/>
                        <a:t>N</a:t>
                      </a:r>
                      <a:endParaRPr lang="en-US"/>
                    </a:p>
                  </a:txBody>
                  <a:tcPr/>
                </a:tc>
              </a:tr>
              <a:tr h="515620">
                <a:tc>
                  <a:txBody>
                    <a:bodyPr/>
                    <a:p>
                      <a:pPr>
                        <a:buNone/>
                      </a:pPr>
                      <a:r>
                        <a:rPr lang="en-US"/>
                        <a:t>Protected</a:t>
                      </a:r>
                      <a:endParaRPr lang="en-US"/>
                    </a:p>
                  </a:txBody>
                  <a:tcPr/>
                </a:tc>
                <a:tc>
                  <a:txBody>
                    <a:bodyPr/>
                    <a:p>
                      <a:pPr>
                        <a:buNone/>
                      </a:pPr>
                      <a:r>
                        <a:rPr lang="en-US"/>
                        <a:t>Y</a:t>
                      </a:r>
                      <a:endParaRPr lang="en-US"/>
                    </a:p>
                  </a:txBody>
                  <a:tcPr/>
                </a:tc>
                <a:tc>
                  <a:txBody>
                    <a:bodyPr/>
                    <a:p>
                      <a:pPr>
                        <a:buNone/>
                      </a:pPr>
                      <a:r>
                        <a:rPr lang="en-US"/>
                        <a:t>Y</a:t>
                      </a:r>
                      <a:endParaRPr lang="en-US"/>
                    </a:p>
                  </a:txBody>
                  <a:tcPr/>
                </a:tc>
                <a:tc>
                  <a:txBody>
                    <a:bodyPr/>
                    <a:p>
                      <a:pPr>
                        <a:buNone/>
                      </a:pPr>
                      <a:r>
                        <a:rPr lang="en-US"/>
                        <a:t>Y</a:t>
                      </a:r>
                      <a:endParaRPr lang="en-US"/>
                    </a:p>
                  </a:txBody>
                  <a:tcPr/>
                </a:tc>
                <a:tc>
                  <a:txBody>
                    <a:bodyPr/>
                    <a:p>
                      <a:pPr>
                        <a:buNone/>
                      </a:pPr>
                      <a:r>
                        <a:rPr lang="en-US"/>
                        <a:t>N</a:t>
                      </a:r>
                      <a:endParaRPr lang="en-US"/>
                    </a:p>
                  </a:txBody>
                  <a:tcPr/>
                </a:tc>
              </a:tr>
              <a:tr h="515620">
                <a:tc>
                  <a:txBody>
                    <a:bodyPr/>
                    <a:p>
                      <a:pPr>
                        <a:buNone/>
                      </a:pPr>
                      <a:r>
                        <a:rPr lang="en-US"/>
                        <a:t>Public</a:t>
                      </a:r>
                      <a:endParaRPr lang="en-US"/>
                    </a:p>
                  </a:txBody>
                  <a:tcPr/>
                </a:tc>
                <a:tc>
                  <a:txBody>
                    <a:bodyPr/>
                    <a:p>
                      <a:pPr>
                        <a:buNone/>
                      </a:pPr>
                      <a:r>
                        <a:rPr lang="en-US"/>
                        <a:t>Y</a:t>
                      </a:r>
                      <a:endParaRPr lang="en-US"/>
                    </a:p>
                  </a:txBody>
                  <a:tcPr/>
                </a:tc>
                <a:tc>
                  <a:txBody>
                    <a:bodyPr/>
                    <a:p>
                      <a:pPr>
                        <a:buNone/>
                      </a:pPr>
                      <a:r>
                        <a:rPr lang="en-US"/>
                        <a:t>Y</a:t>
                      </a:r>
                      <a:endParaRPr lang="en-US"/>
                    </a:p>
                  </a:txBody>
                  <a:tcPr/>
                </a:tc>
                <a:tc>
                  <a:txBody>
                    <a:bodyPr/>
                    <a:p>
                      <a:pPr>
                        <a:buNone/>
                      </a:pPr>
                      <a:r>
                        <a:rPr lang="en-US"/>
                        <a:t>Y</a:t>
                      </a:r>
                      <a:endParaRPr lang="en-US"/>
                    </a:p>
                  </a:txBody>
                  <a:tcPr/>
                </a:tc>
                <a:tc>
                  <a:txBody>
                    <a:bodyPr/>
                    <a:p>
                      <a:pPr>
                        <a:buNone/>
                      </a:pPr>
                      <a:r>
                        <a:rPr lang="en-US"/>
                        <a:t>Y</a:t>
                      </a:r>
                      <a:endParaRPr lang="en-US"/>
                    </a:p>
                  </a:txBody>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Access Modifiers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68730"/>
            <a:ext cx="840486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access modifiers with method overriding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58775" y="1866900"/>
            <a:ext cx="8556625"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you are overriding any method, overridden method (i.e. declared in subclass) must not be more restrictive.</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protected void msg(){System.out.println("Hello java");}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class Simple extends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msg(){System.out.println("Hello java");}</a:t>
            </a:r>
            <a:r>
              <a:rPr lang="en-US" b="1">
                <a:solidFill>
                  <a:srgbClr val="00B050"/>
                </a:solidFill>
                <a:latin typeface="Times New Roman" panose="02020603050405020304" pitchFamily="18" charset="0"/>
                <a:cs typeface="Times New Roman" panose="02020603050405020304" pitchFamily="18" charset="0"/>
                <a:sym typeface="+mn-ea"/>
              </a:rPr>
              <a:t>//C.T.Error</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Simple obj=new Simple();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obj.msg();  }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The default modifier is more restrictive than protected. That is why there is compile time error.  </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9823</Words>
  <Application>WPS Presentation</Application>
  <PresentationFormat/>
  <Paragraphs>449</Paragraphs>
  <Slides>32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32</vt:i4>
      </vt:variant>
    </vt:vector>
  </HeadingPairs>
  <TitlesOfParts>
    <vt:vector size="42" baseType="lpstr">
      <vt:lpstr>Arial</vt:lpstr>
      <vt:lpstr>SimSun</vt:lpstr>
      <vt:lpstr>Wingdings</vt:lpstr>
      <vt:lpstr>Impact</vt:lpstr>
      <vt:lpstr>Times New Roman</vt:lpstr>
      <vt:lpstr>Wingdings</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386</cp:revision>
  <dcterms:created xsi:type="dcterms:W3CDTF">2001-06-04T11:43:00Z</dcterms:created>
  <dcterms:modified xsi:type="dcterms:W3CDTF">2021-02-23T10:16:22Z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1033-11.2.0.9984</vt:lpwstr>
  </property>
</Properties>
</file>