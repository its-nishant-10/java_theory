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27"/>
  </p:handoutMasterIdLst>
  <p:sldIdLst>
    <p:sldId id="260" r:id="rId3"/>
    <p:sldId id="511" r:id="rId4"/>
    <p:sldId id="512" r:id="rId5"/>
    <p:sldId id="513" r:id="rId6"/>
    <p:sldId id="514" r:id="rId8"/>
    <p:sldId id="515" r:id="rId9"/>
    <p:sldId id="516" r:id="rId10"/>
    <p:sldId id="517" r:id="rId11"/>
    <p:sldId id="518" r:id="rId12"/>
    <p:sldId id="519" r:id="rId13"/>
    <p:sldId id="520" r:id="rId14"/>
    <p:sldId id="521" r:id="rId15"/>
    <p:sldId id="522" r:id="rId16"/>
    <p:sldId id="523" r:id="rId17"/>
    <p:sldId id="524" r:id="rId18"/>
    <p:sldId id="525" r:id="rId19"/>
    <p:sldId id="526" r:id="rId20"/>
    <p:sldId id="527" r:id="rId21"/>
    <p:sldId id="528" r:id="rId22"/>
    <p:sldId id="529" r:id="rId23"/>
    <p:sldId id="530" r:id="rId24"/>
    <p:sldId id="531" r:id="rId25"/>
    <p:sldId id="532" r:id="rId2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60"/>
        <p:guide pos="2880"/>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I/O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7725410"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Java I/O (Input and Output) is used to process the input and produce the output.</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Java uses the concept of a stream to make I/O operation fast. The java.io package contains all the classes required for input and output operations.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We can perform file handling in Java by Java I/O API.</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Stream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 stream is a sequence of data. In Java, a stream is composed of bytes. It's called a stream because it is like a stream of water that continues to flow.</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 Java, 3 streams are created for us automatically. All these streams are attached with the console.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System.out: standard output stream</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 System.in: standard input stream</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3) System.err: standard error stream</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Stream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32548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Let's see the code to print output and an error message to the console.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System.out.println("simple message");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System.err.println("error message");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Let's see the code to get input from console.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i=System.in.read();</a:t>
            </a:r>
            <a:r>
              <a:rPr lang="en-US" b="1">
                <a:solidFill>
                  <a:srgbClr val="00B050"/>
                </a:solidFill>
                <a:latin typeface="Times New Roman" panose="02020603050405020304" pitchFamily="18" charset="0"/>
                <a:cs typeface="Times New Roman" panose="02020603050405020304" pitchFamily="18" charset="0"/>
                <a:sym typeface="+mn-ea"/>
              </a:rPr>
              <a:t>//returns ASCII code of 1st character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System.out.println((char)i);</a:t>
            </a:r>
            <a:r>
              <a:rPr lang="en-US" b="1">
                <a:solidFill>
                  <a:srgbClr val="00B050"/>
                </a:solidFill>
                <a:latin typeface="Times New Roman" panose="02020603050405020304" pitchFamily="18" charset="0"/>
                <a:cs typeface="Times New Roman" panose="02020603050405020304" pitchFamily="18" charset="0"/>
                <a:sym typeface="+mn-ea"/>
              </a:rPr>
              <a:t>//will print the character</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OutputStream vs InputStream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325485" cy="3784600"/>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sym typeface="+mn-ea"/>
              </a:rPr>
              <a:t>OutputStream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Java application uses an output stream to write data to a destination; it may be a file, an array, peripheral device or socket.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InputStream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Java application uses an input stream to read data from a source; it may be a file, an array, peripheral device or socket.</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Working of Java OutputStream and InputStream</a:t>
            </a:r>
            <a:endParaRPr lang="en-US" sz="2800" b="1">
              <a:solidFill>
                <a:srgbClr val="C00000"/>
              </a:solidFill>
              <a:latin typeface="Times New Roman" panose="02020603050405020304" pitchFamily="18" charset="0"/>
              <a:cs typeface="Times New Roman" panose="02020603050405020304" pitchFamily="18" charset="0"/>
            </a:endParaRPr>
          </a:p>
        </p:txBody>
      </p:sp>
      <p:pic>
        <p:nvPicPr>
          <p:cNvPr id="4" name="Picture 3" descr="java-io-flow"/>
          <p:cNvPicPr>
            <a:picLocks noChangeAspect="1"/>
          </p:cNvPicPr>
          <p:nvPr/>
        </p:nvPicPr>
        <p:blipFill>
          <a:blip r:embed="rId1"/>
          <a:stretch>
            <a:fillRect/>
          </a:stretch>
        </p:blipFill>
        <p:spPr>
          <a:xfrm>
            <a:off x="421640" y="2226945"/>
            <a:ext cx="7457440" cy="3701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OutputStream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325485" cy="119888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OutputStream class is an abstract class. It is the superclass of all classes representing an output stream of bytes. An output stream accepts output bytes and sends them to some sink.</a:t>
            </a:r>
            <a:endParaRPr lang="en-US" b="1">
              <a:solidFill>
                <a:schemeClr val="tx1"/>
              </a:solidFill>
              <a:latin typeface="Times New Roman" panose="02020603050405020304" pitchFamily="18" charset="0"/>
              <a:cs typeface="Times New Roman" panose="02020603050405020304" pitchFamily="18" charset="0"/>
              <a:sym typeface="+mn-ea"/>
            </a:endParaRPr>
          </a:p>
        </p:txBody>
      </p:sp>
      <p:graphicFrame>
        <p:nvGraphicFramePr>
          <p:cNvPr id="4" name="Table 3"/>
          <p:cNvGraphicFramePr/>
          <p:nvPr/>
        </p:nvGraphicFramePr>
        <p:xfrm>
          <a:off x="480060" y="3392805"/>
          <a:ext cx="8260080" cy="2941320"/>
        </p:xfrm>
        <a:graphic>
          <a:graphicData uri="http://schemas.openxmlformats.org/drawingml/2006/table">
            <a:tbl>
              <a:tblPr firstRow="1" bandRow="1">
                <a:tableStyleId>{5C22544A-7EE6-4342-B048-85BDC9FD1C3A}</a:tableStyleId>
              </a:tblPr>
              <a:tblGrid>
                <a:gridCol w="4819650"/>
                <a:gridCol w="3440430"/>
              </a:tblGrid>
              <a:tr h="381000">
                <a:tc>
                  <a:txBody>
                    <a:bodyPr/>
                    <a:p>
                      <a:pPr>
                        <a:buNone/>
                      </a:pPr>
                      <a:r>
                        <a:rPr lang="en-US"/>
                        <a:t>Method</a:t>
                      </a:r>
                      <a:endParaRPr lang="en-US"/>
                    </a:p>
                  </a:txBody>
                  <a:tcPr/>
                </a:tc>
                <a:tc>
                  <a:txBody>
                    <a:bodyPr/>
                    <a:p>
                      <a:pPr>
                        <a:buNone/>
                      </a:pPr>
                      <a:r>
                        <a:rPr lang="en-US"/>
                        <a:t>Description</a:t>
                      </a:r>
                      <a:endParaRPr lang="en-US"/>
                    </a:p>
                  </a:txBody>
                  <a:tcPr/>
                </a:tc>
              </a:tr>
              <a:tr h="381000">
                <a:tc>
                  <a:txBody>
                    <a:bodyPr/>
                    <a:p>
                      <a:pPr>
                        <a:buNone/>
                      </a:pPr>
                      <a:r>
                        <a:rPr lang="en-US"/>
                        <a:t>1) public void write(int)throws IOException</a:t>
                      </a:r>
                      <a:endParaRPr lang="en-US"/>
                    </a:p>
                  </a:txBody>
                  <a:tcPr/>
                </a:tc>
                <a:tc>
                  <a:txBody>
                    <a:bodyPr/>
                    <a:p>
                      <a:pPr>
                        <a:buNone/>
                      </a:pPr>
                      <a:r>
                        <a:rPr lang="en-US"/>
                        <a:t>is used to write a byte to the current output stream.</a:t>
                      </a:r>
                      <a:endParaRPr lang="en-US"/>
                    </a:p>
                  </a:txBody>
                  <a:tcPr/>
                </a:tc>
              </a:tr>
              <a:tr h="381000">
                <a:tc>
                  <a:txBody>
                    <a:bodyPr/>
                    <a:p>
                      <a:pPr>
                        <a:buNone/>
                      </a:pPr>
                      <a:r>
                        <a:rPr lang="en-US"/>
                        <a:t>2) public void write(byte[])throws IOException</a:t>
                      </a:r>
                      <a:endParaRPr lang="en-US"/>
                    </a:p>
                  </a:txBody>
                  <a:tcPr/>
                </a:tc>
                <a:tc>
                  <a:txBody>
                    <a:bodyPr/>
                    <a:p>
                      <a:pPr>
                        <a:buNone/>
                      </a:pPr>
                      <a:r>
                        <a:rPr lang="en-US"/>
                        <a:t>is used to write an array of byte to the current output stream.</a:t>
                      </a:r>
                      <a:endParaRPr lang="en-US"/>
                    </a:p>
                  </a:txBody>
                  <a:tcPr/>
                </a:tc>
              </a:tr>
              <a:tr h="381000">
                <a:tc>
                  <a:txBody>
                    <a:bodyPr/>
                    <a:p>
                      <a:pPr>
                        <a:buNone/>
                      </a:pPr>
                      <a:r>
                        <a:rPr lang="en-US"/>
                        <a:t>3) public void flush()throws IOException</a:t>
                      </a:r>
                      <a:endParaRPr lang="en-US"/>
                    </a:p>
                  </a:txBody>
                  <a:tcPr/>
                </a:tc>
                <a:tc>
                  <a:txBody>
                    <a:bodyPr/>
                    <a:p>
                      <a:pPr>
                        <a:buNone/>
                      </a:pPr>
                      <a:r>
                        <a:rPr lang="en-US"/>
                        <a:t>flushes the current output stream.</a:t>
                      </a:r>
                      <a:endParaRPr lang="en-US"/>
                    </a:p>
                  </a:txBody>
                  <a:tcPr/>
                </a:tc>
              </a:tr>
              <a:tr h="381000">
                <a:tc>
                  <a:txBody>
                    <a:bodyPr/>
                    <a:p>
                      <a:pPr>
                        <a:buNone/>
                      </a:pPr>
                      <a:r>
                        <a:rPr lang="en-US"/>
                        <a:t>4) public void close()throws IOException</a:t>
                      </a:r>
                      <a:endParaRPr lang="en-US"/>
                    </a:p>
                  </a:txBody>
                  <a:tcPr/>
                </a:tc>
                <a:tc>
                  <a:txBody>
                    <a:bodyPr/>
                    <a:p>
                      <a:pPr>
                        <a:buNone/>
                      </a:pPr>
                      <a:r>
                        <a:rPr lang="en-US"/>
                        <a:t>is used to close the current output stream.</a:t>
                      </a:r>
                      <a:endParaRPr lang="en-US"/>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OutputStream Hierarchy</a:t>
            </a:r>
            <a:endParaRPr lang="en-US" sz="2800" b="1">
              <a:solidFill>
                <a:srgbClr val="C00000"/>
              </a:solidFill>
              <a:latin typeface="Times New Roman" panose="02020603050405020304" pitchFamily="18" charset="0"/>
              <a:cs typeface="Times New Roman" panose="02020603050405020304" pitchFamily="18" charset="0"/>
            </a:endParaRPr>
          </a:p>
        </p:txBody>
      </p:sp>
      <p:pic>
        <p:nvPicPr>
          <p:cNvPr id="3" name="Picture 2" descr="java-outputstream"/>
          <p:cNvPicPr>
            <a:picLocks noChangeAspect="1"/>
          </p:cNvPicPr>
          <p:nvPr/>
        </p:nvPicPr>
        <p:blipFill>
          <a:blip r:embed="rId1"/>
          <a:stretch>
            <a:fillRect/>
          </a:stretch>
        </p:blipFill>
        <p:spPr>
          <a:xfrm>
            <a:off x="304800" y="2387600"/>
            <a:ext cx="8132445" cy="31896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InputStream class</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325485" cy="82994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InputStream class is an abstract class. It is the superclass of all classes representing an input stream of bytes.</a:t>
            </a:r>
            <a:endParaRPr lang="en-US" b="1">
              <a:solidFill>
                <a:schemeClr val="tx1"/>
              </a:solidFill>
              <a:latin typeface="Times New Roman" panose="02020603050405020304" pitchFamily="18" charset="0"/>
              <a:cs typeface="Times New Roman" panose="02020603050405020304" pitchFamily="18" charset="0"/>
              <a:sym typeface="+mn-ea"/>
            </a:endParaRPr>
          </a:p>
        </p:txBody>
      </p:sp>
      <p:graphicFrame>
        <p:nvGraphicFramePr>
          <p:cNvPr id="4" name="Table 3"/>
          <p:cNvGraphicFramePr/>
          <p:nvPr/>
        </p:nvGraphicFramePr>
        <p:xfrm>
          <a:off x="421640" y="2984500"/>
          <a:ext cx="8318500" cy="3707765"/>
        </p:xfrm>
        <a:graphic>
          <a:graphicData uri="http://schemas.openxmlformats.org/drawingml/2006/table">
            <a:tbl>
              <a:tblPr firstRow="1" bandRow="1">
                <a:tableStyleId>{5C22544A-7EE6-4342-B048-85BDC9FD1C3A}</a:tableStyleId>
              </a:tblPr>
              <a:tblGrid>
                <a:gridCol w="4572000"/>
                <a:gridCol w="3746500"/>
              </a:tblGrid>
              <a:tr h="413385">
                <a:tc>
                  <a:txBody>
                    <a:bodyPr/>
                    <a:p>
                      <a:pPr>
                        <a:buNone/>
                      </a:pPr>
                      <a:r>
                        <a:rPr lang="en-US"/>
                        <a:t>Method</a:t>
                      </a:r>
                      <a:endParaRPr lang="en-US"/>
                    </a:p>
                  </a:txBody>
                  <a:tcPr/>
                </a:tc>
                <a:tc>
                  <a:txBody>
                    <a:bodyPr/>
                    <a:p>
                      <a:pPr>
                        <a:buNone/>
                      </a:pPr>
                      <a:r>
                        <a:rPr lang="en-US"/>
                        <a:t>Description</a:t>
                      </a:r>
                      <a:endParaRPr lang="en-US"/>
                    </a:p>
                  </a:txBody>
                  <a:tcPr/>
                </a:tc>
              </a:tr>
              <a:tr h="991235">
                <a:tc>
                  <a:txBody>
                    <a:bodyPr/>
                    <a:p>
                      <a:pPr>
                        <a:buNone/>
                      </a:pPr>
                      <a:r>
                        <a:rPr lang="en-US"/>
                        <a:t>1) public abstract int read()throws IOException</a:t>
                      </a:r>
                      <a:endParaRPr lang="en-US"/>
                    </a:p>
                  </a:txBody>
                  <a:tcPr/>
                </a:tc>
                <a:tc>
                  <a:txBody>
                    <a:bodyPr/>
                    <a:p>
                      <a:pPr>
                        <a:buNone/>
                      </a:pPr>
                      <a:r>
                        <a:rPr lang="en-US"/>
                        <a:t>reads the next byte of data from the input stream. It returns -1 at the end of the file.</a:t>
                      </a:r>
                      <a:endParaRPr lang="en-US"/>
                    </a:p>
                  </a:txBody>
                  <a:tcPr/>
                </a:tc>
              </a:tr>
              <a:tr h="914400">
                <a:tc>
                  <a:txBody>
                    <a:bodyPr/>
                    <a:p>
                      <a:pPr>
                        <a:buNone/>
                      </a:pPr>
                      <a:r>
                        <a:rPr lang="en-US"/>
                        <a:t>2) public int available()throws IOException</a:t>
                      </a:r>
                      <a:endParaRPr lang="en-US"/>
                    </a:p>
                  </a:txBody>
                  <a:tcPr/>
                </a:tc>
                <a:tc>
                  <a:txBody>
                    <a:bodyPr/>
                    <a:p>
                      <a:pPr>
                        <a:buNone/>
                      </a:pPr>
                      <a:r>
                        <a:rPr lang="en-US"/>
                        <a:t>returns an estimate of the number of bytes that can be read from the current input stream.</a:t>
                      </a:r>
                      <a:endParaRPr lang="en-US"/>
                    </a:p>
                  </a:txBody>
                  <a:tcPr/>
                </a:tc>
              </a:tr>
              <a:tr h="694690">
                <a:tc>
                  <a:txBody>
                    <a:bodyPr/>
                    <a:p>
                      <a:pPr>
                        <a:buNone/>
                      </a:pPr>
                      <a:r>
                        <a:rPr lang="en-US"/>
                        <a:t>3) public void close()throws IOException</a:t>
                      </a:r>
                      <a:endParaRPr lang="en-US"/>
                    </a:p>
                  </a:txBody>
                  <a:tcPr/>
                </a:tc>
                <a:tc>
                  <a:txBody>
                    <a:bodyPr/>
                    <a:p>
                      <a:pPr>
                        <a:buNone/>
                      </a:pPr>
                      <a:r>
                        <a:rPr lang="en-US"/>
                        <a:t>is used to close the current input stream.</a:t>
                      </a:r>
                      <a:endParaRPr lang="en-US"/>
                    </a:p>
                  </a:txBody>
                  <a:tcPr/>
                </a:tc>
              </a:tr>
              <a:tr h="694055">
                <a:tc>
                  <a:txBody>
                    <a:bodyPr/>
                    <a:p>
                      <a:pPr>
                        <a:buNone/>
                      </a:pPr>
                      <a:r>
                        <a:rPr lang="en-US"/>
                        <a:t>4) public void close()throws IOException</a:t>
                      </a:r>
                      <a:endParaRPr lang="en-US"/>
                    </a:p>
                  </a:txBody>
                  <a:tcPr/>
                </a:tc>
                <a:tc>
                  <a:txBody>
                    <a:bodyPr/>
                    <a:p>
                      <a:pPr>
                        <a:buNone/>
                      </a:pPr>
                      <a:r>
                        <a:rPr lang="en-US"/>
                        <a:t>is used to close the current output stream.</a:t>
                      </a:r>
                      <a:endParaRPr lang="en-US"/>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InputStream Hierarchy</a:t>
            </a:r>
            <a:endParaRPr lang="en-US" sz="2800" b="1">
              <a:solidFill>
                <a:srgbClr val="C00000"/>
              </a:solidFill>
              <a:latin typeface="Times New Roman" panose="02020603050405020304" pitchFamily="18" charset="0"/>
              <a:cs typeface="Times New Roman" panose="02020603050405020304" pitchFamily="18" charset="0"/>
            </a:endParaRPr>
          </a:p>
        </p:txBody>
      </p:sp>
      <p:pic>
        <p:nvPicPr>
          <p:cNvPr id="4" name="Picture 3" descr="java-inputstream"/>
          <p:cNvPicPr>
            <a:picLocks noChangeAspect="1"/>
          </p:cNvPicPr>
          <p:nvPr/>
        </p:nvPicPr>
        <p:blipFill>
          <a:blip r:embed="rId1"/>
          <a:stretch>
            <a:fillRect/>
          </a:stretch>
        </p:blipFill>
        <p:spPr>
          <a:xfrm>
            <a:off x="420370" y="2387600"/>
            <a:ext cx="8106410" cy="35166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FileOutputStream class declaration</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325485" cy="193802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The declaration for Java.io.FileOutputStream class: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public class FileOutputStream extends OutputStream</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FF0000"/>
                </a:solidFill>
                <a:latin typeface="Times New Roman" panose="02020603050405020304" pitchFamily="18" charset="0"/>
                <a:cs typeface="Times New Roman" panose="02020603050405020304" pitchFamily="18" charset="0"/>
                <a:sym typeface="+mn-ea"/>
              </a:rPr>
              <a:t>FileOutputStream class methods :</a:t>
            </a:r>
            <a:endParaRPr lang="en-US" b="1">
              <a:solidFill>
                <a:srgbClr val="FF0000"/>
              </a:solidFill>
              <a:latin typeface="Times New Roman" panose="02020603050405020304" pitchFamily="18" charset="0"/>
              <a:cs typeface="Times New Roman" panose="02020603050405020304" pitchFamily="18" charset="0"/>
              <a:sym typeface="+mn-ea"/>
            </a:endParaRPr>
          </a:p>
        </p:txBody>
      </p:sp>
      <p:graphicFrame>
        <p:nvGraphicFramePr>
          <p:cNvPr id="6" name="Table 5"/>
          <p:cNvGraphicFramePr/>
          <p:nvPr/>
        </p:nvGraphicFramePr>
        <p:xfrm>
          <a:off x="421005" y="4048125"/>
          <a:ext cx="8289290" cy="2560320"/>
        </p:xfrm>
        <a:graphic>
          <a:graphicData uri="http://schemas.openxmlformats.org/drawingml/2006/table">
            <a:tbl>
              <a:tblPr firstRow="1" bandRow="1">
                <a:tableStyleId>{5C22544A-7EE6-4342-B048-85BDC9FD1C3A}</a:tableStyleId>
              </a:tblPr>
              <a:tblGrid>
                <a:gridCol w="4144645"/>
                <a:gridCol w="4144645"/>
              </a:tblGrid>
              <a:tr h="365760">
                <a:tc>
                  <a:txBody>
                    <a:bodyPr/>
                    <a:p>
                      <a:pPr>
                        <a:buNone/>
                      </a:pPr>
                      <a:r>
                        <a:rPr lang="en-US"/>
                        <a:t>Method </a:t>
                      </a:r>
                      <a:endParaRPr lang="en-US"/>
                    </a:p>
                  </a:txBody>
                  <a:tcPr/>
                </a:tc>
                <a:tc>
                  <a:txBody>
                    <a:bodyPr/>
                    <a:p>
                      <a:pPr>
                        <a:buNone/>
                      </a:pPr>
                      <a:r>
                        <a:rPr lang="en-US"/>
                        <a:t>Description</a:t>
                      </a:r>
                      <a:endParaRPr lang="en-US"/>
                    </a:p>
                  </a:txBody>
                  <a:tcPr/>
                </a:tc>
              </a:tr>
              <a:tr h="640080">
                <a:tc>
                  <a:txBody>
                    <a:bodyPr/>
                    <a:p>
                      <a:pPr>
                        <a:buNone/>
                      </a:pPr>
                      <a:r>
                        <a:rPr lang="en-US"/>
                        <a:t>protected void finalize() </a:t>
                      </a:r>
                      <a:endParaRPr lang="en-US"/>
                    </a:p>
                  </a:txBody>
                  <a:tcPr/>
                </a:tc>
                <a:tc>
                  <a:txBody>
                    <a:bodyPr/>
                    <a:p>
                      <a:pPr>
                        <a:buNone/>
                      </a:pPr>
                      <a:r>
                        <a:rPr lang="en-US"/>
                        <a:t>It is used to clean up the connection with the file output stream.</a:t>
                      </a:r>
                      <a:endParaRPr lang="en-US"/>
                    </a:p>
                  </a:txBody>
                  <a:tcPr/>
                </a:tc>
              </a:tr>
              <a:tr h="640080">
                <a:tc>
                  <a:txBody>
                    <a:bodyPr/>
                    <a:p>
                      <a:pPr>
                        <a:buNone/>
                      </a:pPr>
                      <a:r>
                        <a:rPr lang="en-US"/>
                        <a:t>void write(byte[] ary) </a:t>
                      </a:r>
                      <a:endParaRPr lang="en-US"/>
                    </a:p>
                  </a:txBody>
                  <a:tcPr/>
                </a:tc>
                <a:tc>
                  <a:txBody>
                    <a:bodyPr/>
                    <a:p>
                      <a:pPr>
                        <a:buNone/>
                      </a:pPr>
                      <a:r>
                        <a:rPr lang="en-US"/>
                        <a:t>It is used to write ary.length bytes from the byte array to the file output stream.</a:t>
                      </a:r>
                      <a:endParaRPr lang="en-US"/>
                    </a:p>
                  </a:txBody>
                  <a:tcPr/>
                </a:tc>
              </a:tr>
              <a:tr h="914400">
                <a:tc>
                  <a:txBody>
                    <a:bodyPr/>
                    <a:p>
                      <a:pPr>
                        <a:buNone/>
                      </a:pPr>
                      <a:r>
                        <a:rPr lang="en-US"/>
                        <a:t>void write(byte[] ary, int off, int len) </a:t>
                      </a:r>
                      <a:endParaRPr lang="en-US"/>
                    </a:p>
                  </a:txBody>
                  <a:tcPr/>
                </a:tc>
                <a:tc>
                  <a:txBody>
                    <a:bodyPr/>
                    <a:p>
                      <a:pPr>
                        <a:buNone/>
                      </a:pPr>
                      <a:r>
                        <a:rPr lang="en-US"/>
                        <a:t>It is used to write len bytes from the byte array starting at offset off to the file output stream.</a:t>
                      </a:r>
                      <a:endParaRPr lang="en-US"/>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FileOutputStream class methods :</a:t>
            </a:r>
            <a:endParaRPr lang="en-US" sz="3200" b="1">
              <a:solidFill>
                <a:srgbClr val="C00000"/>
              </a:solidFill>
              <a:latin typeface="Times New Roman" panose="02020603050405020304" pitchFamily="18" charset="0"/>
              <a:cs typeface="Times New Roman" panose="02020603050405020304" pitchFamily="18" charset="0"/>
            </a:endParaRPr>
          </a:p>
        </p:txBody>
      </p:sp>
      <p:graphicFrame>
        <p:nvGraphicFramePr>
          <p:cNvPr id="6" name="Table 5"/>
          <p:cNvGraphicFramePr/>
          <p:nvPr/>
        </p:nvGraphicFramePr>
        <p:xfrm>
          <a:off x="421005" y="2188845"/>
          <a:ext cx="8289290" cy="3646805"/>
        </p:xfrm>
        <a:graphic>
          <a:graphicData uri="http://schemas.openxmlformats.org/drawingml/2006/table">
            <a:tbl>
              <a:tblPr firstRow="1" bandRow="1">
                <a:tableStyleId>{5C22544A-7EE6-4342-B048-85BDC9FD1C3A}</a:tableStyleId>
              </a:tblPr>
              <a:tblGrid>
                <a:gridCol w="3028950"/>
                <a:gridCol w="5260340"/>
              </a:tblGrid>
              <a:tr h="511175">
                <a:tc>
                  <a:txBody>
                    <a:bodyPr/>
                    <a:p>
                      <a:pPr>
                        <a:buNone/>
                      </a:pPr>
                      <a:r>
                        <a:rPr lang="en-US"/>
                        <a:t>Method </a:t>
                      </a:r>
                      <a:endParaRPr lang="en-US"/>
                    </a:p>
                  </a:txBody>
                  <a:tcPr/>
                </a:tc>
                <a:tc>
                  <a:txBody>
                    <a:bodyPr/>
                    <a:p>
                      <a:pPr>
                        <a:buNone/>
                      </a:pPr>
                      <a:r>
                        <a:rPr lang="en-US"/>
                        <a:t>Description</a:t>
                      </a:r>
                      <a:endParaRPr lang="en-US"/>
                    </a:p>
                  </a:txBody>
                  <a:tcPr/>
                </a:tc>
              </a:tr>
              <a:tr h="695325">
                <a:tc>
                  <a:txBody>
                    <a:bodyPr/>
                    <a:p>
                      <a:pPr>
                        <a:buNone/>
                      </a:pPr>
                      <a:r>
                        <a:rPr lang="en-US"/>
                        <a:t>void write(int b) </a:t>
                      </a:r>
                      <a:endParaRPr lang="en-US"/>
                    </a:p>
                  </a:txBody>
                  <a:tcPr/>
                </a:tc>
                <a:tc>
                  <a:txBody>
                    <a:bodyPr/>
                    <a:p>
                      <a:pPr>
                        <a:buNone/>
                      </a:pPr>
                      <a:r>
                        <a:rPr lang="en-US"/>
                        <a:t>It is used to write the specified byte to the file output stream.</a:t>
                      </a:r>
                      <a:endParaRPr lang="en-US"/>
                    </a:p>
                  </a:txBody>
                  <a:tcPr/>
                </a:tc>
              </a:tr>
              <a:tr h="898525">
                <a:tc>
                  <a:txBody>
                    <a:bodyPr/>
                    <a:p>
                      <a:pPr>
                        <a:buNone/>
                      </a:pPr>
                      <a:r>
                        <a:rPr lang="en-US"/>
                        <a:t>FileChannel getChannel() </a:t>
                      </a:r>
                      <a:endParaRPr lang="en-US"/>
                    </a:p>
                  </a:txBody>
                  <a:tcPr/>
                </a:tc>
                <a:tc>
                  <a:txBody>
                    <a:bodyPr/>
                    <a:p>
                      <a:pPr>
                        <a:buNone/>
                      </a:pPr>
                      <a:r>
                        <a:rPr lang="en-US"/>
                        <a:t>It is used to return the file channel object associated with the file output stream.</a:t>
                      </a:r>
                      <a:endParaRPr lang="en-US"/>
                    </a:p>
                  </a:txBody>
                  <a:tcPr/>
                </a:tc>
              </a:tr>
              <a:tr h="807085">
                <a:tc>
                  <a:txBody>
                    <a:bodyPr/>
                    <a:p>
                      <a:pPr>
                        <a:buNone/>
                      </a:pPr>
                      <a:r>
                        <a:rPr lang="en-US"/>
                        <a:t>FileDescriptor getFD() </a:t>
                      </a:r>
                      <a:endParaRPr lang="en-US"/>
                    </a:p>
                  </a:txBody>
                  <a:tcPr/>
                </a:tc>
                <a:tc>
                  <a:txBody>
                    <a:bodyPr/>
                    <a:p>
                      <a:pPr>
                        <a:buNone/>
                      </a:pPr>
                      <a:r>
                        <a:rPr lang="en-US"/>
                        <a:t>It is used to return the file descriptor associated with the stream.</a:t>
                      </a:r>
                      <a:endParaRPr lang="en-US"/>
                    </a:p>
                  </a:txBody>
                  <a:tcPr/>
                </a:tc>
              </a:tr>
              <a:tr h="734695">
                <a:tc>
                  <a:txBody>
                    <a:bodyPr/>
                    <a:p>
                      <a:pPr>
                        <a:buNone/>
                      </a:pPr>
                      <a:r>
                        <a:rPr lang="en-US"/>
                        <a:t>void close() </a:t>
                      </a:r>
                      <a:endParaRPr lang="en-US"/>
                    </a:p>
                  </a:txBody>
                  <a:tcPr/>
                </a:tc>
                <a:tc>
                  <a:txBody>
                    <a:bodyPr/>
                    <a:p>
                      <a:pPr>
                        <a:buNone/>
                      </a:pPr>
                      <a:r>
                        <a:rPr lang="en-US"/>
                        <a:t>It is used to closes the file output stream.</a:t>
                      </a:r>
                      <a:endParaRPr lang="en-US"/>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FileOutputStream Example 1: write byte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08940" y="1849755"/>
            <a:ext cx="8325485"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import java.io.FileOutputStream;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class FileOutputStreamExample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try{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FileOutputStream fout=new FileOutputStream("D:\\testout.txt");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fout.write(65);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fout.close();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System.out.println("success...");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}catch(Exception e){System.out.println(e);}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Success...</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FileOutputStream Example 1: write byte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08940" y="1849755"/>
            <a:ext cx="8325485" cy="193802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The content of a text file testout.txt is set with the data A.</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testout.txt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FileOutputStream example 2: write string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import java.io.FileOutputStream;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class FileOutputStreamExample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try{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FileOutputStream fout=new FileOutputStream("D:\\testout.txt");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String s="Welcome to KIIT.";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byte b[]=s.getBytes();</a:t>
            </a:r>
            <a:r>
              <a:rPr lang="en-US" b="1">
                <a:solidFill>
                  <a:srgbClr val="00B050"/>
                </a:solidFill>
                <a:latin typeface="Times New Roman" panose="02020603050405020304" pitchFamily="18" charset="0"/>
                <a:cs typeface="Times New Roman" panose="02020603050405020304" pitchFamily="18" charset="0"/>
                <a:sym typeface="+mn-ea"/>
              </a:rPr>
              <a:t>//converting string into byte array</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fout.write(b);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fout.close();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System.out.println("success...");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}catch(Exception e){System.out.println(e);}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FileOutputStream example 2: write string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378460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Output: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Success...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content of a text file testout.txt is set with the data Welcome to javaTpoint.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testout.txt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Welcome to KIIT.</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Class</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341503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Java FileInputStream class obtains input bytes from a file. It is used for reading byte-oriented data (streams of raw bytes) such as image data, audio, video etc. You can also read character-stream data. But, for reading streams of characters, it is recommended to use FileReader class.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declaration for java.io.FileInputStream class:</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class FileInputStream extends InputStream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Class</a:t>
            </a:r>
            <a:endParaRPr lang="en-US" sz="2800" b="1">
              <a:solidFill>
                <a:srgbClr val="C00000"/>
              </a:solidFill>
              <a:latin typeface="Times New Roman" panose="02020603050405020304" pitchFamily="18" charset="0"/>
              <a:cs typeface="Times New Roman" panose="02020603050405020304" pitchFamily="18" charset="0"/>
            </a:endParaRPr>
          </a:p>
        </p:txBody>
      </p:sp>
      <p:graphicFrame>
        <p:nvGraphicFramePr>
          <p:cNvPr id="5" name="Table 4"/>
          <p:cNvGraphicFramePr/>
          <p:nvPr/>
        </p:nvGraphicFramePr>
        <p:xfrm>
          <a:off x="627380" y="2219325"/>
          <a:ext cx="7762240" cy="4302760"/>
        </p:xfrm>
        <a:graphic>
          <a:graphicData uri="http://schemas.openxmlformats.org/drawingml/2006/table">
            <a:tbl>
              <a:tblPr firstRow="1" bandRow="1">
                <a:tableStyleId>{5C22544A-7EE6-4342-B048-85BDC9FD1C3A}</a:tableStyleId>
              </a:tblPr>
              <a:tblGrid>
                <a:gridCol w="3475355"/>
                <a:gridCol w="4286885"/>
              </a:tblGrid>
              <a:tr h="424815">
                <a:tc>
                  <a:txBody>
                    <a:bodyPr/>
                    <a:p>
                      <a:pPr>
                        <a:buNone/>
                      </a:pPr>
                      <a:r>
                        <a:rPr lang="en-US"/>
                        <a:t>Method </a:t>
                      </a:r>
                      <a:endParaRPr lang="en-US"/>
                    </a:p>
                  </a:txBody>
                  <a:tcPr/>
                </a:tc>
                <a:tc>
                  <a:txBody>
                    <a:bodyPr/>
                    <a:p>
                      <a:pPr>
                        <a:buNone/>
                      </a:pPr>
                      <a:r>
                        <a:rPr lang="en-US"/>
                        <a:t>Description</a:t>
                      </a:r>
                      <a:endParaRPr lang="en-US"/>
                    </a:p>
                  </a:txBody>
                  <a:tcPr/>
                </a:tc>
              </a:tr>
              <a:tr h="1020445">
                <a:tc>
                  <a:txBody>
                    <a:bodyPr/>
                    <a:p>
                      <a:pPr>
                        <a:buNone/>
                      </a:pPr>
                      <a:r>
                        <a:rPr lang="en-US"/>
                        <a:t>int available() </a:t>
                      </a:r>
                      <a:endParaRPr lang="en-US"/>
                    </a:p>
                  </a:txBody>
                  <a:tcPr/>
                </a:tc>
                <a:tc>
                  <a:txBody>
                    <a:bodyPr/>
                    <a:p>
                      <a:pPr>
                        <a:buNone/>
                      </a:pPr>
                      <a:r>
                        <a:rPr lang="en-US"/>
                        <a:t>It is used to return the estimated number of bytes that can be read from the input stream.</a:t>
                      </a:r>
                      <a:endParaRPr lang="en-US"/>
                    </a:p>
                  </a:txBody>
                  <a:tcPr/>
                </a:tc>
              </a:tr>
              <a:tr h="715010">
                <a:tc>
                  <a:txBody>
                    <a:bodyPr/>
                    <a:p>
                      <a:pPr>
                        <a:buNone/>
                      </a:pPr>
                      <a:r>
                        <a:rPr lang="en-US"/>
                        <a:t>int read() </a:t>
                      </a:r>
                      <a:endParaRPr lang="en-US"/>
                    </a:p>
                  </a:txBody>
                  <a:tcPr/>
                </a:tc>
                <a:tc>
                  <a:txBody>
                    <a:bodyPr/>
                    <a:p>
                      <a:pPr>
                        <a:buNone/>
                      </a:pPr>
                      <a:r>
                        <a:rPr lang="en-US"/>
                        <a:t>It is used to read the byte of data from the input stream.</a:t>
                      </a:r>
                      <a:endParaRPr lang="en-US"/>
                    </a:p>
                  </a:txBody>
                  <a:tcPr/>
                </a:tc>
              </a:tr>
              <a:tr h="713740">
                <a:tc>
                  <a:txBody>
                    <a:bodyPr/>
                    <a:p>
                      <a:pPr>
                        <a:buNone/>
                      </a:pPr>
                      <a:r>
                        <a:rPr lang="en-US"/>
                        <a:t>int read(byte[] b) </a:t>
                      </a:r>
                      <a:endParaRPr lang="en-US"/>
                    </a:p>
                  </a:txBody>
                  <a:tcPr/>
                </a:tc>
                <a:tc>
                  <a:txBody>
                    <a:bodyPr/>
                    <a:p>
                      <a:pPr>
                        <a:buNone/>
                      </a:pPr>
                      <a:r>
                        <a:rPr lang="en-US"/>
                        <a:t>It is used to read up to b.length bytes of data from the input stream.</a:t>
                      </a:r>
                      <a:endParaRPr lang="en-US"/>
                    </a:p>
                  </a:txBody>
                  <a:tcPr/>
                </a:tc>
              </a:tr>
              <a:tr h="715010">
                <a:tc>
                  <a:txBody>
                    <a:bodyPr/>
                    <a:p>
                      <a:pPr>
                        <a:buNone/>
                      </a:pPr>
                      <a:r>
                        <a:rPr lang="en-US"/>
                        <a:t>int read(byte[] b, int off, int len) </a:t>
                      </a:r>
                      <a:endParaRPr lang="en-US"/>
                    </a:p>
                  </a:txBody>
                  <a:tcPr/>
                </a:tc>
                <a:tc>
                  <a:txBody>
                    <a:bodyPr/>
                    <a:p>
                      <a:pPr>
                        <a:buNone/>
                      </a:pPr>
                      <a:r>
                        <a:rPr lang="en-US"/>
                        <a:t>It is used to read up to len bytes of data from the input stream.</a:t>
                      </a:r>
                      <a:endParaRPr lang="en-US"/>
                    </a:p>
                  </a:txBody>
                  <a:tcPr/>
                </a:tc>
              </a:tr>
              <a:tr h="713740">
                <a:tc>
                  <a:txBody>
                    <a:bodyPr/>
                    <a:p>
                      <a:pPr>
                        <a:buNone/>
                      </a:pPr>
                      <a:r>
                        <a:rPr lang="en-US"/>
                        <a:t>long skip(long x) </a:t>
                      </a:r>
                      <a:endParaRPr lang="en-US"/>
                    </a:p>
                  </a:txBody>
                  <a:tcPr/>
                </a:tc>
                <a:tc>
                  <a:txBody>
                    <a:bodyPr/>
                    <a:p>
                      <a:pPr>
                        <a:buNone/>
                      </a:pPr>
                      <a:r>
                        <a:rPr lang="en-US"/>
                        <a:t>It is used to skip over and discards x bytes of data from the input stream</a:t>
                      </a:r>
                      <a:endParaRPr lang="en-US"/>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Class</a:t>
            </a:r>
            <a:endParaRPr lang="en-US" sz="2800" b="1">
              <a:solidFill>
                <a:srgbClr val="C00000"/>
              </a:solidFill>
              <a:latin typeface="Times New Roman" panose="02020603050405020304" pitchFamily="18" charset="0"/>
              <a:cs typeface="Times New Roman" panose="02020603050405020304" pitchFamily="18" charset="0"/>
            </a:endParaRPr>
          </a:p>
        </p:txBody>
      </p:sp>
      <p:graphicFrame>
        <p:nvGraphicFramePr>
          <p:cNvPr id="5" name="Table 4"/>
          <p:cNvGraphicFramePr/>
          <p:nvPr/>
        </p:nvGraphicFramePr>
        <p:xfrm>
          <a:off x="627380" y="2219325"/>
          <a:ext cx="7762240" cy="4035425"/>
        </p:xfrm>
        <a:graphic>
          <a:graphicData uri="http://schemas.openxmlformats.org/drawingml/2006/table">
            <a:tbl>
              <a:tblPr firstRow="1" bandRow="1">
                <a:tableStyleId>{5C22544A-7EE6-4342-B048-85BDC9FD1C3A}</a:tableStyleId>
              </a:tblPr>
              <a:tblGrid>
                <a:gridCol w="3475355"/>
                <a:gridCol w="4286885"/>
              </a:tblGrid>
              <a:tr h="452120">
                <a:tc>
                  <a:txBody>
                    <a:bodyPr/>
                    <a:p>
                      <a:pPr>
                        <a:buNone/>
                      </a:pPr>
                      <a:r>
                        <a:rPr lang="en-US"/>
                        <a:t>Method </a:t>
                      </a:r>
                      <a:endParaRPr lang="en-US"/>
                    </a:p>
                  </a:txBody>
                  <a:tcPr/>
                </a:tc>
                <a:tc>
                  <a:txBody>
                    <a:bodyPr/>
                    <a:p>
                      <a:pPr>
                        <a:buNone/>
                      </a:pPr>
                      <a:r>
                        <a:rPr lang="en-US"/>
                        <a:t>Description</a:t>
                      </a:r>
                      <a:endParaRPr lang="en-US"/>
                    </a:p>
                  </a:txBody>
                  <a:tcPr/>
                </a:tc>
              </a:tr>
              <a:tr h="1087120">
                <a:tc>
                  <a:txBody>
                    <a:bodyPr/>
                    <a:p>
                      <a:pPr>
                        <a:buNone/>
                      </a:pPr>
                      <a:r>
                        <a:rPr lang="en-US"/>
                        <a:t>FileChannel getChannel() </a:t>
                      </a:r>
                      <a:endParaRPr lang="en-US"/>
                    </a:p>
                  </a:txBody>
                  <a:tcPr/>
                </a:tc>
                <a:tc>
                  <a:txBody>
                    <a:bodyPr/>
                    <a:p>
                      <a:pPr>
                        <a:buNone/>
                      </a:pPr>
                      <a:r>
                        <a:rPr lang="en-US"/>
                        <a:t>It is used to return the unique FileChannel object associated with the file input stream.</a:t>
                      </a:r>
                      <a:endParaRPr lang="en-US"/>
                    </a:p>
                  </a:txBody>
                  <a:tcPr/>
                </a:tc>
              </a:tr>
              <a:tr h="761365">
                <a:tc>
                  <a:txBody>
                    <a:bodyPr/>
                    <a:p>
                      <a:pPr>
                        <a:buNone/>
                      </a:pPr>
                      <a:r>
                        <a:rPr lang="en-US"/>
                        <a:t>FileDescriptor getFD() </a:t>
                      </a:r>
                      <a:endParaRPr lang="en-US"/>
                    </a:p>
                  </a:txBody>
                  <a:tcPr/>
                </a:tc>
                <a:tc>
                  <a:txBody>
                    <a:bodyPr/>
                    <a:p>
                      <a:pPr>
                        <a:buNone/>
                      </a:pPr>
                      <a:r>
                        <a:rPr lang="en-US"/>
                        <a:t>It is used to return the FileDescriptor object.</a:t>
                      </a:r>
                      <a:endParaRPr lang="en-US"/>
                    </a:p>
                  </a:txBody>
                  <a:tcPr/>
                </a:tc>
              </a:tr>
              <a:tr h="973455">
                <a:tc>
                  <a:txBody>
                    <a:bodyPr/>
                    <a:p>
                      <a:pPr>
                        <a:buNone/>
                      </a:pPr>
                      <a:r>
                        <a:rPr lang="en-US"/>
                        <a:t>protected void finalize() </a:t>
                      </a:r>
                      <a:endParaRPr lang="en-US"/>
                    </a:p>
                  </a:txBody>
                  <a:tcPr/>
                </a:tc>
                <a:tc>
                  <a:txBody>
                    <a:bodyPr/>
                    <a:p>
                      <a:pPr>
                        <a:buNone/>
                      </a:pPr>
                      <a:r>
                        <a:rPr lang="en-US"/>
                        <a:t>It is used to ensure that the close method is call when there is no more reference to the file input stream.</a:t>
                      </a:r>
                      <a:endParaRPr lang="en-US"/>
                    </a:p>
                  </a:txBody>
                  <a:tcPr/>
                </a:tc>
              </a:tr>
              <a:tr h="761365">
                <a:tc>
                  <a:txBody>
                    <a:bodyPr/>
                    <a:p>
                      <a:pPr>
                        <a:buNone/>
                      </a:pPr>
                      <a:r>
                        <a:rPr lang="en-US"/>
                        <a:t>void close() </a:t>
                      </a:r>
                      <a:endParaRPr lang="en-US"/>
                    </a:p>
                  </a:txBody>
                  <a:tcPr/>
                </a:tc>
                <a:tc>
                  <a:txBody>
                    <a:bodyPr/>
                    <a:p>
                      <a:pPr>
                        <a:buNone/>
                      </a:pPr>
                      <a:r>
                        <a:rPr lang="en-US"/>
                        <a:t>It is used to closes the stream.</a:t>
                      </a:r>
                      <a:endParaRPr lang="en-US"/>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example 1: read single character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import java.io.FileInputStream;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class DataStreamExample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try{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FileInputStream fin=new FileInputStream("D:\\testout.txt");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int i=fin.read();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System.out.print((char)i);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fin.close();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}catch(Exception e){System.out.println(e);}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example 1: read single character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Note: Before running the code, a text file named as "testout.txt" is required to be created. In this file, we are having following content: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Welcome to KIIT.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After executing the above program, you will get a single character from the file which is 87 (in byte form). To see the text, you need to convert it into character.</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Output: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W</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example 2: read all characters</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import java.io.FileInputStream;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class DataStreamExample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try{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FileInputStream fin=new FileInputStream("D:\\testout.txt");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int i=0;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while((i=fin.read())!=-1){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System.out.print((char)i);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fin.close();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}catch(Exception e){System.out.println(e);}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FileInputStream example 2: read all characters</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11988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Output:</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Welcome to KIIT.</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I/O</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860996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PrintWriter class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0660" y="1849755"/>
            <a:ext cx="871474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Java PrintWriter class is the implementation of Writer class. It is used to print the formatted representation of objects to the text-output stream.</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Practice few example using PrintWriter class.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8073</Words>
  <Application>WPS Presentation</Application>
  <PresentationFormat/>
  <Paragraphs>348</Paragraphs>
  <Slides>23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Arial</vt:lpstr>
      <vt:lpstr>SimSun</vt:lpstr>
      <vt:lpstr>Wingdings</vt:lpstr>
      <vt:lpstr>Impact</vt:lpstr>
      <vt:lpstr>Times New Roman</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377</cp:revision>
  <dcterms:created xsi:type="dcterms:W3CDTF">2001-06-04T11:43:00Z</dcterms:created>
  <dcterms:modified xsi:type="dcterms:W3CDTF">2018-10-31T07:19:37Z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1033-10.2.0.7516</vt:lpwstr>
  </property>
</Properties>
</file>