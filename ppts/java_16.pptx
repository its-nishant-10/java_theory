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42"/>
  </p:handoutMasterIdLst>
  <p:sldIdLst>
    <p:sldId id="260" r:id="rId3"/>
    <p:sldId id="511" r:id="rId4"/>
    <p:sldId id="545" r:id="rId5"/>
    <p:sldId id="512" r:id="rId6"/>
    <p:sldId id="534" r:id="rId7"/>
    <p:sldId id="535" r:id="rId8"/>
    <p:sldId id="536" r:id="rId9"/>
    <p:sldId id="533" r:id="rId10"/>
    <p:sldId id="513" r:id="rId11"/>
    <p:sldId id="541" r:id="rId12"/>
    <p:sldId id="542" r:id="rId13"/>
    <p:sldId id="543" r:id="rId14"/>
    <p:sldId id="544" r:id="rId15"/>
    <p:sldId id="515" r:id="rId16"/>
    <p:sldId id="516" r:id="rId17"/>
    <p:sldId id="517" r:id="rId18"/>
    <p:sldId id="518" r:id="rId19"/>
    <p:sldId id="519" r:id="rId20"/>
    <p:sldId id="520" r:id="rId21"/>
    <p:sldId id="521" r:id="rId22"/>
    <p:sldId id="522" r:id="rId23"/>
    <p:sldId id="523" r:id="rId24"/>
    <p:sldId id="524" r:id="rId25"/>
    <p:sldId id="525" r:id="rId26"/>
    <p:sldId id="526" r:id="rId27"/>
    <p:sldId id="527" r:id="rId28"/>
    <p:sldId id="528" r:id="rId29"/>
    <p:sldId id="529" r:id="rId30"/>
    <p:sldId id="530" r:id="rId31"/>
    <p:sldId id="531" r:id="rId32"/>
    <p:sldId id="532" r:id="rId33"/>
    <p:sldId id="546" r:id="rId34"/>
    <p:sldId id="547" r:id="rId35"/>
    <p:sldId id="548" r:id="rId36"/>
    <p:sldId id="549" r:id="rId37"/>
    <p:sldId id="550" r:id="rId38"/>
    <p:sldId id="551" r:id="rId39"/>
    <p:sldId id="552" r:id="rId40"/>
    <p:sldId id="553" r:id="rId41"/>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3300"/>
    <a:srgbClr val="FFCC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9654"/>
    <p:restoredTop sz="94660"/>
  </p:normalViewPr>
  <p:slideViewPr>
    <p:cSldViewPr showGuides="1">
      <p:cViewPr varScale="1">
        <p:scale>
          <a:sx n="69" d="100"/>
          <a:sy n="69" d="100"/>
        </p:scale>
        <p:origin x="-1412" y="-68"/>
      </p:cViewPr>
      <p:guideLst>
        <p:guide orient="horz" pos="2180"/>
        <p:guide pos="2904"/>
      </p:guideLst>
    </p:cSldViewPr>
  </p:slideViewPr>
  <p:outlineViewPr>
    <p:cViewPr>
      <p:scale>
        <a:sx n="33" d="100"/>
        <a:sy n="33" d="100"/>
      </p:scale>
      <p:origin x="0" y="120"/>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handoutMaster" Target="handoutMasters/handoutMaster1.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7"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8"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9"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fld id="{9A0DB2DC-4C9A-4742-B13C-FB6460FD3503}" type="slidenum">
              <a:rPr lang="en-US" sz="1200" dirty="0"/>
            </a:fld>
            <a:endParaRPr lang="en-US" sz="1200" dirty="0"/>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3074" name="Picture 3" descr="liquidgold_background_title"/>
          <p:cNvPicPr>
            <a:picLocks noChangeAspect="1"/>
          </p:cNvPicPr>
          <p:nvPr/>
        </p:nvPicPr>
        <p:blipFill>
          <a:blip r:embed="rId2"/>
          <a:stretch>
            <a:fillRect/>
          </a:stretch>
        </p:blipFill>
        <p:spPr>
          <a:xfrm>
            <a:off x="0" y="0"/>
            <a:ext cx="9144000" cy="6858000"/>
          </a:xfrm>
          <a:prstGeom prst="rect">
            <a:avLst/>
          </a:prstGeom>
          <a:noFill/>
          <a:ln w="9525">
            <a:noFill/>
          </a:ln>
        </p:spPr>
      </p:pic>
      <p:sp>
        <p:nvSpPr>
          <p:cNvPr id="4099" name="Rectangle 3"/>
          <p:cNvSpPr>
            <a:spLocks noGrp="1" noChangeArrowheads="1"/>
          </p:cNvSpPr>
          <p:nvPr>
            <p:ph type="ctrTitle"/>
          </p:nvPr>
        </p:nvSpPr>
        <p:spPr>
          <a:xfrm>
            <a:off x="533400" y="2438400"/>
            <a:ext cx="7772400" cy="1143000"/>
          </a:xfrm>
        </p:spPr>
        <p:txBody>
          <a:bodyPr/>
          <a:lstStyle>
            <a:lvl1pPr>
              <a:defRPr sz="4200">
                <a:solidFill>
                  <a:srgbClr val="CC3300"/>
                </a:solidFill>
              </a:defRPr>
            </a:lvl1pPr>
          </a:lstStyle>
          <a:p>
            <a:r>
              <a:rPr lang="en-US"/>
              <a:t>Click to edit Master 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05000"/>
            <a:ext cx="3810000" cy="3352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905000"/>
            <a:ext cx="3810000" cy="3352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990000"/>
              </a:buClr>
              <a:buSzTx/>
              <a:buFont typeface="Wingdings" panose="05000000000000000000" pitchFamily="2" charset="2"/>
              <a:buNone/>
              <a:defRPr/>
            </a:pPr>
            <a:endParaRPr kumimoji="0" 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533400"/>
            <a:ext cx="1943100" cy="4724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533400"/>
            <a:ext cx="5676900" cy="47244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5" name="Rectangle 3"/>
          <p:cNvSpPr>
            <a:spLocks noGrp="1" noChangeArrowheads="1"/>
          </p:cNvSpPr>
          <p:nvPr>
            <p:ph type="title"/>
          </p:nvPr>
        </p:nvSpPr>
        <p:spPr bwMode="auto">
          <a:xfrm>
            <a:off x="685800" y="533400"/>
            <a:ext cx="7772400" cy="1143000"/>
          </a:xfrm>
          <a:prstGeom prst="rect">
            <a:avLst/>
          </a:prstGeom>
          <a:noFill/>
          <a:ln w="9525">
            <a:noFill/>
            <a:miter lim="800000"/>
          </a:ln>
          <a:effectLst>
            <a:outerShdw dist="35921" dir="2700000" algn="ctr" rotWithShape="0">
              <a:schemeClr val="bg2"/>
            </a:outerShdw>
          </a:effectLst>
        </p:spPr>
        <p:txBody>
          <a:bodyPr vert="horz" wrap="square" lIns="91440" tIns="45720" rIns="91440" bIns="45720" numCol="1" anchor="ctr" anchorCtr="0" compatLnSpc="1"/>
          <a:lstStyle/>
          <a:p>
            <a:pPr lvl="0"/>
            <a:r>
              <a:rPr lang="en-US" smtClean="0"/>
              <a:t>Click to edit Master title style</a:t>
            </a:r>
            <a:endParaRPr lang="en-US" smtClean="0"/>
          </a:p>
        </p:txBody>
      </p:sp>
      <p:sp>
        <p:nvSpPr>
          <p:cNvPr id="2051" name="Rectangle 4"/>
          <p:cNvSpPr>
            <a:spLocks noGrp="1"/>
          </p:cNvSpPr>
          <p:nvPr>
            <p:ph type="body" idx="1"/>
          </p:nvPr>
        </p:nvSpPr>
        <p:spPr>
          <a:xfrm>
            <a:off x="685800" y="1905000"/>
            <a:ext cx="7772400" cy="3352800"/>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000" b="1">
          <a:solidFill>
            <a:srgbClr val="CC6600"/>
          </a:solidFill>
          <a:latin typeface="+mj-lt"/>
          <a:ea typeface="+mj-ea"/>
          <a:cs typeface="+mj-cs"/>
        </a:defRPr>
      </a:lvl1pPr>
      <a:lvl2pPr algn="ctr" rtl="0" eaLnBrk="0" fontAlgn="base" hangingPunct="0">
        <a:spcBef>
          <a:spcPct val="0"/>
        </a:spcBef>
        <a:spcAft>
          <a:spcPct val="0"/>
        </a:spcAft>
        <a:defRPr sz="4000" b="1">
          <a:solidFill>
            <a:srgbClr val="CC6600"/>
          </a:solidFill>
          <a:latin typeface="Arial" panose="020B0604020202020204" pitchFamily="34" charset="0"/>
        </a:defRPr>
      </a:lvl2pPr>
      <a:lvl3pPr algn="ctr" rtl="0" eaLnBrk="0" fontAlgn="base" hangingPunct="0">
        <a:spcBef>
          <a:spcPct val="0"/>
        </a:spcBef>
        <a:spcAft>
          <a:spcPct val="0"/>
        </a:spcAft>
        <a:defRPr sz="4000" b="1">
          <a:solidFill>
            <a:srgbClr val="CC6600"/>
          </a:solidFill>
          <a:latin typeface="Arial" panose="020B0604020202020204" pitchFamily="34" charset="0"/>
        </a:defRPr>
      </a:lvl3pPr>
      <a:lvl4pPr algn="ctr" rtl="0" eaLnBrk="0" fontAlgn="base" hangingPunct="0">
        <a:spcBef>
          <a:spcPct val="0"/>
        </a:spcBef>
        <a:spcAft>
          <a:spcPct val="0"/>
        </a:spcAft>
        <a:defRPr sz="4000" b="1">
          <a:solidFill>
            <a:srgbClr val="CC6600"/>
          </a:solidFill>
          <a:latin typeface="Arial" panose="020B0604020202020204" pitchFamily="34" charset="0"/>
        </a:defRPr>
      </a:lvl4pPr>
      <a:lvl5pPr algn="ctr" rtl="0" eaLnBrk="0" fontAlgn="base" hangingPunct="0">
        <a:spcBef>
          <a:spcPct val="0"/>
        </a:spcBef>
        <a:spcAft>
          <a:spcPct val="0"/>
        </a:spcAft>
        <a:defRPr sz="4000" b="1">
          <a:solidFill>
            <a:srgbClr val="CC6600"/>
          </a:solidFill>
          <a:latin typeface="Arial" panose="020B0604020202020204" pitchFamily="34" charset="0"/>
        </a:defRPr>
      </a:lvl5pPr>
      <a:lvl6pPr marL="457200" algn="ctr" rtl="0" fontAlgn="base">
        <a:spcBef>
          <a:spcPct val="0"/>
        </a:spcBef>
        <a:spcAft>
          <a:spcPct val="0"/>
        </a:spcAft>
        <a:defRPr sz="4000" b="1">
          <a:solidFill>
            <a:srgbClr val="CC6600"/>
          </a:solidFill>
          <a:latin typeface="Arial" panose="020B0604020202020204" pitchFamily="34" charset="0"/>
        </a:defRPr>
      </a:lvl6pPr>
      <a:lvl7pPr marL="914400" algn="ctr" rtl="0" fontAlgn="base">
        <a:spcBef>
          <a:spcPct val="0"/>
        </a:spcBef>
        <a:spcAft>
          <a:spcPct val="0"/>
        </a:spcAft>
        <a:defRPr sz="4000" b="1">
          <a:solidFill>
            <a:srgbClr val="CC6600"/>
          </a:solidFill>
          <a:latin typeface="Arial" panose="020B0604020202020204" pitchFamily="34" charset="0"/>
        </a:defRPr>
      </a:lvl7pPr>
      <a:lvl8pPr marL="1371600" algn="ctr" rtl="0" fontAlgn="base">
        <a:spcBef>
          <a:spcPct val="0"/>
        </a:spcBef>
        <a:spcAft>
          <a:spcPct val="0"/>
        </a:spcAft>
        <a:defRPr sz="4000" b="1">
          <a:solidFill>
            <a:srgbClr val="CC6600"/>
          </a:solidFill>
          <a:latin typeface="Arial" panose="020B0604020202020204" pitchFamily="34" charset="0"/>
        </a:defRPr>
      </a:lvl8pPr>
      <a:lvl9pPr marL="1828800" algn="ctr" rtl="0" fontAlgn="base">
        <a:spcBef>
          <a:spcPct val="0"/>
        </a:spcBef>
        <a:spcAft>
          <a:spcPct val="0"/>
        </a:spcAft>
        <a:defRPr sz="4000" b="1">
          <a:solidFill>
            <a:srgbClr val="CC6600"/>
          </a:solidFill>
          <a:latin typeface="Arial" panose="020B0604020202020204" pitchFamily="34" charset="0"/>
        </a:defRPr>
      </a:lvl9pPr>
    </p:titleStyle>
    <p:bodyStyle>
      <a:lvl1pPr marL="342900" indent="-342900" algn="l" rtl="0" eaLnBrk="0" fontAlgn="base" hangingPunct="0">
        <a:spcBef>
          <a:spcPct val="20000"/>
        </a:spcBef>
        <a:spcAft>
          <a:spcPct val="0"/>
        </a:spcAft>
        <a:buClr>
          <a:srgbClr val="990000"/>
        </a:buClr>
        <a:buFont typeface="Wingdings" panose="05000000000000000000" pitchFamily="2" charset="2"/>
        <a:buChar char="Ø"/>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990000"/>
        </a:buClr>
        <a:buFont typeface="Wingdings" panose="05000000000000000000" pitchFamily="2" charset="2"/>
        <a:buChar char="Ø"/>
        <a:defRPr sz="2800">
          <a:solidFill>
            <a:schemeClr val="tx1"/>
          </a:solidFill>
          <a:latin typeface="+mn-lt"/>
        </a:defRPr>
      </a:lvl2pPr>
      <a:lvl3pPr marL="1143000" indent="-228600" algn="l" rtl="0" eaLnBrk="0" fontAlgn="base" hangingPunct="0">
        <a:spcBef>
          <a:spcPct val="20000"/>
        </a:spcBef>
        <a:spcAft>
          <a:spcPct val="0"/>
        </a:spcAft>
        <a:buClr>
          <a:srgbClr val="990000"/>
        </a:buClr>
        <a:buFont typeface="Wingdings" panose="05000000000000000000" pitchFamily="2" charset="2"/>
        <a:buChar char="Ø"/>
        <a:defRPr sz="2400">
          <a:solidFill>
            <a:schemeClr val="tx1"/>
          </a:solidFill>
          <a:latin typeface="+mn-lt"/>
        </a:defRPr>
      </a:lvl3pPr>
      <a:lvl4pPr marL="1600200" indent="-228600" algn="l" rtl="0" eaLnBrk="0" fontAlgn="base" hangingPunct="0">
        <a:spcBef>
          <a:spcPct val="20000"/>
        </a:spcBef>
        <a:spcAft>
          <a:spcPct val="0"/>
        </a:spcAft>
        <a:buClr>
          <a:srgbClr val="990000"/>
        </a:buClr>
        <a:buFont typeface="Wingdings" panose="05000000000000000000" pitchFamily="2" charset="2"/>
        <a:buChar char="Ø"/>
        <a:defRPr sz="2000">
          <a:solidFill>
            <a:schemeClr val="tx1"/>
          </a:solidFill>
          <a:latin typeface="+mn-lt"/>
        </a:defRPr>
      </a:lvl4pPr>
      <a:lvl5pPr marL="2057400" indent="-228600" algn="l" rtl="0" eaLnBrk="0" fontAlgn="base" hangingPunct="0">
        <a:spcBef>
          <a:spcPct val="20000"/>
        </a:spcBef>
        <a:spcAft>
          <a:spcPct val="0"/>
        </a:spcAft>
        <a:buClr>
          <a:srgbClr val="990000"/>
        </a:buClr>
        <a:buFont typeface="Wingdings" panose="05000000000000000000" pitchFamily="2" charset="2"/>
        <a:buChar char="Ø"/>
        <a:defRPr sz="2000">
          <a:solidFill>
            <a:schemeClr val="tx1"/>
          </a:solidFill>
          <a:latin typeface="+mn-lt"/>
        </a:defRPr>
      </a:lvl5pPr>
      <a:lvl6pPr marL="25146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6pPr>
      <a:lvl7pPr marL="29718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7pPr>
      <a:lvl8pPr marL="34290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8pPr>
      <a:lvl9pPr marL="38862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Applet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Java Applet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2031365"/>
            <a:ext cx="7725410" cy="452310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Applet is a special type of program that is embedded in the webpage to generate the dynamic content. It runs inside the browser and works at client side.</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solidFill>
                  <a:srgbClr val="00B050"/>
                </a:solidFill>
                <a:latin typeface="Times New Roman" panose="02020603050405020304" pitchFamily="18" charset="0"/>
                <a:cs typeface="Times New Roman" panose="02020603050405020304" pitchFamily="18" charset="0"/>
              </a:rPr>
              <a:t>Advantage of Applet :</a:t>
            </a:r>
            <a:endParaRPr lang="en-US" b="1">
              <a:solidFill>
                <a:srgbClr val="00B050"/>
              </a:solidFill>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There are many advantages of applet. They are as follows:</a:t>
            </a:r>
            <a:endParaRPr lang="en-US" b="1">
              <a:latin typeface="Times New Roman" panose="02020603050405020304" pitchFamily="18" charset="0"/>
              <a:cs typeface="Times New Roman" panose="02020603050405020304" pitchFamily="18" charset="0"/>
            </a:endParaRPr>
          </a:p>
          <a:p>
            <a:pPr marL="342900" indent="-342900">
              <a:buClr>
                <a:srgbClr val="262699"/>
              </a:buClr>
              <a:buFont typeface="Wingdings" panose="05000000000000000000" charset="0"/>
              <a:buChar char="Ø"/>
            </a:pPr>
            <a:r>
              <a:rPr lang="en-US" b="1">
                <a:latin typeface="Times New Roman" panose="02020603050405020304" pitchFamily="18" charset="0"/>
                <a:cs typeface="Times New Roman" panose="02020603050405020304" pitchFamily="18" charset="0"/>
              </a:rPr>
              <a:t>    It works at client side so less response time.</a:t>
            </a:r>
            <a:endParaRPr lang="en-US" b="1">
              <a:latin typeface="Times New Roman" panose="02020603050405020304" pitchFamily="18" charset="0"/>
              <a:cs typeface="Times New Roman" panose="02020603050405020304" pitchFamily="18" charset="0"/>
            </a:endParaRPr>
          </a:p>
          <a:p>
            <a:pPr marL="342900" indent="-342900">
              <a:buClr>
                <a:srgbClr val="262699"/>
              </a:buClr>
              <a:buFont typeface="Wingdings" panose="05000000000000000000" charset="0"/>
              <a:buChar char="Ø"/>
            </a:pPr>
            <a:r>
              <a:rPr lang="en-US" b="1">
                <a:latin typeface="Times New Roman" panose="02020603050405020304" pitchFamily="18" charset="0"/>
                <a:cs typeface="Times New Roman" panose="02020603050405020304" pitchFamily="18" charset="0"/>
              </a:rPr>
              <a:t>    Secured</a:t>
            </a:r>
            <a:endParaRPr lang="en-US" b="1">
              <a:latin typeface="Times New Roman" panose="02020603050405020304" pitchFamily="18" charset="0"/>
              <a:cs typeface="Times New Roman" panose="02020603050405020304" pitchFamily="18" charset="0"/>
            </a:endParaRPr>
          </a:p>
          <a:p>
            <a:pPr marL="342900" indent="-342900">
              <a:buClr>
                <a:srgbClr val="262699"/>
              </a:buClr>
              <a:buFont typeface="Wingdings" panose="05000000000000000000" charset="0"/>
              <a:buChar char="Ø"/>
            </a:pPr>
            <a:r>
              <a:rPr lang="en-US" b="1">
                <a:latin typeface="Times New Roman" panose="02020603050405020304" pitchFamily="18" charset="0"/>
                <a:cs typeface="Times New Roman" panose="02020603050405020304" pitchFamily="18" charset="0"/>
              </a:rPr>
              <a:t>    It can be executed by browsers running under many plateforms, including Linux, Windows, Mac Os etc.</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Applet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Drawback of Applet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896110"/>
            <a:ext cx="7725410" cy="4892675"/>
          </a:xfrm>
          <a:prstGeom prst="rect">
            <a:avLst/>
          </a:prstGeom>
          <a:noFill/>
        </p:spPr>
        <p:txBody>
          <a:bodyPr wrap="square" rtlCol="0" anchor="t">
            <a:spAutoFit/>
          </a:bodyPr>
          <a:p>
            <a:pPr marL="342900" indent="-342900">
              <a:buClr>
                <a:srgbClr val="262699"/>
              </a:buClr>
              <a:buFont typeface="Wingdings" panose="05000000000000000000" charset="0"/>
              <a:buChar char="Ø"/>
            </a:pPr>
            <a:r>
              <a:rPr lang="en-US" b="1">
                <a:latin typeface="Times New Roman" panose="02020603050405020304" pitchFamily="18" charset="0"/>
                <a:cs typeface="Times New Roman" panose="02020603050405020304" pitchFamily="18" charset="0"/>
              </a:rPr>
              <a:t>Plugin is required at client browser to execute applet.</a:t>
            </a:r>
            <a:endParaRPr lang="en-US" b="1">
              <a:latin typeface="Times New Roman" panose="02020603050405020304" pitchFamily="18" charset="0"/>
              <a:cs typeface="Times New Roman" panose="02020603050405020304" pitchFamily="18" charset="0"/>
            </a:endParaRPr>
          </a:p>
          <a:p>
            <a:pPr marL="342900" indent="-342900">
              <a:buClr>
                <a:srgbClr val="262699"/>
              </a:buClr>
              <a:buFont typeface="Wingdings" panose="05000000000000000000" charset="0"/>
              <a:buChar char="Ø"/>
            </a:pPr>
            <a:endParaRPr lang="en-US" b="1">
              <a:latin typeface="Times New Roman" panose="02020603050405020304" pitchFamily="18" charset="0"/>
              <a:cs typeface="Times New Roman" panose="02020603050405020304" pitchFamily="18" charset="0"/>
            </a:endParaRPr>
          </a:p>
          <a:p>
            <a:pPr marL="342900" indent="-342900">
              <a:buClr>
                <a:srgbClr val="262699"/>
              </a:buClr>
              <a:buFont typeface="Wingdings" panose="05000000000000000000" charset="0"/>
              <a:buChar char="Ø"/>
            </a:pPr>
            <a:r>
              <a:rPr lang="en-US" b="1">
                <a:latin typeface="Times New Roman" panose="02020603050405020304" pitchFamily="18" charset="0"/>
                <a:cs typeface="Times New Roman" panose="02020603050405020304" pitchFamily="18" charset="0"/>
              </a:rPr>
              <a:t>An applet cannot load libraries or define native methods.</a:t>
            </a:r>
            <a:endParaRPr lang="en-US" b="1">
              <a:latin typeface="Times New Roman" panose="02020603050405020304" pitchFamily="18" charset="0"/>
              <a:cs typeface="Times New Roman" panose="02020603050405020304" pitchFamily="18" charset="0"/>
            </a:endParaRPr>
          </a:p>
          <a:p>
            <a:pPr marL="342900" indent="-342900">
              <a:buClr>
                <a:srgbClr val="262699"/>
              </a:buClr>
              <a:buFont typeface="Wingdings" panose="05000000000000000000" charset="0"/>
              <a:buChar char="Ø"/>
            </a:pPr>
            <a:r>
              <a:rPr lang="en-US" b="1">
                <a:latin typeface="Times New Roman" panose="02020603050405020304" pitchFamily="18" charset="0"/>
                <a:cs typeface="Times New Roman" panose="02020603050405020304" pitchFamily="18" charset="0"/>
              </a:rPr>
              <a:t>An applet cannot ordinarily read or write files on the execution host.</a:t>
            </a:r>
            <a:endParaRPr lang="en-US" b="1">
              <a:latin typeface="Times New Roman" panose="02020603050405020304" pitchFamily="18" charset="0"/>
              <a:cs typeface="Times New Roman" panose="02020603050405020304" pitchFamily="18" charset="0"/>
            </a:endParaRPr>
          </a:p>
          <a:p>
            <a:pPr marL="342900" indent="-342900">
              <a:buClr>
                <a:srgbClr val="262699"/>
              </a:buClr>
              <a:buFont typeface="Wingdings" panose="05000000000000000000" charset="0"/>
              <a:buChar char="Ø"/>
            </a:pPr>
            <a:r>
              <a:rPr lang="en-US" b="1">
                <a:latin typeface="Times New Roman" panose="02020603050405020304" pitchFamily="18" charset="0"/>
                <a:cs typeface="Times New Roman" panose="02020603050405020304" pitchFamily="18" charset="0"/>
              </a:rPr>
              <a:t>An applet cannot read certain system properties.</a:t>
            </a:r>
            <a:endParaRPr lang="en-US" b="1">
              <a:latin typeface="Times New Roman" panose="02020603050405020304" pitchFamily="18" charset="0"/>
              <a:cs typeface="Times New Roman" panose="02020603050405020304" pitchFamily="18" charset="0"/>
            </a:endParaRPr>
          </a:p>
          <a:p>
            <a:pPr marL="342900" indent="-342900">
              <a:buClr>
                <a:srgbClr val="262699"/>
              </a:buClr>
              <a:buFont typeface="Wingdings" panose="05000000000000000000" charset="0"/>
              <a:buChar char="Ø"/>
            </a:pPr>
            <a:r>
              <a:rPr lang="en-US" b="1">
                <a:latin typeface="Times New Roman" panose="02020603050405020304" pitchFamily="18" charset="0"/>
                <a:cs typeface="Times New Roman" panose="02020603050405020304" pitchFamily="18" charset="0"/>
              </a:rPr>
              <a:t>An applet cannot make network connections except to the host that it came from.</a:t>
            </a:r>
            <a:endParaRPr lang="en-US" b="1">
              <a:latin typeface="Times New Roman" panose="02020603050405020304" pitchFamily="18" charset="0"/>
              <a:cs typeface="Times New Roman" panose="02020603050405020304" pitchFamily="18" charset="0"/>
            </a:endParaRPr>
          </a:p>
          <a:p>
            <a:pPr marL="342900" indent="-342900">
              <a:buClr>
                <a:srgbClr val="262699"/>
              </a:buClr>
              <a:buFont typeface="Wingdings" panose="05000000000000000000" charset="0"/>
              <a:buChar char="Ø"/>
            </a:pPr>
            <a:r>
              <a:rPr lang="en-US" b="1">
                <a:latin typeface="Times New Roman" panose="02020603050405020304" pitchFamily="18" charset="0"/>
                <a:cs typeface="Times New Roman" panose="02020603050405020304" pitchFamily="18" charset="0"/>
              </a:rPr>
              <a:t>An applet cannot start any program on the host that’s executing it.</a:t>
            </a:r>
            <a:endParaRPr lang="en-US" b="1">
              <a:latin typeface="Times New Roman" panose="02020603050405020304" pitchFamily="18" charset="0"/>
              <a:cs typeface="Times New Roman" panose="02020603050405020304" pitchFamily="18" charset="0"/>
            </a:endParaRPr>
          </a:p>
          <a:p>
            <a:pPr marL="342900" indent="-342900">
              <a:buClr>
                <a:srgbClr val="262699"/>
              </a:buClr>
              <a:buFont typeface="Wingdings" panose="05000000000000000000" charset="0"/>
              <a:buChar char="Ø"/>
            </a:pPr>
            <a:endParaRPr lang="en-US" b="1">
              <a:latin typeface="Times New Roman" panose="02020603050405020304" pitchFamily="18" charset="0"/>
              <a:cs typeface="Times New Roman" panose="02020603050405020304" pitchFamily="18" charset="0"/>
            </a:endParaRPr>
          </a:p>
          <a:p>
            <a:pPr>
              <a:buClr>
                <a:srgbClr val="262699"/>
              </a:buClr>
              <a:buFont typeface="Wingdings" panose="05000000000000000000" charset="0"/>
            </a:pPr>
            <a:endParaRPr lang="en-US" b="1">
              <a:solidFill>
                <a:srgbClr val="00B05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Applet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21970"/>
          </a:xfrm>
          <a:prstGeom prst="rect">
            <a:avLst/>
          </a:prstGeom>
          <a:noFill/>
        </p:spPr>
        <p:txBody>
          <a:bodyPr wrap="square" rtlCol="0" anchor="t">
            <a:spAutoFit/>
          </a:bodyPr>
          <a:p>
            <a:r>
              <a:rPr lang="en-US" sz="2800" b="1">
                <a:solidFill>
                  <a:srgbClr val="00B050"/>
                </a:solidFill>
                <a:latin typeface="Times New Roman" panose="02020603050405020304" pitchFamily="18" charset="0"/>
                <a:cs typeface="Times New Roman" panose="02020603050405020304" pitchFamily="18" charset="0"/>
                <a:sym typeface="+mn-ea"/>
              </a:rPr>
              <a:t>Hierarchy of Applet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896110"/>
            <a:ext cx="7725410" cy="2676525"/>
          </a:xfrm>
          <a:prstGeom prst="rect">
            <a:avLst/>
          </a:prstGeom>
          <a:noFill/>
        </p:spPr>
        <p:txBody>
          <a:bodyPr wrap="square" rtlCol="0" anchor="t">
            <a:spAutoFit/>
          </a:bodyPr>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rPr>
              <a:t>As displayed in the diagram, Applet</a:t>
            </a:r>
            <a:endParaRPr lang="en-US" b="1">
              <a:solidFill>
                <a:schemeClr val="tx1"/>
              </a:solidFill>
              <a:latin typeface="Times New Roman" panose="02020603050405020304" pitchFamily="18" charset="0"/>
              <a:cs typeface="Times New Roman" panose="02020603050405020304" pitchFamily="18" charset="0"/>
            </a:endParaRPr>
          </a:p>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rPr>
              <a:t>class extends Panel. Panel class </a:t>
            </a:r>
            <a:endParaRPr lang="en-US" b="1">
              <a:solidFill>
                <a:schemeClr val="tx1"/>
              </a:solidFill>
              <a:latin typeface="Times New Roman" panose="02020603050405020304" pitchFamily="18" charset="0"/>
              <a:cs typeface="Times New Roman" panose="02020603050405020304" pitchFamily="18" charset="0"/>
            </a:endParaRPr>
          </a:p>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rPr>
              <a:t>extends Container which is the </a:t>
            </a:r>
            <a:endParaRPr lang="en-US" b="1">
              <a:solidFill>
                <a:schemeClr val="tx1"/>
              </a:solidFill>
              <a:latin typeface="Times New Roman" panose="02020603050405020304" pitchFamily="18" charset="0"/>
              <a:cs typeface="Times New Roman" panose="02020603050405020304" pitchFamily="18" charset="0"/>
            </a:endParaRPr>
          </a:p>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rPr>
              <a:t>subclass of Component.</a:t>
            </a:r>
            <a:r>
              <a:rPr lang="en-US" b="1">
                <a:solidFill>
                  <a:srgbClr val="00B050"/>
                </a:solidFill>
                <a:latin typeface="Times New Roman" panose="02020603050405020304" pitchFamily="18" charset="0"/>
                <a:cs typeface="Times New Roman" panose="02020603050405020304" pitchFamily="18" charset="0"/>
              </a:rPr>
              <a:t> </a:t>
            </a:r>
            <a:endParaRPr lang="en-US" b="1">
              <a:solidFill>
                <a:srgbClr val="00B050"/>
              </a:solidFill>
              <a:latin typeface="Times New Roman" panose="02020603050405020304" pitchFamily="18" charset="0"/>
              <a:cs typeface="Times New Roman" panose="02020603050405020304" pitchFamily="18" charset="0"/>
            </a:endParaRPr>
          </a:p>
          <a:p>
            <a:pPr>
              <a:buClr>
                <a:srgbClr val="262699"/>
              </a:buClr>
              <a:buFont typeface="Wingdings" panose="05000000000000000000" charset="0"/>
            </a:pPr>
            <a:endParaRPr lang="en-US" b="1">
              <a:solidFill>
                <a:srgbClr val="00B050"/>
              </a:solidFill>
              <a:latin typeface="Times New Roman" panose="02020603050405020304" pitchFamily="18" charset="0"/>
              <a:cs typeface="Times New Roman" panose="02020603050405020304" pitchFamily="18" charset="0"/>
            </a:endParaRPr>
          </a:p>
          <a:p>
            <a:pPr>
              <a:buClr>
                <a:srgbClr val="262699"/>
              </a:buClr>
              <a:buFont typeface="Wingdings" panose="05000000000000000000" charset="0"/>
            </a:pPr>
            <a:endParaRPr lang="en-US" b="1">
              <a:solidFill>
                <a:srgbClr val="00B050"/>
              </a:solidFill>
              <a:latin typeface="Times New Roman" panose="02020603050405020304" pitchFamily="18" charset="0"/>
              <a:cs typeface="Times New Roman" panose="02020603050405020304" pitchFamily="18" charset="0"/>
            </a:endParaRPr>
          </a:p>
          <a:p>
            <a:pPr>
              <a:buClr>
                <a:srgbClr val="262699"/>
              </a:buClr>
              <a:buFont typeface="Wingdings" panose="05000000000000000000" charset="0"/>
            </a:pPr>
            <a:endParaRPr lang="en-US" b="1">
              <a:solidFill>
                <a:srgbClr val="00B050"/>
              </a:solidFill>
              <a:latin typeface="Times New Roman" panose="02020603050405020304" pitchFamily="18" charset="0"/>
              <a:cs typeface="Times New Roman" panose="02020603050405020304" pitchFamily="18" charset="0"/>
            </a:endParaRPr>
          </a:p>
        </p:txBody>
      </p:sp>
      <p:pic>
        <p:nvPicPr>
          <p:cNvPr id="4" name="Picture 3" descr="applethierarchy"/>
          <p:cNvPicPr>
            <a:picLocks noChangeAspect="1"/>
          </p:cNvPicPr>
          <p:nvPr/>
        </p:nvPicPr>
        <p:blipFill>
          <a:blip r:embed="rId1"/>
          <a:stretch>
            <a:fillRect/>
          </a:stretch>
        </p:blipFill>
        <p:spPr>
          <a:xfrm>
            <a:off x="5833745" y="1896110"/>
            <a:ext cx="2495550" cy="360235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Applet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383905" cy="953135"/>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differences between an applet and a standalone Java application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2275840"/>
            <a:ext cx="8493760" cy="4154170"/>
          </a:xfrm>
          <a:prstGeom prst="rect">
            <a:avLst/>
          </a:prstGeom>
          <a:noFill/>
        </p:spPr>
        <p:txBody>
          <a:bodyPr wrap="square" rtlCol="0" anchor="t">
            <a:spAutoFit/>
          </a:bodyPr>
          <a:p>
            <a:pPr marL="342900" indent="-342900">
              <a:buClr>
                <a:srgbClr val="262699"/>
              </a:buClr>
              <a:buFont typeface="Wingdings" panose="05000000000000000000" charset="0"/>
              <a:buChar char="Ø"/>
            </a:pPr>
            <a:r>
              <a:rPr lang="en-US" b="1">
                <a:latin typeface="Times New Roman" panose="02020603050405020304" pitchFamily="18" charset="0"/>
                <a:cs typeface="Times New Roman" panose="02020603050405020304" pitchFamily="18" charset="0"/>
              </a:rPr>
              <a:t>An applet is a Java class that extends the java.applet.Applet class.</a:t>
            </a:r>
            <a:endParaRPr lang="en-US" b="1">
              <a:latin typeface="Times New Roman" panose="02020603050405020304" pitchFamily="18" charset="0"/>
              <a:cs typeface="Times New Roman" panose="02020603050405020304" pitchFamily="18" charset="0"/>
            </a:endParaRPr>
          </a:p>
          <a:p>
            <a:pPr marL="342900" indent="-342900">
              <a:buClr>
                <a:srgbClr val="262699"/>
              </a:buClr>
              <a:buFont typeface="Wingdings" panose="05000000000000000000" charset="0"/>
              <a:buChar char="Ø"/>
            </a:pPr>
            <a:endParaRPr lang="en-US" b="1">
              <a:latin typeface="Times New Roman" panose="02020603050405020304" pitchFamily="18" charset="0"/>
              <a:cs typeface="Times New Roman" panose="02020603050405020304" pitchFamily="18" charset="0"/>
            </a:endParaRPr>
          </a:p>
          <a:p>
            <a:pPr marL="342900" indent="-342900">
              <a:buClr>
                <a:srgbClr val="262699"/>
              </a:buClr>
              <a:buFont typeface="Wingdings" panose="05000000000000000000" charset="0"/>
              <a:buChar char="Ø"/>
            </a:pPr>
            <a:r>
              <a:rPr lang="en-US" b="1">
                <a:latin typeface="Times New Roman" panose="02020603050405020304" pitchFamily="18" charset="0"/>
                <a:cs typeface="Times New Roman" panose="02020603050405020304" pitchFamily="18" charset="0"/>
              </a:rPr>
              <a:t>A main() method is not invoked on an applet, and an applet class will not define main().</a:t>
            </a:r>
            <a:endParaRPr lang="en-US" b="1">
              <a:latin typeface="Times New Roman" panose="02020603050405020304" pitchFamily="18" charset="0"/>
              <a:cs typeface="Times New Roman" panose="02020603050405020304" pitchFamily="18" charset="0"/>
            </a:endParaRPr>
          </a:p>
          <a:p>
            <a:pPr marL="342900" indent="-342900">
              <a:buClr>
                <a:srgbClr val="262699"/>
              </a:buClr>
              <a:buFont typeface="Wingdings" panose="05000000000000000000" charset="0"/>
              <a:buChar char="Ø"/>
            </a:pPr>
            <a:endParaRPr lang="en-US" b="1">
              <a:latin typeface="Times New Roman" panose="02020603050405020304" pitchFamily="18" charset="0"/>
              <a:cs typeface="Times New Roman" panose="02020603050405020304" pitchFamily="18" charset="0"/>
            </a:endParaRPr>
          </a:p>
          <a:p>
            <a:pPr marL="342900" indent="-342900">
              <a:buClr>
                <a:srgbClr val="262699"/>
              </a:buClr>
              <a:buFont typeface="Wingdings" panose="05000000000000000000" charset="0"/>
              <a:buChar char="Ø"/>
            </a:pPr>
            <a:r>
              <a:rPr lang="en-US" b="1">
                <a:latin typeface="Times New Roman" panose="02020603050405020304" pitchFamily="18" charset="0"/>
                <a:cs typeface="Times New Roman" panose="02020603050405020304" pitchFamily="18" charset="0"/>
              </a:rPr>
              <a:t>Applets are designed to be embedded within an HTML page.</a:t>
            </a:r>
            <a:endParaRPr lang="en-US" b="1">
              <a:latin typeface="Times New Roman" panose="02020603050405020304" pitchFamily="18" charset="0"/>
              <a:cs typeface="Times New Roman" panose="02020603050405020304" pitchFamily="18" charset="0"/>
            </a:endParaRPr>
          </a:p>
          <a:p>
            <a:pPr marL="342900" indent="-342900">
              <a:buClr>
                <a:srgbClr val="262699"/>
              </a:buClr>
              <a:buFont typeface="Wingdings" panose="05000000000000000000" charset="0"/>
              <a:buChar char="Ø"/>
            </a:pPr>
            <a:endParaRPr lang="en-US" b="1">
              <a:latin typeface="Times New Roman" panose="02020603050405020304" pitchFamily="18" charset="0"/>
              <a:cs typeface="Times New Roman" panose="02020603050405020304" pitchFamily="18" charset="0"/>
            </a:endParaRPr>
          </a:p>
          <a:p>
            <a:pPr marL="342900" indent="-342900">
              <a:buClr>
                <a:srgbClr val="262699"/>
              </a:buClr>
              <a:buFont typeface="Wingdings" panose="05000000000000000000" charset="0"/>
              <a:buChar char="Ø"/>
            </a:pPr>
            <a:r>
              <a:rPr lang="en-US" b="1">
                <a:latin typeface="Times New Roman" panose="02020603050405020304" pitchFamily="18" charset="0"/>
                <a:cs typeface="Times New Roman" panose="02020603050405020304" pitchFamily="18" charset="0"/>
              </a:rPr>
              <a:t>When a user views an HTML page that contains an applet, the code for the applet is downloaded to the user's machine.</a:t>
            </a:r>
            <a:endParaRPr lang="en-US" b="1">
              <a:latin typeface="Times New Roman" panose="02020603050405020304" pitchFamily="18" charset="0"/>
              <a:cs typeface="Times New Roman" panose="02020603050405020304" pitchFamily="18" charset="0"/>
            </a:endParaRPr>
          </a:p>
          <a:p>
            <a:pPr marL="342900" indent="-342900">
              <a:buClr>
                <a:srgbClr val="262699"/>
              </a:buClr>
              <a:buFont typeface="Wingdings" panose="05000000000000000000" charset="0"/>
              <a:buChar char="Ø"/>
            </a:pP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Applet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383905" cy="953135"/>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differences between an applet and a standalone Java application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2275840"/>
            <a:ext cx="8493760" cy="3415030"/>
          </a:xfrm>
          <a:prstGeom prst="rect">
            <a:avLst/>
          </a:prstGeom>
          <a:noFill/>
        </p:spPr>
        <p:txBody>
          <a:bodyPr wrap="square" rtlCol="0" anchor="t">
            <a:spAutoFit/>
          </a:bodyPr>
          <a:p>
            <a:pPr marL="342900" indent="-342900">
              <a:buClr>
                <a:srgbClr val="262699"/>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A JVM is required to view an applet. The JVM can be either a plug-in of the Web browser or a separate runtime environment.</a:t>
            </a:r>
            <a:endParaRPr lang="en-US" b="1">
              <a:latin typeface="Times New Roman" panose="02020603050405020304" pitchFamily="18" charset="0"/>
              <a:cs typeface="Times New Roman" panose="02020603050405020304" pitchFamily="18" charset="0"/>
              <a:sym typeface="+mn-ea"/>
            </a:endParaRPr>
          </a:p>
          <a:p>
            <a:pPr marL="342900" indent="-342900">
              <a:buClr>
                <a:srgbClr val="262699"/>
              </a:buClr>
              <a:buFont typeface="Wingdings" panose="05000000000000000000" charset="0"/>
              <a:buChar char="Ø"/>
            </a:pPr>
            <a:endParaRPr lang="en-US" b="1">
              <a:latin typeface="Times New Roman" panose="02020603050405020304" pitchFamily="18" charset="0"/>
              <a:cs typeface="Times New Roman" panose="02020603050405020304" pitchFamily="18" charset="0"/>
              <a:sym typeface="+mn-ea"/>
            </a:endParaRPr>
          </a:p>
          <a:p>
            <a:pPr marL="342900" indent="-342900">
              <a:buClr>
                <a:srgbClr val="262699"/>
              </a:buClr>
              <a:buFont typeface="Wingdings" panose="05000000000000000000" charset="0"/>
              <a:buChar char="Ø"/>
            </a:pPr>
            <a:r>
              <a:rPr lang="en-US" b="1">
                <a:latin typeface="Times New Roman" panose="02020603050405020304" pitchFamily="18" charset="0"/>
                <a:cs typeface="Times New Roman" panose="02020603050405020304" pitchFamily="18" charset="0"/>
              </a:rPr>
              <a:t>The JVM on the user's machine creates an instance of the applet class and invokes various methods during the applet's lifetime.</a:t>
            </a:r>
            <a:endParaRPr lang="en-US" b="1">
              <a:latin typeface="Times New Roman" panose="02020603050405020304" pitchFamily="18" charset="0"/>
              <a:cs typeface="Times New Roman" panose="02020603050405020304" pitchFamily="18" charset="0"/>
            </a:endParaRPr>
          </a:p>
          <a:p>
            <a:pPr marL="342900" indent="-342900">
              <a:buClr>
                <a:srgbClr val="262699"/>
              </a:buClr>
              <a:buFont typeface="Wingdings" panose="05000000000000000000" charset="0"/>
              <a:buChar char="Ø"/>
            </a:pPr>
            <a:endParaRPr lang="en-US" b="1">
              <a:latin typeface="Times New Roman" panose="02020603050405020304" pitchFamily="18" charset="0"/>
              <a:cs typeface="Times New Roman" panose="02020603050405020304" pitchFamily="18" charset="0"/>
            </a:endParaRPr>
          </a:p>
          <a:p>
            <a:pPr marL="342900" indent="-342900">
              <a:buClr>
                <a:srgbClr val="262699"/>
              </a:buClr>
              <a:buFont typeface="Wingdings" panose="05000000000000000000" charset="0"/>
              <a:buChar char="Ø"/>
            </a:pP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Applet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383905" cy="953135"/>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differences between an applet and a standalone Java application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2275840"/>
            <a:ext cx="8493760" cy="2676525"/>
          </a:xfrm>
          <a:prstGeom prst="rect">
            <a:avLst/>
          </a:prstGeom>
          <a:noFill/>
        </p:spPr>
        <p:txBody>
          <a:bodyPr wrap="square" rtlCol="0" anchor="t">
            <a:spAutoFit/>
          </a:bodyPr>
          <a:p>
            <a:pPr marL="342900" indent="-342900">
              <a:buClr>
                <a:srgbClr val="262699"/>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Applets have strict security rules that are enforced by the Web browser. The security of an applet is often referred to as sandbox security, comparing the applet to a child playing in a sandbox with various rules that must be followed.</a:t>
            </a:r>
            <a:endParaRPr lang="en-US" b="1">
              <a:latin typeface="Times New Roman" panose="02020603050405020304" pitchFamily="18" charset="0"/>
              <a:cs typeface="Times New Roman" panose="02020603050405020304" pitchFamily="18" charset="0"/>
            </a:endParaRPr>
          </a:p>
          <a:p>
            <a:pPr marL="342900" indent="-342900">
              <a:buClr>
                <a:srgbClr val="262699"/>
              </a:buClr>
              <a:buFont typeface="Wingdings" panose="05000000000000000000" charset="0"/>
              <a:buChar char="Ø"/>
            </a:pPr>
            <a:endParaRPr lang="en-US" b="1">
              <a:latin typeface="Times New Roman" panose="02020603050405020304" pitchFamily="18" charset="0"/>
              <a:cs typeface="Times New Roman" panose="02020603050405020304" pitchFamily="18" charset="0"/>
            </a:endParaRPr>
          </a:p>
          <a:p>
            <a:pPr marL="342900" indent="-342900">
              <a:buClr>
                <a:srgbClr val="262699"/>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Other classes that the applet needs can be downloaded in a single Java Archive (JAR) file.</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Applet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Lifecycle of Java Applet :</a:t>
            </a:r>
            <a:endParaRPr lang="en-US" sz="2800" b="1">
              <a:solidFill>
                <a:srgbClr val="C00000"/>
              </a:solidFill>
              <a:latin typeface="Times New Roman" panose="02020603050405020304" pitchFamily="18" charset="0"/>
              <a:cs typeface="Times New Roman" panose="02020603050405020304" pitchFamily="18" charset="0"/>
            </a:endParaRPr>
          </a:p>
        </p:txBody>
      </p:sp>
      <p:pic>
        <p:nvPicPr>
          <p:cNvPr id="4" name="Picture 3" descr="Java-Applet-Lifecycle"/>
          <p:cNvPicPr>
            <a:picLocks noChangeAspect="1"/>
          </p:cNvPicPr>
          <p:nvPr/>
        </p:nvPicPr>
        <p:blipFill>
          <a:blip r:embed="rId1"/>
          <a:stretch>
            <a:fillRect/>
          </a:stretch>
        </p:blipFill>
        <p:spPr>
          <a:xfrm>
            <a:off x="2306955" y="2338705"/>
            <a:ext cx="3426460" cy="402399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Applet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Lifecycle of Java Applet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896110"/>
            <a:ext cx="7725410" cy="2306955"/>
          </a:xfrm>
          <a:prstGeom prst="rect">
            <a:avLst/>
          </a:prstGeom>
          <a:noFill/>
        </p:spPr>
        <p:txBody>
          <a:bodyPr wrap="square" rtlCol="0" anchor="t">
            <a:spAutoFit/>
          </a:bodyPr>
          <a:p>
            <a:pPr marL="342900" indent="-342900">
              <a:buClr>
                <a:srgbClr val="262699"/>
              </a:buClr>
              <a:buFont typeface="Wingdings" panose="05000000000000000000" charset="0"/>
              <a:buChar char="Ø"/>
            </a:pPr>
            <a:endParaRPr lang="en-US" b="1">
              <a:latin typeface="Times New Roman" panose="02020603050405020304" pitchFamily="18" charset="0"/>
              <a:cs typeface="Times New Roman" panose="02020603050405020304" pitchFamily="18" charset="0"/>
            </a:endParaRPr>
          </a:p>
          <a:p>
            <a:pPr marL="342900" indent="-342900">
              <a:buClr>
                <a:srgbClr val="262699"/>
              </a:buClr>
              <a:buFont typeface="Wingdings" panose="05000000000000000000" charset="0"/>
              <a:buChar char="Ø"/>
            </a:pPr>
            <a:r>
              <a:rPr lang="en-US" b="1">
                <a:latin typeface="Times New Roman" panose="02020603050405020304" pitchFamily="18" charset="0"/>
                <a:cs typeface="Times New Roman" panose="02020603050405020304" pitchFamily="18" charset="0"/>
              </a:rPr>
              <a:t>    Applet is initialized.</a:t>
            </a:r>
            <a:endParaRPr lang="en-US" b="1">
              <a:latin typeface="Times New Roman" panose="02020603050405020304" pitchFamily="18" charset="0"/>
              <a:cs typeface="Times New Roman" panose="02020603050405020304" pitchFamily="18" charset="0"/>
            </a:endParaRPr>
          </a:p>
          <a:p>
            <a:pPr marL="342900" indent="-342900">
              <a:buClr>
                <a:srgbClr val="262699"/>
              </a:buClr>
              <a:buFont typeface="Wingdings" panose="05000000000000000000" charset="0"/>
              <a:buChar char="Ø"/>
            </a:pPr>
            <a:r>
              <a:rPr lang="en-US" b="1">
                <a:latin typeface="Times New Roman" panose="02020603050405020304" pitchFamily="18" charset="0"/>
                <a:cs typeface="Times New Roman" panose="02020603050405020304" pitchFamily="18" charset="0"/>
              </a:rPr>
              <a:t>    Applet is started.</a:t>
            </a:r>
            <a:endParaRPr lang="en-US" b="1">
              <a:latin typeface="Times New Roman" panose="02020603050405020304" pitchFamily="18" charset="0"/>
              <a:cs typeface="Times New Roman" panose="02020603050405020304" pitchFamily="18" charset="0"/>
            </a:endParaRPr>
          </a:p>
          <a:p>
            <a:pPr marL="342900" indent="-342900">
              <a:buClr>
                <a:srgbClr val="262699"/>
              </a:buClr>
              <a:buFont typeface="Wingdings" panose="05000000000000000000" charset="0"/>
              <a:buChar char="Ø"/>
            </a:pPr>
            <a:r>
              <a:rPr lang="en-US" b="1">
                <a:latin typeface="Times New Roman" panose="02020603050405020304" pitchFamily="18" charset="0"/>
                <a:cs typeface="Times New Roman" panose="02020603050405020304" pitchFamily="18" charset="0"/>
              </a:rPr>
              <a:t>    Applet is painted.</a:t>
            </a:r>
            <a:endParaRPr lang="en-US" b="1">
              <a:latin typeface="Times New Roman" panose="02020603050405020304" pitchFamily="18" charset="0"/>
              <a:cs typeface="Times New Roman" panose="02020603050405020304" pitchFamily="18" charset="0"/>
            </a:endParaRPr>
          </a:p>
          <a:p>
            <a:pPr marL="342900" indent="-342900">
              <a:buClr>
                <a:srgbClr val="262699"/>
              </a:buClr>
              <a:buFont typeface="Wingdings" panose="05000000000000000000" charset="0"/>
              <a:buChar char="Ø"/>
            </a:pPr>
            <a:r>
              <a:rPr lang="en-US" b="1">
                <a:latin typeface="Times New Roman" panose="02020603050405020304" pitchFamily="18" charset="0"/>
                <a:cs typeface="Times New Roman" panose="02020603050405020304" pitchFamily="18" charset="0"/>
              </a:rPr>
              <a:t>    Applet is stopped.</a:t>
            </a:r>
            <a:endParaRPr lang="en-US" b="1">
              <a:latin typeface="Times New Roman" panose="02020603050405020304" pitchFamily="18" charset="0"/>
              <a:cs typeface="Times New Roman" panose="02020603050405020304" pitchFamily="18" charset="0"/>
            </a:endParaRPr>
          </a:p>
          <a:p>
            <a:pPr marL="342900" indent="-342900">
              <a:buClr>
                <a:srgbClr val="262699"/>
              </a:buClr>
              <a:buFont typeface="Wingdings" panose="05000000000000000000" charset="0"/>
              <a:buChar char="Ø"/>
            </a:pPr>
            <a:r>
              <a:rPr lang="en-US" b="1">
                <a:latin typeface="Times New Roman" panose="02020603050405020304" pitchFamily="18" charset="0"/>
                <a:cs typeface="Times New Roman" panose="02020603050405020304" pitchFamily="18" charset="0"/>
              </a:rPr>
              <a:t>    Applet is destroyed.</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Applet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Lifecycle methods for Applet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896110"/>
            <a:ext cx="8312785" cy="4892675"/>
          </a:xfrm>
          <a:prstGeom prst="rect">
            <a:avLst/>
          </a:prstGeom>
          <a:noFill/>
        </p:spPr>
        <p:txBody>
          <a:bodyPr wrap="square" rtlCol="0" anchor="t">
            <a:spAutoFit/>
          </a:bodyPr>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rPr>
              <a:t>The java.applet.Applet class provides 4 life cycle methods and java.awt.Component class provides 1 life cycle methods for an applet. </a:t>
            </a:r>
            <a:endParaRPr lang="en-US" b="1">
              <a:latin typeface="Times New Roman" panose="02020603050405020304" pitchFamily="18" charset="0"/>
              <a:cs typeface="Times New Roman" panose="02020603050405020304" pitchFamily="18" charset="0"/>
            </a:endParaRPr>
          </a:p>
          <a:p>
            <a:pPr>
              <a:buClr>
                <a:srgbClr val="262699"/>
              </a:buClr>
              <a:buFont typeface="Wingdings" panose="05000000000000000000" charset="0"/>
            </a:pPr>
            <a:endParaRPr lang="en-US" b="1">
              <a:latin typeface="Times New Roman" panose="02020603050405020304" pitchFamily="18" charset="0"/>
              <a:cs typeface="Times New Roman" panose="02020603050405020304" pitchFamily="18" charset="0"/>
            </a:endParaRPr>
          </a:p>
          <a:p>
            <a:pPr>
              <a:buClr>
                <a:srgbClr val="262699"/>
              </a:buClr>
              <a:buFont typeface="Wingdings" panose="05000000000000000000" charset="0"/>
            </a:pPr>
            <a:r>
              <a:rPr lang="en-US" b="1">
                <a:solidFill>
                  <a:srgbClr val="00B050"/>
                </a:solidFill>
                <a:latin typeface="Times New Roman" panose="02020603050405020304" pitchFamily="18" charset="0"/>
                <a:cs typeface="Times New Roman" panose="02020603050405020304" pitchFamily="18" charset="0"/>
              </a:rPr>
              <a:t>java.applet.Applet class :</a:t>
            </a:r>
            <a:endParaRPr lang="en-US" b="1">
              <a:solidFill>
                <a:srgbClr val="00B050"/>
              </a:solidFill>
              <a:latin typeface="Times New Roman" panose="02020603050405020304" pitchFamily="18" charset="0"/>
              <a:cs typeface="Times New Roman" panose="02020603050405020304" pitchFamily="18" charset="0"/>
            </a:endParaRPr>
          </a:p>
          <a:p>
            <a:pPr>
              <a:buClr>
                <a:srgbClr val="262699"/>
              </a:buClr>
              <a:buFont typeface="Wingdings" panose="05000000000000000000" charset="0"/>
            </a:pPr>
            <a:endParaRPr lang="en-US" b="1">
              <a:solidFill>
                <a:srgbClr val="00B050"/>
              </a:solidFill>
              <a:latin typeface="Times New Roman" panose="02020603050405020304" pitchFamily="18" charset="0"/>
              <a:cs typeface="Times New Roman" panose="02020603050405020304" pitchFamily="18" charset="0"/>
            </a:endParaRPr>
          </a:p>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rPr>
              <a:t>For creating any applet java.applet.Applet class must be inherited. It provides 4 life cycle methods of applet.</a:t>
            </a:r>
            <a:endParaRPr lang="en-US" b="1">
              <a:solidFill>
                <a:schemeClr val="tx1"/>
              </a:solidFill>
              <a:latin typeface="Times New Roman" panose="02020603050405020304" pitchFamily="18" charset="0"/>
              <a:cs typeface="Times New Roman" panose="02020603050405020304" pitchFamily="18" charset="0"/>
            </a:endParaRPr>
          </a:p>
          <a:p>
            <a:pPr>
              <a:buClr>
                <a:srgbClr val="262699"/>
              </a:buClr>
              <a:buFont typeface="Wingdings" panose="05000000000000000000" charset="0"/>
            </a:pPr>
            <a:endParaRPr lang="en-US" b="1">
              <a:solidFill>
                <a:schemeClr val="tx1"/>
              </a:solidFill>
              <a:latin typeface="Times New Roman" panose="02020603050405020304" pitchFamily="18" charset="0"/>
              <a:cs typeface="Times New Roman" panose="02020603050405020304" pitchFamily="18" charset="0"/>
            </a:endParaRPr>
          </a:p>
          <a:p>
            <a:pPr>
              <a:buClr>
                <a:srgbClr val="262699"/>
              </a:buClr>
              <a:buFont typeface="Wingdings" panose="05000000000000000000" charset="0"/>
            </a:pPr>
            <a:r>
              <a:rPr lang="en-US" b="1">
                <a:solidFill>
                  <a:srgbClr val="00B050"/>
                </a:solidFill>
                <a:latin typeface="Times New Roman" panose="02020603050405020304" pitchFamily="18" charset="0"/>
                <a:cs typeface="Times New Roman" panose="02020603050405020304" pitchFamily="18" charset="0"/>
                <a:sym typeface="+mn-ea"/>
              </a:rPr>
              <a:t>java.awt.Component class :</a:t>
            </a:r>
            <a:endParaRPr lang="en-US" b="1">
              <a:solidFill>
                <a:schemeClr val="tx1"/>
              </a:solidFill>
              <a:latin typeface="Times New Roman" panose="02020603050405020304" pitchFamily="18" charset="0"/>
              <a:cs typeface="Times New Roman" panose="02020603050405020304" pitchFamily="18" charset="0"/>
            </a:endParaRPr>
          </a:p>
          <a:p>
            <a:pPr>
              <a:buClr>
                <a:srgbClr val="262699"/>
              </a:buClr>
              <a:buFont typeface="Wingdings" panose="05000000000000000000" charset="0"/>
            </a:pPr>
            <a:endParaRPr lang="en-US" b="1">
              <a:solidFill>
                <a:schemeClr val="tx1"/>
              </a:solidFill>
              <a:latin typeface="Times New Roman" panose="02020603050405020304" pitchFamily="18" charset="0"/>
              <a:cs typeface="Times New Roman" panose="02020603050405020304" pitchFamily="18" charset="0"/>
            </a:endParaRPr>
          </a:p>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The Component class provides 1 life cycle method of applet.</a:t>
            </a:r>
            <a:endParaRPr lang="en-US" b="1">
              <a:solidFill>
                <a:schemeClr val="tx1"/>
              </a:solidFill>
              <a:latin typeface="Times New Roman" panose="02020603050405020304" pitchFamily="18" charset="0"/>
              <a:cs typeface="Times New Roman" panose="02020603050405020304" pitchFamily="18" charset="0"/>
            </a:endParaRPr>
          </a:p>
          <a:p>
            <a:pPr>
              <a:buClr>
                <a:srgbClr val="262699"/>
              </a:buClr>
              <a:buFont typeface="Wingdings" panose="05000000000000000000" charset="0"/>
            </a:pPr>
            <a:endParaRPr lang="en-US" b="1">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Applet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Lifecycle method for Java Applet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896110"/>
            <a:ext cx="7725410" cy="4523105"/>
          </a:xfrm>
          <a:prstGeom prst="rect">
            <a:avLst/>
          </a:prstGeom>
          <a:noFill/>
        </p:spPr>
        <p:txBody>
          <a:bodyPr wrap="square" rtlCol="0" anchor="t">
            <a:spAutoFit/>
          </a:bodyPr>
          <a:p>
            <a:pPr marL="342900" indent="-342900">
              <a:buClr>
                <a:srgbClr val="262699"/>
              </a:buClr>
              <a:buFont typeface="Wingdings" panose="05000000000000000000" charset="0"/>
              <a:buChar char="Ø"/>
            </a:pPr>
            <a:r>
              <a:rPr lang="en-US" b="1">
                <a:solidFill>
                  <a:srgbClr val="00B050"/>
                </a:solidFill>
                <a:latin typeface="Times New Roman" panose="02020603050405020304" pitchFamily="18" charset="0"/>
                <a:cs typeface="Times New Roman" panose="02020603050405020304" pitchFamily="18" charset="0"/>
              </a:rPr>
              <a:t>init( )</a:t>
            </a:r>
            <a:r>
              <a:rPr lang="en-US" b="1">
                <a:latin typeface="Times New Roman" panose="02020603050405020304" pitchFamily="18" charset="0"/>
                <a:cs typeface="Times New Roman" panose="02020603050405020304" pitchFamily="18" charset="0"/>
              </a:rPr>
              <a:t> : The init( ) method is the first method to be called. This is where you should initialize variables. This method is called only once during the run time of your applet.</a:t>
            </a:r>
            <a:endParaRPr lang="en-US" b="1">
              <a:latin typeface="Times New Roman" panose="02020603050405020304" pitchFamily="18" charset="0"/>
              <a:cs typeface="Times New Roman" panose="02020603050405020304" pitchFamily="18" charset="0"/>
            </a:endParaRPr>
          </a:p>
          <a:p>
            <a:pPr marL="342900" indent="-342900">
              <a:buClr>
                <a:srgbClr val="262699"/>
              </a:buClr>
              <a:buFont typeface="Wingdings" panose="05000000000000000000" charset="0"/>
              <a:buChar char="Ø"/>
            </a:pPr>
            <a:endParaRPr lang="en-US" b="1">
              <a:latin typeface="Times New Roman" panose="02020603050405020304" pitchFamily="18" charset="0"/>
              <a:cs typeface="Times New Roman" panose="02020603050405020304" pitchFamily="18" charset="0"/>
            </a:endParaRPr>
          </a:p>
          <a:p>
            <a:pPr marL="342900" indent="-342900">
              <a:buClr>
                <a:srgbClr val="262699"/>
              </a:buClr>
              <a:buFont typeface="Wingdings" panose="05000000000000000000" charset="0"/>
              <a:buChar char="Ø"/>
            </a:pPr>
            <a:r>
              <a:rPr lang="en-US" b="1">
                <a:solidFill>
                  <a:srgbClr val="00B050"/>
                </a:solidFill>
                <a:latin typeface="Times New Roman" panose="02020603050405020304" pitchFamily="18" charset="0"/>
                <a:cs typeface="Times New Roman" panose="02020603050405020304" pitchFamily="18" charset="0"/>
              </a:rPr>
              <a:t>start( ) </a:t>
            </a:r>
            <a:r>
              <a:rPr lang="en-US" b="1">
                <a:latin typeface="Times New Roman" panose="02020603050405020304" pitchFamily="18" charset="0"/>
                <a:cs typeface="Times New Roman" panose="02020603050405020304" pitchFamily="18" charset="0"/>
              </a:rPr>
              <a:t>: The start( ) method is called after init( ). It is also called to restart an applet after it has been stopped. Note that init( ) is called once i.e. when the first time an applet is loaded whereas start( ) is called each time an applet’s HTML document is displayed onscreen. So, if a user leaves a web page and comes back, the applet resumes execution at start(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Applet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Lifecycle method for Java Applet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896110"/>
            <a:ext cx="8358505" cy="4154170"/>
          </a:xfrm>
          <a:prstGeom prst="rect">
            <a:avLst/>
          </a:prstGeom>
          <a:noFill/>
        </p:spPr>
        <p:txBody>
          <a:bodyPr wrap="square" rtlCol="0" anchor="t">
            <a:spAutoFit/>
          </a:bodyPr>
          <a:p>
            <a:pPr marL="342900" indent="-342900">
              <a:buClr>
                <a:srgbClr val="262699"/>
              </a:buClr>
              <a:buFont typeface="Wingdings" panose="05000000000000000000" charset="0"/>
              <a:buChar char="Ø"/>
            </a:pPr>
            <a:r>
              <a:rPr lang="en-US" b="1">
                <a:solidFill>
                  <a:srgbClr val="00B050"/>
                </a:solidFill>
                <a:latin typeface="Times New Roman" panose="02020603050405020304" pitchFamily="18" charset="0"/>
                <a:cs typeface="Times New Roman" panose="02020603050405020304" pitchFamily="18" charset="0"/>
                <a:sym typeface="+mn-ea"/>
              </a:rPr>
              <a:t>paint( ) </a:t>
            </a:r>
            <a:r>
              <a:rPr lang="en-US" b="1">
                <a:latin typeface="Times New Roman" panose="02020603050405020304" pitchFamily="18" charset="0"/>
                <a:cs typeface="Times New Roman" panose="02020603050405020304" pitchFamily="18" charset="0"/>
                <a:sym typeface="+mn-ea"/>
              </a:rPr>
              <a:t>: The paint( ) method is called each time an AWT-based applet’s output must be redrawn. This situation can occur for several reasons. For example, the window in which the applet is running may be overwritten by another window and then uncovered. Or the applet window may be minimized and then restored.</a:t>
            </a:r>
            <a:endParaRPr lang="en-US" b="1">
              <a:latin typeface="Times New Roman" panose="02020603050405020304" pitchFamily="18" charset="0"/>
              <a:cs typeface="Times New Roman" panose="02020603050405020304" pitchFamily="18" charset="0"/>
            </a:endParaRPr>
          </a:p>
          <a:p>
            <a:pPr>
              <a:buClr>
                <a:srgbClr val="262699"/>
              </a:buCl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paint( ) is also called when the applet begins execution.      </a:t>
            </a: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Whatever the cause, whenever the applet must redraw its  </a:t>
            </a: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output, paint( ) is called.</a:t>
            </a:r>
            <a:endParaRPr lang="en-US" b="1">
              <a:latin typeface="Times New Roman" panose="02020603050405020304" pitchFamily="18" charset="0"/>
              <a:cs typeface="Times New Roman" panose="02020603050405020304" pitchFamily="18" charset="0"/>
            </a:endParaRPr>
          </a:p>
          <a:p>
            <a:pPr marL="342900" indent="-342900">
              <a:buClr>
                <a:srgbClr val="262699"/>
              </a:buClr>
              <a:buFont typeface="Wingdings" panose="05000000000000000000" charset="0"/>
              <a:buChar char="Ø"/>
            </a:pP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Applet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Lifecycle method for Java Applet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896110"/>
            <a:ext cx="8358505" cy="4892675"/>
          </a:xfrm>
          <a:prstGeom prst="rect">
            <a:avLst/>
          </a:prstGeom>
          <a:noFill/>
        </p:spPr>
        <p:txBody>
          <a:bodyPr wrap="square" rtlCol="0" anchor="t">
            <a:spAutoFit/>
          </a:bodyPr>
          <a:p>
            <a:pPr marL="342900" indent="-342900">
              <a:buClr>
                <a:srgbClr val="262699"/>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The paint( ) method has one parameter of type Graphics. This parameter will contain the graphics context, which describes the graphics environment in which the applet is running. This context is used whenever output to the applet is required.</a:t>
            </a:r>
            <a:endParaRPr lang="en-US" b="1">
              <a:latin typeface="Times New Roman" panose="02020603050405020304" pitchFamily="18" charset="0"/>
              <a:cs typeface="Times New Roman" panose="02020603050405020304" pitchFamily="18" charset="0"/>
              <a:sym typeface="+mn-ea"/>
            </a:endParaRPr>
          </a:p>
          <a:p>
            <a:pPr marL="342900" indent="-342900">
              <a:buClr>
                <a:srgbClr val="262699"/>
              </a:buClr>
              <a:buFont typeface="Wingdings" panose="05000000000000000000" charset="0"/>
              <a:buChar char="Ø"/>
            </a:pPr>
            <a:endParaRPr lang="en-US" b="1">
              <a:latin typeface="Times New Roman" panose="02020603050405020304" pitchFamily="18" charset="0"/>
              <a:cs typeface="Times New Roman" panose="02020603050405020304" pitchFamily="18" charset="0"/>
            </a:endParaRPr>
          </a:p>
          <a:p>
            <a:pPr marL="342900" indent="-342900">
              <a:buClr>
                <a:srgbClr val="262699"/>
              </a:buClr>
              <a:buFont typeface="Wingdings" panose="05000000000000000000" charset="0"/>
              <a:buChar char="Ø"/>
            </a:pPr>
            <a:r>
              <a:rPr lang="en-US" b="1">
                <a:solidFill>
                  <a:srgbClr val="00B050"/>
                </a:solidFill>
                <a:latin typeface="Times New Roman" panose="02020603050405020304" pitchFamily="18" charset="0"/>
                <a:cs typeface="Times New Roman" panose="02020603050405020304" pitchFamily="18" charset="0"/>
              </a:rPr>
              <a:t>stop( ) </a:t>
            </a:r>
            <a:r>
              <a:rPr lang="en-US" b="1">
                <a:latin typeface="Times New Roman" panose="02020603050405020304" pitchFamily="18" charset="0"/>
                <a:cs typeface="Times New Roman" panose="02020603050405020304" pitchFamily="18" charset="0"/>
              </a:rPr>
              <a:t>: The stop( ) method is called when a web browser leaves the HTML document containing the applet—when it goes to another page, for example. When stop( ) is called, the applet is probably running. You should use stop( ) to suspend threads that don’t need to run when the applet is not visible. You can restart them when start( ) is called if the user returns to the page.</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Applet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Lifecycle method for Java Applet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896110"/>
            <a:ext cx="8358505" cy="1938020"/>
          </a:xfrm>
          <a:prstGeom prst="rect">
            <a:avLst/>
          </a:prstGeom>
          <a:noFill/>
        </p:spPr>
        <p:txBody>
          <a:bodyPr wrap="square" rtlCol="0" anchor="t">
            <a:spAutoFit/>
          </a:bodyPr>
          <a:p>
            <a:pPr marL="342900" indent="-342900">
              <a:buClr>
                <a:srgbClr val="262699"/>
              </a:buClr>
              <a:buFont typeface="Wingdings" panose="05000000000000000000" charset="0"/>
              <a:buChar char="Ø"/>
            </a:pPr>
            <a:r>
              <a:rPr lang="en-US" b="1">
                <a:solidFill>
                  <a:srgbClr val="00B050"/>
                </a:solidFill>
                <a:latin typeface="Times New Roman" panose="02020603050405020304" pitchFamily="18" charset="0"/>
                <a:cs typeface="Times New Roman" panose="02020603050405020304" pitchFamily="18" charset="0"/>
                <a:sym typeface="+mn-ea"/>
              </a:rPr>
              <a:t>destroy( )</a:t>
            </a:r>
            <a:r>
              <a:rPr lang="en-US" b="1">
                <a:latin typeface="Times New Roman" panose="02020603050405020304" pitchFamily="18" charset="0"/>
                <a:cs typeface="Times New Roman" panose="02020603050405020304" pitchFamily="18" charset="0"/>
                <a:sym typeface="+mn-ea"/>
              </a:rPr>
              <a:t> : The destroy( ) method is called when the environment determines that your applet needs to be removed completely from memory. At this point, you should free up any resources the applet may be using. The stop( ) method is always called before destroy(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Applet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38210" cy="953135"/>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Who is responsible to manage the life cycle of an applet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2221865"/>
            <a:ext cx="8312785" cy="3476625"/>
          </a:xfrm>
          <a:prstGeom prst="rect">
            <a:avLst/>
          </a:prstGeom>
          <a:noFill/>
        </p:spPr>
        <p:txBody>
          <a:bodyPr wrap="square" rtlCol="0" anchor="t">
            <a:spAutoFit/>
          </a:bodyPr>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Java Plug-in software.</a:t>
            </a: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solidFill>
                  <a:srgbClr val="C00000"/>
                </a:solidFill>
                <a:latin typeface="Times New Roman" panose="02020603050405020304" pitchFamily="18" charset="0"/>
                <a:cs typeface="Times New Roman" panose="02020603050405020304" pitchFamily="18" charset="0"/>
                <a:sym typeface="+mn-ea"/>
              </a:rPr>
              <a:t>How to run an Applet ?</a:t>
            </a: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There are two ways to run an applet</a:t>
            </a: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marL="342900" indent="-342900">
              <a:buClr>
                <a:srgbClr val="262699"/>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    By html file.</a:t>
            </a:r>
            <a:endParaRPr lang="en-US" b="1">
              <a:latin typeface="Times New Roman" panose="02020603050405020304" pitchFamily="18" charset="0"/>
              <a:cs typeface="Times New Roman" panose="02020603050405020304" pitchFamily="18" charset="0"/>
              <a:sym typeface="+mn-ea"/>
            </a:endParaRPr>
          </a:p>
          <a:p>
            <a:pPr marL="342900" indent="-342900">
              <a:buClr>
                <a:srgbClr val="262699"/>
              </a:buClr>
              <a:buFont typeface="Wingdings" panose="05000000000000000000" charset="0"/>
              <a:buChar char="Ø"/>
            </a:pPr>
            <a:endParaRPr lang="en-US" b="1">
              <a:latin typeface="Times New Roman" panose="02020603050405020304" pitchFamily="18" charset="0"/>
              <a:cs typeface="Times New Roman" panose="02020603050405020304" pitchFamily="18" charset="0"/>
              <a:sym typeface="+mn-ea"/>
            </a:endParaRPr>
          </a:p>
          <a:p>
            <a:pPr marL="342900" indent="-342900">
              <a:buClr>
                <a:srgbClr val="262699"/>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    By appletViewer tool (for testing purpose).</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Applet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3821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Simple example of Applet by html file:</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989455"/>
            <a:ext cx="8312785" cy="4523105"/>
          </a:xfrm>
          <a:prstGeom prst="rect">
            <a:avLst/>
          </a:prstGeom>
          <a:noFill/>
        </p:spPr>
        <p:txBody>
          <a:bodyPr wrap="square" rtlCol="0" anchor="t">
            <a:spAutoFit/>
          </a:bodyPr>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To execute the applet by html file, create an applet and compile it. After that create an html file and place the applet code in html file. Now click the html file.</a:t>
            </a: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a:t>
            </a:r>
            <a:r>
              <a:rPr lang="en-US" b="1">
                <a:solidFill>
                  <a:srgbClr val="00B050"/>
                </a:solidFill>
                <a:latin typeface="Times New Roman" panose="02020603050405020304" pitchFamily="18" charset="0"/>
                <a:cs typeface="Times New Roman" panose="02020603050405020304" pitchFamily="18" charset="0"/>
                <a:sym typeface="+mn-ea"/>
              </a:rPr>
              <a:t> //First.java </a:t>
            </a: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import java.applet.Applet;  </a:t>
            </a: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import java.awt.Graphics;  </a:t>
            </a: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public class First extends Applet{  </a:t>
            </a: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public void paint(Graphics g){  </a:t>
            </a: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g.drawString("welcome",150,150);  </a:t>
            </a: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 }  </a:t>
            </a: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rgbClr val="00B050"/>
                </a:solidFill>
                <a:latin typeface="Times New Roman" panose="02020603050405020304" pitchFamily="18" charset="0"/>
                <a:cs typeface="Times New Roman" panose="02020603050405020304" pitchFamily="18" charset="0"/>
                <a:sym typeface="+mn-ea"/>
              </a:rPr>
              <a:t>Note: class must be public because its object is created by Java Plugin software that resides on the browser.</a:t>
            </a:r>
            <a:endParaRPr lang="en-US"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Applet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3821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Simple example of Applet by html file:</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989455"/>
            <a:ext cx="8312785" cy="3046095"/>
          </a:xfrm>
          <a:prstGeom prst="rect">
            <a:avLst/>
          </a:prstGeom>
          <a:noFill/>
        </p:spPr>
        <p:txBody>
          <a:bodyPr wrap="square" rtlCol="0" anchor="t">
            <a:spAutoFit/>
          </a:bodyPr>
          <a:p>
            <a:pPr>
              <a:buClr>
                <a:srgbClr val="262699"/>
              </a:buClr>
              <a:buFont typeface="Wingdings" panose="05000000000000000000" charset="0"/>
            </a:pPr>
            <a:r>
              <a:rPr lang="en-US" b="1">
                <a:solidFill>
                  <a:srgbClr val="00B050"/>
                </a:solidFill>
                <a:latin typeface="Times New Roman" panose="02020603050405020304" pitchFamily="18" charset="0"/>
                <a:cs typeface="Times New Roman" panose="02020603050405020304" pitchFamily="18" charset="0"/>
                <a:sym typeface="+mn-ea"/>
              </a:rPr>
              <a:t>myapplet.html</a:t>
            </a: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&lt;html&gt;  </a:t>
            </a: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&lt;body&gt;  </a:t>
            </a: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&lt;applet code="First.class" width="300" height="300"&gt;  </a:t>
            </a: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&lt;/applet&gt;  </a:t>
            </a: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&lt;/body&gt;  </a:t>
            </a: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&lt;/html&gt;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Applet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3821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Simple example of Applet by appletviewer tool:</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989455"/>
            <a:ext cx="8312785" cy="2306955"/>
          </a:xfrm>
          <a:prstGeom prst="rect">
            <a:avLst/>
          </a:prstGeom>
          <a:noFill/>
        </p:spPr>
        <p:txBody>
          <a:bodyPr wrap="square" rtlCol="0" anchor="t">
            <a:spAutoFit/>
          </a:bodyPr>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sym typeface="+mn-ea"/>
              </a:rPr>
              <a:t>To execute the applet by appletviewer tool, create an applet that contains applet tag in comment and compile it. After that run it by: appletviewer First.java. Now Html file is not required but it is for testing purpose only.</a:t>
            </a:r>
            <a:endParaRPr lang="en-US"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endParaRPr lang="en-US"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Applet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3821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Simple example of Applet by appletviewer tool:</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989455"/>
            <a:ext cx="8312785" cy="4523105"/>
          </a:xfrm>
          <a:prstGeom prst="rect">
            <a:avLst/>
          </a:prstGeom>
          <a:noFill/>
        </p:spPr>
        <p:txBody>
          <a:bodyPr wrap="square" rtlCol="0" anchor="t">
            <a:spAutoFit/>
          </a:bodyPr>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sym typeface="+mn-ea"/>
              </a:rPr>
              <a:t>    </a:t>
            </a:r>
            <a:r>
              <a:rPr lang="en-US" b="1">
                <a:solidFill>
                  <a:srgbClr val="00B050"/>
                </a:solidFill>
                <a:latin typeface="Times New Roman" panose="02020603050405020304" pitchFamily="18" charset="0"/>
                <a:cs typeface="Times New Roman" panose="02020603050405020304" pitchFamily="18" charset="0"/>
                <a:sym typeface="+mn-ea"/>
              </a:rPr>
              <a:t>//First.java  </a:t>
            </a:r>
            <a:endParaRPr lang="en-US"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sym typeface="+mn-ea"/>
              </a:rPr>
              <a:t>    import java.applet.Applet;  </a:t>
            </a:r>
            <a:endParaRPr lang="en-US"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sym typeface="+mn-ea"/>
              </a:rPr>
              <a:t>    import java.awt.Graphics;  </a:t>
            </a:r>
            <a:endParaRPr lang="en-US"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sym typeface="+mn-ea"/>
              </a:rPr>
              <a:t>    public class First extends Applet{  </a:t>
            </a:r>
            <a:endParaRPr lang="en-US"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sym typeface="+mn-ea"/>
              </a:rPr>
              <a:t>    public void paint(Graphics g){  </a:t>
            </a:r>
            <a:endParaRPr lang="en-US"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sym typeface="+mn-ea"/>
              </a:rPr>
              <a:t>    g.drawString("welcome to applet",150,150);  </a:t>
            </a:r>
            <a:endParaRPr lang="en-US"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sym typeface="+mn-ea"/>
              </a:rPr>
              <a:t>    &lt;applet code="First.class" width="300" height="300"&gt; </a:t>
            </a:r>
            <a:endParaRPr lang="en-US"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sym typeface="+mn-ea"/>
              </a:rPr>
              <a:t>    &lt;/applet&gt; </a:t>
            </a:r>
            <a:endParaRPr lang="en-US"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Applet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3821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Simple example of Applet by appletviewer tool:</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989455"/>
            <a:ext cx="8312785" cy="1938020"/>
          </a:xfrm>
          <a:prstGeom prst="rect">
            <a:avLst/>
          </a:prstGeom>
          <a:noFill/>
        </p:spPr>
        <p:txBody>
          <a:bodyPr wrap="square" rtlCol="0" anchor="t">
            <a:spAutoFit/>
          </a:bodyPr>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To execute the applet by appletviewer tool, write in command prompt:</a:t>
            </a: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rgbClr val="00B050"/>
                </a:solidFill>
                <a:latin typeface="Times New Roman" panose="02020603050405020304" pitchFamily="18" charset="0"/>
                <a:cs typeface="Times New Roman" panose="02020603050405020304" pitchFamily="18" charset="0"/>
                <a:sym typeface="+mn-ea"/>
              </a:rPr>
              <a:t>c:\&gt;javac First.java</a:t>
            </a:r>
            <a:endParaRPr lang="en-US" b="1">
              <a:solidFill>
                <a:srgbClr val="00B050"/>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rgbClr val="00B050"/>
                </a:solidFill>
                <a:latin typeface="Times New Roman" panose="02020603050405020304" pitchFamily="18" charset="0"/>
                <a:cs typeface="Times New Roman" panose="02020603050405020304" pitchFamily="18" charset="0"/>
                <a:sym typeface="+mn-ea"/>
              </a:rPr>
              <a:t>c:\&gt;appletviewer First.java</a:t>
            </a:r>
            <a:endParaRPr lang="en-US"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Applet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3821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Displaying Graphics in Applet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15290" y="1854835"/>
            <a:ext cx="8312785" cy="4892675"/>
          </a:xfrm>
          <a:prstGeom prst="rect">
            <a:avLst/>
          </a:prstGeom>
          <a:noFill/>
        </p:spPr>
        <p:txBody>
          <a:bodyPr wrap="square" rtlCol="0" anchor="t">
            <a:spAutoFit/>
          </a:bodyPr>
          <a:p>
            <a:pPr>
              <a:buClr>
                <a:srgbClr val="262699"/>
              </a:buClr>
              <a:buFont typeface="Wingdings" panose="05000000000000000000" charset="0"/>
            </a:pPr>
            <a:r>
              <a:rPr lang="en-US" b="1">
                <a:solidFill>
                  <a:srgbClr val="00B050"/>
                </a:solidFill>
                <a:latin typeface="Times New Roman" panose="02020603050405020304" pitchFamily="18" charset="0"/>
                <a:cs typeface="Times New Roman" panose="02020603050405020304" pitchFamily="18" charset="0"/>
                <a:sym typeface="+mn-ea"/>
              </a:rPr>
              <a:t>Commonly used methods of Graphics class:</a:t>
            </a: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1. public abstract void drawString(String str, int x, int y): is used to draw the specified string.</a:t>
            </a: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2. public void drawRect(int x, int y, int width, int height): draws a rectangle with the specified width and height.</a:t>
            </a: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3.public abstract void fillRect(int x, int y, int width, int height): is used to fill rectangle with the default color and specified width and height.</a:t>
            </a: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4. public abstract void drawOval(int x, int y, int width, int height): is used to draw oval with the specified width and height.</a:t>
            </a: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Applet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3821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Displaying Graphics in Applet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15290" y="1854835"/>
            <a:ext cx="8312785" cy="4523105"/>
          </a:xfrm>
          <a:prstGeom prst="rect">
            <a:avLst/>
          </a:prstGeom>
          <a:noFill/>
        </p:spPr>
        <p:txBody>
          <a:bodyPr wrap="square" rtlCol="0" anchor="t">
            <a:spAutoFit/>
          </a:bodyPr>
          <a:p>
            <a:pPr>
              <a:buClr>
                <a:srgbClr val="262699"/>
              </a:buClr>
              <a:buFont typeface="Wingdings" panose="05000000000000000000" charset="0"/>
            </a:pPr>
            <a:r>
              <a:rPr lang="en-US" b="1">
                <a:solidFill>
                  <a:srgbClr val="00B050"/>
                </a:solidFill>
                <a:latin typeface="Times New Roman" panose="02020603050405020304" pitchFamily="18" charset="0"/>
                <a:cs typeface="Times New Roman" panose="02020603050405020304" pitchFamily="18" charset="0"/>
                <a:sym typeface="+mn-ea"/>
              </a:rPr>
              <a:t>Commonly used methods of Graphics class:</a:t>
            </a: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5.public abstract void fillOval(int x, int y, int width, int height): is used to fill oval with the default color and specified width and height.</a:t>
            </a: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6. public abstract void drawLine(int x1, int y1, int x2, int y2): is used to draw line between the points(x1, y1) and (x2, y2).</a:t>
            </a: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7. public abstract boolean drawImage(Image img, int x, int y, ImageObserver observer): is used draw the specified image.</a:t>
            </a: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8. public abstract void drawArc(int x, int y, int width, int height, int startAngle, int arcAngle): is used draw a circular or elliptical arc.</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Applet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3821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Example of Graphics in applet:</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15290" y="1854835"/>
            <a:ext cx="8312785" cy="4892675"/>
          </a:xfrm>
          <a:prstGeom prst="rect">
            <a:avLst/>
          </a:prstGeom>
          <a:noFill/>
        </p:spPr>
        <p:txBody>
          <a:bodyPr wrap="square" rtlCol="0" anchor="t">
            <a:spAutoFit/>
          </a:bodyPr>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sym typeface="+mn-ea"/>
              </a:rPr>
              <a:t>    import java.applet.Applet;  </a:t>
            </a:r>
            <a:endParaRPr lang="en-US"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sym typeface="+mn-ea"/>
              </a:rPr>
              <a:t>    import java.awt.*;  </a:t>
            </a:r>
            <a:endParaRPr lang="en-US"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sym typeface="+mn-ea"/>
              </a:rPr>
              <a:t>    public class GraphicsDemo extends Applet{  </a:t>
            </a:r>
            <a:endParaRPr lang="en-US"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sym typeface="+mn-ea"/>
              </a:rPr>
              <a:t>    public void paint(Graphics g){  </a:t>
            </a:r>
            <a:endParaRPr lang="en-US"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sym typeface="+mn-ea"/>
              </a:rPr>
              <a:t>    g.setColor(Color.red);  </a:t>
            </a:r>
            <a:endParaRPr lang="en-US"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sym typeface="+mn-ea"/>
              </a:rPr>
              <a:t>    g.drawString("Welcome",50, 50);  </a:t>
            </a:r>
            <a:endParaRPr lang="en-US"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sym typeface="+mn-ea"/>
              </a:rPr>
              <a:t>    g.drawLine(20,30,20,300);  </a:t>
            </a:r>
            <a:endParaRPr lang="en-US"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sym typeface="+mn-ea"/>
              </a:rPr>
              <a:t>    g.drawRect(70,100,30,30);  </a:t>
            </a:r>
            <a:endParaRPr lang="en-US"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sym typeface="+mn-ea"/>
              </a:rPr>
              <a:t>    g.fillRect(170,100,30,30);  </a:t>
            </a:r>
            <a:endParaRPr lang="en-US"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sym typeface="+mn-ea"/>
              </a:rPr>
              <a:t>    g.drawOval(70,200,30,30);</a:t>
            </a:r>
            <a:endParaRPr lang="en-US"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g.setColor(Color.pink);  </a:t>
            </a:r>
            <a:endParaRPr lang="en-US"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g.fillOval(170,200,30,30);  </a:t>
            </a:r>
            <a:r>
              <a:rPr lang="en-US" b="1">
                <a:solidFill>
                  <a:schemeClr val="tx1"/>
                </a:solidFill>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Applet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3821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Example of Graphics in applet:</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05435" y="1854835"/>
            <a:ext cx="8610600" cy="4892675"/>
          </a:xfrm>
          <a:prstGeom prst="rect">
            <a:avLst/>
          </a:prstGeom>
          <a:noFill/>
        </p:spPr>
        <p:txBody>
          <a:bodyPr wrap="square" rtlCol="0" anchor="t">
            <a:spAutoFit/>
          </a:bodyPr>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g.drawArc(90,150,30,30,30,270);  </a:t>
            </a:r>
            <a:endParaRPr lang="en-US"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g.fillArc(270,150,30,30,0,180);  </a:t>
            </a:r>
            <a:endParaRPr lang="en-US"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endParaRPr lang="en-US" b="1">
              <a:solidFill>
                <a:srgbClr val="00B050"/>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rgbClr val="00B050"/>
                </a:solidFill>
                <a:latin typeface="Times New Roman" panose="02020603050405020304" pitchFamily="18" charset="0"/>
                <a:cs typeface="Times New Roman" panose="02020603050405020304" pitchFamily="18" charset="0"/>
                <a:sym typeface="+mn-ea"/>
              </a:rPr>
              <a:t>myapplet.html</a:t>
            </a:r>
            <a:endParaRPr lang="en-US"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sym typeface="+mn-ea"/>
              </a:rPr>
              <a:t>    &lt;html&gt;  </a:t>
            </a:r>
            <a:endParaRPr lang="en-US"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sym typeface="+mn-ea"/>
              </a:rPr>
              <a:t>    &lt;body&gt;  </a:t>
            </a:r>
            <a:endParaRPr lang="en-US"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sym typeface="+mn-ea"/>
              </a:rPr>
              <a:t>&lt;applet code="GraphicsDemo.class" width="300" height="300"&gt;  </a:t>
            </a:r>
            <a:endParaRPr lang="en-US"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sym typeface="+mn-ea"/>
              </a:rPr>
              <a:t>    &lt;/applet&gt;  </a:t>
            </a:r>
            <a:endParaRPr lang="en-US"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sym typeface="+mn-ea"/>
              </a:rPr>
              <a:t>    &lt;/body&gt;  </a:t>
            </a:r>
            <a:endParaRPr lang="en-US"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sym typeface="+mn-ea"/>
              </a:rPr>
              <a:t>    &lt;/html&gt;  </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Applet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3821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Displaying Image in Applet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05435" y="1854835"/>
            <a:ext cx="8610600" cy="4523105"/>
          </a:xfrm>
          <a:prstGeom prst="rect">
            <a:avLst/>
          </a:prstGeom>
          <a:noFill/>
        </p:spPr>
        <p:txBody>
          <a:bodyPr wrap="square" rtlCol="0" anchor="t">
            <a:spAutoFit/>
          </a:bodyPr>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Applet is mostly used in games and animation. For this purpose image is required to be displayed. The java.awt.Graphics class provide a method drawImage() to display the image.</a:t>
            </a: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rgbClr val="00B050"/>
                </a:solidFill>
                <a:latin typeface="Times New Roman" panose="02020603050405020304" pitchFamily="18" charset="0"/>
                <a:cs typeface="Times New Roman" panose="02020603050405020304" pitchFamily="18" charset="0"/>
                <a:sym typeface="+mn-ea"/>
              </a:rPr>
              <a:t>Syntax of drawImage() method:</a:t>
            </a: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public abstract boolean drawImage(Image img, int x, int y, ImageObserver observer)</a:t>
            </a: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is used draw the specified image.</a:t>
            </a: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Applet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3821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Displaying Image in Applet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05435" y="1854835"/>
            <a:ext cx="8610600" cy="4584700"/>
          </a:xfrm>
          <a:prstGeom prst="rect">
            <a:avLst/>
          </a:prstGeom>
          <a:noFill/>
        </p:spPr>
        <p:txBody>
          <a:bodyPr wrap="square" rtlCol="0" anchor="t">
            <a:spAutoFit/>
          </a:bodyPr>
          <a:p>
            <a:pPr>
              <a:buClr>
                <a:srgbClr val="262699"/>
              </a:buClr>
              <a:buFont typeface="Wingdings" panose="05000000000000000000" charset="0"/>
            </a:pPr>
            <a:r>
              <a:rPr lang="en-US" sz="2800" b="1">
                <a:solidFill>
                  <a:srgbClr val="FF0000"/>
                </a:solidFill>
                <a:latin typeface="Times New Roman" panose="02020603050405020304" pitchFamily="18" charset="0"/>
                <a:cs typeface="Times New Roman" panose="02020603050405020304" pitchFamily="18" charset="0"/>
                <a:sym typeface="+mn-ea"/>
              </a:rPr>
              <a:t>How to get the object of Image ?</a:t>
            </a:r>
            <a:endParaRPr lang="en-US" sz="2800" b="1">
              <a:solidFill>
                <a:srgbClr val="FF0000"/>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latin typeface="Times New Roman" panose="02020603050405020304" pitchFamily="18" charset="0"/>
                <a:cs typeface="Times New Roman" panose="02020603050405020304" pitchFamily="18" charset="0"/>
                <a:sym typeface="+mn-ea"/>
              </a:rPr>
              <a:t>The java.applet.Applet class provides getImage() method that returns the object of Image. Syntax:</a:t>
            </a: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rgbClr val="00B050"/>
                </a:solidFill>
                <a:latin typeface="Times New Roman" panose="02020603050405020304" pitchFamily="18" charset="0"/>
                <a:cs typeface="Times New Roman" panose="02020603050405020304" pitchFamily="18" charset="0"/>
                <a:sym typeface="+mn-ea"/>
              </a:rPr>
              <a:t>    public Image getImage(URL u, String image){}</a:t>
            </a:r>
            <a:endParaRPr lang="en-US" b="1">
              <a:solidFill>
                <a:srgbClr val="00B050"/>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endParaRPr lang="en-US" b="1">
              <a:solidFill>
                <a:srgbClr val="00B050"/>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rgbClr val="00B050"/>
                </a:solidFill>
                <a:latin typeface="Times New Roman" panose="02020603050405020304" pitchFamily="18" charset="0"/>
                <a:cs typeface="Times New Roman" panose="02020603050405020304" pitchFamily="18" charset="0"/>
                <a:sym typeface="+mn-ea"/>
              </a:rPr>
              <a:t>Other required methods of Applet class to display image:</a:t>
            </a:r>
            <a:endParaRPr lang="en-US" b="1">
              <a:solidFill>
                <a:srgbClr val="00B050"/>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endParaRPr lang="en-US" b="1">
              <a:solidFill>
                <a:srgbClr val="00B050"/>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sym typeface="+mn-ea"/>
              </a:rPr>
              <a:t>1. public URL getDocumentBase(): is used to return the URL of the document in which applet is embedded.</a:t>
            </a:r>
            <a:endParaRPr lang="en-US"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b="1">
                <a:solidFill>
                  <a:schemeClr val="tx1"/>
                </a:solidFill>
                <a:latin typeface="Times New Roman" panose="02020603050405020304" pitchFamily="18" charset="0"/>
                <a:cs typeface="Times New Roman" panose="02020603050405020304" pitchFamily="18" charset="0"/>
                <a:sym typeface="+mn-ea"/>
              </a:rPr>
              <a:t>2. public URL getCodeBase(): is used to return the base URL.</a:t>
            </a:r>
            <a:r>
              <a:rPr lang="en-US" b="1">
                <a:solidFill>
                  <a:srgbClr val="00B050"/>
                </a:solidFill>
                <a:latin typeface="Times New Roman" panose="02020603050405020304" pitchFamily="18" charset="0"/>
                <a:cs typeface="Times New Roman" panose="02020603050405020304" pitchFamily="18" charset="0"/>
                <a:sym typeface="+mn-ea"/>
              </a:rPr>
              <a:t>  </a:t>
            </a:r>
            <a:endParaRPr lang="en-US"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Applet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3821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Example of displaying image in applet:</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05435" y="1854835"/>
            <a:ext cx="8610600" cy="4831080"/>
          </a:xfrm>
          <a:prstGeom prst="rect">
            <a:avLst/>
          </a:prstGeom>
          <a:noFill/>
        </p:spPr>
        <p:txBody>
          <a:bodyPr wrap="square" rtlCol="0" anchor="t">
            <a:spAutoFit/>
          </a:bodyPr>
          <a:p>
            <a:pPr>
              <a:buClr>
                <a:srgbClr val="262699"/>
              </a:buClr>
              <a:buFont typeface="Wingdings" panose="05000000000000000000" charset="0"/>
            </a:pPr>
            <a:r>
              <a:rPr lang="en-US" sz="2800" b="1">
                <a:solidFill>
                  <a:schemeClr val="tx1"/>
                </a:solidFill>
                <a:latin typeface="Times New Roman" panose="02020603050405020304" pitchFamily="18" charset="0"/>
                <a:cs typeface="Times New Roman" panose="02020603050405020304" pitchFamily="18" charset="0"/>
                <a:sym typeface="+mn-ea"/>
              </a:rPr>
              <a:t>    import java.awt.*;  </a:t>
            </a:r>
            <a:endParaRPr lang="en-US" sz="2800"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solidFill>
                  <a:schemeClr val="tx1"/>
                </a:solidFill>
                <a:latin typeface="Times New Roman" panose="02020603050405020304" pitchFamily="18" charset="0"/>
                <a:cs typeface="Times New Roman" panose="02020603050405020304" pitchFamily="18" charset="0"/>
                <a:sym typeface="+mn-ea"/>
              </a:rPr>
              <a:t>    import java.applet.*;  </a:t>
            </a:r>
            <a:endParaRPr lang="en-US" sz="2800"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solidFill>
                  <a:schemeClr val="tx1"/>
                </a:solidFill>
                <a:latin typeface="Times New Roman" panose="02020603050405020304" pitchFamily="18" charset="0"/>
                <a:cs typeface="Times New Roman" panose="02020603050405020304" pitchFamily="18" charset="0"/>
                <a:sym typeface="+mn-ea"/>
              </a:rPr>
              <a:t>    public class DisplayImage extends Applet {  </a:t>
            </a:r>
            <a:endParaRPr lang="en-US" sz="2800"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solidFill>
                  <a:schemeClr val="tx1"/>
                </a:solidFill>
                <a:latin typeface="Times New Roman" panose="02020603050405020304" pitchFamily="18" charset="0"/>
                <a:cs typeface="Times New Roman" panose="02020603050405020304" pitchFamily="18" charset="0"/>
                <a:sym typeface="+mn-ea"/>
              </a:rPr>
              <a:t>      </a:t>
            </a:r>
            <a:endParaRPr lang="en-US" sz="2800"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solidFill>
                  <a:schemeClr val="tx1"/>
                </a:solidFill>
                <a:latin typeface="Times New Roman" panose="02020603050405020304" pitchFamily="18" charset="0"/>
                <a:cs typeface="Times New Roman" panose="02020603050405020304" pitchFamily="18" charset="0"/>
                <a:sym typeface="+mn-ea"/>
              </a:rPr>
              <a:t>      Image picture;  </a:t>
            </a:r>
            <a:endParaRPr lang="en-US" sz="2800"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solidFill>
                  <a:schemeClr val="tx1"/>
                </a:solidFill>
                <a:latin typeface="Times New Roman" panose="02020603050405020304" pitchFamily="18" charset="0"/>
                <a:cs typeface="Times New Roman" panose="02020603050405020304" pitchFamily="18" charset="0"/>
                <a:sym typeface="+mn-ea"/>
              </a:rPr>
              <a:t>      </a:t>
            </a:r>
            <a:endParaRPr lang="en-US" sz="2800"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solidFill>
                  <a:schemeClr val="tx1"/>
                </a:solidFill>
                <a:latin typeface="Times New Roman" panose="02020603050405020304" pitchFamily="18" charset="0"/>
                <a:cs typeface="Times New Roman" panose="02020603050405020304" pitchFamily="18" charset="0"/>
                <a:sym typeface="+mn-ea"/>
              </a:rPr>
              <a:t>      public void init() {  </a:t>
            </a:r>
            <a:endParaRPr lang="en-US" sz="2800"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solidFill>
                  <a:schemeClr val="tx1"/>
                </a:solidFill>
                <a:latin typeface="Times New Roman" panose="02020603050405020304" pitchFamily="18" charset="0"/>
                <a:cs typeface="Times New Roman" panose="02020603050405020304" pitchFamily="18" charset="0"/>
                <a:sym typeface="+mn-ea"/>
              </a:rPr>
              <a:t>      picture = getImage(getDocumentBase(),"kiit.jpg");  </a:t>
            </a:r>
            <a:endParaRPr lang="en-US" sz="2800"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solidFill>
                  <a:schemeClr val="tx1"/>
                </a:solidFill>
                <a:latin typeface="Times New Roman" panose="02020603050405020304" pitchFamily="18" charset="0"/>
                <a:cs typeface="Times New Roman" panose="02020603050405020304" pitchFamily="18" charset="0"/>
                <a:sym typeface="+mn-ea"/>
              </a:rPr>
              <a:t>      }  </a:t>
            </a:r>
            <a:endParaRPr lang="en-US" sz="2800"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solidFill>
                  <a:schemeClr val="tx1"/>
                </a:solidFill>
                <a:latin typeface="Times New Roman" panose="02020603050405020304" pitchFamily="18" charset="0"/>
                <a:cs typeface="Times New Roman" panose="02020603050405020304" pitchFamily="18" charset="0"/>
                <a:sym typeface="+mn-ea"/>
              </a:rPr>
              <a:t>        </a:t>
            </a:r>
            <a:endParaRPr lang="en-US" sz="2800"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solidFill>
                  <a:schemeClr val="tx1"/>
                </a:solidFill>
                <a:latin typeface="Times New Roman" panose="02020603050405020304" pitchFamily="18" charset="0"/>
                <a:cs typeface="Times New Roman" panose="02020603050405020304" pitchFamily="18" charset="0"/>
                <a:sym typeface="+mn-ea"/>
              </a:rPr>
              <a:t>      </a:t>
            </a:r>
            <a:endParaRPr lang="en-US" sz="2800"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Applet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3821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Example of displaying image in applet:</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05435" y="1854835"/>
            <a:ext cx="8610600" cy="4831080"/>
          </a:xfrm>
          <a:prstGeom prst="rect">
            <a:avLst/>
          </a:prstGeom>
          <a:noFill/>
        </p:spPr>
        <p:txBody>
          <a:bodyPr wrap="square" rtlCol="0" anchor="t">
            <a:spAutoFit/>
          </a:bodyPr>
          <a:p>
            <a:pPr>
              <a:buClr>
                <a:srgbClr val="262699"/>
              </a:buClr>
              <a:buFont typeface="Wingdings" panose="05000000000000000000" charset="0"/>
            </a:pPr>
            <a:r>
              <a:rPr lang="en-US" sz="2800" b="1">
                <a:latin typeface="Times New Roman" panose="02020603050405020304" pitchFamily="18" charset="0"/>
                <a:cs typeface="Times New Roman" panose="02020603050405020304" pitchFamily="18" charset="0"/>
                <a:sym typeface="+mn-ea"/>
              </a:rPr>
              <a:t>public void paint(Graphics g) {  </a:t>
            </a:r>
            <a:endParaRPr lang="en-US" sz="2800"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latin typeface="Times New Roman" panose="02020603050405020304" pitchFamily="18" charset="0"/>
                <a:cs typeface="Times New Roman" panose="02020603050405020304" pitchFamily="18" charset="0"/>
                <a:sym typeface="+mn-ea"/>
              </a:rPr>
              <a:t>        g.drawImage(picture, 30,30, this);  </a:t>
            </a:r>
            <a:endParaRPr lang="en-US" sz="2800"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latin typeface="Times New Roman" panose="02020603050405020304" pitchFamily="18" charset="0"/>
                <a:cs typeface="Times New Roman" panose="02020603050405020304" pitchFamily="18" charset="0"/>
                <a:sym typeface="+mn-ea"/>
              </a:rPr>
              <a:t>      }      </a:t>
            </a:r>
            <a:endParaRPr lang="en-US" sz="2800"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latin typeface="Times New Roman" panose="02020603050405020304" pitchFamily="18" charset="0"/>
                <a:cs typeface="Times New Roman" panose="02020603050405020304" pitchFamily="18" charset="0"/>
                <a:sym typeface="+mn-ea"/>
              </a:rPr>
              <a:t>      }  </a:t>
            </a:r>
            <a:endParaRPr lang="en-US" sz="2800"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solidFill>
                  <a:schemeClr val="tx1"/>
                </a:solidFill>
                <a:latin typeface="Times New Roman" panose="02020603050405020304" pitchFamily="18" charset="0"/>
                <a:cs typeface="Times New Roman" panose="02020603050405020304" pitchFamily="18" charset="0"/>
                <a:sym typeface="+mn-ea"/>
              </a:rPr>
              <a:t>In the above example, drawImage() method of Graphics class is used to display the image. The 4th argument of drawImage() method of is ImageObserver object. The Component class implements ImageObserver interface. So current class object would also be treated as ImageObserver because Applet class indirectly extends the Component class.</a:t>
            </a:r>
            <a:endParaRPr lang="en-US" sz="2800"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Applet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3821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Example of displaying image in applet:</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05435" y="1854835"/>
            <a:ext cx="8610600" cy="3969385"/>
          </a:xfrm>
          <a:prstGeom prst="rect">
            <a:avLst/>
          </a:prstGeom>
          <a:noFill/>
        </p:spPr>
        <p:txBody>
          <a:bodyPr wrap="square" rtlCol="0" anchor="t">
            <a:spAutoFit/>
          </a:bodyPr>
          <a:p>
            <a:pPr>
              <a:buClr>
                <a:srgbClr val="262699"/>
              </a:buClr>
              <a:buFont typeface="Wingdings" panose="05000000000000000000" charset="0"/>
            </a:pPr>
            <a:r>
              <a:rPr lang="en-US" sz="2800" b="1">
                <a:solidFill>
                  <a:srgbClr val="00B050"/>
                </a:solidFill>
                <a:latin typeface="Times New Roman" panose="02020603050405020304" pitchFamily="18" charset="0"/>
                <a:cs typeface="Times New Roman" panose="02020603050405020304" pitchFamily="18" charset="0"/>
                <a:sym typeface="+mn-ea"/>
              </a:rPr>
              <a:t>myapplet.html</a:t>
            </a:r>
            <a:endParaRPr lang="en-US" sz="2800"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endParaRPr lang="en-US" sz="2800"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latin typeface="Times New Roman" panose="02020603050405020304" pitchFamily="18" charset="0"/>
                <a:cs typeface="Times New Roman" panose="02020603050405020304" pitchFamily="18" charset="0"/>
                <a:sym typeface="+mn-ea"/>
              </a:rPr>
              <a:t>    &lt;html&gt;  </a:t>
            </a:r>
            <a:endParaRPr lang="en-US" sz="2800"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latin typeface="Times New Roman" panose="02020603050405020304" pitchFamily="18" charset="0"/>
                <a:cs typeface="Times New Roman" panose="02020603050405020304" pitchFamily="18" charset="0"/>
                <a:sym typeface="+mn-ea"/>
              </a:rPr>
              <a:t>    &lt;body&gt;  </a:t>
            </a:r>
            <a:endParaRPr lang="en-US" sz="2800"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latin typeface="Times New Roman" panose="02020603050405020304" pitchFamily="18" charset="0"/>
                <a:cs typeface="Times New Roman" panose="02020603050405020304" pitchFamily="18" charset="0"/>
                <a:sym typeface="+mn-ea"/>
              </a:rPr>
              <a:t>    &lt;applet code="DisplayImage.class" width="300" height="300"&gt;  </a:t>
            </a:r>
            <a:endParaRPr lang="en-US" sz="2800"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latin typeface="Times New Roman" panose="02020603050405020304" pitchFamily="18" charset="0"/>
                <a:cs typeface="Times New Roman" panose="02020603050405020304" pitchFamily="18" charset="0"/>
                <a:sym typeface="+mn-ea"/>
              </a:rPr>
              <a:t>    &lt;/applet&gt;  </a:t>
            </a:r>
            <a:endParaRPr lang="en-US" sz="2800"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latin typeface="Times New Roman" panose="02020603050405020304" pitchFamily="18" charset="0"/>
                <a:cs typeface="Times New Roman" panose="02020603050405020304" pitchFamily="18" charset="0"/>
                <a:sym typeface="+mn-ea"/>
              </a:rPr>
              <a:t>    &lt;/body&gt;  </a:t>
            </a:r>
            <a:endParaRPr lang="en-US" sz="2800" b="1">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latin typeface="Times New Roman" panose="02020603050405020304" pitchFamily="18" charset="0"/>
                <a:cs typeface="Times New Roman" panose="02020603050405020304" pitchFamily="18" charset="0"/>
                <a:sym typeface="+mn-ea"/>
              </a:rPr>
              <a:t>    &lt;/html&gt;  </a:t>
            </a:r>
            <a:endParaRPr lang="en-US" sz="2800"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Animation in Applet</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3821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Example of animation in applet:</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05435" y="1854835"/>
            <a:ext cx="8610600" cy="4831080"/>
          </a:xfrm>
          <a:prstGeom prst="rect">
            <a:avLst/>
          </a:prstGeom>
          <a:noFill/>
        </p:spPr>
        <p:txBody>
          <a:bodyPr wrap="square" rtlCol="0" anchor="t">
            <a:spAutoFit/>
          </a:bodyPr>
          <a:p>
            <a:pPr>
              <a:buClr>
                <a:srgbClr val="262699"/>
              </a:buClr>
              <a:buFont typeface="Wingdings" panose="05000000000000000000" charset="0"/>
            </a:pPr>
            <a:r>
              <a:rPr lang="en-US" sz="2800" b="1">
                <a:solidFill>
                  <a:schemeClr val="tx1"/>
                </a:solidFill>
                <a:latin typeface="Times New Roman" panose="02020603050405020304" pitchFamily="18" charset="0"/>
                <a:cs typeface="Times New Roman" panose="02020603050405020304" pitchFamily="18" charset="0"/>
                <a:sym typeface="+mn-ea"/>
              </a:rPr>
              <a:t>Applet is mostly used in games and animation. For this purpose image is required to be moved.</a:t>
            </a:r>
            <a:endParaRPr lang="en-US" sz="2800"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endParaRPr lang="en-US" sz="2800"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solidFill>
                  <a:schemeClr val="tx1"/>
                </a:solidFill>
                <a:latin typeface="Times New Roman" panose="02020603050405020304" pitchFamily="18" charset="0"/>
                <a:cs typeface="Times New Roman" panose="02020603050405020304" pitchFamily="18" charset="0"/>
                <a:sym typeface="+mn-ea"/>
              </a:rPr>
              <a:t>    import java.awt.*;  </a:t>
            </a:r>
            <a:endParaRPr lang="en-US" sz="2800"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solidFill>
                  <a:schemeClr val="tx1"/>
                </a:solidFill>
                <a:latin typeface="Times New Roman" panose="02020603050405020304" pitchFamily="18" charset="0"/>
                <a:cs typeface="Times New Roman" panose="02020603050405020304" pitchFamily="18" charset="0"/>
                <a:sym typeface="+mn-ea"/>
              </a:rPr>
              <a:t>    import java.applet.*;  </a:t>
            </a:r>
            <a:endParaRPr lang="en-US" sz="2800"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solidFill>
                  <a:schemeClr val="tx1"/>
                </a:solidFill>
                <a:latin typeface="Times New Roman" panose="02020603050405020304" pitchFamily="18" charset="0"/>
                <a:cs typeface="Times New Roman" panose="02020603050405020304" pitchFamily="18" charset="0"/>
                <a:sym typeface="+mn-ea"/>
              </a:rPr>
              <a:t>    public class AnimationExample extends Applet {  </a:t>
            </a:r>
            <a:endParaRPr lang="en-US" sz="2800"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solidFill>
                  <a:schemeClr val="tx1"/>
                </a:solidFill>
                <a:latin typeface="Times New Roman" panose="02020603050405020304" pitchFamily="18" charset="0"/>
                <a:cs typeface="Times New Roman" panose="02020603050405020304" pitchFamily="18" charset="0"/>
                <a:sym typeface="+mn-ea"/>
              </a:rPr>
              <a:t>      </a:t>
            </a:r>
            <a:endParaRPr lang="en-US" sz="2800"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solidFill>
                  <a:schemeClr val="tx1"/>
                </a:solidFill>
                <a:latin typeface="Times New Roman" panose="02020603050405020304" pitchFamily="18" charset="0"/>
                <a:cs typeface="Times New Roman" panose="02020603050405020304" pitchFamily="18" charset="0"/>
                <a:sym typeface="+mn-ea"/>
              </a:rPr>
              <a:t>      Image picture;  </a:t>
            </a:r>
            <a:endParaRPr lang="en-US" sz="2800"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solidFill>
                  <a:schemeClr val="tx1"/>
                </a:solidFill>
                <a:latin typeface="Times New Roman" panose="02020603050405020304" pitchFamily="18" charset="0"/>
                <a:cs typeface="Times New Roman" panose="02020603050405020304" pitchFamily="18" charset="0"/>
                <a:sym typeface="+mn-ea"/>
              </a:rPr>
              <a:t>      </a:t>
            </a:r>
            <a:r>
              <a:rPr lang="en-US" sz="2800" b="1">
                <a:latin typeface="Times New Roman" panose="02020603050405020304" pitchFamily="18" charset="0"/>
                <a:cs typeface="Times New Roman" panose="02020603050405020304" pitchFamily="18" charset="0"/>
                <a:sym typeface="+mn-ea"/>
              </a:rPr>
              <a:t>public void init() {  </a:t>
            </a:r>
            <a:endParaRPr lang="en-US" sz="2800"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latin typeface="Times New Roman" panose="02020603050405020304" pitchFamily="18" charset="0"/>
                <a:cs typeface="Times New Roman" panose="02020603050405020304" pitchFamily="18" charset="0"/>
                <a:sym typeface="+mn-ea"/>
              </a:rPr>
              <a:t>    picture =getImage(getDocumentBase(),"kiit.gif");  </a:t>
            </a:r>
            <a:endParaRPr lang="en-US" sz="2800"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latin typeface="Times New Roman" panose="02020603050405020304" pitchFamily="18" charset="0"/>
                <a:cs typeface="Times New Roman" panose="02020603050405020304" pitchFamily="18" charset="0"/>
                <a:sym typeface="+mn-ea"/>
              </a:rPr>
              <a:t>      }  </a:t>
            </a:r>
            <a:endParaRPr lang="en-US" sz="2800"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Animation in Applet</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3821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Example of animation in applet:</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05435" y="1854835"/>
            <a:ext cx="8610600" cy="3538220"/>
          </a:xfrm>
          <a:prstGeom prst="rect">
            <a:avLst/>
          </a:prstGeom>
          <a:noFill/>
        </p:spPr>
        <p:txBody>
          <a:bodyPr wrap="square" rtlCol="0" anchor="t">
            <a:spAutoFit/>
          </a:bodyPr>
          <a:p>
            <a:pPr>
              <a:buClr>
                <a:srgbClr val="262699"/>
              </a:buClr>
              <a:buFont typeface="Wingdings" panose="05000000000000000000" charset="0"/>
            </a:pPr>
            <a:r>
              <a:rPr lang="en-US" sz="2800" b="1">
                <a:latin typeface="Times New Roman" panose="02020603050405020304" pitchFamily="18" charset="0"/>
                <a:cs typeface="Times New Roman" panose="02020603050405020304" pitchFamily="18" charset="0"/>
                <a:sym typeface="+mn-ea"/>
              </a:rPr>
              <a:t>      public void paint(Graphics g) {  </a:t>
            </a:r>
            <a:endParaRPr lang="en-US" sz="2800"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latin typeface="Times New Roman" panose="02020603050405020304" pitchFamily="18" charset="0"/>
                <a:cs typeface="Times New Roman" panose="02020603050405020304" pitchFamily="18" charset="0"/>
                <a:sym typeface="+mn-ea"/>
              </a:rPr>
              <a:t>        for(int i=0;i&lt;500;i++){  </a:t>
            </a:r>
            <a:endParaRPr lang="en-US" sz="2800"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latin typeface="Times New Roman" panose="02020603050405020304" pitchFamily="18" charset="0"/>
                <a:cs typeface="Times New Roman" panose="02020603050405020304" pitchFamily="18" charset="0"/>
                <a:sym typeface="+mn-ea"/>
              </a:rPr>
              <a:t>          g.drawImage(picture, i,30, this);  </a:t>
            </a:r>
            <a:endParaRPr lang="en-US" sz="2800"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latin typeface="Times New Roman" panose="02020603050405020304" pitchFamily="18" charset="0"/>
                <a:cs typeface="Times New Roman" panose="02020603050405020304" pitchFamily="18" charset="0"/>
                <a:sym typeface="+mn-ea"/>
              </a:rPr>
              <a:t>      </a:t>
            </a:r>
            <a:endParaRPr lang="en-US" sz="2800"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latin typeface="Times New Roman" panose="02020603050405020304" pitchFamily="18" charset="0"/>
                <a:cs typeface="Times New Roman" panose="02020603050405020304" pitchFamily="18" charset="0"/>
                <a:sym typeface="+mn-ea"/>
              </a:rPr>
              <a:t>          try{Thread.sleep(100);}catch(Exception e){}  </a:t>
            </a:r>
            <a:endParaRPr lang="en-US" sz="2800"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latin typeface="Times New Roman" panose="02020603050405020304" pitchFamily="18" charset="0"/>
                <a:cs typeface="Times New Roman" panose="02020603050405020304" pitchFamily="18" charset="0"/>
                <a:sym typeface="+mn-ea"/>
              </a:rPr>
              <a:t>        }  </a:t>
            </a:r>
            <a:endParaRPr lang="en-US" sz="2800"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latin typeface="Times New Roman" panose="02020603050405020304" pitchFamily="18" charset="0"/>
                <a:cs typeface="Times New Roman" panose="02020603050405020304" pitchFamily="18" charset="0"/>
                <a:sym typeface="+mn-ea"/>
              </a:rPr>
              <a:t>      }  </a:t>
            </a:r>
            <a:endParaRPr lang="en-US" sz="2800" b="1">
              <a:solidFill>
                <a:schemeClr val="tx1"/>
              </a:solidFill>
              <a:latin typeface="Times New Roman" panose="02020603050405020304" pitchFamily="18" charset="0"/>
              <a:cs typeface="Times New Roman" panose="02020603050405020304" pitchFamily="18" charset="0"/>
              <a:sym typeface="+mn-ea"/>
            </a:endParaRPr>
          </a:p>
          <a:p>
            <a:pPr>
              <a:buClr>
                <a:srgbClr val="262699"/>
              </a:buClr>
              <a:buFont typeface="Wingdings" panose="05000000000000000000" charset="0"/>
            </a:pPr>
            <a:r>
              <a:rPr lang="en-US" sz="2800" b="1">
                <a:latin typeface="Times New Roman" panose="02020603050405020304" pitchFamily="18" charset="0"/>
                <a:cs typeface="Times New Roman" panose="02020603050405020304" pitchFamily="18" charset="0"/>
                <a:sym typeface="+mn-ea"/>
              </a:rPr>
              <a:t>    }  </a:t>
            </a:r>
            <a:endParaRPr lang="en-US" sz="2800"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Animation in Applet</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3821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Example of animation in applet:</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05435" y="1854835"/>
            <a:ext cx="8610600" cy="3107690"/>
          </a:xfrm>
          <a:prstGeom prst="rect">
            <a:avLst/>
          </a:prstGeom>
          <a:noFill/>
        </p:spPr>
        <p:txBody>
          <a:bodyPr wrap="square" rtlCol="0" anchor="t">
            <a:spAutoFit/>
          </a:bodyPr>
          <a:p>
            <a:pPr>
              <a:buClr>
                <a:srgbClr val="262699"/>
              </a:buClr>
              <a:buFont typeface="Wingdings" panose="05000000000000000000" charset="0"/>
            </a:pPr>
            <a:r>
              <a:rPr lang="en-US" sz="2800" b="1">
                <a:latin typeface="Times New Roman" panose="02020603050405020304" pitchFamily="18" charset="0"/>
                <a:cs typeface="Times New Roman" panose="02020603050405020304" pitchFamily="18" charset="0"/>
                <a:sym typeface="+mn-ea"/>
              </a:rPr>
              <a:t>In the previous example, drawImage() method of Graphics class is used to display the image. The 4th argument of drawImage() method of is ImageObserver object. The Component class implements ImageObserver interface. So current class object would also be treated as ImageObserver because Applet class indirectly extends the Component class.</a:t>
            </a:r>
            <a:endParaRPr lang="en-US" sz="2800"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Animation in Applet</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8" name="object 8"/>
          <p:cNvSpPr/>
          <p:nvPr/>
        </p:nvSpPr>
        <p:spPr>
          <a:xfrm>
            <a:off x="304165" y="1327150"/>
            <a:ext cx="8199120" cy="5275580"/>
          </a:xfrm>
          <a:prstGeom prst="rect">
            <a:avLst/>
          </a:prstGeom>
          <a:blipFill>
            <a:blip r:embed="rId1" cstate="print"/>
            <a:stretch>
              <a:fillRect/>
            </a:stretch>
          </a:blipFill>
        </p:spPr>
        <p:txBody>
          <a:bodyPr wrap="square" lIns="0" tIns="0" rIns="0" bIns="0" rtlCol="0"/>
          <a:lstStyle/>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Animation in Applet</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object 8"/>
          <p:cNvSpPr/>
          <p:nvPr/>
        </p:nvSpPr>
        <p:spPr>
          <a:xfrm>
            <a:off x="605155" y="1339215"/>
            <a:ext cx="7818755" cy="5086985"/>
          </a:xfrm>
          <a:prstGeom prst="rect">
            <a:avLst/>
          </a:prstGeom>
          <a:blipFill>
            <a:blip r:embed="rId1" cstate="print"/>
            <a:stretch>
              <a:fillRect/>
            </a:stretch>
          </a:blipFill>
        </p:spPr>
        <p:txBody>
          <a:bodyPr wrap="square" lIns="0" tIns="0" rIns="0" bIns="0" rtlCol="0"/>
          <a:lstStyle/>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Animation in Applet</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object 8"/>
          <p:cNvSpPr/>
          <p:nvPr/>
        </p:nvSpPr>
        <p:spPr>
          <a:xfrm>
            <a:off x="605155" y="1339215"/>
            <a:ext cx="7818755" cy="5086985"/>
          </a:xfrm>
          <a:prstGeom prst="rect">
            <a:avLst/>
          </a:prstGeom>
          <a:blipFill>
            <a:blip r:embed="rId1" cstate="print"/>
            <a:stretch>
              <a:fillRect/>
            </a:stretch>
          </a:blipFill>
        </p:spPr>
        <p:txBody>
          <a:bodyPr wrap="square" lIns="0" tIns="0" rIns="0" bIns="0" rtlCol="0"/>
          <a:lstStyle/>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Animation in Applet</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38210" cy="521970"/>
          </a:xfrm>
          <a:prstGeom prst="rect">
            <a:avLst/>
          </a:prstGeom>
          <a:noFill/>
        </p:spPr>
        <p:txBody>
          <a:bodyPr wrap="square" rtlCol="0" anchor="t">
            <a:spAutoFit/>
          </a:bodyPr>
          <a:p>
            <a:r>
              <a:rPr sz="2800" b="1" spc="-5" dirty="0">
                <a:solidFill>
                  <a:srgbClr val="FF0000"/>
                </a:solidFill>
                <a:latin typeface="Arial" panose="020B0604020202020204"/>
                <a:cs typeface="Arial" panose="020B0604020202020204"/>
                <a:sym typeface="+mn-ea"/>
              </a:rPr>
              <a:t>repaint()  </a:t>
            </a:r>
            <a:r>
              <a:rPr lang="en-US" sz="2800" b="1" spc="-5" dirty="0">
                <a:solidFill>
                  <a:srgbClr val="FF0000"/>
                </a:solidFill>
                <a:latin typeface="Arial" panose="020B0604020202020204"/>
                <a:cs typeface="Arial" panose="020B0604020202020204"/>
                <a:sym typeface="+mn-ea"/>
              </a:rPr>
              <a:t>:</a:t>
            </a:r>
            <a:endParaRPr lang="en-US" sz="2800" b="1" spc="-5" dirty="0">
              <a:solidFill>
                <a:srgbClr val="FF0000"/>
              </a:solidFill>
              <a:latin typeface="Arial" panose="020B0604020202020204"/>
              <a:cs typeface="Arial" panose="020B0604020202020204"/>
              <a:sym typeface="+mn-ea"/>
            </a:endParaRPr>
          </a:p>
        </p:txBody>
      </p:sp>
      <p:sp>
        <p:nvSpPr>
          <p:cNvPr id="3" name="Text Box 2"/>
          <p:cNvSpPr txBox="1"/>
          <p:nvPr/>
        </p:nvSpPr>
        <p:spPr>
          <a:xfrm>
            <a:off x="305435" y="1854835"/>
            <a:ext cx="8610600" cy="4867910"/>
          </a:xfrm>
          <a:prstGeom prst="rect">
            <a:avLst/>
          </a:prstGeom>
          <a:noFill/>
        </p:spPr>
        <p:txBody>
          <a:bodyPr wrap="square" rtlCol="0" anchor="t">
            <a:spAutoFit/>
          </a:bodyPr>
          <a:p>
            <a:pPr marL="12700">
              <a:lnSpc>
                <a:spcPct val="100000"/>
              </a:lnSpc>
              <a:spcBef>
                <a:spcPts val="95"/>
              </a:spcBef>
              <a:buClr>
                <a:srgbClr val="0000FF"/>
              </a:buClr>
              <a:buSzPct val="90000"/>
              <a:buFont typeface="Arial" panose="020B0604020202020204"/>
              <a:tabLst>
                <a:tab pos="134620" algn="l"/>
              </a:tabLst>
            </a:pPr>
            <a:r>
              <a:rPr sz="2800" b="1" spc="-5" dirty="0">
                <a:latin typeface="Times New Roman" panose="02020603050405020304" pitchFamily="18" charset="0"/>
                <a:cs typeface="Times New Roman" panose="02020603050405020304" pitchFamily="18" charset="0"/>
                <a:sym typeface="+mn-ea"/>
              </a:rPr>
              <a:t>As a general rule, an applet </a:t>
            </a:r>
            <a:r>
              <a:rPr sz="2800" b="1" dirty="0">
                <a:latin typeface="Times New Roman" panose="02020603050405020304" pitchFamily="18" charset="0"/>
                <a:cs typeface="Times New Roman" panose="02020603050405020304" pitchFamily="18" charset="0"/>
                <a:sym typeface="+mn-ea"/>
              </a:rPr>
              <a:t>writes </a:t>
            </a:r>
            <a:r>
              <a:rPr sz="2800" b="1" spc="-5" dirty="0">
                <a:latin typeface="Times New Roman" panose="02020603050405020304" pitchFamily="18" charset="0"/>
                <a:cs typeface="Times New Roman" panose="02020603050405020304" pitchFamily="18" charset="0"/>
                <a:sym typeface="+mn-ea"/>
              </a:rPr>
              <a:t>to its window only</a:t>
            </a:r>
            <a:r>
              <a:rPr sz="2800" b="1" spc="-15" dirty="0">
                <a:latin typeface="Times New Roman" panose="02020603050405020304" pitchFamily="18" charset="0"/>
                <a:cs typeface="Times New Roman" panose="02020603050405020304" pitchFamily="18" charset="0"/>
                <a:sym typeface="+mn-ea"/>
              </a:rPr>
              <a:t> </a:t>
            </a:r>
            <a:r>
              <a:rPr sz="2800" b="1" spc="-5" dirty="0">
                <a:latin typeface="Times New Roman" panose="02020603050405020304" pitchFamily="18" charset="0"/>
                <a:cs typeface="Times New Roman" panose="02020603050405020304" pitchFamily="18" charset="0"/>
                <a:sym typeface="+mn-ea"/>
              </a:rPr>
              <a:t>when its update() or paint() method is called </a:t>
            </a:r>
            <a:r>
              <a:rPr sz="2800" b="1" spc="-15" dirty="0">
                <a:latin typeface="Times New Roman" panose="02020603050405020304" pitchFamily="18" charset="0"/>
                <a:cs typeface="Times New Roman" panose="02020603050405020304" pitchFamily="18" charset="0"/>
                <a:sym typeface="+mn-ea"/>
              </a:rPr>
              <a:t>by </a:t>
            </a:r>
            <a:r>
              <a:rPr sz="2800" b="1" spc="-5" dirty="0">
                <a:latin typeface="Times New Roman" panose="02020603050405020304" pitchFamily="18" charset="0"/>
                <a:cs typeface="Times New Roman" panose="02020603050405020304" pitchFamily="18" charset="0"/>
                <a:sym typeface="+mn-ea"/>
              </a:rPr>
              <a:t>the</a:t>
            </a:r>
            <a:r>
              <a:rPr sz="2800" b="1" spc="30" dirty="0">
                <a:latin typeface="Times New Roman" panose="02020603050405020304" pitchFamily="18" charset="0"/>
                <a:cs typeface="Times New Roman" panose="02020603050405020304" pitchFamily="18" charset="0"/>
                <a:sym typeface="+mn-ea"/>
              </a:rPr>
              <a:t> </a:t>
            </a:r>
            <a:r>
              <a:rPr sz="2800" b="1" spc="-20" dirty="0">
                <a:latin typeface="Times New Roman" panose="02020603050405020304" pitchFamily="18" charset="0"/>
                <a:cs typeface="Times New Roman" panose="02020603050405020304" pitchFamily="18" charset="0"/>
                <a:sym typeface="+mn-ea"/>
              </a:rPr>
              <a:t>AWT</a:t>
            </a:r>
            <a:r>
              <a:rPr lang="en-US" sz="2800" b="1" spc="-20" dirty="0">
                <a:latin typeface="Times New Roman" panose="02020603050405020304" pitchFamily="18" charset="0"/>
                <a:cs typeface="Times New Roman" panose="02020603050405020304" pitchFamily="18" charset="0"/>
                <a:sym typeface="+mn-ea"/>
              </a:rPr>
              <a:t>.</a:t>
            </a:r>
            <a:r>
              <a:rPr sz="2800" b="1" spc="-10" dirty="0">
                <a:latin typeface="Times New Roman" panose="02020603050405020304" pitchFamily="18" charset="0"/>
                <a:cs typeface="Times New Roman" panose="02020603050405020304" pitchFamily="18" charset="0"/>
                <a:sym typeface="+mn-ea"/>
              </a:rPr>
              <a:t>Whenever your </a:t>
            </a:r>
            <a:r>
              <a:rPr sz="2800" b="1" spc="-5" dirty="0">
                <a:latin typeface="Times New Roman" panose="02020603050405020304" pitchFamily="18" charset="0"/>
                <a:cs typeface="Times New Roman" panose="02020603050405020304" pitchFamily="18" charset="0"/>
                <a:sym typeface="+mn-ea"/>
              </a:rPr>
              <a:t>applet needs to update the</a:t>
            </a:r>
            <a:r>
              <a:rPr sz="2800" b="1" spc="15" dirty="0">
                <a:latin typeface="Times New Roman" panose="02020603050405020304" pitchFamily="18" charset="0"/>
                <a:cs typeface="Times New Roman" panose="02020603050405020304" pitchFamily="18" charset="0"/>
                <a:sym typeface="+mn-ea"/>
              </a:rPr>
              <a:t> </a:t>
            </a:r>
            <a:r>
              <a:rPr sz="2800" b="1" spc="-5" dirty="0">
                <a:latin typeface="Times New Roman" panose="02020603050405020304" pitchFamily="18" charset="0"/>
                <a:cs typeface="Times New Roman" panose="02020603050405020304" pitchFamily="18" charset="0"/>
                <a:sym typeface="+mn-ea"/>
              </a:rPr>
              <a:t>information</a:t>
            </a:r>
            <a:r>
              <a:rPr lang="en-US" sz="2800" b="1" spc="-5" dirty="0">
                <a:latin typeface="Times New Roman" panose="02020603050405020304" pitchFamily="18" charset="0"/>
                <a:cs typeface="Times New Roman" panose="02020603050405020304" pitchFamily="18" charset="0"/>
                <a:sym typeface="+mn-ea"/>
              </a:rPr>
              <a:t> </a:t>
            </a:r>
            <a:r>
              <a:rPr sz="2800" b="1" spc="-10" dirty="0">
                <a:latin typeface="Times New Roman" panose="02020603050405020304" pitchFamily="18" charset="0"/>
                <a:cs typeface="Times New Roman" panose="02020603050405020304" pitchFamily="18" charset="0"/>
                <a:sym typeface="+mn-ea"/>
              </a:rPr>
              <a:t>displayed </a:t>
            </a:r>
            <a:r>
              <a:rPr sz="2800" b="1" spc="-5" dirty="0">
                <a:latin typeface="Times New Roman" panose="02020603050405020304" pitchFamily="18" charset="0"/>
                <a:cs typeface="Times New Roman" panose="02020603050405020304" pitchFamily="18" charset="0"/>
                <a:sym typeface="+mn-ea"/>
              </a:rPr>
              <a:t>in its </a:t>
            </a:r>
            <a:r>
              <a:rPr sz="2800" b="1" spc="-15" dirty="0">
                <a:latin typeface="Times New Roman" panose="02020603050405020304" pitchFamily="18" charset="0"/>
                <a:cs typeface="Times New Roman" panose="02020603050405020304" pitchFamily="18" charset="0"/>
                <a:sym typeface="+mn-ea"/>
              </a:rPr>
              <a:t>window, </a:t>
            </a:r>
            <a:r>
              <a:rPr sz="2800" b="1" spc="-5" dirty="0">
                <a:latin typeface="Times New Roman" panose="02020603050405020304" pitchFamily="18" charset="0"/>
                <a:cs typeface="Times New Roman" panose="02020603050405020304" pitchFamily="18" charset="0"/>
                <a:sym typeface="+mn-ea"/>
              </a:rPr>
              <a:t>it simply calls</a:t>
            </a:r>
            <a:r>
              <a:rPr sz="2800" b="1" spc="35" dirty="0">
                <a:latin typeface="Times New Roman" panose="02020603050405020304" pitchFamily="18" charset="0"/>
                <a:cs typeface="Times New Roman" panose="02020603050405020304" pitchFamily="18" charset="0"/>
                <a:sym typeface="+mn-ea"/>
              </a:rPr>
              <a:t> </a:t>
            </a:r>
            <a:r>
              <a:rPr sz="2800" b="1" i="1" spc="-5" dirty="0">
                <a:latin typeface="Times New Roman" panose="02020603050405020304" pitchFamily="18" charset="0"/>
                <a:cs typeface="Times New Roman" panose="02020603050405020304" pitchFamily="18" charset="0"/>
                <a:sym typeface="+mn-ea"/>
              </a:rPr>
              <a:t>repaint()</a:t>
            </a:r>
            <a:r>
              <a:rPr lang="en-US" sz="2800" b="1" i="1" spc="-5" dirty="0">
                <a:latin typeface="Times New Roman" panose="02020603050405020304" pitchFamily="18" charset="0"/>
                <a:cs typeface="Times New Roman" panose="02020603050405020304" pitchFamily="18" charset="0"/>
                <a:sym typeface="+mn-ea"/>
              </a:rPr>
              <a:t>.</a:t>
            </a:r>
            <a:endParaRPr lang="en-US" sz="2800" b="1" i="1" spc="-5" dirty="0">
              <a:latin typeface="Times New Roman" panose="02020603050405020304" pitchFamily="18" charset="0"/>
              <a:cs typeface="Times New Roman" panose="02020603050405020304" pitchFamily="18" charset="0"/>
              <a:sym typeface="+mn-ea"/>
            </a:endParaRPr>
          </a:p>
          <a:p>
            <a:pPr marL="12700">
              <a:lnSpc>
                <a:spcPct val="100000"/>
              </a:lnSpc>
              <a:spcBef>
                <a:spcPts val="95"/>
              </a:spcBef>
              <a:buClr>
                <a:srgbClr val="0000FF"/>
              </a:buClr>
              <a:buSzPct val="90000"/>
              <a:buFont typeface="Arial" panose="020B0604020202020204"/>
              <a:tabLst>
                <a:tab pos="134620" algn="l"/>
              </a:tabLst>
            </a:pPr>
            <a:r>
              <a:rPr sz="2800" b="1" spc="-5" dirty="0">
                <a:latin typeface="Times New Roman" panose="02020603050405020304" pitchFamily="18" charset="0"/>
                <a:cs typeface="Times New Roman" panose="02020603050405020304" pitchFamily="18" charset="0"/>
                <a:sym typeface="+mn-ea"/>
              </a:rPr>
              <a:t>The </a:t>
            </a:r>
            <a:r>
              <a:rPr sz="2800" b="1" spc="-5" dirty="0">
                <a:solidFill>
                  <a:srgbClr val="FF0000"/>
                </a:solidFill>
                <a:latin typeface="Times New Roman" panose="02020603050405020304" pitchFamily="18" charset="0"/>
                <a:cs typeface="Times New Roman" panose="02020603050405020304" pitchFamily="18" charset="0"/>
                <a:sym typeface="+mn-ea"/>
              </a:rPr>
              <a:t>repaint() </a:t>
            </a:r>
            <a:r>
              <a:rPr sz="2800" b="1" spc="-5" dirty="0">
                <a:latin typeface="Times New Roman" panose="02020603050405020304" pitchFamily="18" charset="0"/>
                <a:cs typeface="Times New Roman" panose="02020603050405020304" pitchFamily="18" charset="0"/>
                <a:sym typeface="+mn-ea"/>
              </a:rPr>
              <a:t>method is defined </a:t>
            </a:r>
            <a:r>
              <a:rPr sz="2800" b="1" spc="-15" dirty="0">
                <a:latin typeface="Times New Roman" panose="02020603050405020304" pitchFamily="18" charset="0"/>
                <a:cs typeface="Times New Roman" panose="02020603050405020304" pitchFamily="18" charset="0"/>
                <a:sym typeface="+mn-ea"/>
              </a:rPr>
              <a:t>by </a:t>
            </a:r>
            <a:r>
              <a:rPr sz="2800" b="1" spc="-5" dirty="0">
                <a:latin typeface="Times New Roman" panose="02020603050405020304" pitchFamily="18" charset="0"/>
                <a:cs typeface="Times New Roman" panose="02020603050405020304" pitchFamily="18" charset="0"/>
                <a:sym typeface="+mn-ea"/>
              </a:rPr>
              <a:t>the </a:t>
            </a:r>
            <a:r>
              <a:rPr sz="2800" b="1" spc="-45" dirty="0">
                <a:latin typeface="Times New Roman" panose="02020603050405020304" pitchFamily="18" charset="0"/>
                <a:cs typeface="Times New Roman" panose="02020603050405020304" pitchFamily="18" charset="0"/>
                <a:sym typeface="+mn-ea"/>
              </a:rPr>
              <a:t>AWT. </a:t>
            </a:r>
            <a:r>
              <a:rPr sz="2800" b="1" spc="-5" dirty="0">
                <a:latin typeface="Times New Roman" panose="02020603050405020304" pitchFamily="18" charset="0"/>
                <a:cs typeface="Times New Roman" panose="02020603050405020304" pitchFamily="18" charset="0"/>
                <a:sym typeface="+mn-ea"/>
              </a:rPr>
              <a:t>It causes</a:t>
            </a:r>
            <a:r>
              <a:rPr sz="2800" b="1" spc="80" dirty="0">
                <a:latin typeface="Times New Roman" panose="02020603050405020304" pitchFamily="18" charset="0"/>
                <a:cs typeface="Times New Roman" panose="02020603050405020304" pitchFamily="18" charset="0"/>
                <a:sym typeface="+mn-ea"/>
              </a:rPr>
              <a:t> </a:t>
            </a:r>
            <a:r>
              <a:rPr sz="2800" b="1" spc="-5" dirty="0">
                <a:latin typeface="Times New Roman" panose="02020603050405020304" pitchFamily="18" charset="0"/>
                <a:cs typeface="Times New Roman" panose="02020603050405020304" pitchFamily="18" charset="0"/>
                <a:sym typeface="+mn-ea"/>
              </a:rPr>
              <a:t>the </a:t>
            </a:r>
            <a:r>
              <a:rPr sz="2800" b="1" spc="-20" dirty="0">
                <a:latin typeface="Times New Roman" panose="02020603050405020304" pitchFamily="18" charset="0"/>
                <a:cs typeface="Times New Roman" panose="02020603050405020304" pitchFamily="18" charset="0"/>
                <a:sym typeface="+mn-ea"/>
              </a:rPr>
              <a:t>AWT </a:t>
            </a:r>
            <a:r>
              <a:rPr sz="2800" b="1" spc="-5" dirty="0">
                <a:latin typeface="Times New Roman" panose="02020603050405020304" pitchFamily="18" charset="0"/>
                <a:cs typeface="Times New Roman" panose="02020603050405020304" pitchFamily="18" charset="0"/>
                <a:sym typeface="+mn-ea"/>
              </a:rPr>
              <a:t>run-time system to </a:t>
            </a:r>
            <a:r>
              <a:rPr sz="2800" b="1" spc="-15" dirty="0">
                <a:latin typeface="Times New Roman" panose="02020603050405020304" pitchFamily="18" charset="0"/>
                <a:cs typeface="Times New Roman" panose="02020603050405020304" pitchFamily="18" charset="0"/>
                <a:sym typeface="+mn-ea"/>
              </a:rPr>
              <a:t>execute </a:t>
            </a:r>
            <a:r>
              <a:rPr sz="2800" b="1" spc="-5" dirty="0">
                <a:latin typeface="Times New Roman" panose="02020603050405020304" pitchFamily="18" charset="0"/>
                <a:cs typeface="Times New Roman" panose="02020603050405020304" pitchFamily="18" charset="0"/>
                <a:sym typeface="+mn-ea"/>
              </a:rPr>
              <a:t>a call to </a:t>
            </a:r>
            <a:r>
              <a:rPr sz="2800" b="1" spc="-10" dirty="0">
                <a:latin typeface="Times New Roman" panose="02020603050405020304" pitchFamily="18" charset="0"/>
                <a:cs typeface="Times New Roman" panose="02020603050405020304" pitchFamily="18" charset="0"/>
                <a:sym typeface="+mn-ea"/>
              </a:rPr>
              <a:t>your applet’s  </a:t>
            </a:r>
            <a:r>
              <a:rPr sz="2800" b="1" spc="-5" dirty="0">
                <a:latin typeface="Times New Roman" panose="02020603050405020304" pitchFamily="18" charset="0"/>
                <a:cs typeface="Times New Roman" panose="02020603050405020304" pitchFamily="18" charset="0"/>
                <a:sym typeface="+mn-ea"/>
              </a:rPr>
              <a:t>update() method, which, in its </a:t>
            </a:r>
            <a:r>
              <a:rPr sz="2800" b="1" spc="-10" dirty="0">
                <a:latin typeface="Times New Roman" panose="02020603050405020304" pitchFamily="18" charset="0"/>
                <a:cs typeface="Times New Roman" panose="02020603050405020304" pitchFamily="18" charset="0"/>
                <a:sym typeface="+mn-ea"/>
              </a:rPr>
              <a:t>default </a:t>
            </a:r>
            <a:r>
              <a:rPr sz="2800" b="1" spc="-5" dirty="0">
                <a:latin typeface="Times New Roman" panose="02020603050405020304" pitchFamily="18" charset="0"/>
                <a:cs typeface="Times New Roman" panose="02020603050405020304" pitchFamily="18" charset="0"/>
                <a:sym typeface="+mn-ea"/>
              </a:rPr>
              <a:t>implementation, calls  paint():</a:t>
            </a:r>
            <a:endParaRPr sz="2800" b="1">
              <a:latin typeface="Times New Roman" panose="02020603050405020304" pitchFamily="18" charset="0"/>
              <a:cs typeface="Times New Roman" panose="02020603050405020304" pitchFamily="18" charset="0"/>
            </a:endParaRPr>
          </a:p>
          <a:p>
            <a:pPr marL="12700">
              <a:lnSpc>
                <a:spcPct val="100000"/>
              </a:lnSpc>
              <a:spcBef>
                <a:spcPts val="95"/>
              </a:spcBef>
              <a:buClr>
                <a:srgbClr val="0000FF"/>
              </a:buClr>
              <a:buSzPct val="90000"/>
              <a:buFont typeface="Arial" panose="020B0604020202020204"/>
              <a:tabLst>
                <a:tab pos="134620" algn="l"/>
              </a:tabLst>
            </a:pPr>
            <a:endParaRPr sz="2800" b="1">
              <a:latin typeface="Times New Roman" panose="02020603050405020304" pitchFamily="18" charset="0"/>
              <a:cs typeface="Times New Roman" panose="02020603050405020304" pitchFamily="18" charset="0"/>
            </a:endParaRPr>
          </a:p>
          <a:p>
            <a:pPr marL="133985" indent="-121285">
              <a:lnSpc>
                <a:spcPct val="100000"/>
              </a:lnSpc>
              <a:spcBef>
                <a:spcPts val="95"/>
              </a:spcBef>
              <a:buClr>
                <a:srgbClr val="0000FF"/>
              </a:buClr>
              <a:buSzPct val="90000"/>
              <a:buFont typeface="Arial" panose="020B0604020202020204"/>
              <a:buChar char="•"/>
              <a:tabLst>
                <a:tab pos="134620" algn="l"/>
              </a:tabLst>
            </a:pPr>
            <a:endParaRPr lang="en-US" sz="2800"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Animation in Applet</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38210" cy="521970"/>
          </a:xfrm>
          <a:prstGeom prst="rect">
            <a:avLst/>
          </a:prstGeom>
          <a:noFill/>
        </p:spPr>
        <p:txBody>
          <a:bodyPr wrap="square" rtlCol="0" anchor="t">
            <a:spAutoFit/>
          </a:bodyPr>
          <a:p>
            <a:pPr marL="12700">
              <a:lnSpc>
                <a:spcPct val="100000"/>
              </a:lnSpc>
              <a:spcBef>
                <a:spcPts val="95"/>
              </a:spcBef>
            </a:pPr>
            <a:r>
              <a:rPr sz="2800" b="1" spc="-5" dirty="0">
                <a:solidFill>
                  <a:srgbClr val="C00000"/>
                </a:solidFill>
                <a:latin typeface="Arial" panose="020B0604020202020204"/>
                <a:cs typeface="Arial" panose="020B0604020202020204"/>
                <a:sym typeface="+mn-ea"/>
              </a:rPr>
              <a:t>Status</a:t>
            </a:r>
            <a:r>
              <a:rPr sz="2800" b="1" spc="-60" dirty="0">
                <a:solidFill>
                  <a:srgbClr val="C00000"/>
                </a:solidFill>
                <a:latin typeface="Arial" panose="020B0604020202020204"/>
                <a:cs typeface="Arial" panose="020B0604020202020204"/>
                <a:sym typeface="+mn-ea"/>
              </a:rPr>
              <a:t> </a:t>
            </a:r>
            <a:r>
              <a:rPr sz="2800" b="1" spc="-5" dirty="0">
                <a:solidFill>
                  <a:srgbClr val="C00000"/>
                </a:solidFill>
                <a:latin typeface="Arial" panose="020B0604020202020204"/>
                <a:cs typeface="Arial" panose="020B0604020202020204"/>
                <a:sym typeface="+mn-ea"/>
              </a:rPr>
              <a:t>Window </a:t>
            </a:r>
            <a:r>
              <a:rPr lang="en-US" sz="2800" b="1" spc="-5" dirty="0">
                <a:solidFill>
                  <a:srgbClr val="C00000"/>
                </a:solidFill>
                <a:latin typeface="Arial" panose="020B0604020202020204"/>
                <a:cs typeface="Arial" panose="020B0604020202020204"/>
                <a:sym typeface="+mn-ea"/>
              </a:rPr>
              <a:t>:</a:t>
            </a:r>
            <a:endParaRPr lang="en-US" sz="2800" b="1" spc="-5" dirty="0">
              <a:solidFill>
                <a:srgbClr val="C00000"/>
              </a:solidFill>
              <a:latin typeface="Arial" panose="020B0604020202020204"/>
              <a:cs typeface="Arial" panose="020B0604020202020204"/>
              <a:sym typeface="+mn-ea"/>
            </a:endParaRPr>
          </a:p>
        </p:txBody>
      </p:sp>
      <p:sp>
        <p:nvSpPr>
          <p:cNvPr id="3" name="Text Box 2"/>
          <p:cNvSpPr txBox="1"/>
          <p:nvPr/>
        </p:nvSpPr>
        <p:spPr>
          <a:xfrm>
            <a:off x="305435" y="1854835"/>
            <a:ext cx="8610600" cy="1383665"/>
          </a:xfrm>
          <a:prstGeom prst="rect">
            <a:avLst/>
          </a:prstGeom>
          <a:noFill/>
        </p:spPr>
        <p:txBody>
          <a:bodyPr wrap="square" rtlCol="0" anchor="t">
            <a:spAutoFit/>
          </a:bodyPr>
          <a:p>
            <a:pPr marL="12700" marR="5080">
              <a:lnSpc>
                <a:spcPct val="100000"/>
              </a:lnSpc>
              <a:spcBef>
                <a:spcPts val="95"/>
              </a:spcBef>
            </a:pPr>
            <a:r>
              <a:rPr sz="2800" spc="-5" dirty="0">
                <a:latin typeface="Arial" panose="020B0604020202020204"/>
                <a:cs typeface="Arial" panose="020B0604020202020204"/>
                <a:sym typeface="+mn-ea"/>
              </a:rPr>
              <a:t>An applet can also output a message to the status window of  the browser or applet </a:t>
            </a:r>
            <a:r>
              <a:rPr sz="2800" spc="-10" dirty="0">
                <a:latin typeface="Arial" panose="020B0604020202020204"/>
                <a:cs typeface="Arial" panose="020B0604020202020204"/>
                <a:sym typeface="+mn-ea"/>
              </a:rPr>
              <a:t>viewer </a:t>
            </a:r>
            <a:r>
              <a:rPr sz="2800" spc="-5" dirty="0">
                <a:latin typeface="Arial" panose="020B0604020202020204"/>
                <a:cs typeface="Arial" panose="020B0604020202020204"/>
                <a:sym typeface="+mn-ea"/>
              </a:rPr>
              <a:t>on which it is running </a:t>
            </a:r>
            <a:r>
              <a:rPr sz="2800" spc="-15" dirty="0">
                <a:latin typeface="Arial" panose="020B0604020202020204"/>
                <a:cs typeface="Arial" panose="020B0604020202020204"/>
                <a:sym typeface="+mn-ea"/>
              </a:rPr>
              <a:t>by </a:t>
            </a:r>
            <a:r>
              <a:rPr sz="2800" spc="-5" dirty="0">
                <a:latin typeface="Arial" panose="020B0604020202020204"/>
                <a:cs typeface="Arial" panose="020B0604020202020204"/>
                <a:sym typeface="+mn-ea"/>
              </a:rPr>
              <a:t>using  </a:t>
            </a:r>
            <a:r>
              <a:rPr sz="2800" spc="-5" dirty="0">
                <a:solidFill>
                  <a:srgbClr val="FF0000"/>
                </a:solidFill>
                <a:latin typeface="Arial" panose="020B0604020202020204"/>
                <a:cs typeface="Arial" panose="020B0604020202020204"/>
                <a:sym typeface="+mn-ea"/>
              </a:rPr>
              <a:t>showStatus() </a:t>
            </a:r>
            <a:r>
              <a:rPr lang="en-US" sz="2800" spc="-5" dirty="0">
                <a:solidFill>
                  <a:srgbClr val="FF0000"/>
                </a:solidFill>
                <a:latin typeface="Arial" panose="020B0604020202020204"/>
                <a:cs typeface="Arial" panose="020B0604020202020204"/>
                <a:sym typeface="+mn-ea"/>
              </a:rPr>
              <a:t>.</a:t>
            </a:r>
            <a:endParaRPr lang="en-US" sz="2800" b="1" spc="-5" dirty="0">
              <a:solidFill>
                <a:srgbClr val="FF0000"/>
              </a:solidFill>
              <a:latin typeface="Arial" panose="020B0604020202020204"/>
              <a:cs typeface="Arial" panose="020B0604020202020204"/>
              <a:sym typeface="+mn-ea"/>
            </a:endParaRPr>
          </a:p>
        </p:txBody>
      </p:sp>
      <p:sp>
        <p:nvSpPr>
          <p:cNvPr id="12" name="object 12"/>
          <p:cNvSpPr/>
          <p:nvPr/>
        </p:nvSpPr>
        <p:spPr>
          <a:xfrm>
            <a:off x="664845" y="3385820"/>
            <a:ext cx="7628890" cy="3074670"/>
          </a:xfrm>
          <a:prstGeom prst="rect">
            <a:avLst/>
          </a:prstGeom>
          <a:blipFill>
            <a:blip r:embed="rId1" cstate="print"/>
            <a:stretch>
              <a:fillRect/>
            </a:stretch>
          </a:blipFill>
        </p:spPr>
        <p:txBody>
          <a:bodyPr wrap="square" lIns="0" tIns="0" rIns="0" bIns="0" rtlCol="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Animation in Applet</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38210" cy="460375"/>
          </a:xfrm>
          <a:prstGeom prst="rect">
            <a:avLst/>
          </a:prstGeom>
          <a:noFill/>
        </p:spPr>
        <p:txBody>
          <a:bodyPr wrap="square" rtlCol="0" anchor="t">
            <a:spAutoFit/>
          </a:bodyPr>
          <a:p>
            <a:pPr>
              <a:lnSpc>
                <a:spcPct val="100000"/>
              </a:lnSpc>
              <a:spcBef>
                <a:spcPts val="70"/>
              </a:spcBef>
            </a:pPr>
            <a:r>
              <a:rPr b="1" spc="-5" dirty="0">
                <a:solidFill>
                  <a:srgbClr val="C00000"/>
                </a:solidFill>
                <a:latin typeface="Arial" panose="020B0604020202020204"/>
                <a:cs typeface="Arial" panose="020B0604020202020204"/>
                <a:sym typeface="+mn-ea"/>
              </a:rPr>
              <a:t>APPLET tag allows to pass parameters to the applet</a:t>
            </a:r>
            <a:endParaRPr lang="en-US" b="1" spc="-5" dirty="0">
              <a:solidFill>
                <a:srgbClr val="C00000"/>
              </a:solidFill>
              <a:latin typeface="Arial" panose="020B0604020202020204"/>
              <a:cs typeface="Arial" panose="020B0604020202020204"/>
              <a:sym typeface="+mn-ea"/>
            </a:endParaRPr>
          </a:p>
        </p:txBody>
      </p:sp>
      <p:sp>
        <p:nvSpPr>
          <p:cNvPr id="8" name="object 8"/>
          <p:cNvSpPr/>
          <p:nvPr/>
        </p:nvSpPr>
        <p:spPr>
          <a:xfrm>
            <a:off x="592455" y="1959610"/>
            <a:ext cx="7435215" cy="4652010"/>
          </a:xfrm>
          <a:prstGeom prst="rect">
            <a:avLst/>
          </a:prstGeom>
          <a:blipFill>
            <a:blip r:embed="rId1" cstate="print"/>
            <a:stretch>
              <a:fillRect/>
            </a:stretch>
          </a:blipFill>
        </p:spPr>
        <p:txBody>
          <a:bodyPr wrap="square" lIns="0" tIns="0" rIns="0" bIns="0" rtlCol="0"/>
          <a:lstStyle/>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Animation in Applet</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38210" cy="460375"/>
          </a:xfrm>
          <a:prstGeom prst="rect">
            <a:avLst/>
          </a:prstGeom>
          <a:noFill/>
        </p:spPr>
        <p:txBody>
          <a:bodyPr wrap="square" rtlCol="0" anchor="t">
            <a:spAutoFit/>
          </a:bodyPr>
          <a:p>
            <a:pPr marL="12700">
              <a:lnSpc>
                <a:spcPct val="100000"/>
              </a:lnSpc>
              <a:spcBef>
                <a:spcPts val="95"/>
              </a:spcBef>
            </a:pPr>
            <a:r>
              <a:rPr b="1" spc="-5" dirty="0">
                <a:solidFill>
                  <a:srgbClr val="C00000"/>
                </a:solidFill>
                <a:latin typeface="Arial" panose="020B0604020202020204"/>
                <a:cs typeface="Arial" panose="020B0604020202020204"/>
                <a:sym typeface="+mn-ea"/>
              </a:rPr>
              <a:t>getDocumentBase() and</a:t>
            </a:r>
            <a:r>
              <a:rPr b="1" spc="5" dirty="0">
                <a:solidFill>
                  <a:srgbClr val="C00000"/>
                </a:solidFill>
                <a:latin typeface="Arial" panose="020B0604020202020204"/>
                <a:cs typeface="Arial" panose="020B0604020202020204"/>
                <a:sym typeface="+mn-ea"/>
              </a:rPr>
              <a:t> </a:t>
            </a:r>
            <a:r>
              <a:rPr b="1" spc="-5" dirty="0">
                <a:solidFill>
                  <a:srgbClr val="C00000"/>
                </a:solidFill>
                <a:latin typeface="Arial" panose="020B0604020202020204"/>
                <a:cs typeface="Arial" panose="020B0604020202020204"/>
                <a:sym typeface="+mn-ea"/>
              </a:rPr>
              <a:t>getCodeBase()</a:t>
            </a:r>
            <a:endParaRPr lang="en-US" b="1" spc="-5" dirty="0">
              <a:solidFill>
                <a:srgbClr val="C00000"/>
              </a:solidFill>
              <a:latin typeface="Arial" panose="020B0604020202020204"/>
              <a:cs typeface="Arial" panose="020B0604020202020204"/>
              <a:sym typeface="+mn-ea"/>
            </a:endParaRPr>
          </a:p>
        </p:txBody>
      </p:sp>
      <p:sp>
        <p:nvSpPr>
          <p:cNvPr id="12" name="object 12"/>
          <p:cNvSpPr/>
          <p:nvPr/>
        </p:nvSpPr>
        <p:spPr>
          <a:xfrm>
            <a:off x="421005" y="2026920"/>
            <a:ext cx="7954010" cy="4617720"/>
          </a:xfrm>
          <a:prstGeom prst="rect">
            <a:avLst/>
          </a:prstGeom>
          <a:blipFill>
            <a:blip r:embed="rId1" cstate="print"/>
            <a:stretch>
              <a:fillRect/>
            </a:stretch>
          </a:blipFill>
        </p:spPr>
        <p:txBody>
          <a:bodyPr wrap="square" lIns="0" tIns="0" rIns="0" bIns="0" rtlCol="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Animation in Applet</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38210" cy="460375"/>
          </a:xfrm>
          <a:prstGeom prst="rect">
            <a:avLst/>
          </a:prstGeom>
          <a:noFill/>
        </p:spPr>
        <p:txBody>
          <a:bodyPr wrap="square" rtlCol="0" anchor="t">
            <a:spAutoFit/>
          </a:bodyPr>
          <a:p>
            <a:pPr marL="12700">
              <a:lnSpc>
                <a:spcPct val="100000"/>
              </a:lnSpc>
              <a:spcBef>
                <a:spcPts val="95"/>
              </a:spcBef>
            </a:pPr>
            <a:r>
              <a:rPr b="1" spc="-15" dirty="0">
                <a:solidFill>
                  <a:srgbClr val="C00000"/>
                </a:solidFill>
                <a:sym typeface="+mn-ea"/>
              </a:rPr>
              <a:t>Working </a:t>
            </a:r>
            <a:r>
              <a:rPr b="1" spc="-5" dirty="0">
                <a:solidFill>
                  <a:srgbClr val="C00000"/>
                </a:solidFill>
                <a:sym typeface="+mn-ea"/>
              </a:rPr>
              <a:t>with</a:t>
            </a:r>
            <a:r>
              <a:rPr b="1" spc="-25" dirty="0">
                <a:solidFill>
                  <a:srgbClr val="C00000"/>
                </a:solidFill>
                <a:sym typeface="+mn-ea"/>
              </a:rPr>
              <a:t> </a:t>
            </a:r>
            <a:r>
              <a:rPr b="1" spc="-5" dirty="0">
                <a:solidFill>
                  <a:srgbClr val="C00000"/>
                </a:solidFill>
                <a:sym typeface="+mn-ea"/>
              </a:rPr>
              <a:t>Font </a:t>
            </a:r>
            <a:r>
              <a:rPr lang="en-US" b="1" spc="-5" dirty="0">
                <a:solidFill>
                  <a:srgbClr val="C00000"/>
                </a:solidFill>
                <a:sym typeface="+mn-ea"/>
              </a:rPr>
              <a:t>:</a:t>
            </a:r>
            <a:endParaRPr lang="en-US" b="1" spc="-5" dirty="0">
              <a:solidFill>
                <a:srgbClr val="C00000"/>
              </a:solidFill>
              <a:latin typeface="Arial" panose="020B0604020202020204"/>
              <a:cs typeface="Arial" panose="020B0604020202020204"/>
              <a:sym typeface="+mn-ea"/>
            </a:endParaRPr>
          </a:p>
        </p:txBody>
      </p:sp>
      <p:sp>
        <p:nvSpPr>
          <p:cNvPr id="8" name="object 8"/>
          <p:cNvSpPr/>
          <p:nvPr/>
        </p:nvSpPr>
        <p:spPr>
          <a:xfrm>
            <a:off x="495935" y="1898015"/>
            <a:ext cx="8158480" cy="4518660"/>
          </a:xfrm>
          <a:prstGeom prst="rect">
            <a:avLst/>
          </a:prstGeom>
          <a:blipFill>
            <a:blip r:embed="rId1" cstate="print"/>
            <a:stretch>
              <a:fillRect/>
            </a:stretch>
          </a:blipFill>
        </p:spPr>
        <p:txBody>
          <a:bodyPr wrap="square" lIns="0" tIns="0" rIns="0" bIns="0" rtlCol="0"/>
          <a:p/>
        </p:txBody>
      </p:sp>
    </p:spTree>
  </p:cSld>
  <p:clrMapOvr>
    <a:masterClrMapping/>
  </p:clrMapOvr>
</p:sld>
</file>

<file path=ppt/theme/theme1.xml><?xml version="1.0" encoding="utf-8"?>
<a:theme xmlns:a="http://schemas.openxmlformats.org/drawingml/2006/main" name="LiquidGold">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33CC"/>
      </a:hlink>
      <a:folHlink>
        <a:srgbClr val="B2B2B2"/>
      </a:folHlink>
    </a:clrScheme>
    <a:fontScheme name="LiquidGold">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LiquidGold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iquidGold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iquidGold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iquidGold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iquidGold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iquidGold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iquidGold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LiquidGold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99"/>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C:\WINNT\Profiles\Administrator\Application Data\Microsoft\Templates\LiquidGold.pot</Template>
  <TotalTime>0</TotalTime>
  <Words>12099</Words>
  <Application>WPS Presentation</Application>
  <PresentationFormat/>
  <Paragraphs>400</Paragraphs>
  <Slides>39</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39</vt:i4>
      </vt:variant>
    </vt:vector>
  </HeadingPairs>
  <TitlesOfParts>
    <vt:vector size="50" baseType="lpstr">
      <vt:lpstr>Arial</vt:lpstr>
      <vt:lpstr>SimSun</vt:lpstr>
      <vt:lpstr>Wingdings</vt:lpstr>
      <vt:lpstr>Impact</vt:lpstr>
      <vt:lpstr>Times New Roman</vt:lpstr>
      <vt:lpstr>Wingdings</vt:lpstr>
      <vt:lpstr>Microsoft YaHei</vt:lpstr>
      <vt:lpstr>Arial Unicode MS</vt:lpstr>
      <vt:lpstr>Calibri</vt:lpstr>
      <vt:lpstr>Arial</vt:lpstr>
      <vt:lpstr>LiquidGold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comp1</dc:creator>
  <cp:lastModifiedBy>nEW u</cp:lastModifiedBy>
  <cp:revision>383</cp:revision>
  <dcterms:created xsi:type="dcterms:W3CDTF">2001-06-04T11:43:00Z</dcterms:created>
  <dcterms:modified xsi:type="dcterms:W3CDTF">2021-03-18T13:30:40Z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1033-11.2.0.10017</vt:lpwstr>
  </property>
</Properties>
</file>