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handoutMasterIdLst>
    <p:handoutMasterId r:id="rId36"/>
  </p:handoutMasterIdLst>
  <p:sldIdLst>
    <p:sldId id="260" r:id="rId3"/>
    <p:sldId id="537" r:id="rId4"/>
    <p:sldId id="538" r:id="rId5"/>
    <p:sldId id="539" r:id="rId6"/>
    <p:sldId id="540" r:id="rId7"/>
    <p:sldId id="511" r:id="rId8"/>
    <p:sldId id="542" r:id="rId9"/>
    <p:sldId id="543" r:id="rId10"/>
    <p:sldId id="512" r:id="rId11"/>
    <p:sldId id="513" r:id="rId12"/>
    <p:sldId id="514" r:id="rId13"/>
    <p:sldId id="515" r:id="rId14"/>
    <p:sldId id="516" r:id="rId15"/>
    <p:sldId id="517" r:id="rId16"/>
    <p:sldId id="518" r:id="rId17"/>
    <p:sldId id="519" r:id="rId18"/>
    <p:sldId id="520" r:id="rId19"/>
    <p:sldId id="521" r:id="rId20"/>
    <p:sldId id="522" r:id="rId21"/>
    <p:sldId id="523" r:id="rId22"/>
    <p:sldId id="524" r:id="rId23"/>
    <p:sldId id="525" r:id="rId24"/>
    <p:sldId id="526" r:id="rId25"/>
    <p:sldId id="527" r:id="rId26"/>
    <p:sldId id="528" r:id="rId27"/>
    <p:sldId id="529" r:id="rId28"/>
    <p:sldId id="530" r:id="rId29"/>
    <p:sldId id="531" r:id="rId30"/>
    <p:sldId id="532" r:id="rId31"/>
    <p:sldId id="533" r:id="rId32"/>
    <p:sldId id="534" r:id="rId33"/>
    <p:sldId id="535" r:id="rId34"/>
    <p:sldId id="536" r:id="rId35"/>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3300"/>
    <a:srgbClr val="FFCC00"/>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9654"/>
    <p:restoredTop sz="94660"/>
  </p:normalViewPr>
  <p:slideViewPr>
    <p:cSldViewPr showGuides="1">
      <p:cViewPr varScale="1">
        <p:scale>
          <a:sx n="69" d="100"/>
          <a:sy n="69" d="100"/>
        </p:scale>
        <p:origin x="-1412" y="-68"/>
      </p:cViewPr>
      <p:guideLst>
        <p:guide orient="horz" pos="2180"/>
        <p:guide pos="2865"/>
      </p:guideLst>
    </p:cSldViewPr>
  </p:slideViewPr>
  <p:outlineViewPr>
    <p:cViewPr>
      <p:scale>
        <a:sx n="33" d="100"/>
        <a:sy n="33" d="100"/>
      </p:scale>
      <p:origin x="0" y="120"/>
    </p:cViewPr>
  </p:outlineViewPr>
  <p:notesTextViewPr>
    <p:cViewPr>
      <p:scale>
        <a:sx n="100" d="100"/>
        <a:sy n="100" d="100"/>
      </p:scale>
      <p:origin x="0" y="0"/>
    </p:cViewPr>
  </p:notesTextViewPr>
  <p:sorterViewPr showFormatting="0">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handoutMaster" Target="handoutMasters/handoutMaster1.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198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1987"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1988"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1989"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fld id="{9A0DB2DC-4C9A-4742-B13C-FB6460FD3503}" type="slidenum">
              <a:rPr lang="en-US" sz="1200" dirty="0"/>
            </a:fld>
            <a:endParaRPr lang="en-US" sz="1200" dirty="0"/>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3074" name="Picture 3" descr="liquidgold_background_title"/>
          <p:cNvPicPr>
            <a:picLocks noChangeAspect="1"/>
          </p:cNvPicPr>
          <p:nvPr/>
        </p:nvPicPr>
        <p:blipFill>
          <a:blip r:embed="rId2"/>
          <a:stretch>
            <a:fillRect/>
          </a:stretch>
        </p:blipFill>
        <p:spPr>
          <a:xfrm>
            <a:off x="0" y="0"/>
            <a:ext cx="9144000" cy="6858000"/>
          </a:xfrm>
          <a:prstGeom prst="rect">
            <a:avLst/>
          </a:prstGeom>
          <a:noFill/>
          <a:ln w="9525">
            <a:noFill/>
          </a:ln>
        </p:spPr>
      </p:pic>
      <p:sp>
        <p:nvSpPr>
          <p:cNvPr id="4099" name="Rectangle 3"/>
          <p:cNvSpPr>
            <a:spLocks noGrp="1" noChangeArrowheads="1"/>
          </p:cNvSpPr>
          <p:nvPr>
            <p:ph type="ctrTitle"/>
          </p:nvPr>
        </p:nvSpPr>
        <p:spPr>
          <a:xfrm>
            <a:off x="533400" y="2438400"/>
            <a:ext cx="7772400" cy="1143000"/>
          </a:xfrm>
        </p:spPr>
        <p:txBody>
          <a:bodyPr/>
          <a:lstStyle>
            <a:lvl1pPr>
              <a:defRPr sz="4200">
                <a:solidFill>
                  <a:srgbClr val="CC3300"/>
                </a:solidFill>
              </a:defRPr>
            </a:lvl1pPr>
          </a:lstStyle>
          <a:p>
            <a:r>
              <a:rPr lang="en-US"/>
              <a:t>Click to edit Master 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endParaRPr lang="en-US"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05000"/>
            <a:ext cx="3810000" cy="3352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905000"/>
            <a:ext cx="3810000" cy="3352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990000"/>
              </a:buClr>
              <a:buSzTx/>
              <a:buFont typeface="Wingdings" panose="05000000000000000000" pitchFamily="2" charset="2"/>
              <a:buNone/>
              <a:defRPr/>
            </a:pPr>
            <a:endParaRPr kumimoji="0" 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533400"/>
            <a:ext cx="1943100" cy="4724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533400"/>
            <a:ext cx="5676900" cy="472440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5" name="Rectangle 3"/>
          <p:cNvSpPr>
            <a:spLocks noGrp="1" noChangeArrowheads="1"/>
          </p:cNvSpPr>
          <p:nvPr>
            <p:ph type="title"/>
          </p:nvPr>
        </p:nvSpPr>
        <p:spPr bwMode="auto">
          <a:xfrm>
            <a:off x="685800" y="533400"/>
            <a:ext cx="7772400" cy="1143000"/>
          </a:xfrm>
          <a:prstGeom prst="rect">
            <a:avLst/>
          </a:prstGeom>
          <a:noFill/>
          <a:ln w="9525">
            <a:noFill/>
            <a:miter lim="800000"/>
          </a:ln>
          <a:effectLst>
            <a:outerShdw dist="35921" dir="2700000" algn="ctr" rotWithShape="0">
              <a:schemeClr val="bg2"/>
            </a:outerShdw>
          </a:effectLst>
        </p:spPr>
        <p:txBody>
          <a:bodyPr vert="horz" wrap="square" lIns="91440" tIns="45720" rIns="91440" bIns="45720" numCol="1" anchor="ctr" anchorCtr="0" compatLnSpc="1"/>
          <a:lstStyle/>
          <a:p>
            <a:pPr lvl="0"/>
            <a:r>
              <a:rPr lang="en-US" smtClean="0"/>
              <a:t>Click to edit Master title style</a:t>
            </a:r>
            <a:endParaRPr lang="en-US" smtClean="0"/>
          </a:p>
        </p:txBody>
      </p:sp>
      <p:sp>
        <p:nvSpPr>
          <p:cNvPr id="2051" name="Rectangle 4"/>
          <p:cNvSpPr>
            <a:spLocks noGrp="1"/>
          </p:cNvSpPr>
          <p:nvPr>
            <p:ph type="body" idx="1"/>
          </p:nvPr>
        </p:nvSpPr>
        <p:spPr>
          <a:xfrm>
            <a:off x="685800" y="1905000"/>
            <a:ext cx="7772400" cy="3352800"/>
          </a:xfrm>
          <a:prstGeom prst="rect">
            <a:avLst/>
          </a:prstGeom>
          <a:noFill/>
          <a:ln w="9525">
            <a:noFill/>
          </a:ln>
        </p:spPr>
        <p:txBody>
          <a:bodyPr/>
          <a:p>
            <a:pPr lvl="0"/>
            <a:r>
              <a:rPr dirty="0"/>
              <a:t>Click to edit Master text styles</a:t>
            </a:r>
            <a:endParaRPr dirty="0"/>
          </a:p>
          <a:p>
            <a:pPr lvl="1"/>
            <a:r>
              <a:rPr dirty="0"/>
              <a:t>Second level</a:t>
            </a:r>
            <a:endParaRPr dirty="0"/>
          </a:p>
          <a:p>
            <a:pPr lvl="2"/>
            <a:r>
              <a:rPr dirty="0"/>
              <a:t>Third level</a:t>
            </a:r>
            <a:endParaRPr dirty="0"/>
          </a:p>
          <a:p>
            <a:pPr lvl="3"/>
            <a:r>
              <a:rPr dirty="0"/>
              <a:t>Fourth level</a:t>
            </a:r>
            <a:endParaRPr dirty="0"/>
          </a:p>
          <a:p>
            <a:pPr lvl="4"/>
            <a:r>
              <a:rPr dirty="0"/>
              <a:t>Fifth level</a:t>
            </a:r>
            <a:endParaRPr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000" b="1">
          <a:solidFill>
            <a:srgbClr val="CC6600"/>
          </a:solidFill>
          <a:latin typeface="+mj-lt"/>
          <a:ea typeface="+mj-ea"/>
          <a:cs typeface="+mj-cs"/>
        </a:defRPr>
      </a:lvl1pPr>
      <a:lvl2pPr algn="ctr" rtl="0" eaLnBrk="0" fontAlgn="base" hangingPunct="0">
        <a:spcBef>
          <a:spcPct val="0"/>
        </a:spcBef>
        <a:spcAft>
          <a:spcPct val="0"/>
        </a:spcAft>
        <a:defRPr sz="4000" b="1">
          <a:solidFill>
            <a:srgbClr val="CC6600"/>
          </a:solidFill>
          <a:latin typeface="Arial" panose="020B0604020202020204" pitchFamily="34" charset="0"/>
        </a:defRPr>
      </a:lvl2pPr>
      <a:lvl3pPr algn="ctr" rtl="0" eaLnBrk="0" fontAlgn="base" hangingPunct="0">
        <a:spcBef>
          <a:spcPct val="0"/>
        </a:spcBef>
        <a:spcAft>
          <a:spcPct val="0"/>
        </a:spcAft>
        <a:defRPr sz="4000" b="1">
          <a:solidFill>
            <a:srgbClr val="CC6600"/>
          </a:solidFill>
          <a:latin typeface="Arial" panose="020B0604020202020204" pitchFamily="34" charset="0"/>
        </a:defRPr>
      </a:lvl3pPr>
      <a:lvl4pPr algn="ctr" rtl="0" eaLnBrk="0" fontAlgn="base" hangingPunct="0">
        <a:spcBef>
          <a:spcPct val="0"/>
        </a:spcBef>
        <a:spcAft>
          <a:spcPct val="0"/>
        </a:spcAft>
        <a:defRPr sz="4000" b="1">
          <a:solidFill>
            <a:srgbClr val="CC6600"/>
          </a:solidFill>
          <a:latin typeface="Arial" panose="020B0604020202020204" pitchFamily="34" charset="0"/>
        </a:defRPr>
      </a:lvl4pPr>
      <a:lvl5pPr algn="ctr" rtl="0" eaLnBrk="0" fontAlgn="base" hangingPunct="0">
        <a:spcBef>
          <a:spcPct val="0"/>
        </a:spcBef>
        <a:spcAft>
          <a:spcPct val="0"/>
        </a:spcAft>
        <a:defRPr sz="4000" b="1">
          <a:solidFill>
            <a:srgbClr val="CC6600"/>
          </a:solidFill>
          <a:latin typeface="Arial" panose="020B0604020202020204" pitchFamily="34" charset="0"/>
        </a:defRPr>
      </a:lvl5pPr>
      <a:lvl6pPr marL="457200" algn="ctr" rtl="0" fontAlgn="base">
        <a:spcBef>
          <a:spcPct val="0"/>
        </a:spcBef>
        <a:spcAft>
          <a:spcPct val="0"/>
        </a:spcAft>
        <a:defRPr sz="4000" b="1">
          <a:solidFill>
            <a:srgbClr val="CC6600"/>
          </a:solidFill>
          <a:latin typeface="Arial" panose="020B0604020202020204" pitchFamily="34" charset="0"/>
        </a:defRPr>
      </a:lvl6pPr>
      <a:lvl7pPr marL="914400" algn="ctr" rtl="0" fontAlgn="base">
        <a:spcBef>
          <a:spcPct val="0"/>
        </a:spcBef>
        <a:spcAft>
          <a:spcPct val="0"/>
        </a:spcAft>
        <a:defRPr sz="4000" b="1">
          <a:solidFill>
            <a:srgbClr val="CC6600"/>
          </a:solidFill>
          <a:latin typeface="Arial" panose="020B0604020202020204" pitchFamily="34" charset="0"/>
        </a:defRPr>
      </a:lvl7pPr>
      <a:lvl8pPr marL="1371600" algn="ctr" rtl="0" fontAlgn="base">
        <a:spcBef>
          <a:spcPct val="0"/>
        </a:spcBef>
        <a:spcAft>
          <a:spcPct val="0"/>
        </a:spcAft>
        <a:defRPr sz="4000" b="1">
          <a:solidFill>
            <a:srgbClr val="CC6600"/>
          </a:solidFill>
          <a:latin typeface="Arial" panose="020B0604020202020204" pitchFamily="34" charset="0"/>
        </a:defRPr>
      </a:lvl8pPr>
      <a:lvl9pPr marL="1828800" algn="ctr" rtl="0" fontAlgn="base">
        <a:spcBef>
          <a:spcPct val="0"/>
        </a:spcBef>
        <a:spcAft>
          <a:spcPct val="0"/>
        </a:spcAft>
        <a:defRPr sz="4000" b="1">
          <a:solidFill>
            <a:srgbClr val="CC6600"/>
          </a:solidFill>
          <a:latin typeface="Arial" panose="020B0604020202020204" pitchFamily="34" charset="0"/>
        </a:defRPr>
      </a:lvl9pPr>
    </p:titleStyle>
    <p:bodyStyle>
      <a:lvl1pPr marL="342900" indent="-342900" algn="l" rtl="0" eaLnBrk="0" fontAlgn="base" hangingPunct="0">
        <a:spcBef>
          <a:spcPct val="20000"/>
        </a:spcBef>
        <a:spcAft>
          <a:spcPct val="0"/>
        </a:spcAft>
        <a:buClr>
          <a:srgbClr val="990000"/>
        </a:buClr>
        <a:buFont typeface="Wingdings" panose="05000000000000000000" pitchFamily="2" charset="2"/>
        <a:buChar char="Ø"/>
        <a:defRPr sz="3200">
          <a:solidFill>
            <a:schemeClr val="tx1"/>
          </a:solidFill>
          <a:latin typeface="+mn-lt"/>
          <a:ea typeface="+mn-ea"/>
          <a:cs typeface="+mn-cs"/>
        </a:defRPr>
      </a:lvl1pPr>
      <a:lvl2pPr marL="742950" indent="-285750" algn="l" rtl="0" eaLnBrk="0" fontAlgn="base" hangingPunct="0">
        <a:spcBef>
          <a:spcPct val="20000"/>
        </a:spcBef>
        <a:spcAft>
          <a:spcPct val="0"/>
        </a:spcAft>
        <a:buClr>
          <a:srgbClr val="990000"/>
        </a:buClr>
        <a:buFont typeface="Wingdings" panose="05000000000000000000" pitchFamily="2" charset="2"/>
        <a:buChar char="Ø"/>
        <a:defRPr sz="2800">
          <a:solidFill>
            <a:schemeClr val="tx1"/>
          </a:solidFill>
          <a:latin typeface="+mn-lt"/>
        </a:defRPr>
      </a:lvl2pPr>
      <a:lvl3pPr marL="1143000" indent="-228600" algn="l" rtl="0" eaLnBrk="0" fontAlgn="base" hangingPunct="0">
        <a:spcBef>
          <a:spcPct val="20000"/>
        </a:spcBef>
        <a:spcAft>
          <a:spcPct val="0"/>
        </a:spcAft>
        <a:buClr>
          <a:srgbClr val="990000"/>
        </a:buClr>
        <a:buFont typeface="Wingdings" panose="05000000000000000000" pitchFamily="2" charset="2"/>
        <a:buChar char="Ø"/>
        <a:defRPr sz="2400">
          <a:solidFill>
            <a:schemeClr val="tx1"/>
          </a:solidFill>
          <a:latin typeface="+mn-lt"/>
        </a:defRPr>
      </a:lvl3pPr>
      <a:lvl4pPr marL="1600200" indent="-228600" algn="l" rtl="0" eaLnBrk="0" fontAlgn="base" hangingPunct="0">
        <a:spcBef>
          <a:spcPct val="20000"/>
        </a:spcBef>
        <a:spcAft>
          <a:spcPct val="0"/>
        </a:spcAft>
        <a:buClr>
          <a:srgbClr val="990000"/>
        </a:buClr>
        <a:buFont typeface="Wingdings" panose="05000000000000000000" pitchFamily="2" charset="2"/>
        <a:buChar char="Ø"/>
        <a:defRPr sz="2000">
          <a:solidFill>
            <a:schemeClr val="tx1"/>
          </a:solidFill>
          <a:latin typeface="+mn-lt"/>
        </a:defRPr>
      </a:lvl4pPr>
      <a:lvl5pPr marL="2057400" indent="-228600" algn="l" rtl="0" eaLnBrk="0" fontAlgn="base" hangingPunct="0">
        <a:spcBef>
          <a:spcPct val="20000"/>
        </a:spcBef>
        <a:spcAft>
          <a:spcPct val="0"/>
        </a:spcAft>
        <a:buClr>
          <a:srgbClr val="990000"/>
        </a:buClr>
        <a:buFont typeface="Wingdings" panose="05000000000000000000" pitchFamily="2" charset="2"/>
        <a:buChar char="Ø"/>
        <a:defRPr sz="2000">
          <a:solidFill>
            <a:schemeClr val="tx1"/>
          </a:solidFill>
          <a:latin typeface="+mn-lt"/>
        </a:defRPr>
      </a:lvl5pPr>
      <a:lvl6pPr marL="25146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6pPr>
      <a:lvl7pPr marL="29718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7pPr>
      <a:lvl8pPr marL="34290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8pPr>
      <a:lvl9pPr marL="38862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304800" y="271780"/>
            <a:ext cx="8717280"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Collection Framework &amp; Exploring java.lang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74295" y="1268730"/>
            <a:ext cx="8948420" cy="583565"/>
          </a:xfrm>
          <a:prstGeom prst="rect">
            <a:avLst/>
          </a:prstGeom>
          <a:noFill/>
        </p:spPr>
        <p:txBody>
          <a:bodyPr wrap="square" rtlCol="0" anchor="t">
            <a:spAutoFit/>
          </a:bodyPr>
          <a:p>
            <a:r>
              <a:rPr sz="3200" b="1" spc="5" dirty="0">
                <a:solidFill>
                  <a:srgbClr val="FF0000"/>
                </a:solidFill>
                <a:latin typeface="Times New Roman" panose="02020603050405020304" pitchFamily="18" charset="0"/>
                <a:cs typeface="Times New Roman" panose="02020603050405020304" pitchFamily="18" charset="0"/>
                <a:sym typeface="+mn-ea"/>
              </a:rPr>
              <a:t>Collection</a:t>
            </a:r>
            <a:r>
              <a:rPr sz="3200" b="1" dirty="0">
                <a:solidFill>
                  <a:srgbClr val="FF0000"/>
                </a:solidFill>
                <a:latin typeface="Times New Roman" panose="02020603050405020304" pitchFamily="18" charset="0"/>
                <a:cs typeface="Times New Roman" panose="02020603050405020304" pitchFamily="18" charset="0"/>
                <a:sym typeface="+mn-ea"/>
              </a:rPr>
              <a:t> </a:t>
            </a:r>
            <a:r>
              <a:rPr lang="en-US" sz="3200" b="1" dirty="0">
                <a:solidFill>
                  <a:srgbClr val="FF0000"/>
                </a:solidFill>
                <a:latin typeface="Times New Roman" panose="02020603050405020304" pitchFamily="18" charset="0"/>
                <a:cs typeface="Times New Roman" panose="02020603050405020304" pitchFamily="18" charset="0"/>
                <a:sym typeface="+mn-ea"/>
              </a:rPr>
              <a:t>:</a:t>
            </a:r>
            <a:endParaRPr lang="en-US" sz="3200" b="1" dirty="0">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255905" y="2023745"/>
            <a:ext cx="8455025" cy="4154170"/>
          </a:xfrm>
          <a:prstGeom prst="rect">
            <a:avLst/>
          </a:prstGeom>
          <a:noFill/>
        </p:spPr>
        <p:txBody>
          <a:bodyPr wrap="square" rtlCol="0" anchor="t">
            <a:spAutoFit/>
          </a:bodyPr>
          <a:p>
            <a:pPr marL="342900" indent="-342900">
              <a:buFont typeface="Wingdings" panose="05000000000000000000" charset="0"/>
              <a:buChar char="Ø"/>
            </a:pPr>
            <a:r>
              <a:rPr lang="en-US" b="1">
                <a:latin typeface="Times New Roman" panose="02020603050405020304" pitchFamily="18" charset="0"/>
                <a:cs typeface="Times New Roman" panose="02020603050405020304" pitchFamily="18" charset="0"/>
              </a:rPr>
              <a:t>java.util package has an interface called Collection. It is a</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framework that provides an architecture to store and manipulate the group of objects</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Ø"/>
            </a:pPr>
            <a:r>
              <a:rPr lang="en-US" b="1">
                <a:latin typeface="Times New Roman" panose="02020603050405020304" pitchFamily="18" charset="0"/>
                <a:cs typeface="Times New Roman" panose="02020603050405020304" pitchFamily="18" charset="0"/>
              </a:rPr>
              <a:t> Java Collection simply means a single unit of objects, i.e. a</a:t>
            </a:r>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group</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Ø"/>
            </a:pPr>
            <a:r>
              <a:rPr lang="en-US" b="1">
                <a:latin typeface="Times New Roman" panose="02020603050405020304" pitchFamily="18" charset="0"/>
                <a:cs typeface="Times New Roman" panose="02020603050405020304" pitchFamily="18" charset="0"/>
              </a:rPr>
              <a:t>This framework provides many interfaces(ex. Set, List, Queue, Deque, etc) and classes(ex. ArrayList, Vector, LinkedList, PriorityQueue, HashSet, LinkedHashSet, TreeSet, etc.)</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304800" y="271780"/>
            <a:ext cx="8717280"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Collection Framework &amp; Exploring java.lang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74295" y="1268730"/>
            <a:ext cx="8948420" cy="583565"/>
          </a:xfrm>
          <a:prstGeom prst="rect">
            <a:avLst/>
          </a:prstGeom>
          <a:noFill/>
        </p:spPr>
        <p:txBody>
          <a:bodyPr wrap="square" rtlCol="0" anchor="t">
            <a:spAutoFit/>
          </a:bodyPr>
          <a:p>
            <a:r>
              <a:rPr sz="3200" b="1" spc="5" dirty="0">
                <a:solidFill>
                  <a:srgbClr val="FF0000"/>
                </a:solidFill>
                <a:latin typeface="Times New Roman" panose="02020603050405020304" pitchFamily="18" charset="0"/>
                <a:cs typeface="Times New Roman" panose="02020603050405020304" pitchFamily="18" charset="0"/>
                <a:sym typeface="+mn-ea"/>
              </a:rPr>
              <a:t>Collection</a:t>
            </a:r>
            <a:r>
              <a:rPr sz="3200" b="1" dirty="0">
                <a:solidFill>
                  <a:srgbClr val="FF0000"/>
                </a:solidFill>
                <a:latin typeface="Times New Roman" panose="02020603050405020304" pitchFamily="18" charset="0"/>
                <a:cs typeface="Times New Roman" panose="02020603050405020304" pitchFamily="18" charset="0"/>
                <a:sym typeface="+mn-ea"/>
              </a:rPr>
              <a:t> </a:t>
            </a:r>
            <a:r>
              <a:rPr lang="en-US" sz="3200" b="1" dirty="0">
                <a:solidFill>
                  <a:srgbClr val="FF0000"/>
                </a:solidFill>
                <a:latin typeface="Times New Roman" panose="02020603050405020304" pitchFamily="18" charset="0"/>
                <a:cs typeface="Times New Roman" panose="02020603050405020304" pitchFamily="18" charset="0"/>
                <a:sym typeface="+mn-ea"/>
              </a:rPr>
              <a:t>:</a:t>
            </a:r>
            <a:endParaRPr lang="en-US" sz="3200" b="1" dirty="0">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255905" y="2023745"/>
            <a:ext cx="8455025" cy="4646295"/>
          </a:xfrm>
          <a:prstGeom prst="rect">
            <a:avLst/>
          </a:prstGeom>
          <a:noFill/>
        </p:spPr>
        <p:txBody>
          <a:bodyPr wrap="square" rtlCol="0" anchor="t">
            <a:spAutoFit/>
          </a:bodyPr>
          <a:p>
            <a:pPr marL="342900" indent="-342900">
              <a:buFont typeface="Wingdings" panose="05000000000000000000" charset="0"/>
              <a:buChar char="Ø"/>
            </a:pPr>
            <a:r>
              <a:rPr lang="en-US" b="1">
                <a:latin typeface="Times New Roman" panose="02020603050405020304" pitchFamily="18" charset="0"/>
                <a:cs typeface="Times New Roman" panose="02020603050405020304" pitchFamily="18" charset="0"/>
              </a:rPr>
              <a:t>The Collection interface (java.util.Collection) and Map interface (java.util.Map) are the two main “root” interfaces of Java collection classes.</a:t>
            </a:r>
            <a:endParaRPr lang="en-US" b="1">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Ø"/>
            </a:pPr>
            <a:endParaRPr lang="en-US" sz="2800" b="1">
              <a:solidFill>
                <a:srgbClr val="00B050"/>
              </a:solidFill>
              <a:latin typeface="Times New Roman" panose="02020603050405020304" pitchFamily="18" charset="0"/>
              <a:cs typeface="Times New Roman" panose="02020603050405020304" pitchFamily="18" charset="0"/>
            </a:endParaRPr>
          </a:p>
          <a:p>
            <a:pPr>
              <a:buFont typeface="Wingdings" panose="05000000000000000000" charset="0"/>
            </a:pPr>
            <a:r>
              <a:rPr lang="en-US" sz="2800" b="1">
                <a:solidFill>
                  <a:srgbClr val="00B050"/>
                </a:solidFill>
                <a:latin typeface="Times New Roman" panose="02020603050405020304" pitchFamily="18" charset="0"/>
                <a:cs typeface="Times New Roman" panose="02020603050405020304" pitchFamily="18" charset="0"/>
              </a:rPr>
              <a:t>Need for Collection Framework :</a:t>
            </a:r>
            <a:endParaRPr lang="en-US" b="1">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Ø"/>
            </a:pPr>
            <a:r>
              <a:rPr lang="en-US" b="1">
                <a:latin typeface="Times New Roman" panose="02020603050405020304" pitchFamily="18" charset="0"/>
                <a:cs typeface="Times New Roman" panose="02020603050405020304" pitchFamily="18" charset="0"/>
              </a:rPr>
              <a:t>Before Collection Framework (or before JDK 1.2) was introduced, the standard methods for grouping Java objects (or collections) were Arrays or Vectors or Hashtables. All of these collections had no common interface.</a:t>
            </a:r>
            <a:endParaRPr lang="en-US" b="1">
              <a:latin typeface="Times New Roman" panose="02020603050405020304" pitchFamily="18" charset="0"/>
              <a:cs typeface="Times New Roman" panose="02020603050405020304" pitchFamily="18" charset="0"/>
            </a:endParaRPr>
          </a:p>
          <a:p>
            <a:pPr>
              <a:buFont typeface="Wingdings" panose="05000000000000000000" charset="0"/>
            </a:pPr>
            <a:r>
              <a:rPr lang="en-US" b="1">
                <a:latin typeface="Times New Roman" panose="02020603050405020304" pitchFamily="18" charset="0"/>
                <a:cs typeface="Times New Roman" panose="02020603050405020304" pitchFamily="18" charset="0"/>
              </a:rPr>
              <a:t>    Accessing elements of these Data Structures was a hassle as each had a different method (and syntax) for accessing its members.</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304800" y="271780"/>
            <a:ext cx="8717280"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Collection Framework &amp; Exploring java.lang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74295" y="1268730"/>
            <a:ext cx="8948420" cy="953135"/>
          </a:xfrm>
          <a:prstGeom prst="rect">
            <a:avLst/>
          </a:prstGeom>
          <a:noFill/>
        </p:spPr>
        <p:txBody>
          <a:bodyPr wrap="square" rtlCol="0" anchor="t">
            <a:spAutoFit/>
          </a:bodyPr>
          <a:p>
            <a:pPr>
              <a:buFont typeface="Wingdings" panose="05000000000000000000" charset="0"/>
            </a:pPr>
            <a:r>
              <a:rPr lang="en-US" sz="2800" b="1">
                <a:solidFill>
                  <a:srgbClr val="00B050"/>
                </a:solidFill>
                <a:latin typeface="Times New Roman" panose="02020603050405020304" pitchFamily="18" charset="0"/>
                <a:cs typeface="Times New Roman" panose="02020603050405020304" pitchFamily="18" charset="0"/>
                <a:sym typeface="+mn-ea"/>
              </a:rPr>
              <a:t>Java program to show why collection framework was needed :</a:t>
            </a:r>
            <a:endParaRPr lang="en-US" sz="2800" b="1" dirty="0">
              <a:solidFill>
                <a:srgbClr val="00B05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305435" y="2221865"/>
            <a:ext cx="8405495" cy="4523105"/>
          </a:xfrm>
          <a:prstGeom prst="rect">
            <a:avLst/>
          </a:prstGeom>
          <a:noFill/>
        </p:spPr>
        <p:txBody>
          <a:bodyPr wrap="square" rtlCol="0" anchor="t">
            <a:spAutoFit/>
          </a:bodyPr>
          <a:p>
            <a:pPr>
              <a:buFont typeface="Wingdings" panose="05000000000000000000" charset="0"/>
            </a:pPr>
            <a:r>
              <a:rPr lang="en-US" b="1">
                <a:latin typeface="Times New Roman" panose="02020603050405020304" pitchFamily="18" charset="0"/>
                <a:cs typeface="Times New Roman" panose="02020603050405020304" pitchFamily="18" charset="0"/>
              </a:rPr>
              <a:t>import java.io.*; </a:t>
            </a:r>
            <a:endParaRPr lang="en-US" b="1">
              <a:latin typeface="Times New Roman" panose="02020603050405020304" pitchFamily="18" charset="0"/>
              <a:cs typeface="Times New Roman" panose="02020603050405020304" pitchFamily="18" charset="0"/>
            </a:endParaRPr>
          </a:p>
          <a:p>
            <a:pPr>
              <a:buFont typeface="Wingdings" panose="05000000000000000000" charset="0"/>
            </a:pPr>
            <a:r>
              <a:rPr lang="en-US" b="1">
                <a:latin typeface="Times New Roman" panose="02020603050405020304" pitchFamily="18" charset="0"/>
                <a:cs typeface="Times New Roman" panose="02020603050405020304" pitchFamily="18" charset="0"/>
              </a:rPr>
              <a:t>import java.util.*; </a:t>
            </a:r>
            <a:endParaRPr lang="en-US" b="1">
              <a:latin typeface="Times New Roman" panose="02020603050405020304" pitchFamily="18" charset="0"/>
              <a:cs typeface="Times New Roman" panose="02020603050405020304" pitchFamily="18" charset="0"/>
            </a:endParaRPr>
          </a:p>
          <a:p>
            <a:pPr>
              <a:buFont typeface="Wingdings" panose="05000000000000000000" charset="0"/>
            </a:pPr>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pPr>
              <a:buFont typeface="Wingdings" panose="05000000000000000000" charset="0"/>
            </a:pPr>
            <a:r>
              <a:rPr lang="en-US" b="1">
                <a:latin typeface="Times New Roman" panose="02020603050405020304" pitchFamily="18" charset="0"/>
                <a:cs typeface="Times New Roman" panose="02020603050405020304" pitchFamily="18" charset="0"/>
              </a:rPr>
              <a:t>class Test </a:t>
            </a:r>
            <a:endParaRPr lang="en-US" b="1">
              <a:latin typeface="Times New Roman" panose="02020603050405020304" pitchFamily="18" charset="0"/>
              <a:cs typeface="Times New Roman" panose="02020603050405020304" pitchFamily="18" charset="0"/>
            </a:endParaRPr>
          </a:p>
          <a:p>
            <a:pPr>
              <a:buFont typeface="Wingdings" panose="05000000000000000000" charset="0"/>
            </a:pPr>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pPr>
              <a:buFont typeface="Wingdings" panose="05000000000000000000" charset="0"/>
            </a:pPr>
            <a:r>
              <a:rPr lang="en-US" b="1">
                <a:latin typeface="Times New Roman" panose="02020603050405020304" pitchFamily="18" charset="0"/>
                <a:cs typeface="Times New Roman" panose="02020603050405020304" pitchFamily="18" charset="0"/>
              </a:rPr>
              <a:t>    public static void main (String[] args) </a:t>
            </a:r>
            <a:endParaRPr lang="en-US" b="1">
              <a:latin typeface="Times New Roman" panose="02020603050405020304" pitchFamily="18" charset="0"/>
              <a:cs typeface="Times New Roman" panose="02020603050405020304" pitchFamily="18" charset="0"/>
            </a:endParaRPr>
          </a:p>
          <a:p>
            <a:pPr>
              <a:buFont typeface="Wingdings" panose="05000000000000000000" charset="0"/>
            </a:pPr>
            <a:r>
              <a:rPr lang="en-US" b="1">
                <a:latin typeface="Times New Roman" panose="02020603050405020304" pitchFamily="18" charset="0"/>
                <a:cs typeface="Times New Roman" panose="02020603050405020304" pitchFamily="18" charset="0"/>
              </a:rPr>
              <a:t>    { </a:t>
            </a:r>
            <a:endParaRPr lang="en-US" b="1">
              <a:latin typeface="Times New Roman" panose="02020603050405020304" pitchFamily="18" charset="0"/>
              <a:cs typeface="Times New Roman" panose="02020603050405020304" pitchFamily="18" charset="0"/>
            </a:endParaRPr>
          </a:p>
          <a:p>
            <a:pPr>
              <a:buFont typeface="Wingdings" panose="05000000000000000000" charset="0"/>
            </a:pPr>
            <a:r>
              <a:rPr lang="en-US" b="1">
                <a:latin typeface="Times New Roman" panose="02020603050405020304" pitchFamily="18" charset="0"/>
                <a:cs typeface="Times New Roman" panose="02020603050405020304" pitchFamily="18" charset="0"/>
              </a:rPr>
              <a:t>        </a:t>
            </a:r>
            <a:r>
              <a:rPr lang="en-US" b="1">
                <a:solidFill>
                  <a:srgbClr val="00B050"/>
                </a:solidFill>
                <a:latin typeface="Times New Roman" panose="02020603050405020304" pitchFamily="18" charset="0"/>
                <a:cs typeface="Times New Roman" panose="02020603050405020304" pitchFamily="18" charset="0"/>
              </a:rPr>
              <a:t>// Creating instances of array, vector and hashtable </a:t>
            </a:r>
            <a:endParaRPr lang="en-US" b="1">
              <a:latin typeface="Times New Roman" panose="02020603050405020304" pitchFamily="18" charset="0"/>
              <a:cs typeface="Times New Roman" panose="02020603050405020304" pitchFamily="18" charset="0"/>
            </a:endParaRPr>
          </a:p>
          <a:p>
            <a:pPr>
              <a:buFont typeface="Wingdings" panose="05000000000000000000" charset="0"/>
            </a:pPr>
            <a:r>
              <a:rPr lang="en-US" b="1">
                <a:latin typeface="Times New Roman" panose="02020603050405020304" pitchFamily="18" charset="0"/>
                <a:cs typeface="Times New Roman" panose="02020603050405020304" pitchFamily="18" charset="0"/>
              </a:rPr>
              <a:t>        int arr[] = new int[] {1, 2, 3, 4}; </a:t>
            </a:r>
            <a:endParaRPr lang="en-US" b="1">
              <a:latin typeface="Times New Roman" panose="02020603050405020304" pitchFamily="18" charset="0"/>
              <a:cs typeface="Times New Roman" panose="02020603050405020304" pitchFamily="18" charset="0"/>
            </a:endParaRPr>
          </a:p>
          <a:p>
            <a:pPr>
              <a:buFont typeface="Wingdings" panose="05000000000000000000" charset="0"/>
            </a:pPr>
            <a:r>
              <a:rPr lang="en-US" b="1">
                <a:latin typeface="Times New Roman" panose="02020603050405020304" pitchFamily="18" charset="0"/>
                <a:cs typeface="Times New Roman" panose="02020603050405020304" pitchFamily="18" charset="0"/>
              </a:rPr>
              <a:t>        Vector&lt;Integer&gt; v = new Vector(); </a:t>
            </a:r>
            <a:endParaRPr lang="en-US" b="1">
              <a:latin typeface="Times New Roman" panose="02020603050405020304" pitchFamily="18" charset="0"/>
              <a:cs typeface="Times New Roman" panose="02020603050405020304" pitchFamily="18" charset="0"/>
            </a:endParaRPr>
          </a:p>
          <a:p>
            <a:pPr>
              <a:buFont typeface="Wingdings" panose="05000000000000000000" charset="0"/>
            </a:pPr>
            <a:r>
              <a:rPr lang="en-US" b="1">
                <a:latin typeface="Times New Roman" panose="02020603050405020304" pitchFamily="18" charset="0"/>
                <a:cs typeface="Times New Roman" panose="02020603050405020304" pitchFamily="18" charset="0"/>
              </a:rPr>
              <a:t>        Hashtable&lt;Integer, String&gt; h = new Hashtable(); </a:t>
            </a:r>
            <a:endParaRPr lang="en-US" b="1">
              <a:latin typeface="Times New Roman" panose="02020603050405020304" pitchFamily="18" charset="0"/>
              <a:cs typeface="Times New Roman" panose="02020603050405020304" pitchFamily="18" charset="0"/>
            </a:endParaRPr>
          </a:p>
          <a:p>
            <a:pPr>
              <a:buFont typeface="Wingdings" panose="05000000000000000000" charset="0"/>
            </a:pPr>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304800" y="271780"/>
            <a:ext cx="8717280"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Collection Framework &amp; Exploring java.lang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74295" y="1268730"/>
            <a:ext cx="8948420" cy="953135"/>
          </a:xfrm>
          <a:prstGeom prst="rect">
            <a:avLst/>
          </a:prstGeom>
          <a:noFill/>
        </p:spPr>
        <p:txBody>
          <a:bodyPr wrap="square" rtlCol="0" anchor="t">
            <a:spAutoFit/>
          </a:bodyPr>
          <a:p>
            <a:pPr>
              <a:buFont typeface="Wingdings" panose="05000000000000000000" charset="0"/>
            </a:pPr>
            <a:r>
              <a:rPr lang="en-US" sz="2800" b="1">
                <a:solidFill>
                  <a:srgbClr val="00B050"/>
                </a:solidFill>
                <a:latin typeface="Times New Roman" panose="02020603050405020304" pitchFamily="18" charset="0"/>
                <a:cs typeface="Times New Roman" panose="02020603050405020304" pitchFamily="18" charset="0"/>
                <a:sym typeface="+mn-ea"/>
              </a:rPr>
              <a:t>Java program to show why collection framework was needed :</a:t>
            </a:r>
            <a:endParaRPr lang="en-US" sz="2800" b="1" dirty="0">
              <a:solidFill>
                <a:srgbClr val="00B05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305435" y="2221865"/>
            <a:ext cx="8405495" cy="4154170"/>
          </a:xfrm>
          <a:prstGeom prst="rect">
            <a:avLst/>
          </a:prstGeom>
          <a:noFill/>
        </p:spPr>
        <p:txBody>
          <a:bodyPr wrap="square" rtlCol="0" anchor="t">
            <a:spAutoFit/>
          </a:bodyPr>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v.addElement(1); </a:t>
            </a:r>
            <a:endParaRPr lang="en-US" b="1">
              <a:latin typeface="Times New Roman" panose="02020603050405020304" pitchFamily="18" charset="0"/>
              <a:cs typeface="Times New Roman" panose="02020603050405020304" pitchFamily="18" charset="0"/>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v.addElement(2); </a:t>
            </a:r>
            <a:endParaRPr lang="en-US" b="1">
              <a:latin typeface="Times New Roman" panose="02020603050405020304" pitchFamily="18" charset="0"/>
              <a:cs typeface="Times New Roman" panose="02020603050405020304" pitchFamily="18" charset="0"/>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h.put(1,"geeks"); </a:t>
            </a:r>
            <a:endParaRPr lang="en-US" b="1">
              <a:latin typeface="Times New Roman" panose="02020603050405020304" pitchFamily="18" charset="0"/>
              <a:cs typeface="Times New Roman" panose="02020603050405020304" pitchFamily="18" charset="0"/>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h.put(2,"4geeks"); </a:t>
            </a:r>
            <a:endParaRPr lang="en-US" b="1">
              <a:latin typeface="Times New Roman" panose="02020603050405020304" pitchFamily="18" charset="0"/>
              <a:cs typeface="Times New Roman" panose="02020603050405020304" pitchFamily="18" charset="0"/>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a:t>
            </a:r>
            <a:r>
              <a:rPr lang="en-US" b="1">
                <a:solidFill>
                  <a:srgbClr val="00B050"/>
                </a:solidFill>
                <a:latin typeface="Times New Roman" panose="02020603050405020304" pitchFamily="18" charset="0"/>
                <a:cs typeface="Times New Roman" panose="02020603050405020304" pitchFamily="18" charset="0"/>
                <a:sym typeface="+mn-ea"/>
              </a:rPr>
              <a:t> // Array instance creation requires [], while Vector </a:t>
            </a:r>
            <a:endParaRPr lang="en-US" b="1">
              <a:solidFill>
                <a:srgbClr val="00B050"/>
              </a:solidFill>
              <a:latin typeface="Times New Roman" panose="02020603050405020304" pitchFamily="18" charset="0"/>
              <a:cs typeface="Times New Roman" panose="02020603050405020304" pitchFamily="18" charset="0"/>
            </a:endParaRPr>
          </a:p>
          <a:p>
            <a:pPr>
              <a:buFont typeface="Wingdings" panose="05000000000000000000" charset="0"/>
            </a:pPr>
            <a:r>
              <a:rPr lang="en-US" b="1">
                <a:solidFill>
                  <a:srgbClr val="00B050"/>
                </a:solidFill>
                <a:latin typeface="Times New Roman" panose="02020603050405020304" pitchFamily="18" charset="0"/>
                <a:cs typeface="Times New Roman" panose="02020603050405020304" pitchFamily="18" charset="0"/>
                <a:sym typeface="+mn-ea"/>
              </a:rPr>
              <a:t>        // and hastable require () </a:t>
            </a:r>
            <a:endParaRPr lang="en-US" b="1">
              <a:solidFill>
                <a:srgbClr val="00B050"/>
              </a:solidFill>
              <a:latin typeface="Times New Roman" panose="02020603050405020304" pitchFamily="18" charset="0"/>
              <a:cs typeface="Times New Roman" panose="02020603050405020304" pitchFamily="18" charset="0"/>
            </a:endParaRPr>
          </a:p>
          <a:p>
            <a:pPr>
              <a:buFont typeface="Wingdings" panose="05000000000000000000" charset="0"/>
            </a:pPr>
            <a:r>
              <a:rPr lang="en-US" b="1">
                <a:solidFill>
                  <a:srgbClr val="00B050"/>
                </a:solidFill>
                <a:latin typeface="Times New Roman" panose="02020603050405020304" pitchFamily="18" charset="0"/>
                <a:cs typeface="Times New Roman" panose="02020603050405020304" pitchFamily="18" charset="0"/>
                <a:sym typeface="+mn-ea"/>
              </a:rPr>
              <a:t>        // Vector element insertion requires addElement(), but </a:t>
            </a:r>
            <a:endParaRPr lang="en-US" b="1">
              <a:solidFill>
                <a:srgbClr val="00B050"/>
              </a:solidFill>
              <a:latin typeface="Times New Roman" panose="02020603050405020304" pitchFamily="18" charset="0"/>
              <a:cs typeface="Times New Roman" panose="02020603050405020304" pitchFamily="18" charset="0"/>
            </a:endParaRPr>
          </a:p>
          <a:p>
            <a:pPr>
              <a:buFont typeface="Wingdings" panose="05000000000000000000" charset="0"/>
            </a:pPr>
            <a:r>
              <a:rPr lang="en-US" b="1">
                <a:solidFill>
                  <a:srgbClr val="00B050"/>
                </a:solidFill>
                <a:latin typeface="Times New Roman" panose="02020603050405020304" pitchFamily="18" charset="0"/>
                <a:cs typeface="Times New Roman" panose="02020603050405020304" pitchFamily="18" charset="0"/>
                <a:sym typeface="+mn-ea"/>
              </a:rPr>
              <a:t>        // hashtable element insertion requires put() </a:t>
            </a:r>
            <a:endParaRPr lang="en-US" b="1">
              <a:solidFill>
                <a:srgbClr val="00B050"/>
              </a:solidFill>
              <a:latin typeface="Times New Roman" panose="02020603050405020304" pitchFamily="18" charset="0"/>
              <a:cs typeface="Times New Roman" panose="02020603050405020304" pitchFamily="18" charset="0"/>
            </a:endParaRPr>
          </a:p>
          <a:p>
            <a:pPr>
              <a:buFont typeface="Wingdings" panose="05000000000000000000" charset="0"/>
            </a:pPr>
            <a:r>
              <a:rPr lang="en-US" b="1">
                <a:solidFill>
                  <a:srgbClr val="00B050"/>
                </a:solidFill>
                <a:latin typeface="Times New Roman" panose="02020603050405020304" pitchFamily="18" charset="0"/>
                <a:cs typeface="Times New Roman" panose="02020603050405020304" pitchFamily="18" charset="0"/>
                <a:sym typeface="+mn-ea"/>
              </a:rPr>
              <a:t>        // Accessing first element of array, vector and hashtable </a:t>
            </a:r>
            <a:endParaRPr lang="en-US" b="1">
              <a:solidFill>
                <a:srgbClr val="00B050"/>
              </a:solidFill>
              <a:latin typeface="Times New Roman" panose="02020603050405020304" pitchFamily="18" charset="0"/>
              <a:cs typeface="Times New Roman" panose="02020603050405020304" pitchFamily="18" charset="0"/>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304800" y="271780"/>
            <a:ext cx="8717280"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Collection Framework &amp; Exploring java.lang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74295" y="1268730"/>
            <a:ext cx="8948420" cy="953135"/>
          </a:xfrm>
          <a:prstGeom prst="rect">
            <a:avLst/>
          </a:prstGeom>
          <a:noFill/>
        </p:spPr>
        <p:txBody>
          <a:bodyPr wrap="square" rtlCol="0" anchor="t">
            <a:spAutoFit/>
          </a:bodyPr>
          <a:p>
            <a:pPr>
              <a:buFont typeface="Wingdings" panose="05000000000000000000" charset="0"/>
            </a:pPr>
            <a:r>
              <a:rPr lang="en-US" sz="2800" b="1">
                <a:solidFill>
                  <a:srgbClr val="00B050"/>
                </a:solidFill>
                <a:latin typeface="Times New Roman" panose="02020603050405020304" pitchFamily="18" charset="0"/>
                <a:cs typeface="Times New Roman" panose="02020603050405020304" pitchFamily="18" charset="0"/>
                <a:sym typeface="+mn-ea"/>
              </a:rPr>
              <a:t>Java program to show why collection framework was needed :</a:t>
            </a:r>
            <a:endParaRPr lang="en-US" sz="2800" b="1" dirty="0">
              <a:solidFill>
                <a:srgbClr val="00B05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305435" y="2221865"/>
            <a:ext cx="8405495" cy="3046095"/>
          </a:xfrm>
          <a:prstGeom prst="rect">
            <a:avLst/>
          </a:prstGeom>
          <a:noFill/>
        </p:spPr>
        <p:txBody>
          <a:bodyPr wrap="square" rtlCol="0" anchor="t">
            <a:spAutoFit/>
          </a:bodyPr>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System.out.println(arr[0]); </a:t>
            </a:r>
            <a:endParaRPr lang="en-US" b="1">
              <a:latin typeface="Times New Roman" panose="02020603050405020304" pitchFamily="18" charset="0"/>
              <a:cs typeface="Times New Roman" panose="02020603050405020304" pitchFamily="18" charset="0"/>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System.out.println(v.elementAt(0)); </a:t>
            </a:r>
            <a:endParaRPr lang="en-US" b="1">
              <a:latin typeface="Times New Roman" panose="02020603050405020304" pitchFamily="18" charset="0"/>
              <a:cs typeface="Times New Roman" panose="02020603050405020304" pitchFamily="18" charset="0"/>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System.out.println(h.get(1)); </a:t>
            </a:r>
            <a:endParaRPr lang="en-US" b="1">
              <a:latin typeface="Times New Roman" panose="02020603050405020304" pitchFamily="18" charset="0"/>
              <a:cs typeface="Times New Roman" panose="02020603050405020304" pitchFamily="18" charset="0"/>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a:t>
            </a:r>
            <a:endParaRPr lang="en-US" b="1">
              <a:solidFill>
                <a:srgbClr val="00B050"/>
              </a:solidFill>
              <a:latin typeface="Times New Roman" panose="02020603050405020304" pitchFamily="18" charset="0"/>
              <a:cs typeface="Times New Roman" panose="02020603050405020304" pitchFamily="18" charset="0"/>
            </a:endParaRPr>
          </a:p>
          <a:p>
            <a:pPr>
              <a:buFont typeface="Wingdings" panose="05000000000000000000" charset="0"/>
            </a:pPr>
            <a:r>
              <a:rPr lang="en-US" b="1">
                <a:solidFill>
                  <a:srgbClr val="00B050"/>
                </a:solidFill>
                <a:latin typeface="Times New Roman" panose="02020603050405020304" pitchFamily="18" charset="0"/>
                <a:cs typeface="Times New Roman" panose="02020603050405020304" pitchFamily="18" charset="0"/>
                <a:sym typeface="+mn-ea"/>
              </a:rPr>
              <a:t>        // Array elements are accessed using [], vector elements </a:t>
            </a:r>
            <a:endParaRPr lang="en-US" b="1">
              <a:solidFill>
                <a:srgbClr val="00B050"/>
              </a:solidFill>
              <a:latin typeface="Times New Roman" panose="02020603050405020304" pitchFamily="18" charset="0"/>
              <a:cs typeface="Times New Roman" panose="02020603050405020304" pitchFamily="18" charset="0"/>
            </a:endParaRPr>
          </a:p>
          <a:p>
            <a:pPr>
              <a:buFont typeface="Wingdings" panose="05000000000000000000" charset="0"/>
            </a:pPr>
            <a:r>
              <a:rPr lang="en-US" b="1">
                <a:solidFill>
                  <a:srgbClr val="00B050"/>
                </a:solidFill>
                <a:latin typeface="Times New Roman" panose="02020603050405020304" pitchFamily="18" charset="0"/>
                <a:cs typeface="Times New Roman" panose="02020603050405020304" pitchFamily="18" charset="0"/>
                <a:sym typeface="+mn-ea"/>
              </a:rPr>
              <a:t>        // using elementAt() and hashtable elements using get() </a:t>
            </a:r>
            <a:endParaRPr lang="en-US" b="1">
              <a:solidFill>
                <a:srgbClr val="00B050"/>
              </a:solidFill>
              <a:latin typeface="Times New Roman" panose="02020603050405020304" pitchFamily="18" charset="0"/>
              <a:cs typeface="Times New Roman" panose="02020603050405020304" pitchFamily="18" charset="0"/>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304800" y="271780"/>
            <a:ext cx="8717280"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Collection Framework &amp; Exploring java.lang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74295" y="1268730"/>
            <a:ext cx="8948420" cy="583565"/>
          </a:xfrm>
          <a:prstGeom prst="rect">
            <a:avLst/>
          </a:prstGeom>
          <a:noFill/>
        </p:spPr>
        <p:txBody>
          <a:bodyPr wrap="square" rtlCol="0" anchor="t">
            <a:spAutoFit/>
          </a:bodyPr>
          <a:p>
            <a:r>
              <a:rPr sz="3200" b="1" spc="5" dirty="0">
                <a:solidFill>
                  <a:srgbClr val="FF0000"/>
                </a:solidFill>
                <a:latin typeface="Times New Roman" panose="02020603050405020304" pitchFamily="18" charset="0"/>
                <a:cs typeface="Times New Roman" panose="02020603050405020304" pitchFamily="18" charset="0"/>
                <a:sym typeface="+mn-ea"/>
              </a:rPr>
              <a:t>Collection</a:t>
            </a:r>
            <a:r>
              <a:rPr sz="3200" b="1" dirty="0">
                <a:solidFill>
                  <a:srgbClr val="FF0000"/>
                </a:solidFill>
                <a:latin typeface="Times New Roman" panose="02020603050405020304" pitchFamily="18" charset="0"/>
                <a:cs typeface="Times New Roman" panose="02020603050405020304" pitchFamily="18" charset="0"/>
                <a:sym typeface="+mn-ea"/>
              </a:rPr>
              <a:t> </a:t>
            </a:r>
            <a:r>
              <a:rPr lang="en-US" sz="3200" b="1" dirty="0">
                <a:solidFill>
                  <a:srgbClr val="FF0000"/>
                </a:solidFill>
                <a:latin typeface="Times New Roman" panose="02020603050405020304" pitchFamily="18" charset="0"/>
                <a:cs typeface="Times New Roman" panose="02020603050405020304" pitchFamily="18" charset="0"/>
                <a:sym typeface="+mn-ea"/>
              </a:rPr>
              <a:t>:</a:t>
            </a:r>
            <a:endParaRPr lang="en-US" sz="3200" b="1" dirty="0">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255905" y="2023745"/>
            <a:ext cx="8455025" cy="4523105"/>
          </a:xfrm>
          <a:prstGeom prst="rect">
            <a:avLst/>
          </a:prstGeom>
          <a:noFill/>
        </p:spPr>
        <p:txBody>
          <a:bodyPr wrap="square" rtlCol="0" anchor="t">
            <a:spAutoFit/>
          </a:bodyPr>
          <a:p>
            <a:pPr>
              <a:buFont typeface="Wingdings" panose="05000000000000000000" charset="0"/>
            </a:pPr>
            <a:r>
              <a:rPr lang="en-US" b="1">
                <a:latin typeface="Times New Roman" panose="02020603050405020304" pitchFamily="18" charset="0"/>
                <a:cs typeface="Times New Roman" panose="02020603050405020304" pitchFamily="18" charset="0"/>
              </a:rPr>
              <a:t>As we can see, none of these collections (Array, Vector or Hashtable) implement a standard member access interface. It was very difficult for programmers to write algorithms that can work for all kinds of Collections. Another drawback being that most of the ‘Vector’ methods are final, meaning we cannot extend the ’Vector’ class to implement a similar kind of Collection.</a:t>
            </a:r>
            <a:endParaRPr lang="en-US" b="1">
              <a:latin typeface="Times New Roman" panose="02020603050405020304" pitchFamily="18" charset="0"/>
              <a:cs typeface="Times New Roman" panose="02020603050405020304" pitchFamily="18" charset="0"/>
            </a:endParaRPr>
          </a:p>
          <a:p>
            <a:pPr>
              <a:buFont typeface="Wingdings" panose="05000000000000000000" charset="0"/>
            </a:pPr>
            <a:r>
              <a:rPr lang="en-US" b="1">
                <a:solidFill>
                  <a:srgbClr val="00B050"/>
                </a:solidFill>
                <a:latin typeface="Times New Roman" panose="02020603050405020304" pitchFamily="18" charset="0"/>
                <a:cs typeface="Times New Roman" panose="02020603050405020304" pitchFamily="18" charset="0"/>
              </a:rPr>
              <a:t>Java developers decided to come up with a common interface to deal with the above mentioned problems and introduced the Collection Framework in JDK 1.2.</a:t>
            </a:r>
            <a:endParaRPr lang="en-US" b="1">
              <a:latin typeface="Times New Roman" panose="02020603050405020304" pitchFamily="18" charset="0"/>
              <a:cs typeface="Times New Roman" panose="02020603050405020304" pitchFamily="18" charset="0"/>
            </a:endParaRPr>
          </a:p>
          <a:p>
            <a:pPr>
              <a:buFont typeface="Wingdings" panose="05000000000000000000" charset="0"/>
            </a:pPr>
            <a:r>
              <a:rPr lang="en-US" b="1">
                <a:latin typeface="Times New Roman" panose="02020603050405020304" pitchFamily="18" charset="0"/>
                <a:cs typeface="Times New Roman" panose="02020603050405020304" pitchFamily="18" charset="0"/>
              </a:rPr>
              <a:t>Both legacy Vectors and Hashtables were modified to conform to the Collection Framework.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304800" y="271780"/>
            <a:ext cx="8717280"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Collection Framework &amp; Exploring java.lang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74295" y="1268730"/>
            <a:ext cx="8948420" cy="583565"/>
          </a:xfrm>
          <a:prstGeom prst="rect">
            <a:avLst/>
          </a:prstGeom>
          <a:noFill/>
        </p:spPr>
        <p:txBody>
          <a:bodyPr wrap="square" rtlCol="0" anchor="t">
            <a:spAutoFit/>
          </a:bodyPr>
          <a:p>
            <a:r>
              <a:rPr lang="en-US" sz="3200" b="1">
                <a:solidFill>
                  <a:srgbClr val="FF0000"/>
                </a:solidFill>
                <a:latin typeface="Times New Roman" panose="02020603050405020304" pitchFamily="18" charset="0"/>
                <a:cs typeface="Times New Roman" panose="02020603050405020304" pitchFamily="18" charset="0"/>
                <a:sym typeface="+mn-ea"/>
              </a:rPr>
              <a:t>Advantages of Collection Framework:</a:t>
            </a:r>
            <a:endParaRPr lang="en-US" sz="3200" b="1" dirty="0">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255905" y="2023745"/>
            <a:ext cx="8455025" cy="4523105"/>
          </a:xfrm>
          <a:prstGeom prst="rect">
            <a:avLst/>
          </a:prstGeom>
          <a:noFill/>
        </p:spPr>
        <p:txBody>
          <a:bodyPr wrap="square" rtlCol="0" anchor="t">
            <a:spAutoFit/>
          </a:bodyPr>
          <a:p>
            <a:pPr>
              <a:buFont typeface="Wingdings" panose="05000000000000000000" charset="0"/>
            </a:pPr>
            <a:r>
              <a:rPr lang="en-US" b="1">
                <a:latin typeface="Times New Roman" panose="02020603050405020304" pitchFamily="18" charset="0"/>
                <a:cs typeface="Times New Roman" panose="02020603050405020304" pitchFamily="18" charset="0"/>
              </a:rPr>
              <a:t> </a:t>
            </a:r>
            <a:r>
              <a:rPr lang="en-US" b="1">
                <a:solidFill>
                  <a:srgbClr val="00B050"/>
                </a:solidFill>
                <a:latin typeface="Times New Roman" panose="02020603050405020304" pitchFamily="18" charset="0"/>
                <a:cs typeface="Times New Roman" panose="02020603050405020304" pitchFamily="18" charset="0"/>
              </a:rPr>
              <a:t>Consistent API :</a:t>
            </a:r>
            <a:r>
              <a:rPr lang="en-US" b="1">
                <a:latin typeface="Times New Roman" panose="02020603050405020304" pitchFamily="18" charset="0"/>
                <a:cs typeface="Times New Roman" panose="02020603050405020304" pitchFamily="18" charset="0"/>
              </a:rPr>
              <a:t> The API has a basic set of interfaces like Collection, Set, List, or Map. All classes (ArrayList, LinkedList, Vector, etc) that implement these interfaces have some common set of methods.</a:t>
            </a:r>
            <a:endParaRPr lang="en-US" b="1">
              <a:latin typeface="Times New Roman" panose="02020603050405020304" pitchFamily="18" charset="0"/>
              <a:cs typeface="Times New Roman" panose="02020603050405020304" pitchFamily="18" charset="0"/>
            </a:endParaRPr>
          </a:p>
          <a:p>
            <a:pPr>
              <a:buFont typeface="Wingdings" panose="05000000000000000000" charset="0"/>
            </a:pPr>
            <a:endParaRPr lang="en-US" b="1">
              <a:latin typeface="Times New Roman" panose="02020603050405020304" pitchFamily="18" charset="0"/>
              <a:cs typeface="Times New Roman" panose="02020603050405020304" pitchFamily="18" charset="0"/>
            </a:endParaRPr>
          </a:p>
          <a:p>
            <a:pPr>
              <a:buFont typeface="Wingdings" panose="05000000000000000000" charset="0"/>
            </a:pPr>
            <a:r>
              <a:rPr lang="en-US" b="1">
                <a:latin typeface="Times New Roman" panose="02020603050405020304" pitchFamily="18" charset="0"/>
                <a:cs typeface="Times New Roman" panose="02020603050405020304" pitchFamily="18" charset="0"/>
              </a:rPr>
              <a:t>    </a:t>
            </a:r>
            <a:r>
              <a:rPr lang="en-US" b="1">
                <a:solidFill>
                  <a:srgbClr val="00B050"/>
                </a:solidFill>
                <a:latin typeface="Times New Roman" panose="02020603050405020304" pitchFamily="18" charset="0"/>
                <a:cs typeface="Times New Roman" panose="02020603050405020304" pitchFamily="18" charset="0"/>
              </a:rPr>
              <a:t>Reduces programming effort:</a:t>
            </a:r>
            <a:r>
              <a:rPr lang="en-US" b="1">
                <a:latin typeface="Times New Roman" panose="02020603050405020304" pitchFamily="18" charset="0"/>
                <a:cs typeface="Times New Roman" panose="02020603050405020304" pitchFamily="18" charset="0"/>
              </a:rPr>
              <a:t> A programmer doesn’t have to worry about the design of Collection, and he can focus on its best use in his program.</a:t>
            </a:r>
            <a:endParaRPr lang="en-US" b="1">
              <a:latin typeface="Times New Roman" panose="02020603050405020304" pitchFamily="18" charset="0"/>
              <a:cs typeface="Times New Roman" panose="02020603050405020304" pitchFamily="18" charset="0"/>
            </a:endParaRPr>
          </a:p>
          <a:p>
            <a:pPr>
              <a:buFont typeface="Wingdings" panose="05000000000000000000" charset="0"/>
            </a:pPr>
            <a:endParaRPr lang="en-US" b="1">
              <a:latin typeface="Times New Roman" panose="02020603050405020304" pitchFamily="18" charset="0"/>
              <a:cs typeface="Times New Roman" panose="02020603050405020304" pitchFamily="18" charset="0"/>
            </a:endParaRPr>
          </a:p>
          <a:p>
            <a:pPr>
              <a:buFont typeface="Wingdings" panose="05000000000000000000" charset="0"/>
            </a:pPr>
            <a:r>
              <a:rPr lang="en-US" b="1">
                <a:latin typeface="Times New Roman" panose="02020603050405020304" pitchFamily="18" charset="0"/>
                <a:cs typeface="Times New Roman" panose="02020603050405020304" pitchFamily="18" charset="0"/>
              </a:rPr>
              <a:t>    </a:t>
            </a:r>
            <a:r>
              <a:rPr lang="en-US" b="1">
                <a:solidFill>
                  <a:srgbClr val="00B050"/>
                </a:solidFill>
                <a:latin typeface="Times New Roman" panose="02020603050405020304" pitchFamily="18" charset="0"/>
                <a:cs typeface="Times New Roman" panose="02020603050405020304" pitchFamily="18" charset="0"/>
              </a:rPr>
              <a:t>Increases program speed and quality:</a:t>
            </a:r>
            <a:r>
              <a:rPr lang="en-US" b="1">
                <a:latin typeface="Times New Roman" panose="02020603050405020304" pitchFamily="18" charset="0"/>
                <a:cs typeface="Times New Roman" panose="02020603050405020304" pitchFamily="18" charset="0"/>
              </a:rPr>
              <a:t> Increases performance by providing high-performance implementations of useful data structures and algorithms.</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304800" y="271780"/>
            <a:ext cx="8717280"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Collection Framework &amp; Exploring java.lang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74295" y="1268730"/>
            <a:ext cx="8948420" cy="583565"/>
          </a:xfrm>
          <a:prstGeom prst="rect">
            <a:avLst/>
          </a:prstGeom>
          <a:noFill/>
        </p:spPr>
        <p:txBody>
          <a:bodyPr wrap="square" rtlCol="0" anchor="t">
            <a:spAutoFit/>
          </a:bodyPr>
          <a:p>
            <a:r>
              <a:rPr lang="en-US" sz="3200" b="1">
                <a:solidFill>
                  <a:srgbClr val="FF0000"/>
                </a:solidFill>
                <a:latin typeface="Times New Roman" panose="02020603050405020304" pitchFamily="18" charset="0"/>
                <a:cs typeface="Times New Roman" panose="02020603050405020304" pitchFamily="18" charset="0"/>
                <a:sym typeface="+mn-ea"/>
              </a:rPr>
              <a:t>Hierarchy of Collection Framework :</a:t>
            </a:r>
            <a:endParaRPr lang="en-US" sz="3200" b="1" dirty="0">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255905" y="2023745"/>
            <a:ext cx="8455025" cy="4584700"/>
          </a:xfrm>
          <a:prstGeom prst="rect">
            <a:avLst/>
          </a:prstGeom>
          <a:noFill/>
        </p:spPr>
        <p:txBody>
          <a:bodyPr wrap="square" rtlCol="0" anchor="t">
            <a:spAutoFit/>
          </a:bodyPr>
          <a:p>
            <a:pPr>
              <a:buFont typeface="Wingdings" panose="05000000000000000000" charset="0"/>
            </a:pPr>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pPr>
              <a:buFont typeface="Wingdings" panose="05000000000000000000" charset="0"/>
            </a:pPr>
            <a:endParaRPr lang="en-US" b="1">
              <a:latin typeface="Times New Roman" panose="02020603050405020304" pitchFamily="18" charset="0"/>
              <a:cs typeface="Times New Roman" panose="02020603050405020304" pitchFamily="18" charset="0"/>
            </a:endParaRPr>
          </a:p>
          <a:p>
            <a:pPr>
              <a:buFont typeface="Wingdings" panose="05000000000000000000" charset="0"/>
            </a:pPr>
            <a:r>
              <a:rPr lang="en-US" b="1">
                <a:latin typeface="Times New Roman" panose="02020603050405020304" pitchFamily="18" charset="0"/>
                <a:cs typeface="Times New Roman" panose="02020603050405020304" pitchFamily="18" charset="0"/>
              </a:rPr>
              <a:t>          </a:t>
            </a:r>
            <a:r>
              <a:rPr lang="en-US" sz="2800" b="1">
                <a:latin typeface="Times New Roman" panose="02020603050405020304" pitchFamily="18" charset="0"/>
                <a:cs typeface="Times New Roman" panose="02020603050405020304" pitchFamily="18" charset="0"/>
              </a:rPr>
              <a:t>Collection</a:t>
            </a:r>
            <a:r>
              <a:rPr lang="en-US" b="1">
                <a:latin typeface="Times New Roman" panose="02020603050405020304" pitchFamily="18" charset="0"/>
                <a:cs typeface="Times New Roman" panose="02020603050405020304" pitchFamily="18" charset="0"/>
              </a:rPr>
              <a:t>                                                    Map</a:t>
            </a:r>
            <a:endParaRPr lang="en-US" b="1">
              <a:latin typeface="Times New Roman" panose="02020603050405020304" pitchFamily="18" charset="0"/>
              <a:cs typeface="Times New Roman" panose="02020603050405020304" pitchFamily="18" charset="0"/>
            </a:endParaRPr>
          </a:p>
          <a:p>
            <a:pPr>
              <a:buFont typeface="Wingdings" panose="05000000000000000000" charset="0"/>
            </a:pPr>
            <a:r>
              <a:rPr lang="en-US" b="1">
                <a:latin typeface="Times New Roman" panose="02020603050405020304" pitchFamily="18" charset="0"/>
                <a:cs typeface="Times New Roman" panose="02020603050405020304" pitchFamily="18" charset="0"/>
              </a:rPr>
              <a:t>         /      /    \          \                                                    |</a:t>
            </a:r>
            <a:endParaRPr lang="en-US" b="1">
              <a:latin typeface="Times New Roman" panose="02020603050405020304" pitchFamily="18" charset="0"/>
              <a:cs typeface="Times New Roman" panose="02020603050405020304" pitchFamily="18" charset="0"/>
            </a:endParaRPr>
          </a:p>
          <a:p>
            <a:pPr>
              <a:buFont typeface="Wingdings" panose="05000000000000000000" charset="0"/>
            </a:pPr>
            <a:r>
              <a:rPr lang="en-US" b="1">
                <a:latin typeface="Times New Roman" panose="02020603050405020304" pitchFamily="18" charset="0"/>
                <a:cs typeface="Times New Roman" panose="02020603050405020304" pitchFamily="18" charset="0"/>
              </a:rPr>
              <a:t>        /      /       \          \                                                  |</a:t>
            </a:r>
            <a:endParaRPr lang="en-US" b="1">
              <a:latin typeface="Times New Roman" panose="02020603050405020304" pitchFamily="18" charset="0"/>
              <a:cs typeface="Times New Roman" panose="02020603050405020304" pitchFamily="18" charset="0"/>
            </a:endParaRPr>
          </a:p>
          <a:p>
            <a:pPr>
              <a:buFont typeface="Wingdings" panose="05000000000000000000" charset="0"/>
            </a:pPr>
            <a:r>
              <a:rPr lang="en-US" b="1">
                <a:latin typeface="Times New Roman" panose="02020603050405020304" pitchFamily="18" charset="0"/>
                <a:cs typeface="Times New Roman" panose="02020603050405020304" pitchFamily="18" charset="0"/>
              </a:rPr>
              <a:t>    Set   List  Queue  Dequeue                          SortedMap</a:t>
            </a:r>
            <a:endParaRPr lang="en-US" b="1">
              <a:latin typeface="Times New Roman" panose="02020603050405020304" pitchFamily="18" charset="0"/>
              <a:cs typeface="Times New Roman" panose="02020603050405020304" pitchFamily="18" charset="0"/>
            </a:endParaRPr>
          </a:p>
          <a:p>
            <a:pPr>
              <a:buFont typeface="Wingdings" panose="05000000000000000000" charset="0"/>
            </a:pPr>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pPr>
              <a:buFont typeface="Wingdings" panose="05000000000000000000" charset="0"/>
            </a:pPr>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pPr>
              <a:buFont typeface="Wingdings" panose="05000000000000000000" charset="0"/>
            </a:pPr>
            <a:r>
              <a:rPr lang="en-US" b="1">
                <a:latin typeface="Times New Roman" panose="02020603050405020304" pitchFamily="18" charset="0"/>
                <a:cs typeface="Times New Roman" panose="02020603050405020304" pitchFamily="18" charset="0"/>
              </a:rPr>
              <a:t> SortedSet </a:t>
            </a:r>
            <a:endParaRPr lang="en-US" b="1">
              <a:latin typeface="Times New Roman" panose="02020603050405020304" pitchFamily="18" charset="0"/>
              <a:cs typeface="Times New Roman" panose="02020603050405020304" pitchFamily="18" charset="0"/>
            </a:endParaRPr>
          </a:p>
          <a:p>
            <a:pPr>
              <a:buFont typeface="Wingdings" panose="05000000000000000000" charset="0"/>
            </a:pPr>
            <a:r>
              <a:rPr lang="en-US" b="1">
                <a:latin typeface="Times New Roman" panose="02020603050405020304" pitchFamily="18" charset="0"/>
                <a:cs typeface="Times New Roman" panose="02020603050405020304" pitchFamily="18" charset="0"/>
              </a:rPr>
              <a:t>            </a:t>
            </a:r>
            <a:endParaRPr lang="en-US" b="1">
              <a:latin typeface="Times New Roman" panose="02020603050405020304" pitchFamily="18" charset="0"/>
              <a:cs typeface="Times New Roman" panose="02020603050405020304" pitchFamily="18" charset="0"/>
            </a:endParaRPr>
          </a:p>
          <a:p>
            <a:pPr>
              <a:buFont typeface="Wingdings" panose="05000000000000000000" charset="0"/>
            </a:pPr>
            <a:r>
              <a:rPr lang="en-US" b="1">
                <a:latin typeface="Times New Roman" panose="02020603050405020304" pitchFamily="18" charset="0"/>
                <a:cs typeface="Times New Roman" panose="02020603050405020304" pitchFamily="18" charset="0"/>
              </a:rPr>
              <a:t>                    </a:t>
            </a:r>
            <a:r>
              <a:rPr lang="en-US" b="1" u="sng">
                <a:solidFill>
                  <a:srgbClr val="00B050"/>
                </a:solidFill>
                <a:latin typeface="Times New Roman" panose="02020603050405020304" pitchFamily="18" charset="0"/>
                <a:cs typeface="Times New Roman" panose="02020603050405020304" pitchFamily="18" charset="0"/>
              </a:rPr>
              <a:t>Core Interfaces in Collections</a:t>
            </a:r>
            <a:endParaRPr lang="en-US" b="1">
              <a:latin typeface="Times New Roman" panose="02020603050405020304" pitchFamily="18" charset="0"/>
              <a:cs typeface="Times New Roman" panose="02020603050405020304" pitchFamily="18" charset="0"/>
            </a:endParaRPr>
          </a:p>
          <a:p>
            <a:pPr>
              <a:buFont typeface="Wingdings" panose="05000000000000000000" charset="0"/>
            </a:pPr>
            <a:r>
              <a:rPr lang="en-US" b="1">
                <a:latin typeface="Times New Roman" panose="02020603050405020304" pitchFamily="18" charset="0"/>
                <a:cs typeface="Times New Roman" panose="02020603050405020304" pitchFamily="18" charset="0"/>
              </a:rPr>
              <a:t>Note that this diagram only shows core interfaces.  </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304800" y="271780"/>
            <a:ext cx="8717280"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Collection Framework &amp; Exploring java.lang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74295" y="1268730"/>
            <a:ext cx="8948420" cy="583565"/>
          </a:xfrm>
          <a:prstGeom prst="rect">
            <a:avLst/>
          </a:prstGeom>
          <a:noFill/>
        </p:spPr>
        <p:txBody>
          <a:bodyPr wrap="square" rtlCol="0" anchor="t">
            <a:spAutoFit/>
          </a:bodyPr>
          <a:p>
            <a:r>
              <a:rPr sz="3200" b="1" spc="5" dirty="0">
                <a:solidFill>
                  <a:srgbClr val="FF0000"/>
                </a:solidFill>
                <a:latin typeface="Times New Roman" panose="02020603050405020304" pitchFamily="18" charset="0"/>
                <a:cs typeface="Times New Roman" panose="02020603050405020304" pitchFamily="18" charset="0"/>
                <a:sym typeface="+mn-ea"/>
              </a:rPr>
              <a:t>Collection</a:t>
            </a:r>
            <a:r>
              <a:rPr sz="3200" b="1" dirty="0">
                <a:solidFill>
                  <a:srgbClr val="FF0000"/>
                </a:solidFill>
                <a:latin typeface="Times New Roman" panose="02020603050405020304" pitchFamily="18" charset="0"/>
                <a:cs typeface="Times New Roman" panose="02020603050405020304" pitchFamily="18" charset="0"/>
                <a:sym typeface="+mn-ea"/>
              </a:rPr>
              <a:t> </a:t>
            </a:r>
            <a:r>
              <a:rPr lang="en-US" sz="3200" b="1" dirty="0">
                <a:solidFill>
                  <a:srgbClr val="FF0000"/>
                </a:solidFill>
                <a:latin typeface="Times New Roman" panose="02020603050405020304" pitchFamily="18" charset="0"/>
                <a:cs typeface="Times New Roman" panose="02020603050405020304" pitchFamily="18" charset="0"/>
                <a:sym typeface="+mn-ea"/>
              </a:rPr>
              <a:t>:</a:t>
            </a:r>
            <a:endParaRPr lang="en-US" sz="3200" b="1" dirty="0">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255905" y="2023745"/>
            <a:ext cx="8455025" cy="3784600"/>
          </a:xfrm>
          <a:prstGeom prst="rect">
            <a:avLst/>
          </a:prstGeom>
          <a:noFill/>
        </p:spPr>
        <p:txBody>
          <a:bodyPr wrap="square" rtlCol="0" anchor="t">
            <a:spAutoFit/>
          </a:bodyPr>
          <a:p>
            <a:pPr marL="342900" indent="-342900">
              <a:buFont typeface="Wingdings" panose="05000000000000000000" charset="0"/>
              <a:buChar char="Ø"/>
            </a:pPr>
            <a:r>
              <a:rPr lang="en-US" b="1">
                <a:latin typeface="Times New Roman" panose="02020603050405020304" pitchFamily="18" charset="0"/>
                <a:cs typeface="Times New Roman" panose="02020603050405020304" pitchFamily="18" charset="0"/>
              </a:rPr>
              <a:t>Algorithms are another important part of the collection</a:t>
            </a:r>
            <a:endParaRPr lang="en-US" b="1">
              <a:latin typeface="Times New Roman" panose="02020603050405020304" pitchFamily="18" charset="0"/>
              <a:cs typeface="Times New Roman" panose="02020603050405020304" pitchFamily="18" charset="0"/>
            </a:endParaRPr>
          </a:p>
          <a:p>
            <a:pPr>
              <a:buFont typeface="Wingdings" panose="05000000000000000000" charset="0"/>
            </a:pPr>
            <a:r>
              <a:rPr lang="en-US" b="1">
                <a:latin typeface="Times New Roman" panose="02020603050405020304" pitchFamily="18" charset="0"/>
                <a:cs typeface="Times New Roman" panose="02020603050405020304" pitchFamily="18" charset="0"/>
              </a:rPr>
              <a:t>mechanism. Algorithms operate on collections and are defined as static methods within the Collections class.The algorithms provide a standard means of manipulating collections.</a:t>
            </a:r>
            <a:endParaRPr lang="en-US" b="1">
              <a:latin typeface="Times New Roman" panose="02020603050405020304" pitchFamily="18" charset="0"/>
              <a:cs typeface="Times New Roman" panose="02020603050405020304" pitchFamily="18" charset="0"/>
            </a:endParaRPr>
          </a:p>
          <a:p>
            <a:pPr>
              <a:buFont typeface="Wingdings" panose="05000000000000000000" charset="0"/>
            </a:pPr>
            <a:endParaRPr lang="en-US" b="1">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Ø"/>
            </a:pPr>
            <a:r>
              <a:rPr lang="en-US" b="1">
                <a:latin typeface="Times New Roman" panose="02020603050405020304" pitchFamily="18" charset="0"/>
                <a:cs typeface="Times New Roman" panose="02020603050405020304" pitchFamily="18" charset="0"/>
              </a:rPr>
              <a:t>Iterator interface offers a general-purpose, standardized</a:t>
            </a:r>
            <a:endParaRPr lang="en-US" b="1">
              <a:latin typeface="Times New Roman" panose="02020603050405020304" pitchFamily="18" charset="0"/>
              <a:cs typeface="Times New Roman" panose="02020603050405020304" pitchFamily="18" charset="0"/>
            </a:endParaRPr>
          </a:p>
          <a:p>
            <a:pPr>
              <a:buFont typeface="Wingdings" panose="05000000000000000000" charset="0"/>
            </a:pPr>
            <a:r>
              <a:rPr lang="en-US" b="1">
                <a:latin typeface="Times New Roman" panose="02020603050405020304" pitchFamily="18" charset="0"/>
                <a:cs typeface="Times New Roman" panose="02020603050405020304" pitchFamily="18" charset="0"/>
              </a:rPr>
              <a:t>way of accessing the elements within a collection, one at a time. Because each collection provides an iterator, the elements of any collection class can be accessed through the methods defined by Iterator</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304800" y="271780"/>
            <a:ext cx="8717280"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Collection Framework &amp; Exploring java.lang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74295" y="1268730"/>
            <a:ext cx="8948420" cy="583565"/>
          </a:xfrm>
          <a:prstGeom prst="rect">
            <a:avLst/>
          </a:prstGeom>
          <a:noFill/>
        </p:spPr>
        <p:txBody>
          <a:bodyPr wrap="square" rtlCol="0" anchor="t">
            <a:spAutoFit/>
          </a:bodyPr>
          <a:p>
            <a:r>
              <a:rPr sz="3200" b="1" spc="5" dirty="0">
                <a:solidFill>
                  <a:srgbClr val="FF0000"/>
                </a:solidFill>
                <a:latin typeface="Times New Roman" panose="02020603050405020304" pitchFamily="18" charset="0"/>
                <a:cs typeface="Times New Roman" panose="02020603050405020304" pitchFamily="18" charset="0"/>
                <a:sym typeface="+mn-ea"/>
              </a:rPr>
              <a:t>Collection</a:t>
            </a:r>
            <a:r>
              <a:rPr sz="3200" b="1" dirty="0">
                <a:solidFill>
                  <a:srgbClr val="FF0000"/>
                </a:solidFill>
                <a:latin typeface="Times New Roman" panose="02020603050405020304" pitchFamily="18" charset="0"/>
                <a:cs typeface="Times New Roman" panose="02020603050405020304" pitchFamily="18" charset="0"/>
                <a:sym typeface="+mn-ea"/>
              </a:rPr>
              <a:t> </a:t>
            </a:r>
            <a:r>
              <a:rPr lang="en-US" sz="3200" b="1" dirty="0">
                <a:solidFill>
                  <a:srgbClr val="FF0000"/>
                </a:solidFill>
                <a:latin typeface="Times New Roman" panose="02020603050405020304" pitchFamily="18" charset="0"/>
                <a:cs typeface="Times New Roman" panose="02020603050405020304" pitchFamily="18" charset="0"/>
                <a:sym typeface="+mn-ea"/>
              </a:rPr>
              <a:t>:</a:t>
            </a:r>
            <a:endParaRPr lang="en-US" sz="3200" b="1" dirty="0">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255905" y="2023745"/>
            <a:ext cx="8455025" cy="829945"/>
          </a:xfrm>
          <a:prstGeom prst="rect">
            <a:avLst/>
          </a:prstGeom>
          <a:noFill/>
        </p:spPr>
        <p:txBody>
          <a:bodyPr wrap="square" rtlCol="0" anchor="t">
            <a:spAutoFit/>
          </a:bodyPr>
          <a:p>
            <a:pPr marL="342900" indent="-342900">
              <a:buFont typeface="Wingdings" panose="05000000000000000000" charset="0"/>
              <a:buChar char="Ø"/>
            </a:pPr>
            <a:r>
              <a:rPr lang="en-US" b="1">
                <a:latin typeface="Times New Roman" panose="02020603050405020304" pitchFamily="18" charset="0"/>
                <a:cs typeface="Times New Roman" panose="02020603050405020304" pitchFamily="18" charset="0"/>
              </a:rPr>
              <a:t>In addition to collections, the framework defines several map interfaces and classes. Maps store key/value pairs</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304800" y="271780"/>
            <a:ext cx="8717280"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Collection Framework &amp; Exploring java.lang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74295" y="1268730"/>
            <a:ext cx="8948420" cy="583565"/>
          </a:xfrm>
          <a:prstGeom prst="rect">
            <a:avLst/>
          </a:prstGeom>
          <a:noFill/>
        </p:spPr>
        <p:txBody>
          <a:bodyPr wrap="square" rtlCol="0" anchor="t">
            <a:spAutoFit/>
          </a:bodyPr>
          <a:p>
            <a:r>
              <a:rPr sz="3200" b="1" spc="5" dirty="0">
                <a:solidFill>
                  <a:srgbClr val="FF0000"/>
                </a:solidFill>
                <a:latin typeface="Times New Roman" panose="02020603050405020304" pitchFamily="18" charset="0"/>
                <a:cs typeface="Times New Roman" panose="02020603050405020304" pitchFamily="18" charset="0"/>
                <a:sym typeface="+mn-ea"/>
              </a:rPr>
              <a:t>Collection</a:t>
            </a:r>
            <a:r>
              <a:rPr sz="3200" b="1" dirty="0">
                <a:solidFill>
                  <a:srgbClr val="FF0000"/>
                </a:solidFill>
                <a:latin typeface="Times New Roman" panose="02020603050405020304" pitchFamily="18" charset="0"/>
                <a:cs typeface="Times New Roman" panose="02020603050405020304" pitchFamily="18" charset="0"/>
                <a:sym typeface="+mn-ea"/>
              </a:rPr>
              <a:t> </a:t>
            </a:r>
            <a:r>
              <a:rPr lang="en-US" sz="3200" b="1" dirty="0">
                <a:solidFill>
                  <a:srgbClr val="FF0000"/>
                </a:solidFill>
                <a:latin typeface="Times New Roman" panose="02020603050405020304" pitchFamily="18" charset="0"/>
                <a:cs typeface="Times New Roman" panose="02020603050405020304" pitchFamily="18" charset="0"/>
                <a:sym typeface="+mn-ea"/>
              </a:rPr>
              <a:t>Interface :</a:t>
            </a:r>
            <a:endParaRPr lang="en-US" sz="3200" b="1" dirty="0">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255905" y="2023745"/>
            <a:ext cx="8455025" cy="4154170"/>
          </a:xfrm>
          <a:prstGeom prst="rect">
            <a:avLst/>
          </a:prstGeom>
          <a:noFill/>
        </p:spPr>
        <p:txBody>
          <a:bodyPr wrap="square" rtlCol="0" anchor="t">
            <a:spAutoFit/>
          </a:bodyPr>
          <a:p>
            <a:pPr marL="342900" indent="-342900">
              <a:buFont typeface="Wingdings" panose="05000000000000000000" charset="0"/>
              <a:buChar char="Ø"/>
            </a:pPr>
            <a:r>
              <a:rPr lang="en-US" b="1">
                <a:latin typeface="Times New Roman" panose="02020603050405020304" pitchFamily="18" charset="0"/>
                <a:cs typeface="Times New Roman" panose="02020603050405020304" pitchFamily="18" charset="0"/>
              </a:rPr>
              <a:t>It is the foundation upon which the Collections Framework is built because it must be implemented by any class that</a:t>
            </a:r>
            <a:endParaRPr lang="en-US" b="1">
              <a:latin typeface="Times New Roman" panose="02020603050405020304" pitchFamily="18" charset="0"/>
              <a:cs typeface="Times New Roman" panose="02020603050405020304" pitchFamily="18" charset="0"/>
            </a:endParaRPr>
          </a:p>
          <a:p>
            <a:pPr>
              <a:buFont typeface="Wingdings" panose="05000000000000000000" charset="0"/>
            </a:pPr>
            <a:r>
              <a:rPr lang="en-US" b="1">
                <a:latin typeface="Times New Roman" panose="02020603050405020304" pitchFamily="18" charset="0"/>
                <a:cs typeface="Times New Roman" panose="02020603050405020304" pitchFamily="18" charset="0"/>
              </a:rPr>
              <a:t>    defines a collection. Collection is a generic interface as:</a:t>
            </a:r>
            <a:endParaRPr lang="en-US" b="1">
              <a:latin typeface="Times New Roman" panose="02020603050405020304" pitchFamily="18" charset="0"/>
              <a:cs typeface="Times New Roman" panose="02020603050405020304" pitchFamily="18" charset="0"/>
            </a:endParaRPr>
          </a:p>
          <a:p>
            <a:pPr>
              <a:buFont typeface="Wingdings" panose="05000000000000000000" charset="0"/>
            </a:pPr>
            <a:r>
              <a:rPr lang="en-US" b="1">
                <a:latin typeface="Times New Roman" panose="02020603050405020304" pitchFamily="18" charset="0"/>
                <a:cs typeface="Times New Roman" panose="02020603050405020304" pitchFamily="18" charset="0"/>
              </a:rPr>
              <a:t>    </a:t>
            </a:r>
            <a:r>
              <a:rPr lang="en-US" b="1">
                <a:solidFill>
                  <a:srgbClr val="00B050"/>
                </a:solidFill>
                <a:latin typeface="Times New Roman" panose="02020603050405020304" pitchFamily="18" charset="0"/>
                <a:cs typeface="Times New Roman" panose="02020603050405020304" pitchFamily="18" charset="0"/>
              </a:rPr>
              <a:t>interface Collection &lt;E&gt;</a:t>
            </a:r>
            <a:endParaRPr lang="en-US" b="1">
              <a:latin typeface="Times New Roman" panose="02020603050405020304" pitchFamily="18" charset="0"/>
              <a:cs typeface="Times New Roman" panose="02020603050405020304" pitchFamily="18" charset="0"/>
            </a:endParaRPr>
          </a:p>
          <a:p>
            <a:pPr>
              <a:buFont typeface="Wingdings" panose="05000000000000000000" charset="0"/>
            </a:pPr>
            <a:r>
              <a:rPr lang="en-US" b="1">
                <a:latin typeface="Times New Roman" panose="02020603050405020304" pitchFamily="18" charset="0"/>
                <a:cs typeface="Times New Roman" panose="02020603050405020304" pitchFamily="18" charset="0"/>
              </a:rPr>
              <a:t>    E specifies the type of objects that the collection will hold</a:t>
            </a:r>
            <a:endParaRPr lang="en-US" b="1">
              <a:latin typeface="Times New Roman" panose="02020603050405020304" pitchFamily="18" charset="0"/>
              <a:cs typeface="Times New Roman" panose="02020603050405020304" pitchFamily="18" charset="0"/>
            </a:endParaRPr>
          </a:p>
          <a:p>
            <a:pPr>
              <a:buFont typeface="Wingdings" panose="05000000000000000000" charset="0"/>
            </a:pPr>
            <a:endParaRPr lang="en-US" b="1">
              <a:latin typeface="Times New Roman" panose="02020603050405020304" pitchFamily="18" charset="0"/>
              <a:cs typeface="Times New Roman" panose="02020603050405020304" pitchFamily="18" charset="0"/>
            </a:endParaRPr>
          </a:p>
          <a:p>
            <a:pPr marL="342900" indent="-342900">
              <a:buFont typeface="Wingdings" panose="05000000000000000000" charset="0"/>
              <a:buChar char="Ø"/>
            </a:pPr>
            <a:r>
              <a:rPr lang="en-US" b="1">
                <a:latin typeface="Times New Roman" panose="02020603050405020304" pitchFamily="18" charset="0"/>
                <a:cs typeface="Times New Roman" panose="02020603050405020304" pitchFamily="18" charset="0"/>
              </a:rPr>
              <a:t>Collection extends the Iterable interface, which declares</a:t>
            </a:r>
            <a:endParaRPr lang="en-US" b="1">
              <a:latin typeface="Times New Roman" panose="02020603050405020304" pitchFamily="18" charset="0"/>
              <a:cs typeface="Times New Roman" panose="02020603050405020304" pitchFamily="18" charset="0"/>
            </a:endParaRPr>
          </a:p>
          <a:p>
            <a:pPr>
              <a:buFont typeface="Wingdings" panose="05000000000000000000" charset="0"/>
            </a:pPr>
            <a:r>
              <a:rPr lang="en-US" b="1">
                <a:latin typeface="Times New Roman" panose="02020603050405020304" pitchFamily="18" charset="0"/>
                <a:cs typeface="Times New Roman" panose="02020603050405020304" pitchFamily="18" charset="0"/>
              </a:rPr>
              <a:t>the core methods that all collections will have</a:t>
            </a:r>
            <a:endParaRPr lang="en-US" b="1">
              <a:latin typeface="Times New Roman" panose="02020603050405020304" pitchFamily="18" charset="0"/>
              <a:cs typeface="Times New Roman" panose="02020603050405020304" pitchFamily="18" charset="0"/>
            </a:endParaRPr>
          </a:p>
          <a:p>
            <a:pPr>
              <a:buFont typeface="Wingdings" panose="05000000000000000000" charset="0"/>
            </a:pPr>
            <a:endParaRPr lang="en-US" b="1">
              <a:latin typeface="Times New Roman" panose="02020603050405020304" pitchFamily="18" charset="0"/>
              <a:cs typeface="Times New Roman" panose="02020603050405020304" pitchFamily="18" charset="0"/>
            </a:endParaRPr>
          </a:p>
          <a:p>
            <a:pPr marL="342900" indent="-342900">
              <a:buClr>
                <a:srgbClr val="00B050"/>
              </a:buClr>
              <a:buFont typeface="Wingdings" panose="05000000000000000000" charset="0"/>
              <a:buChar char="Ø"/>
            </a:pPr>
            <a:r>
              <a:rPr lang="en-US" b="1">
                <a:latin typeface="Times New Roman" panose="02020603050405020304" pitchFamily="18" charset="0"/>
                <a:cs typeface="Times New Roman" panose="02020603050405020304" pitchFamily="18" charset="0"/>
              </a:rPr>
              <a:t>    add() adds objects to a collection. addAll() adds the entire</a:t>
            </a:r>
            <a:endParaRPr lang="en-US" b="1">
              <a:latin typeface="Times New Roman" panose="02020603050405020304" pitchFamily="18" charset="0"/>
              <a:cs typeface="Times New Roman" panose="02020603050405020304" pitchFamily="18" charset="0"/>
            </a:endParaRPr>
          </a:p>
          <a:p>
            <a:pPr>
              <a:buFont typeface="Wingdings" panose="05000000000000000000" charset="0"/>
            </a:pPr>
            <a:r>
              <a:rPr lang="en-US" b="1">
                <a:latin typeface="Times New Roman" panose="02020603050405020304" pitchFamily="18" charset="0"/>
                <a:cs typeface="Times New Roman" panose="02020603050405020304" pitchFamily="18" charset="0"/>
              </a:rPr>
              <a:t>        contents of one collection to another</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304800" y="271780"/>
            <a:ext cx="8717280"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Collection Framework &amp; Exploring java.lang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74295" y="1268730"/>
            <a:ext cx="8948420" cy="583565"/>
          </a:xfrm>
          <a:prstGeom prst="rect">
            <a:avLst/>
          </a:prstGeom>
          <a:noFill/>
        </p:spPr>
        <p:txBody>
          <a:bodyPr wrap="square" rtlCol="0" anchor="t">
            <a:spAutoFit/>
          </a:bodyPr>
          <a:p>
            <a:r>
              <a:rPr sz="3200" b="1" spc="5" dirty="0">
                <a:solidFill>
                  <a:srgbClr val="FF0000"/>
                </a:solidFill>
                <a:latin typeface="Times New Roman" panose="02020603050405020304" pitchFamily="18" charset="0"/>
                <a:cs typeface="Times New Roman" panose="02020603050405020304" pitchFamily="18" charset="0"/>
                <a:sym typeface="+mn-ea"/>
              </a:rPr>
              <a:t>Collection</a:t>
            </a:r>
            <a:r>
              <a:rPr sz="3200" b="1" dirty="0">
                <a:solidFill>
                  <a:srgbClr val="FF0000"/>
                </a:solidFill>
                <a:latin typeface="Times New Roman" panose="02020603050405020304" pitchFamily="18" charset="0"/>
                <a:cs typeface="Times New Roman" panose="02020603050405020304" pitchFamily="18" charset="0"/>
                <a:sym typeface="+mn-ea"/>
              </a:rPr>
              <a:t> </a:t>
            </a:r>
            <a:r>
              <a:rPr lang="en-US" sz="3200" b="1" dirty="0">
                <a:solidFill>
                  <a:srgbClr val="FF0000"/>
                </a:solidFill>
                <a:latin typeface="Times New Roman" panose="02020603050405020304" pitchFamily="18" charset="0"/>
                <a:cs typeface="Times New Roman" panose="02020603050405020304" pitchFamily="18" charset="0"/>
                <a:sym typeface="+mn-ea"/>
              </a:rPr>
              <a:t>Interface :</a:t>
            </a:r>
            <a:endParaRPr lang="en-US" sz="3200" b="1" dirty="0">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255905" y="2023745"/>
            <a:ext cx="8455025" cy="4523105"/>
          </a:xfrm>
          <a:prstGeom prst="rect">
            <a:avLst/>
          </a:prstGeom>
          <a:noFill/>
        </p:spPr>
        <p:txBody>
          <a:bodyPr wrap="square" rtlCol="0" anchor="t">
            <a:spAutoFit/>
          </a:bodyPr>
          <a:p>
            <a:pPr marL="342900" indent="-342900">
              <a:buFont typeface="Wingdings" panose="05000000000000000000" charset="0"/>
              <a:buChar char="o"/>
            </a:pPr>
            <a:r>
              <a:rPr lang="en-US" b="1">
                <a:latin typeface="Times New Roman" panose="02020603050405020304" pitchFamily="18" charset="0"/>
                <a:cs typeface="Times New Roman" panose="02020603050405020304" pitchFamily="18" charset="0"/>
                <a:sym typeface="+mn-ea"/>
              </a:rPr>
              <a:t>remove() removes an object. removeAll() removes a group</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of objects</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endParaRPr lang="en-US"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clear() is used to empty a collection</a:t>
            </a:r>
            <a:endParaRPr lang="en-US"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contains() determines whether a collection contains a</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specific object. containsAll() determines whether one</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collection contains all members of another</a:t>
            </a:r>
            <a:endParaRPr lang="en-US"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isEmpty() determines when a collection is empty</a:t>
            </a:r>
            <a:endParaRPr lang="en-US"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size() determines the number of elements currently held in</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a collection</a:t>
            </a:r>
            <a:endParaRPr lang="en-US"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equals() compares two collections</a:t>
            </a:r>
            <a:endParaRPr lang="en-US"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iterator() returns an iterator to a collection</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304800" y="271780"/>
            <a:ext cx="8717280"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Collection Framework &amp; Exploring java.lang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74295" y="1268730"/>
            <a:ext cx="8948420" cy="583565"/>
          </a:xfrm>
          <a:prstGeom prst="rect">
            <a:avLst/>
          </a:prstGeom>
          <a:noFill/>
        </p:spPr>
        <p:txBody>
          <a:bodyPr wrap="square" rtlCol="0" anchor="t">
            <a:spAutoFit/>
          </a:bodyPr>
          <a:p>
            <a:r>
              <a:rPr lang="en-US" sz="3200" b="1" dirty="0">
                <a:solidFill>
                  <a:srgbClr val="FF0000"/>
                </a:solidFill>
                <a:latin typeface="Times New Roman" panose="02020603050405020304" pitchFamily="18" charset="0"/>
                <a:cs typeface="Times New Roman" panose="02020603050405020304" pitchFamily="18" charset="0"/>
                <a:sym typeface="+mn-ea"/>
              </a:rPr>
              <a:t>List</a:t>
            </a:r>
            <a:r>
              <a:rPr sz="3200" b="1" dirty="0">
                <a:solidFill>
                  <a:srgbClr val="FF0000"/>
                </a:solidFill>
                <a:latin typeface="Times New Roman" panose="02020603050405020304" pitchFamily="18" charset="0"/>
                <a:cs typeface="Times New Roman" panose="02020603050405020304" pitchFamily="18" charset="0"/>
                <a:sym typeface="+mn-ea"/>
              </a:rPr>
              <a:t> </a:t>
            </a:r>
            <a:r>
              <a:rPr lang="en-US" sz="3200" b="1" dirty="0">
                <a:solidFill>
                  <a:srgbClr val="FF0000"/>
                </a:solidFill>
                <a:latin typeface="Times New Roman" panose="02020603050405020304" pitchFamily="18" charset="0"/>
                <a:cs typeface="Times New Roman" panose="02020603050405020304" pitchFamily="18" charset="0"/>
                <a:sym typeface="+mn-ea"/>
              </a:rPr>
              <a:t>Interface :</a:t>
            </a:r>
            <a:endParaRPr lang="en-US" sz="3200" b="1" dirty="0">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255905" y="2023745"/>
            <a:ext cx="8455025" cy="3046095"/>
          </a:xfrm>
          <a:prstGeom prst="rect">
            <a:avLst/>
          </a:prstGeom>
          <a:noFill/>
        </p:spPr>
        <p:txBody>
          <a:bodyPr wrap="square" rtlCol="0" anchor="t">
            <a:spAutoFit/>
          </a:bodyPr>
          <a:p>
            <a:pPr marL="342900" indent="-342900">
              <a:buClr>
                <a:srgbClr val="00B050"/>
              </a:buClr>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List interface extends Collection</a:t>
            </a:r>
            <a:endParaRPr lang="en-US"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endParaRPr lang="en-US"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 It contains methods to insert &amp; delete elements in index basis</a:t>
            </a:r>
            <a:endParaRPr lang="en-US"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endParaRPr lang="en-US"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A list may contain duplicate elements</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a:t>
            </a:r>
            <a:r>
              <a:rPr lang="en-US" b="1">
                <a:solidFill>
                  <a:srgbClr val="00B050"/>
                </a:solidFill>
                <a:latin typeface="Times New Roman" panose="02020603050405020304" pitchFamily="18" charset="0"/>
                <a:cs typeface="Times New Roman" panose="02020603050405020304" pitchFamily="18" charset="0"/>
                <a:sym typeface="+mn-ea"/>
              </a:rPr>
              <a:t>interface List &lt;E&gt;</a:t>
            </a:r>
            <a:endParaRPr lang="en-US" b="1">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latin typeface="Times New Roman" panose="02020603050405020304" pitchFamily="18" charset="0"/>
                <a:cs typeface="Times New Roman" panose="02020603050405020304" pitchFamily="18" charset="0"/>
                <a:sym typeface="+mn-ea"/>
              </a:rPr>
              <a:t>    here, E specifies the type of objects that the list will hold</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304800" y="271780"/>
            <a:ext cx="8717280"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Collection Framework &amp; Exploring java.lang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74295" y="1268730"/>
            <a:ext cx="8948420" cy="583565"/>
          </a:xfrm>
          <a:prstGeom prst="rect">
            <a:avLst/>
          </a:prstGeom>
          <a:noFill/>
        </p:spPr>
        <p:txBody>
          <a:bodyPr wrap="square" rtlCol="0" anchor="t">
            <a:spAutoFit/>
          </a:bodyPr>
          <a:p>
            <a:r>
              <a:rPr lang="en-US" sz="3200" b="1" dirty="0">
                <a:solidFill>
                  <a:srgbClr val="FF0000"/>
                </a:solidFill>
                <a:latin typeface="Times New Roman" panose="02020603050405020304" pitchFamily="18" charset="0"/>
                <a:cs typeface="Times New Roman" panose="02020603050405020304" pitchFamily="18" charset="0"/>
                <a:sym typeface="+mn-ea"/>
              </a:rPr>
              <a:t>List</a:t>
            </a:r>
            <a:r>
              <a:rPr sz="3200" b="1" dirty="0">
                <a:solidFill>
                  <a:srgbClr val="FF0000"/>
                </a:solidFill>
                <a:latin typeface="Times New Roman" panose="02020603050405020304" pitchFamily="18" charset="0"/>
                <a:cs typeface="Times New Roman" panose="02020603050405020304" pitchFamily="18" charset="0"/>
                <a:sym typeface="+mn-ea"/>
              </a:rPr>
              <a:t> </a:t>
            </a:r>
            <a:r>
              <a:rPr lang="en-US" sz="3200" b="1" dirty="0">
                <a:solidFill>
                  <a:srgbClr val="FF0000"/>
                </a:solidFill>
                <a:latin typeface="Times New Roman" panose="02020603050405020304" pitchFamily="18" charset="0"/>
                <a:cs typeface="Times New Roman" panose="02020603050405020304" pitchFamily="18" charset="0"/>
                <a:sym typeface="+mn-ea"/>
              </a:rPr>
              <a:t>Interface :</a:t>
            </a:r>
            <a:endParaRPr lang="en-US" sz="3200" b="1" dirty="0">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255905" y="2023745"/>
            <a:ext cx="8455025" cy="4154170"/>
          </a:xfrm>
          <a:prstGeom prst="rect">
            <a:avLst/>
          </a:prstGeom>
          <a:noFill/>
        </p:spPr>
        <p:txBody>
          <a:bodyPr wrap="square" rtlCol="0" anchor="t">
            <a:spAutoFit/>
          </a:bodyPr>
          <a:p>
            <a:pPr marL="342900" indent="-342900">
              <a:buClr>
                <a:srgbClr val="00B050"/>
              </a:buClr>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List defines its own methods in addition to the methods</a:t>
            </a:r>
            <a:endParaRPr lang="en-US" b="1">
              <a:latin typeface="Times New Roman" panose="02020603050405020304" pitchFamily="18" charset="0"/>
              <a:cs typeface="Times New Roman" panose="02020603050405020304" pitchFamily="18" charset="0"/>
              <a:sym typeface="+mn-ea"/>
            </a:endParaRPr>
          </a:p>
          <a:p>
            <a:pPr>
              <a:buClr>
                <a:srgbClr val="00B050"/>
              </a:buClr>
              <a:buFont typeface="Wingdings" panose="05000000000000000000" charset="0"/>
            </a:pPr>
            <a:r>
              <a:rPr lang="en-US" b="1">
                <a:latin typeface="Times New Roman" panose="02020603050405020304" pitchFamily="18" charset="0"/>
                <a:cs typeface="Times New Roman" panose="02020603050405020304" pitchFamily="18" charset="0"/>
                <a:sym typeface="+mn-ea"/>
              </a:rPr>
              <a:t>defined in Collection</a:t>
            </a:r>
            <a:endParaRPr lang="en-US" b="1">
              <a:latin typeface="Times New Roman" panose="02020603050405020304" pitchFamily="18" charset="0"/>
              <a:cs typeface="Times New Roman" panose="02020603050405020304" pitchFamily="18" charset="0"/>
              <a:sym typeface="+mn-ea"/>
            </a:endParaRPr>
          </a:p>
          <a:p>
            <a:pPr>
              <a:buClr>
                <a:srgbClr val="00B050"/>
              </a:buClr>
              <a:buFont typeface="Wingdings" panose="05000000000000000000" charset="0"/>
            </a:pPr>
            <a:endParaRPr lang="en-US"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v"/>
            </a:pPr>
            <a:r>
              <a:rPr lang="en-US" b="1">
                <a:latin typeface="Times New Roman" panose="02020603050405020304" pitchFamily="18" charset="0"/>
                <a:cs typeface="Times New Roman" panose="02020603050405020304" pitchFamily="18" charset="0"/>
                <a:sym typeface="+mn-ea"/>
              </a:rPr>
              <a:t>     add(int, E) and addAll(int, Collection) insert elements at</a:t>
            </a:r>
            <a:endParaRPr lang="en-US" b="1">
              <a:latin typeface="Times New Roman" panose="02020603050405020304" pitchFamily="18" charset="0"/>
              <a:cs typeface="Times New Roman" panose="02020603050405020304" pitchFamily="18" charset="0"/>
              <a:sym typeface="+mn-ea"/>
            </a:endParaRPr>
          </a:p>
          <a:p>
            <a:pPr>
              <a:buClr>
                <a:srgbClr val="00B050"/>
              </a:buClr>
              <a:buFont typeface="Wingdings" panose="05000000000000000000" charset="0"/>
            </a:pPr>
            <a:r>
              <a:rPr lang="en-US" b="1">
                <a:latin typeface="Times New Roman" panose="02020603050405020304" pitchFamily="18" charset="0"/>
                <a:cs typeface="Times New Roman" panose="02020603050405020304" pitchFamily="18" charset="0"/>
                <a:sym typeface="+mn-ea"/>
              </a:rPr>
              <a:t>          the specified index</a:t>
            </a:r>
            <a:endParaRPr lang="en-US" b="1">
              <a:latin typeface="Times New Roman" panose="02020603050405020304" pitchFamily="18" charset="0"/>
              <a:cs typeface="Times New Roman" panose="02020603050405020304" pitchFamily="18" charset="0"/>
              <a:sym typeface="+mn-ea"/>
            </a:endParaRPr>
          </a:p>
          <a:p>
            <a:pPr>
              <a:buClr>
                <a:srgbClr val="00B050"/>
              </a:buClr>
              <a:buFont typeface="Wingdings" panose="05000000000000000000" charset="0"/>
            </a:pPr>
            <a:endParaRPr lang="en-US"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v"/>
            </a:pPr>
            <a:r>
              <a:rPr lang="en-US" b="1">
                <a:latin typeface="Times New Roman" panose="02020603050405020304" pitchFamily="18" charset="0"/>
                <a:cs typeface="Times New Roman" panose="02020603050405020304" pitchFamily="18" charset="0"/>
                <a:sym typeface="+mn-ea"/>
              </a:rPr>
              <a:t>     get() returns the object stored at the specified index</a:t>
            </a:r>
            <a:endParaRPr lang="en-US"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v"/>
            </a:pPr>
            <a:r>
              <a:rPr lang="en-US" b="1">
                <a:latin typeface="Times New Roman" panose="02020603050405020304" pitchFamily="18" charset="0"/>
                <a:cs typeface="Times New Roman" panose="02020603050405020304" pitchFamily="18" charset="0"/>
                <a:sym typeface="+mn-ea"/>
              </a:rPr>
              <a:t>     set() assigns a value to an element in the list</a:t>
            </a:r>
            <a:endParaRPr lang="en-US"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v"/>
            </a:pPr>
            <a:r>
              <a:rPr lang="en-US" b="1">
                <a:latin typeface="Times New Roman" panose="02020603050405020304" pitchFamily="18" charset="0"/>
                <a:cs typeface="Times New Roman" panose="02020603050405020304" pitchFamily="18" charset="0"/>
                <a:sym typeface="+mn-ea"/>
              </a:rPr>
              <a:t>     indexOf() and lastIndexOf() find the index of an object</a:t>
            </a:r>
            <a:endParaRPr lang="en-US"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v"/>
            </a:pPr>
            <a:r>
              <a:rPr lang="en-US" b="1">
                <a:latin typeface="Times New Roman" panose="02020603050405020304" pitchFamily="18" charset="0"/>
                <a:cs typeface="Times New Roman" panose="02020603050405020304" pitchFamily="18" charset="0"/>
                <a:sym typeface="+mn-ea"/>
              </a:rPr>
              <a:t>     subList(int start, int end) obtains a sublist of a list</a:t>
            </a:r>
            <a:endParaRPr lang="en-US"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v"/>
            </a:pPr>
            <a:r>
              <a:rPr lang="en-US" b="1">
                <a:latin typeface="Times New Roman" panose="02020603050405020304" pitchFamily="18" charset="0"/>
                <a:cs typeface="Times New Roman" panose="02020603050405020304" pitchFamily="18" charset="0"/>
                <a:sym typeface="+mn-ea"/>
              </a:rPr>
              <a:t>     sort() sorts a list</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304800" y="271780"/>
            <a:ext cx="8717280"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Collection Framework &amp; Exploring java.lang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74295" y="1268730"/>
            <a:ext cx="8948420" cy="583565"/>
          </a:xfrm>
          <a:prstGeom prst="rect">
            <a:avLst/>
          </a:prstGeom>
          <a:noFill/>
        </p:spPr>
        <p:txBody>
          <a:bodyPr wrap="square" rtlCol="0" anchor="t">
            <a:spAutoFit/>
          </a:bodyPr>
          <a:p>
            <a:r>
              <a:rPr lang="en-US" sz="3200" b="1" dirty="0">
                <a:solidFill>
                  <a:srgbClr val="FF0000"/>
                </a:solidFill>
                <a:latin typeface="Times New Roman" panose="02020603050405020304" pitchFamily="18" charset="0"/>
                <a:cs typeface="Times New Roman" panose="02020603050405020304" pitchFamily="18" charset="0"/>
                <a:sym typeface="+mn-ea"/>
              </a:rPr>
              <a:t>Set</a:t>
            </a:r>
            <a:r>
              <a:rPr sz="3200" b="1" dirty="0">
                <a:solidFill>
                  <a:srgbClr val="FF0000"/>
                </a:solidFill>
                <a:latin typeface="Times New Roman" panose="02020603050405020304" pitchFamily="18" charset="0"/>
                <a:cs typeface="Times New Roman" panose="02020603050405020304" pitchFamily="18" charset="0"/>
                <a:sym typeface="+mn-ea"/>
              </a:rPr>
              <a:t> </a:t>
            </a:r>
            <a:r>
              <a:rPr lang="en-US" sz="3200" b="1" dirty="0">
                <a:solidFill>
                  <a:srgbClr val="FF0000"/>
                </a:solidFill>
                <a:latin typeface="Times New Roman" panose="02020603050405020304" pitchFamily="18" charset="0"/>
                <a:cs typeface="Times New Roman" panose="02020603050405020304" pitchFamily="18" charset="0"/>
                <a:sym typeface="+mn-ea"/>
              </a:rPr>
              <a:t>Interface :</a:t>
            </a:r>
            <a:endParaRPr lang="en-US" sz="3200" b="1" dirty="0">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255905" y="2023745"/>
            <a:ext cx="8455025" cy="3784600"/>
          </a:xfrm>
          <a:prstGeom prst="rect">
            <a:avLst/>
          </a:prstGeom>
          <a:noFill/>
        </p:spPr>
        <p:txBody>
          <a:bodyPr wrap="square" rtlCol="0" anchor="t">
            <a:spAutoFit/>
          </a:bodyPr>
          <a:p>
            <a:pPr marL="342900" indent="-342900">
              <a:buClr>
                <a:srgbClr val="00B050"/>
              </a:buClr>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Set interface defines a set. It extends Collection and specifies the behavior of a collection that doesn’t allow duplicate elements</a:t>
            </a:r>
            <a:endParaRPr lang="en-US" b="1">
              <a:latin typeface="Times New Roman" panose="02020603050405020304" pitchFamily="18" charset="0"/>
              <a:cs typeface="Times New Roman" panose="02020603050405020304" pitchFamily="18" charset="0"/>
              <a:sym typeface="+mn-ea"/>
            </a:endParaRPr>
          </a:p>
          <a:p>
            <a:pPr>
              <a:buClr>
                <a:srgbClr val="00B050"/>
              </a:buClr>
              <a:buFont typeface="Wingdings" panose="05000000000000000000" charset="0"/>
            </a:pPr>
            <a:r>
              <a:rPr lang="en-US" b="1">
                <a:latin typeface="Times New Roman" panose="02020603050405020304" pitchFamily="18" charset="0"/>
                <a:cs typeface="Times New Roman" panose="02020603050405020304" pitchFamily="18" charset="0"/>
                <a:sym typeface="+mn-ea"/>
              </a:rPr>
              <a:t>    </a:t>
            </a:r>
            <a:r>
              <a:rPr lang="en-US" b="1">
                <a:solidFill>
                  <a:srgbClr val="00B050"/>
                </a:solidFill>
                <a:latin typeface="Times New Roman" panose="02020603050405020304" pitchFamily="18" charset="0"/>
                <a:cs typeface="Times New Roman" panose="02020603050405020304" pitchFamily="18" charset="0"/>
                <a:sym typeface="+mn-ea"/>
              </a:rPr>
              <a:t>interface Set &lt;E&gt;</a:t>
            </a:r>
            <a:endParaRPr lang="en-US" b="1">
              <a:latin typeface="Times New Roman" panose="02020603050405020304" pitchFamily="18" charset="0"/>
              <a:cs typeface="Times New Roman" panose="02020603050405020304" pitchFamily="18" charset="0"/>
              <a:sym typeface="+mn-ea"/>
            </a:endParaRPr>
          </a:p>
          <a:p>
            <a:pPr>
              <a:buClr>
                <a:srgbClr val="00B050"/>
              </a:buClr>
              <a:buFont typeface="Wingdings" panose="05000000000000000000" charset="0"/>
            </a:pPr>
            <a:r>
              <a:rPr lang="en-US" b="1">
                <a:latin typeface="Times New Roman" panose="02020603050405020304" pitchFamily="18" charset="0"/>
                <a:cs typeface="Times New Roman" panose="02020603050405020304" pitchFamily="18" charset="0"/>
                <a:sym typeface="+mn-ea"/>
              </a:rPr>
              <a:t>    Here, E specifies the type of objects that the set will hold</a:t>
            </a:r>
            <a:endParaRPr lang="en-US" b="1">
              <a:latin typeface="Times New Roman" panose="02020603050405020304" pitchFamily="18" charset="0"/>
              <a:cs typeface="Times New Roman" panose="02020603050405020304" pitchFamily="18" charset="0"/>
              <a:sym typeface="+mn-ea"/>
            </a:endParaRPr>
          </a:p>
          <a:p>
            <a:pPr>
              <a:buClr>
                <a:srgbClr val="00B050"/>
              </a:buClr>
              <a:buFont typeface="Wingdings" panose="05000000000000000000" charset="0"/>
            </a:pPr>
            <a:endParaRPr lang="en-US"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add() returns false if an attempt is made to add duplicate</a:t>
            </a:r>
            <a:endParaRPr lang="en-US" b="1">
              <a:latin typeface="Times New Roman" panose="02020603050405020304" pitchFamily="18" charset="0"/>
              <a:cs typeface="Times New Roman" panose="02020603050405020304" pitchFamily="18" charset="0"/>
              <a:sym typeface="+mn-ea"/>
            </a:endParaRPr>
          </a:p>
          <a:p>
            <a:pPr>
              <a:buClr>
                <a:srgbClr val="00B050"/>
              </a:buClr>
              <a:buFont typeface="Wingdings" panose="05000000000000000000" charset="0"/>
            </a:pPr>
            <a:r>
              <a:rPr lang="en-US" b="1">
                <a:latin typeface="Times New Roman" panose="02020603050405020304" pitchFamily="18" charset="0"/>
                <a:cs typeface="Times New Roman" panose="02020603050405020304" pitchFamily="18" charset="0"/>
                <a:sym typeface="+mn-ea"/>
              </a:rPr>
              <a:t>elements to a set</a:t>
            </a:r>
            <a:endParaRPr lang="en-US" b="1">
              <a:latin typeface="Times New Roman" panose="02020603050405020304" pitchFamily="18" charset="0"/>
              <a:cs typeface="Times New Roman" panose="02020603050405020304" pitchFamily="18" charset="0"/>
              <a:sym typeface="+mn-ea"/>
            </a:endParaRPr>
          </a:p>
          <a:p>
            <a:pPr>
              <a:buClr>
                <a:srgbClr val="00B050"/>
              </a:buClr>
              <a:buFont typeface="Wingdings" panose="05000000000000000000" charset="0"/>
            </a:pPr>
            <a:endParaRPr lang="en-US"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It doesn’t specify any additional methods of its own</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304800" y="271780"/>
            <a:ext cx="8717280"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Collection Framework &amp; Exploring java.lang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74295" y="1268730"/>
            <a:ext cx="8948420" cy="583565"/>
          </a:xfrm>
          <a:prstGeom prst="rect">
            <a:avLst/>
          </a:prstGeom>
          <a:noFill/>
        </p:spPr>
        <p:txBody>
          <a:bodyPr wrap="square" rtlCol="0" anchor="t">
            <a:spAutoFit/>
          </a:bodyPr>
          <a:p>
            <a:r>
              <a:rPr lang="en-US" sz="3200" b="1" dirty="0">
                <a:solidFill>
                  <a:srgbClr val="FF0000"/>
                </a:solidFill>
                <a:latin typeface="Times New Roman" panose="02020603050405020304" pitchFamily="18" charset="0"/>
                <a:cs typeface="Times New Roman" panose="02020603050405020304" pitchFamily="18" charset="0"/>
                <a:sym typeface="+mn-ea"/>
              </a:rPr>
              <a:t>Queue</a:t>
            </a:r>
            <a:r>
              <a:rPr sz="3200" b="1" dirty="0">
                <a:solidFill>
                  <a:srgbClr val="FF0000"/>
                </a:solidFill>
                <a:latin typeface="Times New Roman" panose="02020603050405020304" pitchFamily="18" charset="0"/>
                <a:cs typeface="Times New Roman" panose="02020603050405020304" pitchFamily="18" charset="0"/>
                <a:sym typeface="+mn-ea"/>
              </a:rPr>
              <a:t> </a:t>
            </a:r>
            <a:r>
              <a:rPr lang="en-US" sz="3200" b="1" dirty="0">
                <a:solidFill>
                  <a:srgbClr val="FF0000"/>
                </a:solidFill>
                <a:latin typeface="Times New Roman" panose="02020603050405020304" pitchFamily="18" charset="0"/>
                <a:cs typeface="Times New Roman" panose="02020603050405020304" pitchFamily="18" charset="0"/>
                <a:sym typeface="+mn-ea"/>
              </a:rPr>
              <a:t>Interface :</a:t>
            </a:r>
            <a:endParaRPr lang="en-US" sz="3200" b="1" dirty="0">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255905" y="2023745"/>
            <a:ext cx="8455025" cy="3784600"/>
          </a:xfrm>
          <a:prstGeom prst="rect">
            <a:avLst/>
          </a:prstGeom>
          <a:noFill/>
        </p:spPr>
        <p:txBody>
          <a:bodyPr wrap="square" rtlCol="0" anchor="t">
            <a:spAutoFit/>
          </a:bodyPr>
          <a:p>
            <a:pPr marL="342900" indent="-342900">
              <a:buClr>
                <a:srgbClr val="00B050"/>
              </a:buClr>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Queue interface extends Collection and declares the behavior of a queue, which is a FIFO list</a:t>
            </a:r>
            <a:endParaRPr lang="en-US" b="1">
              <a:latin typeface="Times New Roman" panose="02020603050405020304" pitchFamily="18" charset="0"/>
              <a:cs typeface="Times New Roman" panose="02020603050405020304" pitchFamily="18" charset="0"/>
              <a:sym typeface="+mn-ea"/>
            </a:endParaRPr>
          </a:p>
          <a:p>
            <a:pPr>
              <a:buClr>
                <a:srgbClr val="00B050"/>
              </a:buClr>
              <a:buFont typeface="Wingdings" panose="05000000000000000000" charset="0"/>
            </a:pPr>
            <a:r>
              <a:rPr lang="en-US" b="1">
                <a:latin typeface="Times New Roman" panose="02020603050405020304" pitchFamily="18" charset="0"/>
                <a:cs typeface="Times New Roman" panose="02020603050405020304" pitchFamily="18" charset="0"/>
                <a:sym typeface="+mn-ea"/>
              </a:rPr>
              <a:t>     </a:t>
            </a:r>
            <a:r>
              <a:rPr lang="en-US" b="1">
                <a:solidFill>
                  <a:srgbClr val="00B050"/>
                </a:solidFill>
                <a:latin typeface="Times New Roman" panose="02020603050405020304" pitchFamily="18" charset="0"/>
                <a:cs typeface="Times New Roman" panose="02020603050405020304" pitchFamily="18" charset="0"/>
                <a:sym typeface="+mn-ea"/>
              </a:rPr>
              <a:t>interface Queue &lt;E&gt;</a:t>
            </a:r>
            <a:endParaRPr lang="en-US" b="1">
              <a:latin typeface="Times New Roman" panose="02020603050405020304" pitchFamily="18" charset="0"/>
              <a:cs typeface="Times New Roman" panose="02020603050405020304" pitchFamily="18" charset="0"/>
              <a:sym typeface="+mn-ea"/>
            </a:endParaRPr>
          </a:p>
          <a:p>
            <a:pPr>
              <a:buClr>
                <a:srgbClr val="00B050"/>
              </a:buClr>
              <a:buFont typeface="Wingdings" panose="05000000000000000000" charset="0"/>
            </a:pPr>
            <a:r>
              <a:rPr lang="en-US" b="1">
                <a:latin typeface="Times New Roman" panose="02020603050405020304" pitchFamily="18" charset="0"/>
                <a:cs typeface="Times New Roman" panose="02020603050405020304" pitchFamily="18" charset="0"/>
                <a:sym typeface="+mn-ea"/>
              </a:rPr>
              <a:t>    Here, E specifies the type of objects that the queue will hold</a:t>
            </a:r>
            <a:endParaRPr lang="en-US" b="1">
              <a:latin typeface="Times New Roman" panose="02020603050405020304" pitchFamily="18" charset="0"/>
              <a:cs typeface="Times New Roman" panose="02020603050405020304" pitchFamily="18" charset="0"/>
              <a:sym typeface="+mn-ea"/>
            </a:endParaRPr>
          </a:p>
          <a:p>
            <a:pPr>
              <a:buClr>
                <a:srgbClr val="00B050"/>
              </a:buClr>
              <a:buFont typeface="Wingdings" panose="05000000000000000000" charset="0"/>
            </a:pPr>
            <a:endParaRPr lang="en-US"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Elements can only be removed from the head of the queue</a:t>
            </a:r>
            <a:endParaRPr lang="en-US"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endParaRPr lang="en-US"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There are two methods that obtain and remove elements:</a:t>
            </a:r>
            <a:endParaRPr lang="en-US" b="1">
              <a:latin typeface="Times New Roman" panose="02020603050405020304" pitchFamily="18" charset="0"/>
              <a:cs typeface="Times New Roman" panose="02020603050405020304" pitchFamily="18" charset="0"/>
              <a:sym typeface="+mn-ea"/>
            </a:endParaRPr>
          </a:p>
          <a:p>
            <a:pPr>
              <a:buClr>
                <a:srgbClr val="00B050"/>
              </a:buClr>
              <a:buFont typeface="Wingdings" panose="05000000000000000000" charset="0"/>
            </a:pPr>
            <a:r>
              <a:rPr lang="en-US" b="1">
                <a:latin typeface="Times New Roman" panose="02020603050405020304" pitchFamily="18" charset="0"/>
                <a:cs typeface="Times New Roman" panose="02020603050405020304" pitchFamily="18" charset="0"/>
                <a:sym typeface="+mn-ea"/>
              </a:rPr>
              <a:t>     poll() and remove(). poll() returns null if the queue is</a:t>
            </a:r>
            <a:endParaRPr lang="en-US" b="1">
              <a:latin typeface="Times New Roman" panose="02020603050405020304" pitchFamily="18" charset="0"/>
              <a:cs typeface="Times New Roman" panose="02020603050405020304" pitchFamily="18" charset="0"/>
              <a:sym typeface="+mn-ea"/>
            </a:endParaRPr>
          </a:p>
          <a:p>
            <a:pPr>
              <a:buClr>
                <a:srgbClr val="00B050"/>
              </a:buClr>
              <a:buFont typeface="Wingdings" panose="05000000000000000000" charset="0"/>
            </a:pPr>
            <a:r>
              <a:rPr lang="en-US" b="1">
                <a:latin typeface="Times New Roman" panose="02020603050405020304" pitchFamily="18" charset="0"/>
                <a:cs typeface="Times New Roman" panose="02020603050405020304" pitchFamily="18" charset="0"/>
                <a:sym typeface="+mn-ea"/>
              </a:rPr>
              <a:t>     empty; whereas remove throws an exception</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304800" y="271780"/>
            <a:ext cx="8717280"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Collection Framework &amp; Exploring java.lang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74295" y="1268730"/>
            <a:ext cx="8948420" cy="583565"/>
          </a:xfrm>
          <a:prstGeom prst="rect">
            <a:avLst/>
          </a:prstGeom>
          <a:noFill/>
        </p:spPr>
        <p:txBody>
          <a:bodyPr wrap="square" rtlCol="0" anchor="t">
            <a:spAutoFit/>
          </a:bodyPr>
          <a:p>
            <a:r>
              <a:rPr lang="en-US" sz="3200" b="1" dirty="0">
                <a:solidFill>
                  <a:srgbClr val="FF0000"/>
                </a:solidFill>
                <a:latin typeface="Times New Roman" panose="02020603050405020304" pitchFamily="18" charset="0"/>
                <a:cs typeface="Times New Roman" panose="02020603050405020304" pitchFamily="18" charset="0"/>
                <a:sym typeface="+mn-ea"/>
              </a:rPr>
              <a:t>Queue</a:t>
            </a:r>
            <a:r>
              <a:rPr sz="3200" b="1" dirty="0">
                <a:solidFill>
                  <a:srgbClr val="FF0000"/>
                </a:solidFill>
                <a:latin typeface="Times New Roman" panose="02020603050405020304" pitchFamily="18" charset="0"/>
                <a:cs typeface="Times New Roman" panose="02020603050405020304" pitchFamily="18" charset="0"/>
                <a:sym typeface="+mn-ea"/>
              </a:rPr>
              <a:t> </a:t>
            </a:r>
            <a:r>
              <a:rPr lang="en-US" sz="3200" b="1" dirty="0">
                <a:solidFill>
                  <a:srgbClr val="FF0000"/>
                </a:solidFill>
                <a:latin typeface="Times New Roman" panose="02020603050405020304" pitchFamily="18" charset="0"/>
                <a:cs typeface="Times New Roman" panose="02020603050405020304" pitchFamily="18" charset="0"/>
                <a:sym typeface="+mn-ea"/>
              </a:rPr>
              <a:t>Interface :</a:t>
            </a:r>
            <a:endParaRPr lang="en-US" sz="3200" b="1" dirty="0">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255905" y="2023745"/>
            <a:ext cx="8455025" cy="2306955"/>
          </a:xfrm>
          <a:prstGeom prst="rect">
            <a:avLst/>
          </a:prstGeom>
          <a:noFill/>
        </p:spPr>
        <p:txBody>
          <a:bodyPr wrap="square" rtlCol="0" anchor="t">
            <a:spAutoFit/>
          </a:bodyPr>
          <a:p>
            <a:pPr marL="342900" indent="-342900">
              <a:buClr>
                <a:srgbClr val="00B050"/>
              </a:buClr>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There are two methods that obtain but don’t remove the</a:t>
            </a:r>
            <a:endParaRPr lang="en-US" b="1">
              <a:latin typeface="Times New Roman" panose="02020603050405020304" pitchFamily="18" charset="0"/>
              <a:cs typeface="Times New Roman" panose="02020603050405020304" pitchFamily="18" charset="0"/>
              <a:sym typeface="+mn-ea"/>
            </a:endParaRPr>
          </a:p>
          <a:p>
            <a:pPr>
              <a:buClr>
                <a:srgbClr val="00B050"/>
              </a:buClr>
              <a:buFont typeface="Wingdings" panose="05000000000000000000" charset="0"/>
            </a:pPr>
            <a:r>
              <a:rPr lang="en-US" b="1">
                <a:latin typeface="Times New Roman" panose="02020603050405020304" pitchFamily="18" charset="0"/>
                <a:cs typeface="Times New Roman" panose="02020603050405020304" pitchFamily="18" charset="0"/>
                <a:sym typeface="+mn-ea"/>
              </a:rPr>
              <a:t>     element at the head of the queue: element() and peek().</a:t>
            </a:r>
            <a:endParaRPr lang="en-US" b="1">
              <a:latin typeface="Times New Roman" panose="02020603050405020304" pitchFamily="18" charset="0"/>
              <a:cs typeface="Times New Roman" panose="02020603050405020304" pitchFamily="18" charset="0"/>
              <a:sym typeface="+mn-ea"/>
            </a:endParaRPr>
          </a:p>
          <a:p>
            <a:pPr>
              <a:buClr>
                <a:srgbClr val="00B050"/>
              </a:buClr>
              <a:buFont typeface="Wingdings" panose="05000000000000000000" charset="0"/>
            </a:pPr>
            <a:r>
              <a:rPr lang="en-US" b="1">
                <a:latin typeface="Times New Roman" panose="02020603050405020304" pitchFamily="18" charset="0"/>
                <a:cs typeface="Times New Roman" panose="02020603050405020304" pitchFamily="18" charset="0"/>
                <a:sym typeface="+mn-ea"/>
              </a:rPr>
              <a:t>     element() throws an exception if the queue is empty;</a:t>
            </a:r>
            <a:endParaRPr lang="en-US" b="1">
              <a:latin typeface="Times New Roman" panose="02020603050405020304" pitchFamily="18" charset="0"/>
              <a:cs typeface="Times New Roman" panose="02020603050405020304" pitchFamily="18" charset="0"/>
              <a:sym typeface="+mn-ea"/>
            </a:endParaRPr>
          </a:p>
          <a:p>
            <a:pPr>
              <a:buClr>
                <a:srgbClr val="00B050"/>
              </a:buClr>
              <a:buFont typeface="Wingdings" panose="05000000000000000000" charset="0"/>
            </a:pPr>
            <a:r>
              <a:rPr lang="en-US" b="1">
                <a:latin typeface="Times New Roman" panose="02020603050405020304" pitchFamily="18" charset="0"/>
                <a:cs typeface="Times New Roman" panose="02020603050405020304" pitchFamily="18" charset="0"/>
                <a:sym typeface="+mn-ea"/>
              </a:rPr>
              <a:t>     whereas peek() returns null</a:t>
            </a:r>
            <a:endParaRPr lang="en-US" b="1">
              <a:latin typeface="Times New Roman" panose="02020603050405020304" pitchFamily="18" charset="0"/>
              <a:cs typeface="Times New Roman" panose="02020603050405020304" pitchFamily="18" charset="0"/>
              <a:sym typeface="+mn-ea"/>
            </a:endParaRPr>
          </a:p>
          <a:p>
            <a:pPr>
              <a:buClr>
                <a:srgbClr val="00B050"/>
              </a:buClr>
              <a:buFont typeface="Wingdings" panose="05000000000000000000" charset="0"/>
            </a:pPr>
            <a:endParaRPr lang="en-US"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offer() attempts to add an element to a queue</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304800" y="271780"/>
            <a:ext cx="8717280"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Collection Framework &amp; Exploring java.lang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74295" y="1268730"/>
            <a:ext cx="8948420" cy="583565"/>
          </a:xfrm>
          <a:prstGeom prst="rect">
            <a:avLst/>
          </a:prstGeom>
          <a:noFill/>
        </p:spPr>
        <p:txBody>
          <a:bodyPr wrap="square" rtlCol="0" anchor="t">
            <a:spAutoFit/>
          </a:bodyPr>
          <a:p>
            <a:r>
              <a:rPr lang="en-US" sz="3200" b="1" dirty="0">
                <a:solidFill>
                  <a:srgbClr val="FF0000"/>
                </a:solidFill>
                <a:latin typeface="Times New Roman" panose="02020603050405020304" pitchFamily="18" charset="0"/>
                <a:cs typeface="Times New Roman" panose="02020603050405020304" pitchFamily="18" charset="0"/>
                <a:sym typeface="+mn-ea"/>
              </a:rPr>
              <a:t>Dequeue</a:t>
            </a:r>
            <a:r>
              <a:rPr sz="3200" b="1" dirty="0">
                <a:solidFill>
                  <a:srgbClr val="FF0000"/>
                </a:solidFill>
                <a:latin typeface="Times New Roman" panose="02020603050405020304" pitchFamily="18" charset="0"/>
                <a:cs typeface="Times New Roman" panose="02020603050405020304" pitchFamily="18" charset="0"/>
                <a:sym typeface="+mn-ea"/>
              </a:rPr>
              <a:t> </a:t>
            </a:r>
            <a:r>
              <a:rPr lang="en-US" sz="3200" b="1" dirty="0">
                <a:solidFill>
                  <a:srgbClr val="FF0000"/>
                </a:solidFill>
                <a:latin typeface="Times New Roman" panose="02020603050405020304" pitchFamily="18" charset="0"/>
                <a:cs typeface="Times New Roman" panose="02020603050405020304" pitchFamily="18" charset="0"/>
                <a:sym typeface="+mn-ea"/>
              </a:rPr>
              <a:t>Interface :</a:t>
            </a:r>
            <a:endParaRPr lang="en-US" sz="3200" b="1" dirty="0">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255905" y="2023745"/>
            <a:ext cx="8455025" cy="4892675"/>
          </a:xfrm>
          <a:prstGeom prst="rect">
            <a:avLst/>
          </a:prstGeom>
          <a:noFill/>
        </p:spPr>
        <p:txBody>
          <a:bodyPr wrap="square" rtlCol="0" anchor="t">
            <a:spAutoFit/>
          </a:bodyPr>
          <a:p>
            <a:pPr marL="342900" indent="-342900">
              <a:buClr>
                <a:srgbClr val="00B050"/>
              </a:buClr>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Deque interface extends Queue and declares the behavior of a double-ended queue. Deques can function as standard, first-in, first-out queues or as last-in, first-out stacks</a:t>
            </a:r>
            <a:endParaRPr lang="en-US" b="1">
              <a:latin typeface="Times New Roman" panose="02020603050405020304" pitchFamily="18" charset="0"/>
              <a:cs typeface="Times New Roman" panose="02020603050405020304" pitchFamily="18" charset="0"/>
              <a:sym typeface="+mn-ea"/>
            </a:endParaRPr>
          </a:p>
          <a:p>
            <a:pPr>
              <a:buClr>
                <a:srgbClr val="00B050"/>
              </a:buClr>
              <a:buFont typeface="Wingdings" panose="05000000000000000000" charset="0"/>
            </a:pPr>
            <a:r>
              <a:rPr lang="en-US" b="1">
                <a:solidFill>
                  <a:srgbClr val="00B050"/>
                </a:solidFill>
                <a:latin typeface="Times New Roman" panose="02020603050405020304" pitchFamily="18" charset="0"/>
                <a:cs typeface="Times New Roman" panose="02020603050405020304" pitchFamily="18" charset="0"/>
                <a:sym typeface="+mn-ea"/>
              </a:rPr>
              <a:t>    interface Deque &lt;E&gt;</a:t>
            </a:r>
            <a:endParaRPr lang="en-US" b="1">
              <a:latin typeface="Times New Roman" panose="02020603050405020304" pitchFamily="18" charset="0"/>
              <a:cs typeface="Times New Roman" panose="02020603050405020304" pitchFamily="18" charset="0"/>
              <a:sym typeface="+mn-ea"/>
            </a:endParaRPr>
          </a:p>
          <a:p>
            <a:pPr>
              <a:buClr>
                <a:srgbClr val="00B050"/>
              </a:buClr>
              <a:buFont typeface="Wingdings" panose="05000000000000000000" charset="0"/>
            </a:pPr>
            <a:r>
              <a:rPr lang="en-US" b="1">
                <a:latin typeface="Times New Roman" panose="02020603050405020304" pitchFamily="18" charset="0"/>
                <a:cs typeface="Times New Roman" panose="02020603050405020304" pitchFamily="18" charset="0"/>
                <a:sym typeface="+mn-ea"/>
              </a:rPr>
              <a:t>    Here, E specifies the type of objects that the deque will hold</a:t>
            </a:r>
            <a:endParaRPr lang="en-US" b="1">
              <a:latin typeface="Times New Roman" panose="02020603050405020304" pitchFamily="18" charset="0"/>
              <a:cs typeface="Times New Roman" panose="02020603050405020304" pitchFamily="18" charset="0"/>
              <a:sym typeface="+mn-ea"/>
            </a:endParaRPr>
          </a:p>
          <a:p>
            <a:pPr>
              <a:buClr>
                <a:srgbClr val="00B050"/>
              </a:buClr>
              <a:buFont typeface="Wingdings" panose="05000000000000000000" charset="0"/>
            </a:pPr>
            <a:endParaRPr lang="en-US"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Along with the methods of Queue, Deque adds the following:</a:t>
            </a:r>
            <a:endParaRPr lang="en-US"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endParaRPr lang="en-US"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v"/>
            </a:pPr>
            <a:r>
              <a:rPr lang="en-US" b="1">
                <a:latin typeface="Times New Roman" panose="02020603050405020304" pitchFamily="18" charset="0"/>
                <a:cs typeface="Times New Roman" panose="02020603050405020304" pitchFamily="18" charset="0"/>
                <a:sym typeface="+mn-ea"/>
              </a:rPr>
              <a:t>   push() and pop() methods enable a Deque to function as a</a:t>
            </a:r>
            <a:endParaRPr lang="en-US" b="1">
              <a:latin typeface="Times New Roman" panose="02020603050405020304" pitchFamily="18" charset="0"/>
              <a:cs typeface="Times New Roman" panose="02020603050405020304" pitchFamily="18" charset="0"/>
              <a:sym typeface="+mn-ea"/>
            </a:endParaRPr>
          </a:p>
          <a:p>
            <a:pPr>
              <a:buClr>
                <a:srgbClr val="00B050"/>
              </a:buClr>
              <a:buFont typeface="Wingdings" panose="05000000000000000000" charset="0"/>
            </a:pPr>
            <a:r>
              <a:rPr lang="en-US" b="1">
                <a:latin typeface="Times New Roman" panose="02020603050405020304" pitchFamily="18" charset="0"/>
                <a:cs typeface="Times New Roman" panose="02020603050405020304" pitchFamily="18" charset="0"/>
                <a:sym typeface="+mn-ea"/>
              </a:rPr>
              <a:t>        stack</a:t>
            </a:r>
            <a:endParaRPr lang="en-US" b="1">
              <a:latin typeface="Times New Roman" panose="02020603050405020304" pitchFamily="18" charset="0"/>
              <a:cs typeface="Times New Roman" panose="02020603050405020304" pitchFamily="18" charset="0"/>
              <a:sym typeface="+mn-ea"/>
            </a:endParaRPr>
          </a:p>
          <a:p>
            <a:pPr>
              <a:buClr>
                <a:srgbClr val="00B050"/>
              </a:buClr>
              <a:buFont typeface="Wingdings" panose="05000000000000000000" charset="0"/>
            </a:pPr>
            <a:endParaRPr lang="en-US"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v"/>
            </a:pPr>
            <a:r>
              <a:rPr lang="en-US" b="1">
                <a:latin typeface="Times New Roman" panose="02020603050405020304" pitchFamily="18" charset="0"/>
                <a:cs typeface="Times New Roman" panose="02020603050405020304" pitchFamily="18" charset="0"/>
                <a:sym typeface="+mn-ea"/>
              </a:rPr>
              <a:t>   descendingIterator() returns an iterator that returns</a:t>
            </a:r>
            <a:endParaRPr lang="en-US" b="1">
              <a:latin typeface="Times New Roman" panose="02020603050405020304" pitchFamily="18" charset="0"/>
              <a:cs typeface="Times New Roman" panose="02020603050405020304" pitchFamily="18" charset="0"/>
              <a:sym typeface="+mn-ea"/>
            </a:endParaRPr>
          </a:p>
          <a:p>
            <a:pPr>
              <a:buClr>
                <a:srgbClr val="00B050"/>
              </a:buClr>
              <a:buFont typeface="Wingdings" panose="05000000000000000000" charset="0"/>
            </a:pPr>
            <a:r>
              <a:rPr lang="en-US" b="1">
                <a:latin typeface="Times New Roman" panose="02020603050405020304" pitchFamily="18" charset="0"/>
                <a:cs typeface="Times New Roman" panose="02020603050405020304" pitchFamily="18" charset="0"/>
                <a:sym typeface="+mn-ea"/>
              </a:rPr>
              <a:t>        elements in reverse order</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304800" y="271780"/>
            <a:ext cx="8717280"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Collection Framework &amp; Exploring java.lang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74295" y="1268730"/>
            <a:ext cx="8948420" cy="583565"/>
          </a:xfrm>
          <a:prstGeom prst="rect">
            <a:avLst/>
          </a:prstGeom>
          <a:noFill/>
        </p:spPr>
        <p:txBody>
          <a:bodyPr wrap="square" rtlCol="0" anchor="t">
            <a:spAutoFit/>
          </a:bodyPr>
          <a:p>
            <a:r>
              <a:rPr lang="en-US" sz="3200" b="1" dirty="0">
                <a:solidFill>
                  <a:srgbClr val="FF0000"/>
                </a:solidFill>
                <a:latin typeface="Times New Roman" panose="02020603050405020304" pitchFamily="18" charset="0"/>
                <a:cs typeface="Times New Roman" panose="02020603050405020304" pitchFamily="18" charset="0"/>
                <a:sym typeface="+mn-ea"/>
              </a:rPr>
              <a:t>Collection Classes :</a:t>
            </a:r>
            <a:endParaRPr lang="en-US" sz="3200" b="1" dirty="0">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255905" y="2023745"/>
            <a:ext cx="8455025" cy="3046095"/>
          </a:xfrm>
          <a:prstGeom prst="rect">
            <a:avLst/>
          </a:prstGeom>
          <a:noFill/>
        </p:spPr>
        <p:txBody>
          <a:bodyPr wrap="square" rtlCol="0" anchor="t">
            <a:spAutoFit/>
          </a:bodyPr>
          <a:p>
            <a:pPr marL="342900" indent="-342900">
              <a:buClr>
                <a:srgbClr val="00B050"/>
              </a:buClr>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AbstractCollection</a:t>
            </a:r>
            <a:endParaRPr lang="en-US"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AbstractList</a:t>
            </a:r>
            <a:endParaRPr lang="en-US"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AbstractQueue</a:t>
            </a:r>
            <a:endParaRPr lang="en-US"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LinkedList</a:t>
            </a:r>
            <a:endParaRPr lang="en-US"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ArrayList</a:t>
            </a:r>
            <a:endParaRPr lang="en-US"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ArrayDeque</a:t>
            </a:r>
            <a:endParaRPr lang="en-US"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AbstractSet</a:t>
            </a:r>
            <a:endParaRPr lang="en-US"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PriorityQueue</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304800" y="271780"/>
            <a:ext cx="8717280"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Collection Framework &amp; Exploring java.lang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74295" y="1268730"/>
            <a:ext cx="8948420" cy="583565"/>
          </a:xfrm>
          <a:prstGeom prst="rect">
            <a:avLst/>
          </a:prstGeom>
          <a:noFill/>
        </p:spPr>
        <p:txBody>
          <a:bodyPr wrap="square" rtlCol="0" anchor="t">
            <a:spAutoFit/>
          </a:bodyPr>
          <a:p>
            <a:r>
              <a:rPr lang="en-US" sz="3200" b="1" dirty="0">
                <a:solidFill>
                  <a:srgbClr val="FF0000"/>
                </a:solidFill>
                <a:latin typeface="Times New Roman" panose="02020603050405020304" pitchFamily="18" charset="0"/>
                <a:cs typeface="Times New Roman" panose="02020603050405020304" pitchFamily="18" charset="0"/>
                <a:sym typeface="+mn-ea"/>
              </a:rPr>
              <a:t>ArrayList Class :</a:t>
            </a:r>
            <a:endParaRPr lang="en-US" sz="3200" b="1" dirty="0">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255905" y="2023745"/>
            <a:ext cx="8455025" cy="4399915"/>
          </a:xfrm>
          <a:prstGeom prst="rect">
            <a:avLst/>
          </a:prstGeom>
          <a:noFill/>
        </p:spPr>
        <p:txBody>
          <a:bodyPr wrap="square" rtlCol="0" anchor="t">
            <a:spAutoFit/>
          </a:bodyPr>
          <a:p>
            <a:pPr marL="342900" indent="-342900">
              <a:buClr>
                <a:srgbClr val="00B050"/>
              </a:buClr>
              <a:buFont typeface="Wingdings" panose="05000000000000000000" charset="0"/>
              <a:buChar char="Ø"/>
            </a:pPr>
            <a:r>
              <a:rPr lang="en-US" sz="2000" b="1">
                <a:latin typeface="Times New Roman" panose="02020603050405020304" pitchFamily="18" charset="0"/>
                <a:cs typeface="Times New Roman" panose="02020603050405020304" pitchFamily="18" charset="0"/>
                <a:sym typeface="+mn-ea"/>
              </a:rPr>
              <a:t>ArrayList class extends AbstractList and implements the</a:t>
            </a:r>
            <a:endParaRPr lang="en-US" sz="2000" b="1">
              <a:latin typeface="Times New Roman" panose="02020603050405020304" pitchFamily="18" charset="0"/>
              <a:cs typeface="Times New Roman" panose="02020603050405020304" pitchFamily="18" charset="0"/>
              <a:sym typeface="+mn-ea"/>
            </a:endParaRPr>
          </a:p>
          <a:p>
            <a:pPr>
              <a:buClr>
                <a:srgbClr val="00B050"/>
              </a:buClr>
              <a:buFont typeface="Wingdings" panose="05000000000000000000" charset="0"/>
            </a:pPr>
            <a:r>
              <a:rPr lang="en-US" sz="2000" b="1">
                <a:latin typeface="Times New Roman" panose="02020603050405020304" pitchFamily="18" charset="0"/>
                <a:cs typeface="Times New Roman" panose="02020603050405020304" pitchFamily="18" charset="0"/>
                <a:sym typeface="+mn-ea"/>
              </a:rPr>
              <a:t>    List interface</a:t>
            </a:r>
            <a:endParaRPr lang="en-US" sz="2000" b="1">
              <a:latin typeface="Times New Roman" panose="02020603050405020304" pitchFamily="18" charset="0"/>
              <a:cs typeface="Times New Roman" panose="02020603050405020304" pitchFamily="18" charset="0"/>
              <a:sym typeface="+mn-ea"/>
            </a:endParaRPr>
          </a:p>
          <a:p>
            <a:pPr>
              <a:buClr>
                <a:srgbClr val="00B050"/>
              </a:buClr>
              <a:buFont typeface="Wingdings" panose="05000000000000000000" charset="0"/>
            </a:pPr>
            <a:r>
              <a:rPr lang="en-US" sz="2000" b="1">
                <a:latin typeface="Times New Roman" panose="02020603050405020304" pitchFamily="18" charset="0"/>
                <a:cs typeface="Times New Roman" panose="02020603050405020304" pitchFamily="18" charset="0"/>
                <a:sym typeface="+mn-ea"/>
              </a:rPr>
              <a:t>    </a:t>
            </a:r>
            <a:r>
              <a:rPr lang="en-US" sz="2000" b="1">
                <a:solidFill>
                  <a:srgbClr val="00B050"/>
                </a:solidFill>
                <a:latin typeface="Times New Roman" panose="02020603050405020304" pitchFamily="18" charset="0"/>
                <a:cs typeface="Times New Roman" panose="02020603050405020304" pitchFamily="18" charset="0"/>
                <a:sym typeface="+mn-ea"/>
              </a:rPr>
              <a:t>class ArrayList &lt;E&gt;</a:t>
            </a:r>
            <a:endParaRPr lang="en-US" sz="2000" b="1">
              <a:latin typeface="Times New Roman" panose="02020603050405020304" pitchFamily="18" charset="0"/>
              <a:cs typeface="Times New Roman" panose="02020603050405020304" pitchFamily="18" charset="0"/>
              <a:sym typeface="+mn-ea"/>
            </a:endParaRPr>
          </a:p>
          <a:p>
            <a:pPr>
              <a:buClr>
                <a:srgbClr val="00B050"/>
              </a:buClr>
              <a:buFont typeface="Wingdings" panose="05000000000000000000" charset="0"/>
            </a:pPr>
            <a:r>
              <a:rPr lang="en-US" sz="2000" b="1">
                <a:latin typeface="Times New Roman" panose="02020603050405020304" pitchFamily="18" charset="0"/>
                <a:cs typeface="Times New Roman" panose="02020603050405020304" pitchFamily="18" charset="0"/>
                <a:sym typeface="+mn-ea"/>
              </a:rPr>
              <a:t>   Here, E specifies the type of objects that the list will hold</a:t>
            </a:r>
            <a:endParaRPr lang="en-US" sz="2000"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r>
              <a:rPr lang="en-US" sz="2000" b="1">
                <a:latin typeface="Times New Roman" panose="02020603050405020304" pitchFamily="18" charset="0"/>
                <a:cs typeface="Times New Roman" panose="02020603050405020304" pitchFamily="18" charset="0"/>
                <a:sym typeface="+mn-ea"/>
              </a:rPr>
              <a:t>ArrayList supports dynamic array</a:t>
            </a:r>
            <a:endParaRPr lang="en-US" sz="2000"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r>
              <a:rPr lang="en-US" sz="2000" b="1">
                <a:latin typeface="Times New Roman" panose="02020603050405020304" pitchFamily="18" charset="0"/>
                <a:cs typeface="Times New Roman" panose="02020603050405020304" pitchFamily="18" charset="0"/>
                <a:sym typeface="+mn-ea"/>
              </a:rPr>
              <a:t>ArrayList class can contain duplicate elements</a:t>
            </a:r>
            <a:endParaRPr lang="en-US" sz="2000"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r>
              <a:rPr lang="en-US" sz="2000" b="1">
                <a:latin typeface="Times New Roman" panose="02020603050405020304" pitchFamily="18" charset="0"/>
                <a:cs typeface="Times New Roman" panose="02020603050405020304" pitchFamily="18" charset="0"/>
                <a:sym typeface="+mn-ea"/>
              </a:rPr>
              <a:t>It allows random access</a:t>
            </a:r>
            <a:endParaRPr lang="en-US" sz="2000"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r>
              <a:rPr lang="en-US" sz="2000" b="1">
                <a:latin typeface="Times New Roman" panose="02020603050405020304" pitchFamily="18" charset="0"/>
                <a:cs typeface="Times New Roman" panose="02020603050405020304" pitchFamily="18" charset="0"/>
                <a:sym typeface="+mn-ea"/>
              </a:rPr>
              <a:t>In ArrayList, manipulation is slow</a:t>
            </a:r>
            <a:endParaRPr lang="en-US" sz="2000"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r>
              <a:rPr lang="en-US" sz="2000" b="1">
                <a:latin typeface="Times New Roman" panose="02020603050405020304" pitchFamily="18" charset="0"/>
                <a:cs typeface="Times New Roman" panose="02020603050405020304" pitchFamily="18" charset="0"/>
                <a:sym typeface="+mn-ea"/>
              </a:rPr>
              <a:t>Constructors:</a:t>
            </a:r>
            <a:endParaRPr lang="en-US" sz="2000" b="1">
              <a:latin typeface="Times New Roman" panose="02020603050405020304" pitchFamily="18" charset="0"/>
              <a:cs typeface="Times New Roman" panose="02020603050405020304" pitchFamily="18" charset="0"/>
              <a:sym typeface="+mn-ea"/>
            </a:endParaRPr>
          </a:p>
          <a:p>
            <a:pPr>
              <a:buClr>
                <a:srgbClr val="00B050"/>
              </a:buClr>
              <a:buFont typeface="Wingdings" panose="05000000000000000000" charset="0"/>
            </a:pPr>
            <a:r>
              <a:rPr lang="en-US" sz="2000" b="1">
                <a:latin typeface="Times New Roman" panose="02020603050405020304" pitchFamily="18" charset="0"/>
                <a:cs typeface="Times New Roman" panose="02020603050405020304" pitchFamily="18" charset="0"/>
                <a:sym typeface="+mn-ea"/>
              </a:rPr>
              <a:t>       ArrayList()</a:t>
            </a:r>
            <a:endParaRPr lang="en-US" sz="2000" b="1">
              <a:latin typeface="Times New Roman" panose="02020603050405020304" pitchFamily="18" charset="0"/>
              <a:cs typeface="Times New Roman" panose="02020603050405020304" pitchFamily="18" charset="0"/>
              <a:sym typeface="+mn-ea"/>
            </a:endParaRPr>
          </a:p>
          <a:p>
            <a:pPr>
              <a:buClr>
                <a:srgbClr val="00B050"/>
              </a:buClr>
              <a:buFont typeface="Wingdings" panose="05000000000000000000" charset="0"/>
            </a:pPr>
            <a:r>
              <a:rPr lang="en-US" sz="2000" b="1">
                <a:latin typeface="Times New Roman" panose="02020603050405020304" pitchFamily="18" charset="0"/>
                <a:cs typeface="Times New Roman" panose="02020603050405020304" pitchFamily="18" charset="0"/>
                <a:sym typeface="+mn-ea"/>
              </a:rPr>
              <a:t>       ArrayList(Collection &lt;? extends E&gt; c)</a:t>
            </a:r>
            <a:endParaRPr lang="en-US" sz="2000" b="1">
              <a:latin typeface="Times New Roman" panose="02020603050405020304" pitchFamily="18" charset="0"/>
              <a:cs typeface="Times New Roman" panose="02020603050405020304" pitchFamily="18" charset="0"/>
              <a:sym typeface="+mn-ea"/>
            </a:endParaRPr>
          </a:p>
          <a:p>
            <a:pPr>
              <a:buClr>
                <a:srgbClr val="00B050"/>
              </a:buClr>
              <a:buFont typeface="Wingdings" panose="05000000000000000000" charset="0"/>
            </a:pPr>
            <a:r>
              <a:rPr lang="en-US" sz="2000" b="1">
                <a:latin typeface="Times New Roman" panose="02020603050405020304" pitchFamily="18" charset="0"/>
                <a:cs typeface="Times New Roman" panose="02020603050405020304" pitchFamily="18" charset="0"/>
                <a:sym typeface="+mn-ea"/>
              </a:rPr>
              <a:t>       ArrayList(int capacity)</a:t>
            </a:r>
            <a:endParaRPr lang="en-US" sz="2000"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r>
              <a:rPr lang="en-US" sz="2000" b="1">
                <a:latin typeface="Times New Roman" panose="02020603050405020304" pitchFamily="18" charset="0"/>
                <a:cs typeface="Times New Roman" panose="02020603050405020304" pitchFamily="18" charset="0"/>
                <a:sym typeface="+mn-ea"/>
              </a:rPr>
              <a:t>void ensureCapacity(int cap): increases the capacity</a:t>
            </a:r>
            <a:endParaRPr lang="en-US" sz="2000"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r>
              <a:rPr lang="en-US" sz="2000" b="1">
                <a:latin typeface="Times New Roman" panose="02020603050405020304" pitchFamily="18" charset="0"/>
                <a:cs typeface="Times New Roman" panose="02020603050405020304" pitchFamily="18" charset="0"/>
                <a:sym typeface="+mn-ea"/>
              </a:rPr>
              <a:t>void trimToSize(): reduces the size</a:t>
            </a:r>
            <a:endParaRPr lang="en-US" sz="2000"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304800" y="271780"/>
            <a:ext cx="8717280"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Collection Framework &amp; Exploring java.lang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74295" y="1268730"/>
            <a:ext cx="8948420" cy="583565"/>
          </a:xfrm>
          <a:prstGeom prst="rect">
            <a:avLst/>
          </a:prstGeom>
          <a:noFill/>
        </p:spPr>
        <p:txBody>
          <a:bodyPr wrap="square" rtlCol="0" anchor="t">
            <a:spAutoFit/>
          </a:bodyPr>
          <a:p>
            <a:r>
              <a:rPr lang="en-US" sz="3200" b="1" dirty="0">
                <a:solidFill>
                  <a:srgbClr val="FF0000"/>
                </a:solidFill>
                <a:latin typeface="Times New Roman" panose="02020603050405020304" pitchFamily="18" charset="0"/>
                <a:cs typeface="Times New Roman" panose="02020603050405020304" pitchFamily="18" charset="0"/>
                <a:sym typeface="+mn-ea"/>
              </a:rPr>
              <a:t>ArrayList Class :</a:t>
            </a:r>
            <a:endParaRPr lang="en-US" sz="3200" b="1" dirty="0">
              <a:solidFill>
                <a:srgbClr val="FF0000"/>
              </a:solidFill>
              <a:latin typeface="Times New Roman" panose="02020603050405020304" pitchFamily="18" charset="0"/>
              <a:cs typeface="Times New Roman" panose="02020603050405020304" pitchFamily="18" charset="0"/>
              <a:sym typeface="+mn-ea"/>
            </a:endParaRPr>
          </a:p>
        </p:txBody>
      </p:sp>
      <p:sp>
        <p:nvSpPr>
          <p:cNvPr id="11" name="object 11"/>
          <p:cNvSpPr/>
          <p:nvPr/>
        </p:nvSpPr>
        <p:spPr>
          <a:xfrm>
            <a:off x="528955" y="1997710"/>
            <a:ext cx="7766050" cy="4606925"/>
          </a:xfrm>
          <a:prstGeom prst="rect">
            <a:avLst/>
          </a:prstGeom>
          <a:blipFill>
            <a:blip r:embed="rId1" cstate="print"/>
            <a:stretch>
              <a:fillRect/>
            </a:stretch>
          </a:blipFill>
        </p:spPr>
        <p:txBody>
          <a:bodyPr wrap="square" lIns="0" tIns="0" rIns="0" bIns="0" rtlCol="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304800" y="271780"/>
            <a:ext cx="8717280"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Collection Framework &amp; Exploring java.lang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74295" y="1268730"/>
            <a:ext cx="8948420" cy="583565"/>
          </a:xfrm>
          <a:prstGeom prst="rect">
            <a:avLst/>
          </a:prstGeom>
          <a:noFill/>
        </p:spPr>
        <p:txBody>
          <a:bodyPr wrap="square" rtlCol="0" anchor="t">
            <a:spAutoFit/>
          </a:bodyPr>
          <a:p>
            <a:r>
              <a:rPr lang="en-US" sz="3200" b="1" dirty="0">
                <a:solidFill>
                  <a:srgbClr val="FF0000"/>
                </a:solidFill>
                <a:latin typeface="Times New Roman" panose="02020603050405020304" pitchFamily="18" charset="0"/>
                <a:cs typeface="Times New Roman" panose="02020603050405020304" pitchFamily="18" charset="0"/>
                <a:sym typeface="+mn-ea"/>
              </a:rPr>
              <a:t>Obtaining Array from ArrayList :</a:t>
            </a:r>
            <a:endParaRPr lang="en-US" sz="3200" b="1" dirty="0">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255905" y="2023745"/>
            <a:ext cx="8455025" cy="1322070"/>
          </a:xfrm>
          <a:prstGeom prst="rect">
            <a:avLst/>
          </a:prstGeom>
          <a:noFill/>
        </p:spPr>
        <p:txBody>
          <a:bodyPr wrap="square" rtlCol="0" anchor="t">
            <a:spAutoFit/>
          </a:bodyPr>
          <a:p>
            <a:pPr marL="342900" indent="-342900">
              <a:buClr>
                <a:srgbClr val="00B050"/>
              </a:buClr>
              <a:buFont typeface="Wingdings" panose="05000000000000000000" charset="0"/>
              <a:buChar char="Ø"/>
            </a:pPr>
            <a:r>
              <a:rPr lang="en-US" sz="2000" b="1">
                <a:latin typeface="Times New Roman" panose="02020603050405020304" pitchFamily="18" charset="0"/>
                <a:cs typeface="Times New Roman" panose="02020603050405020304" pitchFamily="18" charset="0"/>
                <a:sym typeface="+mn-ea"/>
              </a:rPr>
              <a:t>toArray() : obtains the actual array from ArrayList</a:t>
            </a:r>
            <a:endParaRPr lang="en-US" sz="2000"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r>
              <a:rPr lang="en-US" sz="2000" b="1">
                <a:latin typeface="Times New Roman" panose="02020603050405020304" pitchFamily="18" charset="0"/>
                <a:cs typeface="Times New Roman" panose="02020603050405020304" pitchFamily="18" charset="0"/>
                <a:sym typeface="+mn-ea"/>
              </a:rPr>
              <a:t>object[] toArray(): returns an array of Object</a:t>
            </a:r>
            <a:endParaRPr lang="en-US" sz="2000"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r>
              <a:rPr lang="en-US" sz="2000" b="1">
                <a:latin typeface="Times New Roman" panose="02020603050405020304" pitchFamily="18" charset="0"/>
                <a:cs typeface="Times New Roman" panose="02020603050405020304" pitchFamily="18" charset="0"/>
                <a:sym typeface="+mn-ea"/>
              </a:rPr>
              <a:t>&lt;T&gt;T[] toArray(T array[]): returns an array of elements</a:t>
            </a:r>
            <a:endParaRPr lang="en-US" sz="2000" b="1">
              <a:latin typeface="Times New Roman" panose="02020603050405020304" pitchFamily="18" charset="0"/>
              <a:cs typeface="Times New Roman" panose="02020603050405020304" pitchFamily="18" charset="0"/>
              <a:sym typeface="+mn-ea"/>
            </a:endParaRPr>
          </a:p>
          <a:p>
            <a:pPr>
              <a:buClr>
                <a:srgbClr val="00B050"/>
              </a:buClr>
              <a:buFont typeface="Wingdings" panose="05000000000000000000" charset="0"/>
            </a:pPr>
            <a:r>
              <a:rPr lang="en-US" sz="2000" b="1">
                <a:latin typeface="Times New Roman" panose="02020603050405020304" pitchFamily="18" charset="0"/>
                <a:cs typeface="Times New Roman" panose="02020603050405020304" pitchFamily="18" charset="0"/>
                <a:sym typeface="+mn-ea"/>
              </a:rPr>
              <a:t>     that have the same type as T</a:t>
            </a:r>
            <a:endParaRPr lang="en-US" sz="2000" b="1">
              <a:latin typeface="Times New Roman" panose="02020603050405020304" pitchFamily="18" charset="0"/>
              <a:cs typeface="Times New Roman" panose="02020603050405020304" pitchFamily="18" charset="0"/>
              <a:sym typeface="+mn-ea"/>
            </a:endParaRPr>
          </a:p>
        </p:txBody>
      </p:sp>
      <p:sp>
        <p:nvSpPr>
          <p:cNvPr id="13" name="object 13"/>
          <p:cNvSpPr/>
          <p:nvPr/>
        </p:nvSpPr>
        <p:spPr>
          <a:xfrm>
            <a:off x="576580" y="3621405"/>
            <a:ext cx="4568825" cy="2670810"/>
          </a:xfrm>
          <a:prstGeom prst="rect">
            <a:avLst/>
          </a:prstGeom>
          <a:blipFill>
            <a:blip r:embed="rId1" cstate="print"/>
            <a:stretch>
              <a:fillRect/>
            </a:stretch>
          </a:blipFill>
        </p:spPr>
        <p:txBody>
          <a:bodyPr wrap="square" lIns="0" tIns="0" rIns="0" bIns="0" rtlCol="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304800" y="271780"/>
            <a:ext cx="8717280"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Collection Framework &amp; Exploring java.lang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74295" y="1268730"/>
            <a:ext cx="8948420" cy="583565"/>
          </a:xfrm>
          <a:prstGeom prst="rect">
            <a:avLst/>
          </a:prstGeom>
          <a:noFill/>
        </p:spPr>
        <p:txBody>
          <a:bodyPr wrap="square" rtlCol="0" anchor="t">
            <a:spAutoFit/>
          </a:bodyPr>
          <a:p>
            <a:r>
              <a:rPr lang="en-US" sz="3200" b="1" dirty="0">
                <a:solidFill>
                  <a:srgbClr val="FF0000"/>
                </a:solidFill>
                <a:latin typeface="Times New Roman" panose="02020603050405020304" pitchFamily="18" charset="0"/>
                <a:cs typeface="Times New Roman" panose="02020603050405020304" pitchFamily="18" charset="0"/>
                <a:sym typeface="+mn-ea"/>
              </a:rPr>
              <a:t>LinkedList Class :</a:t>
            </a:r>
            <a:endParaRPr lang="en-US" sz="3200" b="1" dirty="0">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255905" y="2023745"/>
            <a:ext cx="8455025" cy="3784600"/>
          </a:xfrm>
          <a:prstGeom prst="rect">
            <a:avLst/>
          </a:prstGeom>
          <a:noFill/>
        </p:spPr>
        <p:txBody>
          <a:bodyPr wrap="square" rtlCol="0" anchor="t">
            <a:spAutoFit/>
          </a:bodyPr>
          <a:p>
            <a:pPr marL="342900" indent="-342900">
              <a:buClr>
                <a:srgbClr val="00B050"/>
              </a:buClr>
              <a:buFont typeface="Wingdings" panose="05000000000000000000" charset="0"/>
              <a:buChar char="Ø"/>
            </a:pPr>
            <a:r>
              <a:rPr lang="en-US" sz="2000" b="1">
                <a:latin typeface="Times New Roman" panose="02020603050405020304" pitchFamily="18" charset="0"/>
                <a:cs typeface="Times New Roman" panose="02020603050405020304" pitchFamily="18" charset="0"/>
                <a:sym typeface="+mn-ea"/>
              </a:rPr>
              <a:t>LinkedList class extends AbstractList class and implements List, Deque interfaces</a:t>
            </a:r>
            <a:endParaRPr lang="en-US" sz="2000"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r>
              <a:rPr lang="en-US" sz="2000" b="1">
                <a:latin typeface="Times New Roman" panose="02020603050405020304" pitchFamily="18" charset="0"/>
                <a:cs typeface="Times New Roman" panose="02020603050405020304" pitchFamily="18" charset="0"/>
                <a:sym typeface="+mn-ea"/>
              </a:rPr>
              <a:t>It uses doubly linked list to store elements class LinkedList &lt;E&gt; Here, E specifies the type of objects that the list will hold</a:t>
            </a:r>
            <a:endParaRPr lang="en-US" sz="2000"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endParaRPr lang="en-US" sz="2000"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r>
              <a:rPr lang="en-US" sz="2000" b="1">
                <a:latin typeface="Times New Roman" panose="02020603050405020304" pitchFamily="18" charset="0"/>
                <a:cs typeface="Times New Roman" panose="02020603050405020304" pitchFamily="18" charset="0"/>
                <a:sym typeface="+mn-ea"/>
              </a:rPr>
              <a:t>Constructors:</a:t>
            </a:r>
            <a:endParaRPr lang="en-US" sz="2000" b="1">
              <a:latin typeface="Times New Roman" panose="02020603050405020304" pitchFamily="18" charset="0"/>
              <a:cs typeface="Times New Roman" panose="02020603050405020304" pitchFamily="18" charset="0"/>
              <a:sym typeface="+mn-ea"/>
            </a:endParaRPr>
          </a:p>
          <a:p>
            <a:pPr>
              <a:buClr>
                <a:srgbClr val="00B050"/>
              </a:buClr>
              <a:buFont typeface="Wingdings" panose="05000000000000000000" charset="0"/>
            </a:pPr>
            <a:r>
              <a:rPr lang="en-US" sz="2000" b="1">
                <a:latin typeface="Times New Roman" panose="02020603050405020304" pitchFamily="18" charset="0"/>
                <a:cs typeface="Times New Roman" panose="02020603050405020304" pitchFamily="18" charset="0"/>
                <a:sym typeface="+mn-ea"/>
              </a:rPr>
              <a:t>       LinkedList()</a:t>
            </a:r>
            <a:endParaRPr lang="en-US" sz="2000" b="1">
              <a:latin typeface="Times New Roman" panose="02020603050405020304" pitchFamily="18" charset="0"/>
              <a:cs typeface="Times New Roman" panose="02020603050405020304" pitchFamily="18" charset="0"/>
              <a:sym typeface="+mn-ea"/>
            </a:endParaRPr>
          </a:p>
          <a:p>
            <a:pPr>
              <a:buClr>
                <a:srgbClr val="00B050"/>
              </a:buClr>
              <a:buFont typeface="Wingdings" panose="05000000000000000000" charset="0"/>
            </a:pPr>
            <a:r>
              <a:rPr lang="en-US" sz="2000" b="1">
                <a:latin typeface="Times New Roman" panose="02020603050405020304" pitchFamily="18" charset="0"/>
                <a:cs typeface="Times New Roman" panose="02020603050405020304" pitchFamily="18" charset="0"/>
                <a:sym typeface="+mn-ea"/>
              </a:rPr>
              <a:t>       LinkedList(Collection &lt;? extends E&gt; c)</a:t>
            </a:r>
            <a:endParaRPr lang="en-US" sz="2000" b="1">
              <a:latin typeface="Times New Roman" panose="02020603050405020304" pitchFamily="18" charset="0"/>
              <a:cs typeface="Times New Roman" panose="02020603050405020304" pitchFamily="18" charset="0"/>
              <a:sym typeface="+mn-ea"/>
            </a:endParaRPr>
          </a:p>
          <a:p>
            <a:pPr>
              <a:buClr>
                <a:srgbClr val="00B050"/>
              </a:buClr>
              <a:buFont typeface="Wingdings" panose="05000000000000000000" charset="0"/>
            </a:pPr>
            <a:endParaRPr lang="en-US" sz="2000"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r>
              <a:rPr lang="en-US" sz="2000" b="1">
                <a:latin typeface="Times New Roman" panose="02020603050405020304" pitchFamily="18" charset="0"/>
                <a:cs typeface="Times New Roman" panose="02020603050405020304" pitchFamily="18" charset="0"/>
                <a:sym typeface="+mn-ea"/>
              </a:rPr>
              <a:t> LinkedList class can contain duplicate elements</a:t>
            </a:r>
            <a:endParaRPr lang="en-US" sz="2000"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r>
              <a:rPr lang="en-US" sz="2000" b="1">
                <a:latin typeface="Times New Roman" panose="02020603050405020304" pitchFamily="18" charset="0"/>
                <a:cs typeface="Times New Roman" panose="02020603050405020304" pitchFamily="18" charset="0"/>
                <a:sym typeface="+mn-ea"/>
              </a:rPr>
              <a:t> Here, manipulation is fast</a:t>
            </a:r>
            <a:endParaRPr lang="en-US" sz="2000"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r>
              <a:rPr lang="en-US" sz="2000" b="1">
                <a:latin typeface="Times New Roman" panose="02020603050405020304" pitchFamily="18" charset="0"/>
                <a:cs typeface="Times New Roman" panose="02020603050405020304" pitchFamily="18" charset="0"/>
                <a:sym typeface="+mn-ea"/>
              </a:rPr>
              <a:t> It can be used as list, stack or queue</a:t>
            </a:r>
            <a:endParaRPr lang="en-US" sz="2000"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304800" y="271780"/>
            <a:ext cx="8717280"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Collection Framework &amp; Exploring java.lang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74295" y="1268730"/>
            <a:ext cx="8948420" cy="583565"/>
          </a:xfrm>
          <a:prstGeom prst="rect">
            <a:avLst/>
          </a:prstGeom>
          <a:noFill/>
        </p:spPr>
        <p:txBody>
          <a:bodyPr wrap="square" rtlCol="0" anchor="t">
            <a:spAutoFit/>
          </a:bodyPr>
          <a:p>
            <a:r>
              <a:rPr lang="en-US" sz="3200" b="1" dirty="0">
                <a:solidFill>
                  <a:srgbClr val="FF0000"/>
                </a:solidFill>
                <a:latin typeface="Times New Roman" panose="02020603050405020304" pitchFamily="18" charset="0"/>
                <a:cs typeface="Times New Roman" panose="02020603050405020304" pitchFamily="18" charset="0"/>
                <a:sym typeface="+mn-ea"/>
              </a:rPr>
              <a:t>LinkedList Class :</a:t>
            </a:r>
            <a:endParaRPr lang="en-US" sz="3200" b="1" dirty="0">
              <a:solidFill>
                <a:srgbClr val="FF0000"/>
              </a:solidFill>
              <a:latin typeface="Times New Roman" panose="02020603050405020304" pitchFamily="18" charset="0"/>
              <a:cs typeface="Times New Roman" panose="02020603050405020304" pitchFamily="18" charset="0"/>
              <a:sym typeface="+mn-ea"/>
            </a:endParaRPr>
          </a:p>
        </p:txBody>
      </p:sp>
      <p:sp>
        <p:nvSpPr>
          <p:cNvPr id="11" name="object 11"/>
          <p:cNvSpPr/>
          <p:nvPr/>
        </p:nvSpPr>
        <p:spPr>
          <a:xfrm>
            <a:off x="304165" y="1908175"/>
            <a:ext cx="8014970" cy="4555490"/>
          </a:xfrm>
          <a:prstGeom prst="rect">
            <a:avLst/>
          </a:prstGeom>
          <a:blipFill>
            <a:blip r:embed="rId1" cstate="print"/>
            <a:stretch>
              <a:fillRect/>
            </a:stretch>
          </a:blipFill>
        </p:spPr>
        <p:txBody>
          <a:bodyPr wrap="square" lIns="0" tIns="0" rIns="0" bIns="0" rtlCol="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304800" y="271780"/>
            <a:ext cx="8717280"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Collection Framework &amp; Exploring java.lang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74295" y="1268730"/>
            <a:ext cx="8948420" cy="583565"/>
          </a:xfrm>
          <a:prstGeom prst="rect">
            <a:avLst/>
          </a:prstGeom>
          <a:noFill/>
        </p:spPr>
        <p:txBody>
          <a:bodyPr wrap="square" rtlCol="0" anchor="t">
            <a:spAutoFit/>
          </a:bodyPr>
          <a:p>
            <a:r>
              <a:rPr lang="en-US" sz="3200" b="1" dirty="0">
                <a:solidFill>
                  <a:srgbClr val="FF0000"/>
                </a:solidFill>
                <a:latin typeface="Times New Roman" panose="02020603050405020304" pitchFamily="18" charset="0"/>
                <a:cs typeface="Times New Roman" panose="02020603050405020304" pitchFamily="18" charset="0"/>
                <a:sym typeface="+mn-ea"/>
              </a:rPr>
              <a:t>Use of Iterator :</a:t>
            </a:r>
            <a:endParaRPr lang="en-US" sz="3200" b="1" dirty="0">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255905" y="2023745"/>
            <a:ext cx="8455025" cy="4399915"/>
          </a:xfrm>
          <a:prstGeom prst="rect">
            <a:avLst/>
          </a:prstGeom>
          <a:noFill/>
        </p:spPr>
        <p:txBody>
          <a:bodyPr wrap="square" rtlCol="0" anchor="t">
            <a:spAutoFit/>
          </a:bodyPr>
          <a:p>
            <a:pPr marL="342900" indent="-342900">
              <a:buClr>
                <a:srgbClr val="00B050"/>
              </a:buClr>
              <a:buFont typeface="Wingdings" panose="05000000000000000000" charset="0"/>
              <a:buChar char="Ø"/>
            </a:pPr>
            <a:r>
              <a:rPr lang="en-US" sz="2000" b="1">
                <a:latin typeface="Times New Roman" panose="02020603050405020304" pitchFamily="18" charset="0"/>
                <a:cs typeface="Times New Roman" panose="02020603050405020304" pitchFamily="18" charset="0"/>
                <a:sym typeface="+mn-ea"/>
              </a:rPr>
              <a:t>Each of the collection classes provides an iterator() method that returns an iterator to the start of the collection, By using the iterator object, you can access each element in the collection, one element at a time</a:t>
            </a:r>
            <a:endParaRPr lang="en-US" sz="2000"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endParaRPr lang="en-US" sz="2000"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r>
              <a:rPr lang="en-US" sz="2000" b="1">
                <a:latin typeface="Times New Roman" panose="02020603050405020304" pitchFamily="18" charset="0"/>
                <a:cs typeface="Times New Roman" panose="02020603050405020304" pitchFamily="18" charset="0"/>
                <a:sym typeface="+mn-ea"/>
              </a:rPr>
              <a:t>In general, to use an iterator to cycle through the contents</a:t>
            </a:r>
            <a:endParaRPr lang="en-US" sz="2000" b="1">
              <a:latin typeface="Times New Roman" panose="02020603050405020304" pitchFamily="18" charset="0"/>
              <a:cs typeface="Times New Roman" panose="02020603050405020304" pitchFamily="18" charset="0"/>
              <a:sym typeface="+mn-ea"/>
            </a:endParaRPr>
          </a:p>
          <a:p>
            <a:pPr>
              <a:buClr>
                <a:srgbClr val="00B050"/>
              </a:buClr>
              <a:buFont typeface="Wingdings" panose="05000000000000000000" charset="0"/>
            </a:pPr>
            <a:r>
              <a:rPr lang="en-US" sz="2000" b="1">
                <a:latin typeface="Times New Roman" panose="02020603050405020304" pitchFamily="18" charset="0"/>
                <a:cs typeface="Times New Roman" panose="02020603050405020304" pitchFamily="18" charset="0"/>
                <a:sym typeface="+mn-ea"/>
              </a:rPr>
              <a:t>     of a collection, follow these steps:</a:t>
            </a:r>
            <a:endParaRPr lang="en-US" sz="2000" b="1">
              <a:latin typeface="Times New Roman" panose="02020603050405020304" pitchFamily="18" charset="0"/>
              <a:cs typeface="Times New Roman" panose="02020603050405020304" pitchFamily="18" charset="0"/>
              <a:sym typeface="+mn-ea"/>
            </a:endParaRPr>
          </a:p>
          <a:p>
            <a:pPr>
              <a:buClr>
                <a:srgbClr val="00B050"/>
              </a:buClr>
              <a:buFont typeface="Wingdings" panose="05000000000000000000" charset="0"/>
            </a:pPr>
            <a:r>
              <a:rPr lang="en-US" sz="2000" b="1">
                <a:latin typeface="Times New Roman" panose="02020603050405020304" pitchFamily="18" charset="0"/>
                <a:cs typeface="Times New Roman" panose="02020603050405020304" pitchFamily="18" charset="0"/>
                <a:sym typeface="+mn-ea"/>
              </a:rPr>
              <a:t>       i. Obtain an iterator to the start of the collection using iterator()</a:t>
            </a:r>
            <a:endParaRPr lang="en-US" sz="2000" b="1">
              <a:latin typeface="Times New Roman" panose="02020603050405020304" pitchFamily="18" charset="0"/>
              <a:cs typeface="Times New Roman" panose="02020603050405020304" pitchFamily="18" charset="0"/>
              <a:sym typeface="+mn-ea"/>
            </a:endParaRPr>
          </a:p>
          <a:p>
            <a:pPr>
              <a:buClr>
                <a:srgbClr val="00B050"/>
              </a:buClr>
              <a:buFont typeface="Wingdings" panose="05000000000000000000" charset="0"/>
            </a:pPr>
            <a:r>
              <a:rPr lang="en-US" sz="2000" b="1">
                <a:latin typeface="Times New Roman" panose="02020603050405020304" pitchFamily="18" charset="0"/>
                <a:cs typeface="Times New Roman" panose="02020603050405020304" pitchFamily="18" charset="0"/>
                <a:sym typeface="+mn-ea"/>
              </a:rPr>
              <a:t>       ii. Set up a loop that makes a call to hasNext(). Continue until hasNext()   returns true</a:t>
            </a:r>
            <a:endParaRPr lang="en-US" sz="2000" b="1">
              <a:latin typeface="Times New Roman" panose="02020603050405020304" pitchFamily="18" charset="0"/>
              <a:cs typeface="Times New Roman" panose="02020603050405020304" pitchFamily="18" charset="0"/>
              <a:sym typeface="+mn-ea"/>
            </a:endParaRPr>
          </a:p>
          <a:p>
            <a:pPr>
              <a:buClr>
                <a:srgbClr val="00B050"/>
              </a:buClr>
              <a:buFont typeface="Wingdings" panose="05000000000000000000" charset="0"/>
            </a:pPr>
            <a:r>
              <a:rPr lang="en-US" sz="2000" b="1">
                <a:latin typeface="Times New Roman" panose="02020603050405020304" pitchFamily="18" charset="0"/>
                <a:cs typeface="Times New Roman" panose="02020603050405020304" pitchFamily="18" charset="0"/>
                <a:sym typeface="+mn-ea"/>
              </a:rPr>
              <a:t>       iii. Obtain each element by calling next() within the loop</a:t>
            </a:r>
            <a:endParaRPr lang="en-US" sz="2000" b="1">
              <a:latin typeface="Times New Roman" panose="02020603050405020304" pitchFamily="18" charset="0"/>
              <a:cs typeface="Times New Roman" panose="02020603050405020304" pitchFamily="18" charset="0"/>
              <a:sym typeface="+mn-ea"/>
            </a:endParaRPr>
          </a:p>
          <a:p>
            <a:pPr>
              <a:buClr>
                <a:srgbClr val="00B050"/>
              </a:buClr>
              <a:buFont typeface="Wingdings" panose="05000000000000000000" charset="0"/>
            </a:pPr>
            <a:endParaRPr lang="en-US" sz="2000"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r>
              <a:rPr lang="en-US" sz="2000" b="1">
                <a:latin typeface="Times New Roman" panose="02020603050405020304" pitchFamily="18" charset="0"/>
                <a:cs typeface="Times New Roman" panose="02020603050405020304" pitchFamily="18" charset="0"/>
                <a:sym typeface="+mn-ea"/>
              </a:rPr>
              <a:t>For collections implementing List, you can also obtain iterator using listIterator(). It accesses the collection in either forward or backward direction and allows in modifying an element</a:t>
            </a:r>
            <a:endParaRPr lang="en-US" sz="2000"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304800" y="271780"/>
            <a:ext cx="8717280"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Collection Framework &amp; Exploring java.lang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97790" y="1149350"/>
            <a:ext cx="8948420" cy="583565"/>
          </a:xfrm>
          <a:prstGeom prst="rect">
            <a:avLst/>
          </a:prstGeom>
          <a:noFill/>
        </p:spPr>
        <p:txBody>
          <a:bodyPr wrap="square" rtlCol="0" anchor="t">
            <a:spAutoFit/>
          </a:bodyPr>
          <a:p>
            <a:r>
              <a:rPr lang="en-US" sz="3200" b="1" dirty="0">
                <a:solidFill>
                  <a:srgbClr val="FF0000"/>
                </a:solidFill>
                <a:latin typeface="Times New Roman" panose="02020603050405020304" pitchFamily="18" charset="0"/>
                <a:cs typeface="Times New Roman" panose="02020603050405020304" pitchFamily="18" charset="0"/>
                <a:sym typeface="+mn-ea"/>
              </a:rPr>
              <a:t>Use of Iterator :</a:t>
            </a:r>
            <a:endParaRPr lang="en-US" sz="3200" b="1" dirty="0">
              <a:solidFill>
                <a:srgbClr val="FF0000"/>
              </a:solidFill>
              <a:latin typeface="Times New Roman" panose="02020603050405020304" pitchFamily="18" charset="0"/>
              <a:cs typeface="Times New Roman" panose="02020603050405020304" pitchFamily="18" charset="0"/>
              <a:sym typeface="+mn-ea"/>
            </a:endParaRPr>
          </a:p>
        </p:txBody>
      </p:sp>
      <p:sp>
        <p:nvSpPr>
          <p:cNvPr id="8" name="object 8"/>
          <p:cNvSpPr/>
          <p:nvPr/>
        </p:nvSpPr>
        <p:spPr>
          <a:xfrm>
            <a:off x="711200" y="1830070"/>
            <a:ext cx="6145530" cy="4893945"/>
          </a:xfrm>
          <a:prstGeom prst="rect">
            <a:avLst/>
          </a:prstGeom>
          <a:blipFill>
            <a:blip r:embed="rId1" cstate="print"/>
            <a:stretch>
              <a:fillRect/>
            </a:stretch>
          </a:blipFill>
        </p:spPr>
        <p:txBody>
          <a:bodyPr wrap="square" lIns="0" tIns="0" rIns="0" bIns="0" rtlCol="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304800" y="271780"/>
            <a:ext cx="8717280"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Collection Framework &amp; Exploring java.lang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74295" y="1268730"/>
            <a:ext cx="8948420" cy="583565"/>
          </a:xfrm>
          <a:prstGeom prst="rect">
            <a:avLst/>
          </a:prstGeom>
          <a:noFill/>
        </p:spPr>
        <p:txBody>
          <a:bodyPr wrap="square" rtlCol="0" anchor="t">
            <a:spAutoFit/>
          </a:bodyPr>
          <a:p>
            <a:r>
              <a:rPr lang="en-US" sz="3200" b="1" dirty="0">
                <a:solidFill>
                  <a:srgbClr val="FF0000"/>
                </a:solidFill>
                <a:latin typeface="Times New Roman" panose="02020603050405020304" pitchFamily="18" charset="0"/>
                <a:cs typeface="Times New Roman" panose="02020603050405020304" pitchFamily="18" charset="0"/>
                <a:sym typeface="+mn-ea"/>
              </a:rPr>
              <a:t>For-Each alternatice to Iterator :</a:t>
            </a:r>
            <a:endParaRPr lang="en-US" sz="3200" b="1" dirty="0">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255905" y="2023745"/>
            <a:ext cx="8455025" cy="1014730"/>
          </a:xfrm>
          <a:prstGeom prst="rect">
            <a:avLst/>
          </a:prstGeom>
          <a:noFill/>
        </p:spPr>
        <p:txBody>
          <a:bodyPr wrap="square" rtlCol="0" anchor="t">
            <a:spAutoFit/>
          </a:bodyPr>
          <a:p>
            <a:pPr marL="342900" indent="-342900">
              <a:buClr>
                <a:srgbClr val="00B050"/>
              </a:buClr>
              <a:buFont typeface="Wingdings" panose="05000000000000000000" charset="0"/>
              <a:buChar char="Ø"/>
            </a:pPr>
            <a:r>
              <a:rPr lang="en-US" sz="2000" b="1">
                <a:latin typeface="Times New Roman" panose="02020603050405020304" pitchFamily="18" charset="0"/>
                <a:cs typeface="Times New Roman" panose="02020603050405020304" pitchFamily="18" charset="0"/>
                <a:sym typeface="+mn-ea"/>
              </a:rPr>
              <a:t>If you won’t be modifying the content of a collection or obtaining elements in reverse order, then for-each version of for loop is preferable over cycling through a collection than is using an iterator</a:t>
            </a:r>
            <a:endParaRPr lang="en-US" sz="2000" b="1">
              <a:latin typeface="Times New Roman" panose="02020603050405020304" pitchFamily="18" charset="0"/>
              <a:cs typeface="Times New Roman" panose="02020603050405020304" pitchFamily="18" charset="0"/>
              <a:sym typeface="+mn-ea"/>
            </a:endParaRPr>
          </a:p>
        </p:txBody>
      </p:sp>
      <p:sp>
        <p:nvSpPr>
          <p:cNvPr id="13" name="object 13"/>
          <p:cNvSpPr/>
          <p:nvPr/>
        </p:nvSpPr>
        <p:spPr>
          <a:xfrm>
            <a:off x="710565" y="3218180"/>
            <a:ext cx="5704840" cy="3348990"/>
          </a:xfrm>
          <a:prstGeom prst="rect">
            <a:avLst/>
          </a:prstGeom>
          <a:blipFill>
            <a:blip r:embed="rId1" cstate="print"/>
            <a:stretch>
              <a:fillRect/>
            </a:stretch>
          </a:blipFill>
        </p:spPr>
        <p:txBody>
          <a:bodyPr wrap="square" lIns="0" tIns="0" rIns="0" bIns="0" rtlCol="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304800" y="271780"/>
            <a:ext cx="8717280"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Collection Framework &amp; Exploring java.lang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74295" y="1268730"/>
            <a:ext cx="8948420" cy="583565"/>
          </a:xfrm>
          <a:prstGeom prst="rect">
            <a:avLst/>
          </a:prstGeom>
          <a:noFill/>
        </p:spPr>
        <p:txBody>
          <a:bodyPr wrap="square" rtlCol="0" anchor="t">
            <a:spAutoFit/>
          </a:bodyPr>
          <a:p>
            <a:r>
              <a:rPr lang="en-US" sz="3200" b="1" dirty="0">
                <a:solidFill>
                  <a:srgbClr val="FF0000"/>
                </a:solidFill>
                <a:latin typeface="Times New Roman" panose="02020603050405020304" pitchFamily="18" charset="0"/>
                <a:cs typeface="Times New Roman" panose="02020603050405020304" pitchFamily="18" charset="0"/>
                <a:sym typeface="+mn-ea"/>
              </a:rPr>
              <a:t>Primitive Type Wrappers :</a:t>
            </a:r>
            <a:endParaRPr lang="en-US" sz="3200" b="1" dirty="0">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255905" y="2023745"/>
            <a:ext cx="8455025" cy="4707890"/>
          </a:xfrm>
          <a:prstGeom prst="rect">
            <a:avLst/>
          </a:prstGeom>
          <a:noFill/>
        </p:spPr>
        <p:txBody>
          <a:bodyPr wrap="square" rtlCol="0" anchor="t">
            <a:spAutoFit/>
          </a:bodyPr>
          <a:p>
            <a:pPr>
              <a:buClr>
                <a:srgbClr val="00B050"/>
              </a:buClr>
              <a:buFont typeface="Wingdings" panose="05000000000000000000" charset="0"/>
            </a:pPr>
            <a:r>
              <a:rPr lang="en-US" sz="2000" b="1">
                <a:latin typeface="Times New Roman" panose="02020603050405020304" pitchFamily="18" charset="0"/>
                <a:cs typeface="Times New Roman" panose="02020603050405020304" pitchFamily="18" charset="0"/>
                <a:sym typeface="+mn-ea"/>
              </a:rPr>
              <a:t>java.lang is automatically imported into all programs</a:t>
            </a:r>
            <a:endParaRPr lang="en-US" sz="2000" b="1">
              <a:latin typeface="Times New Roman" panose="02020603050405020304" pitchFamily="18" charset="0"/>
              <a:cs typeface="Times New Roman" panose="02020603050405020304" pitchFamily="18" charset="0"/>
              <a:sym typeface="+mn-ea"/>
            </a:endParaRPr>
          </a:p>
          <a:p>
            <a:pPr>
              <a:buClr>
                <a:srgbClr val="00B050"/>
              </a:buClr>
              <a:buFont typeface="Wingdings" panose="05000000000000000000" charset="0"/>
            </a:pPr>
            <a:endParaRPr lang="en-US" sz="2000"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r>
              <a:rPr lang="en-US" sz="2000" b="1">
                <a:latin typeface="Times New Roman" panose="02020603050405020304" pitchFamily="18" charset="0"/>
                <a:cs typeface="Times New Roman" panose="02020603050405020304" pitchFamily="18" charset="0"/>
                <a:sym typeface="+mn-ea"/>
              </a:rPr>
              <a:t>Java uses primitive types for performance reasons. These data types are not part of object hierarchy. They are passed by value to methods and can’t be directly passed by reference. Also, there is no way for two methods to refer to the same instance of an int</a:t>
            </a:r>
            <a:endParaRPr lang="en-US" sz="2000"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r>
              <a:rPr lang="en-US" sz="2000" b="1">
                <a:latin typeface="Times New Roman" panose="02020603050405020304" pitchFamily="18" charset="0"/>
                <a:cs typeface="Times New Roman" panose="02020603050405020304" pitchFamily="18" charset="0"/>
                <a:sym typeface="+mn-ea"/>
              </a:rPr>
              <a:t>To address this need, java provides classes that correspond to each of the primitive types. These classes encapsulate or wrap the primitive types within a class</a:t>
            </a:r>
            <a:endParaRPr lang="en-US" sz="2000"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r>
              <a:rPr lang="en-US" sz="2000" b="1">
                <a:latin typeface="Times New Roman" panose="02020603050405020304" pitchFamily="18" charset="0"/>
                <a:cs typeface="Times New Roman" panose="02020603050405020304" pitchFamily="18" charset="0"/>
                <a:sym typeface="+mn-ea"/>
              </a:rPr>
              <a:t>Double and Float are wrappers for floating point values of type double and float, respectively</a:t>
            </a:r>
            <a:endParaRPr lang="en-US" sz="2000"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r>
              <a:rPr lang="en-US" sz="2000" b="1">
                <a:latin typeface="Times New Roman" panose="02020603050405020304" pitchFamily="18" charset="0"/>
                <a:cs typeface="Times New Roman" panose="02020603050405020304" pitchFamily="18" charset="0"/>
                <a:sym typeface="+mn-ea"/>
              </a:rPr>
              <a:t>Byte, Short, Integer and Long classes are wrappers for byte, short, int and long types, respectively</a:t>
            </a:r>
            <a:endParaRPr lang="en-US" sz="2000"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r>
              <a:rPr lang="en-US" sz="2000" b="1">
                <a:latin typeface="Times New Roman" panose="02020603050405020304" pitchFamily="18" charset="0"/>
                <a:cs typeface="Times New Roman" panose="02020603050405020304" pitchFamily="18" charset="0"/>
                <a:sym typeface="+mn-ea"/>
              </a:rPr>
              <a:t>Character is a wrapper around a char type</a:t>
            </a:r>
            <a:endParaRPr lang="en-US" sz="2000"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r>
              <a:rPr lang="en-US" sz="2000" b="1">
                <a:latin typeface="Times New Roman" panose="02020603050405020304" pitchFamily="18" charset="0"/>
                <a:cs typeface="Times New Roman" panose="02020603050405020304" pitchFamily="18" charset="0"/>
                <a:sym typeface="+mn-ea"/>
              </a:rPr>
              <a:t>Boolean is a wrapper around boolean values</a:t>
            </a:r>
            <a:endParaRPr lang="en-US" sz="2000"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304800" y="271780"/>
            <a:ext cx="8717280"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Collection Framework &amp; Exploring java.lang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74295" y="1268730"/>
            <a:ext cx="8948420" cy="583565"/>
          </a:xfrm>
          <a:prstGeom prst="rect">
            <a:avLst/>
          </a:prstGeom>
          <a:noFill/>
        </p:spPr>
        <p:txBody>
          <a:bodyPr wrap="square" rtlCol="0" anchor="t">
            <a:spAutoFit/>
          </a:bodyPr>
          <a:p>
            <a:r>
              <a:rPr lang="en-US" sz="3200" b="1" dirty="0">
                <a:solidFill>
                  <a:srgbClr val="FF0000"/>
                </a:solidFill>
                <a:latin typeface="Times New Roman" panose="02020603050405020304" pitchFamily="18" charset="0"/>
                <a:cs typeface="Times New Roman" panose="02020603050405020304" pitchFamily="18" charset="0"/>
                <a:sym typeface="+mn-ea"/>
              </a:rPr>
              <a:t>Memory Management :</a:t>
            </a:r>
            <a:endParaRPr lang="en-US" sz="3200" b="1" dirty="0">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255905" y="2023745"/>
            <a:ext cx="8455025" cy="3784600"/>
          </a:xfrm>
          <a:prstGeom prst="rect">
            <a:avLst/>
          </a:prstGeom>
          <a:noFill/>
        </p:spPr>
        <p:txBody>
          <a:bodyPr wrap="square" rtlCol="0" anchor="t">
            <a:spAutoFit/>
          </a:bodyPr>
          <a:p>
            <a:pPr marL="342900" indent="-342900">
              <a:buClr>
                <a:srgbClr val="00B050"/>
              </a:buClr>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Java provides automatic garbage collection. Sometimes you need to know how large the object heap and how much of it is left</a:t>
            </a:r>
            <a:endParaRPr lang="en-US"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endParaRPr lang="en-US"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To obtain these values, use totalMemory() and freeMemory()</a:t>
            </a:r>
            <a:endParaRPr lang="en-US"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endParaRPr lang="en-US"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endParaRPr lang="en-US"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Java garbage collector runs periodically to recycle unused</a:t>
            </a:r>
            <a:endParaRPr lang="en-US" b="1">
              <a:latin typeface="Times New Roman" panose="02020603050405020304" pitchFamily="18" charset="0"/>
              <a:cs typeface="Times New Roman" panose="02020603050405020304" pitchFamily="18" charset="0"/>
              <a:sym typeface="+mn-ea"/>
            </a:endParaRPr>
          </a:p>
          <a:p>
            <a:pPr>
              <a:buClr>
                <a:srgbClr val="00B050"/>
              </a:buClr>
              <a:buFont typeface="Wingdings" panose="05000000000000000000" charset="0"/>
            </a:pPr>
            <a:r>
              <a:rPr lang="en-US" b="1">
                <a:latin typeface="Times New Roman" panose="02020603050405020304" pitchFamily="18" charset="0"/>
                <a:cs typeface="Times New Roman" panose="02020603050405020304" pitchFamily="18" charset="0"/>
                <a:sym typeface="+mn-ea"/>
              </a:rPr>
              <a:t>objects. gc() can be invoked using the Runtime instance to</a:t>
            </a:r>
            <a:endParaRPr lang="en-US" b="1">
              <a:latin typeface="Times New Roman" panose="02020603050405020304" pitchFamily="18" charset="0"/>
              <a:cs typeface="Times New Roman" panose="02020603050405020304" pitchFamily="18" charset="0"/>
              <a:sym typeface="+mn-ea"/>
            </a:endParaRPr>
          </a:p>
          <a:p>
            <a:pPr>
              <a:buClr>
                <a:srgbClr val="00B050"/>
              </a:buClr>
              <a:buFont typeface="Wingdings" panose="05000000000000000000" charset="0"/>
            </a:pPr>
            <a:r>
              <a:rPr lang="en-US" b="1">
                <a:latin typeface="Times New Roman" panose="02020603050405020304" pitchFamily="18" charset="0"/>
                <a:cs typeface="Times New Roman" panose="02020603050405020304" pitchFamily="18" charset="0"/>
                <a:sym typeface="+mn-ea"/>
              </a:rPr>
              <a:t>request the garbage collection</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304800" y="271780"/>
            <a:ext cx="8717280"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Collection Framework &amp; Exploring java.lang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74295" y="1268730"/>
            <a:ext cx="8948420" cy="583565"/>
          </a:xfrm>
          <a:prstGeom prst="rect">
            <a:avLst/>
          </a:prstGeom>
          <a:noFill/>
        </p:spPr>
        <p:txBody>
          <a:bodyPr wrap="square" rtlCol="0" anchor="t">
            <a:spAutoFit/>
          </a:bodyPr>
          <a:p>
            <a:r>
              <a:rPr lang="en-US" sz="3200" b="1" dirty="0">
                <a:solidFill>
                  <a:srgbClr val="FF0000"/>
                </a:solidFill>
                <a:latin typeface="Times New Roman" panose="02020603050405020304" pitchFamily="18" charset="0"/>
                <a:cs typeface="Times New Roman" panose="02020603050405020304" pitchFamily="18" charset="0"/>
                <a:sym typeface="+mn-ea"/>
              </a:rPr>
              <a:t>System :</a:t>
            </a:r>
            <a:endParaRPr lang="en-US" sz="3200" b="1" dirty="0">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255905" y="2023745"/>
            <a:ext cx="8455025" cy="3784600"/>
          </a:xfrm>
          <a:prstGeom prst="rect">
            <a:avLst/>
          </a:prstGeom>
          <a:noFill/>
        </p:spPr>
        <p:txBody>
          <a:bodyPr wrap="square" rtlCol="0" anchor="t">
            <a:spAutoFit/>
          </a:bodyPr>
          <a:p>
            <a:pPr marL="342900" indent="-342900">
              <a:buClr>
                <a:srgbClr val="00B050"/>
              </a:buClr>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System class holds a collection of static methods and variables</a:t>
            </a:r>
            <a:endParaRPr lang="en-US"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endParaRPr lang="en-US"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 The standard input, output and error output are stored in the in, out and err variables</a:t>
            </a:r>
            <a:endParaRPr lang="en-US"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endParaRPr lang="en-US"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It provides a utility method for quickly copying a portion of</a:t>
            </a:r>
            <a:endParaRPr lang="en-US" b="1">
              <a:latin typeface="Times New Roman" panose="02020603050405020304" pitchFamily="18" charset="0"/>
              <a:cs typeface="Times New Roman" panose="02020603050405020304" pitchFamily="18" charset="0"/>
              <a:sym typeface="+mn-ea"/>
            </a:endParaRPr>
          </a:p>
          <a:p>
            <a:pPr>
              <a:buClr>
                <a:srgbClr val="00B050"/>
              </a:buClr>
              <a:buFont typeface="Wingdings" panose="05000000000000000000" charset="0"/>
            </a:pPr>
            <a:r>
              <a:rPr lang="en-US" b="1">
                <a:latin typeface="Times New Roman" panose="02020603050405020304" pitchFamily="18" charset="0"/>
                <a:cs typeface="Times New Roman" panose="02020603050405020304" pitchFamily="18" charset="0"/>
                <a:sym typeface="+mn-ea"/>
              </a:rPr>
              <a:t>an array</a:t>
            </a:r>
            <a:endParaRPr lang="en-US" b="1">
              <a:latin typeface="Times New Roman" panose="02020603050405020304" pitchFamily="18" charset="0"/>
              <a:cs typeface="Times New Roman" panose="02020603050405020304" pitchFamily="18" charset="0"/>
              <a:sym typeface="+mn-ea"/>
            </a:endParaRPr>
          </a:p>
          <a:p>
            <a:pPr>
              <a:buClr>
                <a:srgbClr val="00B050"/>
              </a:buClr>
              <a:buFont typeface="Wingdings" panose="05000000000000000000" charset="0"/>
            </a:pPr>
            <a:endParaRPr lang="en-US"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It provides a means of loading files and libraries</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304800" y="271780"/>
            <a:ext cx="8717280"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Collection Framework &amp; Exploring java.lang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74295" y="1268730"/>
            <a:ext cx="8948420" cy="583565"/>
          </a:xfrm>
          <a:prstGeom prst="rect">
            <a:avLst/>
          </a:prstGeom>
          <a:noFill/>
        </p:spPr>
        <p:txBody>
          <a:bodyPr wrap="square" rtlCol="0" anchor="t">
            <a:spAutoFit/>
          </a:bodyPr>
          <a:p>
            <a:r>
              <a:rPr lang="en-US" sz="3200" b="1" dirty="0">
                <a:solidFill>
                  <a:srgbClr val="FF0000"/>
                </a:solidFill>
                <a:latin typeface="Times New Roman" panose="02020603050405020304" pitchFamily="18" charset="0"/>
                <a:cs typeface="Times New Roman" panose="02020603050405020304" pitchFamily="18" charset="0"/>
                <a:sym typeface="+mn-ea"/>
              </a:rPr>
              <a:t>Object :</a:t>
            </a:r>
            <a:endParaRPr lang="en-US" sz="3200" b="1" dirty="0">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255905" y="2023745"/>
            <a:ext cx="8455025" cy="2306955"/>
          </a:xfrm>
          <a:prstGeom prst="rect">
            <a:avLst/>
          </a:prstGeom>
          <a:noFill/>
        </p:spPr>
        <p:txBody>
          <a:bodyPr wrap="square" rtlCol="0" anchor="t">
            <a:spAutoFit/>
          </a:bodyPr>
          <a:p>
            <a:pPr marL="342900" indent="-342900">
              <a:buClr>
                <a:srgbClr val="00B050"/>
              </a:buClr>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Object is a superclass of all other classes</a:t>
            </a:r>
            <a:endParaRPr lang="en-US"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endParaRPr lang="en-US"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It is beneficial if you want to refer any object whose type you don’t know</a:t>
            </a:r>
            <a:endParaRPr lang="en-US"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endParaRPr lang="en-US"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It provides some common behaviors to all objects</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304800" y="271780"/>
            <a:ext cx="8717280"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Collection Framework &amp; Exploring java.lang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74295" y="1268730"/>
            <a:ext cx="8948420" cy="583565"/>
          </a:xfrm>
          <a:prstGeom prst="rect">
            <a:avLst/>
          </a:prstGeom>
          <a:noFill/>
        </p:spPr>
        <p:txBody>
          <a:bodyPr wrap="square" rtlCol="0" anchor="t">
            <a:spAutoFit/>
          </a:bodyPr>
          <a:p>
            <a:r>
              <a:rPr lang="en-US" sz="3200" b="1" dirty="0">
                <a:solidFill>
                  <a:srgbClr val="FF0000"/>
                </a:solidFill>
                <a:latin typeface="Times New Roman" panose="02020603050405020304" pitchFamily="18" charset="0"/>
                <a:cs typeface="Times New Roman" panose="02020603050405020304" pitchFamily="18" charset="0"/>
                <a:sym typeface="+mn-ea"/>
              </a:rPr>
              <a:t>finalize() :</a:t>
            </a:r>
            <a:endParaRPr lang="en-US" sz="3200" b="1" dirty="0">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255905" y="2023745"/>
            <a:ext cx="8455025" cy="4523105"/>
          </a:xfrm>
          <a:prstGeom prst="rect">
            <a:avLst/>
          </a:prstGeom>
          <a:noFill/>
        </p:spPr>
        <p:txBody>
          <a:bodyPr wrap="square" rtlCol="0" anchor="t">
            <a:spAutoFit/>
          </a:bodyPr>
          <a:p>
            <a:pPr marL="342900" indent="-342900">
              <a:buClr>
                <a:srgbClr val="00B050"/>
              </a:buClr>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finalize() is a protected and non-static method of Object class and will be available in all objects you create</a:t>
            </a:r>
            <a:endParaRPr lang="en-US"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endParaRPr lang="en-US"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It is called by the garbage collector on an object when garbage collector determines that there are no more references to the object</a:t>
            </a:r>
            <a:endParaRPr lang="en-US"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A subclass overrides the finalize() to keep those operations you want to perform before an object is destroyed. It is not automatically chained like constructors</a:t>
            </a:r>
            <a:endParaRPr lang="en-US"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endParaRPr lang="en-US"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You can call finalize() method explicitly on an object before it is abandoned</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304800" y="271780"/>
            <a:ext cx="8717280" cy="583565"/>
          </a:xfrm>
          <a:prstGeom prst="rect">
            <a:avLst/>
          </a:prstGeom>
          <a:noFill/>
          <a:ln w="9525">
            <a:noFill/>
            <a:miter lim="800000"/>
          </a:ln>
          <a:effectLst>
            <a:outerShdw dist="35921" dir="2700000" algn="ctr" rotWithShape="0">
              <a:schemeClr val="bg2"/>
            </a:outerShdw>
          </a:effectLst>
        </p:spPr>
        <p:txBody>
          <a:bodyPr wrap="square">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Collection Framework &amp; Exploring java.lang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74295" y="1268730"/>
            <a:ext cx="8948420" cy="583565"/>
          </a:xfrm>
          <a:prstGeom prst="rect">
            <a:avLst/>
          </a:prstGeom>
          <a:noFill/>
        </p:spPr>
        <p:txBody>
          <a:bodyPr wrap="square" rtlCol="0" anchor="t">
            <a:spAutoFit/>
          </a:bodyPr>
          <a:p>
            <a:r>
              <a:rPr lang="en-US" sz="3200" b="1" dirty="0">
                <a:solidFill>
                  <a:srgbClr val="FF0000"/>
                </a:solidFill>
                <a:latin typeface="Times New Roman" panose="02020603050405020304" pitchFamily="18" charset="0"/>
                <a:cs typeface="Times New Roman" panose="02020603050405020304" pitchFamily="18" charset="0"/>
                <a:sym typeface="+mn-ea"/>
              </a:rPr>
              <a:t>toString() :</a:t>
            </a:r>
            <a:endParaRPr lang="en-US" sz="3200" b="1" dirty="0">
              <a:solidFill>
                <a:srgbClr val="FF0000"/>
              </a:solidFill>
              <a:latin typeface="Times New Roman" panose="02020603050405020304" pitchFamily="18" charset="0"/>
              <a:cs typeface="Times New Roman" panose="02020603050405020304" pitchFamily="18" charset="0"/>
              <a:sym typeface="+mn-ea"/>
            </a:endParaRPr>
          </a:p>
        </p:txBody>
      </p:sp>
      <p:sp>
        <p:nvSpPr>
          <p:cNvPr id="3" name="Text Box 2"/>
          <p:cNvSpPr txBox="1"/>
          <p:nvPr/>
        </p:nvSpPr>
        <p:spPr>
          <a:xfrm>
            <a:off x="255905" y="2023745"/>
            <a:ext cx="8455025" cy="4523105"/>
          </a:xfrm>
          <a:prstGeom prst="rect">
            <a:avLst/>
          </a:prstGeom>
          <a:noFill/>
        </p:spPr>
        <p:txBody>
          <a:bodyPr wrap="square" rtlCol="0" anchor="t">
            <a:spAutoFit/>
          </a:bodyPr>
          <a:p>
            <a:pPr marL="342900" indent="-342900">
              <a:buClr>
                <a:srgbClr val="00B050"/>
              </a:buClr>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toString() method returns the string representation of the object</a:t>
            </a:r>
            <a:endParaRPr lang="en-US"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endParaRPr lang="en-US"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If you print any object, java compiler internally invokes</a:t>
            </a:r>
            <a:endParaRPr lang="en-US" b="1">
              <a:latin typeface="Times New Roman" panose="02020603050405020304" pitchFamily="18" charset="0"/>
              <a:cs typeface="Times New Roman" panose="02020603050405020304" pitchFamily="18" charset="0"/>
              <a:sym typeface="+mn-ea"/>
            </a:endParaRPr>
          </a:p>
          <a:p>
            <a:pPr>
              <a:buClr>
                <a:srgbClr val="00B050"/>
              </a:buClr>
              <a:buFont typeface="Wingdings" panose="05000000000000000000" charset="0"/>
            </a:pPr>
            <a:r>
              <a:rPr lang="en-US" b="1">
                <a:latin typeface="Times New Roman" panose="02020603050405020304" pitchFamily="18" charset="0"/>
                <a:cs typeface="Times New Roman" panose="02020603050405020304" pitchFamily="18" charset="0"/>
                <a:sym typeface="+mn-ea"/>
              </a:rPr>
              <a:t>toString() on the object</a:t>
            </a:r>
            <a:endParaRPr lang="en-US" b="1">
              <a:latin typeface="Times New Roman" panose="02020603050405020304" pitchFamily="18" charset="0"/>
              <a:cs typeface="Times New Roman" panose="02020603050405020304" pitchFamily="18" charset="0"/>
              <a:sym typeface="+mn-ea"/>
            </a:endParaRPr>
          </a:p>
          <a:p>
            <a:pPr>
              <a:buClr>
                <a:srgbClr val="00B050"/>
              </a:buClr>
              <a:buFont typeface="Wingdings" panose="05000000000000000000" charset="0"/>
            </a:pPr>
            <a:endParaRPr lang="en-US"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By overriding toString() method of the Object class, we</a:t>
            </a:r>
            <a:endParaRPr lang="en-US" b="1">
              <a:latin typeface="Times New Roman" panose="02020603050405020304" pitchFamily="18" charset="0"/>
              <a:cs typeface="Times New Roman" panose="02020603050405020304" pitchFamily="18" charset="0"/>
              <a:sym typeface="+mn-ea"/>
            </a:endParaRPr>
          </a:p>
          <a:p>
            <a:pPr>
              <a:buClr>
                <a:srgbClr val="00B050"/>
              </a:buClr>
              <a:buFont typeface="Wingdings" panose="05000000000000000000" charset="0"/>
            </a:pPr>
            <a:r>
              <a:rPr lang="en-US" b="1">
                <a:latin typeface="Times New Roman" panose="02020603050405020304" pitchFamily="18" charset="0"/>
                <a:cs typeface="Times New Roman" panose="02020603050405020304" pitchFamily="18" charset="0"/>
                <a:sym typeface="+mn-ea"/>
              </a:rPr>
              <a:t>can return values of the object</a:t>
            </a:r>
            <a:endParaRPr lang="en-US" b="1">
              <a:latin typeface="Times New Roman" panose="02020603050405020304" pitchFamily="18" charset="0"/>
              <a:cs typeface="Times New Roman" panose="02020603050405020304" pitchFamily="18" charset="0"/>
              <a:sym typeface="+mn-ea"/>
            </a:endParaRPr>
          </a:p>
          <a:p>
            <a:pPr>
              <a:buClr>
                <a:srgbClr val="00B050"/>
              </a:buClr>
              <a:buFont typeface="Wingdings" panose="05000000000000000000" charset="0"/>
            </a:pPr>
            <a:endParaRPr lang="en-US" b="1">
              <a:latin typeface="Times New Roman" panose="02020603050405020304" pitchFamily="18" charset="0"/>
              <a:cs typeface="Times New Roman" panose="02020603050405020304" pitchFamily="18" charset="0"/>
              <a:sym typeface="+mn-ea"/>
            </a:endParaRPr>
          </a:p>
          <a:p>
            <a:pPr marL="342900" indent="-342900">
              <a:buClr>
                <a:srgbClr val="00B050"/>
              </a:buClr>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It is also widely used for logging, debugging and for passing informative error messages to Exception constructors and assertions</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theme/theme1.xml><?xml version="1.0" encoding="utf-8"?>
<a:theme xmlns:a="http://schemas.openxmlformats.org/drawingml/2006/main" name="LiquidGold">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33CC"/>
      </a:hlink>
      <a:folHlink>
        <a:srgbClr val="B2B2B2"/>
      </a:folHlink>
    </a:clrScheme>
    <a:fontScheme name="LiquidGold">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LiquidGold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LiquidGold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LiquidGold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LiquidGold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LiquidGold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LiquidGold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LiquidGold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LiquidGold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99"/>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C:\WINNT\Profiles\Administrator\Application Data\Microsoft\Templates\LiquidGold.pot</Template>
  <TotalTime>0</TotalTime>
  <Words>13912</Words>
  <Application>WPS Presentation</Application>
  <PresentationFormat/>
  <Paragraphs>395</Paragraphs>
  <Slides>33</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33</vt:i4>
      </vt:variant>
    </vt:vector>
  </HeadingPairs>
  <TitlesOfParts>
    <vt:vector size="43" baseType="lpstr">
      <vt:lpstr>Arial</vt:lpstr>
      <vt:lpstr>SimSun</vt:lpstr>
      <vt:lpstr>Wingdings</vt:lpstr>
      <vt:lpstr>Impact</vt:lpstr>
      <vt:lpstr>Times New Roman</vt:lpstr>
      <vt:lpstr>Wingdings</vt:lpstr>
      <vt:lpstr>Microsoft YaHei</vt:lpstr>
      <vt:lpstr>Arial Unicode MS</vt:lpstr>
      <vt:lpstr>Calibri</vt:lpstr>
      <vt:lpstr>LiquidGold</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comp1</dc:creator>
  <cp:lastModifiedBy>nEW u</cp:lastModifiedBy>
  <cp:revision>384</cp:revision>
  <dcterms:created xsi:type="dcterms:W3CDTF">2001-06-04T11:43:00Z</dcterms:created>
  <dcterms:modified xsi:type="dcterms:W3CDTF">2018-11-05T21:29:04Z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1033-10.2.0.7516</vt:lpwstr>
  </property>
</Properties>
</file>