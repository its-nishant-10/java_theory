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56"/>
  </p:handoutMasterIdLst>
  <p:sldIdLst>
    <p:sldId id="258" r:id="rId3"/>
    <p:sldId id="260" r:id="rId4"/>
    <p:sldId id="261" r:id="rId5"/>
    <p:sldId id="262" r:id="rId6"/>
    <p:sldId id="263" r:id="rId7"/>
    <p:sldId id="264" r:id="rId8"/>
    <p:sldId id="350" r:id="rId9"/>
    <p:sldId id="351" r:id="rId10"/>
    <p:sldId id="389" r:id="rId11"/>
    <p:sldId id="390" r:id="rId12"/>
    <p:sldId id="391" r:id="rId13"/>
    <p:sldId id="392" r:id="rId14"/>
    <p:sldId id="393" r:id="rId15"/>
    <p:sldId id="394" r:id="rId16"/>
    <p:sldId id="395" r:id="rId17"/>
    <p:sldId id="396" r:id="rId18"/>
    <p:sldId id="397" r:id="rId19"/>
    <p:sldId id="398" r:id="rId20"/>
    <p:sldId id="399" r:id="rId21"/>
    <p:sldId id="400" r:id="rId22"/>
    <p:sldId id="401" r:id="rId23"/>
    <p:sldId id="402" r:id="rId24"/>
    <p:sldId id="403" r:id="rId25"/>
    <p:sldId id="404" r:id="rId26"/>
    <p:sldId id="405" r:id="rId27"/>
    <p:sldId id="406" r:id="rId28"/>
    <p:sldId id="407" r:id="rId29"/>
    <p:sldId id="408" r:id="rId30"/>
    <p:sldId id="409" r:id="rId31"/>
    <p:sldId id="410" r:id="rId32"/>
    <p:sldId id="411" r:id="rId33"/>
    <p:sldId id="412" r:id="rId34"/>
    <p:sldId id="413" r:id="rId35"/>
    <p:sldId id="414" r:id="rId36"/>
    <p:sldId id="415" r:id="rId37"/>
    <p:sldId id="416" r:id="rId38"/>
    <p:sldId id="417" r:id="rId39"/>
    <p:sldId id="418" r:id="rId40"/>
    <p:sldId id="421" r:id="rId41"/>
    <p:sldId id="428" r:id="rId42"/>
    <p:sldId id="430" r:id="rId43"/>
    <p:sldId id="429" r:id="rId44"/>
    <p:sldId id="431" r:id="rId45"/>
    <p:sldId id="419" r:id="rId46"/>
    <p:sldId id="420" r:id="rId47"/>
    <p:sldId id="424" r:id="rId48"/>
    <p:sldId id="432" r:id="rId49"/>
    <p:sldId id="425" r:id="rId50"/>
    <p:sldId id="433" r:id="rId51"/>
    <p:sldId id="426" r:id="rId52"/>
    <p:sldId id="434" r:id="rId53"/>
    <p:sldId id="427" r:id="rId54"/>
    <p:sldId id="435" r:id="rId55"/>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3300"/>
    <a:srgbClr val="CC3300"/>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9654"/>
    <p:restoredTop sz="94660"/>
  </p:normalViewPr>
  <p:slideViewPr>
    <p:cSldViewPr showGuides="1">
      <p:cViewPr varScale="1">
        <p:scale>
          <a:sx n="69" d="100"/>
          <a:sy n="69" d="100"/>
        </p:scale>
        <p:origin x="-1412" y="-68"/>
      </p:cViewPr>
      <p:guideLst>
        <p:guide orient="horz" pos="2159"/>
        <p:guide pos="2904"/>
      </p:guideLst>
    </p:cSldViewPr>
  </p:slideViewPr>
  <p:outlineViewPr>
    <p:cViewPr>
      <p:scale>
        <a:sx n="33" d="100"/>
        <a:sy n="33" d="100"/>
      </p:scale>
      <p:origin x="0" y="12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9" Type="http://schemas.openxmlformats.org/officeDocument/2006/relationships/tableStyles" Target="tableStyles.xml"/><Relationship Id="rId58" Type="http://schemas.openxmlformats.org/officeDocument/2006/relationships/viewProps" Target="viewProps.xml"/><Relationship Id="rId57" Type="http://schemas.openxmlformats.org/officeDocument/2006/relationships/presProps" Target="presProps.xml"/><Relationship Id="rId56" Type="http://schemas.openxmlformats.org/officeDocument/2006/relationships/handoutMaster" Target="handoutMasters/handoutMaster1.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7"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8"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9"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fld id="{9A0DB2DC-4C9A-4742-B13C-FB6460FD3503}" type="slidenum">
              <a:rPr lang="en-US" sz="1200" dirty="0"/>
            </a:fld>
            <a:endParaRPr lang="en-US" sz="1200" dirty="0"/>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9156700" cy="6858000"/>
          </a:xfrm>
          <a:prstGeom prst="rect">
            <a:avLst/>
          </a:prstGeom>
          <a:noFill/>
          <a:ln w="9525">
            <a:noFill/>
          </a:ln>
        </p:spPr>
      </p:pic>
      <p:sp>
        <p:nvSpPr>
          <p:cNvPr id="2051" name="Rectangle 3"/>
          <p:cNvSpPr>
            <a:spLocks noGrp="1" noChangeArrowheads="1"/>
          </p:cNvSpPr>
          <p:nvPr>
            <p:ph type="ctrTitle"/>
          </p:nvPr>
        </p:nvSpPr>
        <p:spPr>
          <a:xfrm>
            <a:off x="468313" y="1196975"/>
            <a:ext cx="8207375" cy="1082675"/>
          </a:xfrm>
        </p:spPr>
        <p:txBody>
          <a:bodyPr/>
          <a:lstStyle>
            <a:lvl1pPr algn="ctr">
              <a:defRPr>
                <a:solidFill>
                  <a:schemeClr val="bg1"/>
                </a:solidFill>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469900" y="2422525"/>
            <a:ext cx="8212138" cy="1752600"/>
          </a:xfrm>
        </p:spPr>
        <p:txBody>
          <a:bodyPr/>
          <a:lstStyle>
            <a:lvl1pPr marL="0" indent="0" algn="ct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457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0" name="Rectangle 6"/>
          <p:cNvSpPr>
            <a:spLocks noGrp="1" noChangeArrowheads="1"/>
          </p:cNvSpPr>
          <p:nvPr>
            <p:ph type="ftr" sz="quarter" idx="3"/>
          </p:nvPr>
        </p:nvSpPr>
        <p:spPr bwMode="auto">
          <a:xfrm>
            <a:off x="3124200" y="6245225"/>
            <a:ext cx="2895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1" name="Rectangle 7"/>
          <p:cNvSpPr>
            <a:spLocks noGrp="1" noChangeArrowheads="1"/>
          </p:cNvSpPr>
          <p:nvPr>
            <p:ph type="sldNum" sz="quarter" idx="4"/>
          </p:nvPr>
        </p:nvSpPr>
        <p:spPr bwMode="auto">
          <a:xfrm>
            <a:off x="6553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DA3D971-BD08-4105-986D-4E62801DB796}"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2AEB82A-E188-4EC3-A976-6ACB2D5576C4}"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2AEB82A-E188-4EC3-A976-6ACB2D5576C4}"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174750"/>
            <a:ext cx="40386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174750"/>
            <a:ext cx="40386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2AEB82A-E188-4EC3-A976-6ACB2D5576C4}"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2AEB82A-E188-4EC3-A976-6ACB2D5576C4}"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2AEB82A-E188-4EC3-A976-6ACB2D5576C4}"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2AEB82A-E188-4EC3-A976-6ACB2D5576C4}"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2AEB82A-E188-4EC3-A976-6ACB2D5576C4}"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2AEB82A-E188-4EC3-A976-6ACB2D5576C4}"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2AEB82A-E188-4EC3-A976-6ACB2D5576C4}"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90500"/>
            <a:ext cx="20574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90500"/>
            <a:ext cx="60198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2AEB82A-E188-4EC3-A976-6ACB2D5576C4}"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9"/>
          <p:cNvPicPr>
            <a:picLocks noChangeAspect="1"/>
          </p:cNvPicPr>
          <p:nvPr/>
        </p:nvPicPr>
        <p:blipFill>
          <a:blip r:embed="rId12"/>
          <a:stretch>
            <a:fillRect/>
          </a:stretch>
        </p:blipFill>
        <p:spPr>
          <a:xfrm>
            <a:off x="0" y="0"/>
            <a:ext cx="9156700" cy="6858000"/>
          </a:xfrm>
          <a:prstGeom prst="rect">
            <a:avLst/>
          </a:prstGeom>
          <a:noFill/>
          <a:ln w="9525">
            <a:noFill/>
          </a:ln>
        </p:spPr>
      </p:pic>
      <p:sp>
        <p:nvSpPr>
          <p:cNvPr id="1027" name="Rectangle 3"/>
          <p:cNvSpPr>
            <a:spLocks noGrp="1"/>
          </p:cNvSpPr>
          <p:nvPr>
            <p:ph type="title"/>
          </p:nvPr>
        </p:nvSpPr>
        <p:spPr>
          <a:xfrm>
            <a:off x="457200" y="190500"/>
            <a:ext cx="8229600" cy="582613"/>
          </a:xfrm>
          <a:prstGeom prst="rect">
            <a:avLst/>
          </a:prstGeom>
          <a:noFill/>
          <a:ln w="9525">
            <a:noFill/>
          </a:ln>
        </p:spPr>
        <p:txBody>
          <a:bodyPr anchor="ctr"/>
          <a:p>
            <a:pPr lvl="0"/>
            <a:r>
              <a:rPr lang="en-US" altLang="zh-CN" dirty="0"/>
              <a:t>Click to edit Master title style</a:t>
            </a:r>
            <a:endParaRPr lang="en-US" altLang="zh-CN" dirty="0"/>
          </a:p>
        </p:txBody>
      </p:sp>
      <p:sp>
        <p:nvSpPr>
          <p:cNvPr id="1028" name="Rectangle 4"/>
          <p:cNvSpPr>
            <a:spLocks noGrp="1"/>
          </p:cNvSpPr>
          <p:nvPr>
            <p:ph type="body" idx="1"/>
          </p:nvPr>
        </p:nvSpPr>
        <p:spPr>
          <a:xfrm>
            <a:off x="457200" y="1174750"/>
            <a:ext cx="82296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030" name="Rectangle 6"/>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031" name="Rectangle 7"/>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B2AEB82A-E188-4EC3-A976-6ACB2D5576C4}"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1905000" y="0"/>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              Variable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643255" y="1164590"/>
            <a:ext cx="4408805" cy="583565"/>
          </a:xfrm>
          <a:prstGeom prst="rect">
            <a:avLst/>
          </a:prstGeom>
          <a:noFill/>
        </p:spPr>
        <p:txBody>
          <a:bodyPr wrap="square" rtlCol="0" anchor="t">
            <a:spAutoFit/>
          </a:bodyPr>
          <a:p>
            <a:r>
              <a:rPr lang="en-US" sz="3200" b="1">
                <a:solidFill>
                  <a:srgbClr val="CC3300"/>
                </a:solidFill>
                <a:latin typeface="Times New Roman" panose="02020603050405020304" pitchFamily="18" charset="0"/>
                <a:cs typeface="Times New Roman" panose="02020603050405020304" pitchFamily="18" charset="0"/>
                <a:sym typeface="+mn-ea"/>
              </a:rPr>
              <a:t>Variable</a:t>
            </a:r>
            <a:endParaRPr lang="en-US" sz="3200" b="1">
              <a:solidFill>
                <a:srgbClr val="CC3300"/>
              </a:solidFill>
              <a:latin typeface="Times New Roman" panose="02020603050405020304" pitchFamily="18" charset="0"/>
              <a:cs typeface="Times New Roman" panose="02020603050405020304" pitchFamily="18" charset="0"/>
              <a:sym typeface="+mn-ea"/>
            </a:endParaRPr>
          </a:p>
        </p:txBody>
      </p:sp>
      <p:sp>
        <p:nvSpPr>
          <p:cNvPr id="4" name="Text Box 3"/>
          <p:cNvSpPr txBox="1"/>
          <p:nvPr/>
        </p:nvSpPr>
        <p:spPr>
          <a:xfrm>
            <a:off x="750570" y="1772285"/>
            <a:ext cx="7527290" cy="2306955"/>
          </a:xfrm>
          <a:prstGeom prst="rect">
            <a:avLst/>
          </a:prstGeom>
          <a:noFill/>
        </p:spPr>
        <p:txBody>
          <a:bodyPr wrap="square" rtlCol="0" anchor="t">
            <a:spAutoFit/>
          </a:bodyPr>
          <a:p>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Variable is name of reserved area allocated in memory. In other words, it is a name of memory location. It is a combination of "vary + able" that means its value can be changed.</a:t>
            </a: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pic>
        <p:nvPicPr>
          <p:cNvPr id="4" name="Picture 3" descr="variable"/>
          <p:cNvPicPr>
            <a:picLocks noChangeAspect="1"/>
          </p:cNvPicPr>
          <p:nvPr/>
        </p:nvPicPr>
        <p:blipFill>
          <a:blip r:embed="rId1"/>
          <a:stretch>
            <a:fillRect/>
          </a:stretch>
        </p:blipFill>
        <p:spPr>
          <a:xfrm>
            <a:off x="1598930" y="1927860"/>
            <a:ext cx="4431030" cy="2606040"/>
          </a:xfrm>
          <a:prstGeom prst="rect">
            <a:avLst/>
          </a:prstGeom>
        </p:spPr>
      </p:pic>
      <p:sp>
        <p:nvSpPr>
          <p:cNvPr id="5" name="Text Box 4"/>
          <p:cNvSpPr txBox="1"/>
          <p:nvPr/>
        </p:nvSpPr>
        <p:spPr>
          <a:xfrm>
            <a:off x="1441450" y="5093970"/>
            <a:ext cx="6524625" cy="460375"/>
          </a:xfrm>
          <a:prstGeom prst="rect">
            <a:avLst/>
          </a:prstGeom>
          <a:noFill/>
        </p:spPr>
        <p:txBody>
          <a:bodyPr wrap="square" rtlCol="0" anchor="t">
            <a:spAutoFit/>
          </a:bodyPr>
          <a:p>
            <a:r>
              <a:rPr lang="en-US"/>
              <a:t>int data=10;//</a:t>
            </a:r>
            <a:r>
              <a:rPr lang="en-US">
                <a:solidFill>
                  <a:srgbClr val="CC3300"/>
                </a:solidFill>
              </a:rPr>
              <a:t>Here data is variable</a:t>
            </a:r>
            <a:endParaRPr lang="en-US">
              <a:solidFill>
                <a:srgbClr val="CC33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3" name="Line 5"/>
          <p:cNvSpPr/>
          <p:nvPr/>
        </p:nvSpPr>
        <p:spPr>
          <a:xfrm>
            <a:off x="304800" y="685800"/>
            <a:ext cx="8610600" cy="0"/>
          </a:xfrm>
          <a:prstGeom prst="line">
            <a:avLst/>
          </a:prstGeom>
          <a:ln w="9525" cap="flat" cmpd="sng">
            <a:solidFill>
              <a:srgbClr val="CC3300"/>
            </a:solidFill>
            <a:prstDash val="solid"/>
            <a:headEnd type="none" w="med" len="med"/>
            <a:tailEnd type="none" w="med" len="med"/>
          </a:ln>
        </p:spPr>
      </p:sp>
      <p:sp>
        <p:nvSpPr>
          <p:cNvPr id="8196" name="Text Box 4"/>
          <p:cNvSpPr txBox="1">
            <a:spLocks noChangeArrowheads="1"/>
          </p:cNvSpPr>
          <p:nvPr/>
        </p:nvSpPr>
        <p:spPr bwMode="auto">
          <a:xfrm>
            <a:off x="304800" y="102235"/>
            <a:ext cx="5486400" cy="583565"/>
          </a:xfrm>
          <a:prstGeom prst="rect">
            <a:avLst/>
          </a:prstGeom>
          <a:noFill/>
          <a:ln w="9525">
            <a:noFill/>
            <a:miter lim="800000"/>
          </a:ln>
          <a:effectLst>
            <a:outerShdw dist="35921" dir="2700000" algn="ctr" rotWithShape="0">
              <a:schemeClr val="bg2"/>
            </a:outerShdw>
          </a:effectLst>
        </p:spPr>
        <p:txBody>
          <a:bodyPr>
            <a:spAutoFit/>
          </a:bodyPr>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2" name="Text Box 1"/>
          <p:cNvSpPr txBox="1"/>
          <p:nvPr/>
        </p:nvSpPr>
        <p:spPr>
          <a:xfrm>
            <a:off x="304800" y="906145"/>
            <a:ext cx="4597400" cy="460375"/>
          </a:xfrm>
          <a:prstGeom prst="rect">
            <a:avLst/>
          </a:prstGeom>
          <a:noFill/>
        </p:spPr>
        <p:txBody>
          <a:bodyPr wrap="square" rtlCol="0" anchor="t">
            <a:spAutoFit/>
          </a:bodyPr>
          <a:p>
            <a:r>
              <a:rPr lang="en-US" b="1" u="sng">
                <a:solidFill>
                  <a:srgbClr val="C00000"/>
                </a:solidFill>
                <a:latin typeface="Times New Roman" panose="02020603050405020304" pitchFamily="18" charset="0"/>
                <a:cs typeface="Times New Roman" panose="02020603050405020304" pitchFamily="18" charset="0"/>
              </a:rPr>
              <a:t>Types of Variables:</a:t>
            </a:r>
            <a:endParaRPr lang="en-US" b="1" u="sng">
              <a:solidFill>
                <a:srgbClr val="C0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03860" y="1586230"/>
            <a:ext cx="8301990" cy="4154170"/>
          </a:xfrm>
          <a:prstGeom prst="rect">
            <a:avLst/>
          </a:prstGeom>
          <a:noFill/>
        </p:spPr>
        <p:txBody>
          <a:bodyPr wrap="square" rtlCol="0" anchor="t">
            <a:spAutoFit/>
          </a:bodyPr>
          <a:p>
            <a:r>
              <a:rPr lang="en-US"/>
              <a:t>There are three types of variables in java:</a:t>
            </a:r>
            <a:endParaRPr lang="en-US"/>
          </a:p>
          <a:p>
            <a:endParaRPr lang="en-US"/>
          </a:p>
          <a:p>
            <a:r>
              <a:rPr lang="en-US" b="1">
                <a:solidFill>
                  <a:srgbClr val="CC3300"/>
                </a:solidFill>
              </a:rPr>
              <a:t>1) Local Variable</a:t>
            </a:r>
            <a:endParaRPr lang="en-US"/>
          </a:p>
          <a:p>
            <a:endParaRPr lang="en-US"/>
          </a:p>
          <a:p>
            <a:r>
              <a:rPr lang="en-US"/>
              <a:t>A variable declared inside the body of the method is called local variable. You can use this variable only within that method and the other methods in the class aren't even aware that the variable exists.</a:t>
            </a:r>
            <a:endParaRPr lang="en-US"/>
          </a:p>
          <a:p>
            <a:endParaRPr lang="en-US"/>
          </a:p>
          <a:p>
            <a:r>
              <a:rPr lang="en-US"/>
              <a:t>A local variable cannot be defined with "static" keyword.</a:t>
            </a:r>
            <a:endParaRPr lang="en-US"/>
          </a:p>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Line 7"/>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10248" name="Text Box 8"/>
          <p:cNvSpPr txBox="1">
            <a:spLocks noChangeArrowheads="1"/>
          </p:cNvSpPr>
          <p:nvPr/>
        </p:nvSpPr>
        <p:spPr bwMode="auto">
          <a:xfrm>
            <a:off x="304800" y="26543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2" name="Text Box 1"/>
          <p:cNvSpPr txBox="1"/>
          <p:nvPr/>
        </p:nvSpPr>
        <p:spPr>
          <a:xfrm>
            <a:off x="453390" y="1351915"/>
            <a:ext cx="7997190" cy="4892675"/>
          </a:xfrm>
          <a:prstGeom prst="rect">
            <a:avLst/>
          </a:prstGeom>
          <a:noFill/>
        </p:spPr>
        <p:txBody>
          <a:bodyPr wrap="square" rtlCol="0" anchor="t">
            <a:spAutoFit/>
          </a:bodyPr>
          <a:p>
            <a:r>
              <a:rPr lang="en-US" b="1">
                <a:solidFill>
                  <a:srgbClr val="CC3300"/>
                </a:solidFill>
                <a:sym typeface="+mn-ea"/>
              </a:rPr>
              <a:t>2) Instance Variable</a:t>
            </a:r>
            <a:endParaRPr lang="en-US"/>
          </a:p>
          <a:p>
            <a:r>
              <a:rPr lang="en-US">
                <a:sym typeface="+mn-ea"/>
              </a:rPr>
              <a:t>A variable declared inside the class but outside the body of the method, is called instance variable. It is not declared as static.</a:t>
            </a:r>
            <a:endParaRPr lang="en-US"/>
          </a:p>
          <a:p>
            <a:r>
              <a:rPr lang="en-US">
                <a:sym typeface="+mn-ea"/>
              </a:rPr>
              <a:t>It is called instance variable because its value is instance specific and is not shared among instances.</a:t>
            </a:r>
            <a:endParaRPr lang="en-US">
              <a:sym typeface="+mn-ea"/>
            </a:endParaRPr>
          </a:p>
          <a:p>
            <a:endParaRPr lang="en-US"/>
          </a:p>
          <a:p>
            <a:r>
              <a:rPr lang="en-US" b="1">
                <a:solidFill>
                  <a:srgbClr val="CC3300"/>
                </a:solidFill>
                <a:sym typeface="+mn-ea"/>
              </a:rPr>
              <a:t>3) Static variable</a:t>
            </a:r>
            <a:endParaRPr lang="en-US" b="1">
              <a:solidFill>
                <a:srgbClr val="CC3300"/>
              </a:solidFill>
            </a:endParaRPr>
          </a:p>
          <a:p>
            <a:r>
              <a:rPr lang="en-US">
                <a:sym typeface="+mn-ea"/>
              </a:rPr>
              <a:t>A variable which is declared as static is called static variable. It cannot be local. You can create a single copy of static variable and share among all the instances of the class. Memory allocation for static variable happens only once when the class is loaded in the memory. </a:t>
            </a: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20" name="Line 6"/>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11271" name="Text Box 7"/>
          <p:cNvSpPr txBox="1">
            <a:spLocks noChangeArrowheads="1"/>
          </p:cNvSpPr>
          <p:nvPr/>
        </p:nvSpPr>
        <p:spPr bwMode="auto">
          <a:xfrm>
            <a:off x="304800" y="40513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example</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2" name="Text Box 1"/>
          <p:cNvSpPr txBox="1"/>
          <p:nvPr/>
        </p:nvSpPr>
        <p:spPr>
          <a:xfrm>
            <a:off x="378460" y="1314450"/>
            <a:ext cx="8458835" cy="476948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Example to understand the types of variables in java :</a:t>
            </a:r>
            <a:endParaRPr lang="en-US" sz="3200" b="1">
              <a:solidFill>
                <a:srgbClr val="C00000"/>
              </a:solidFill>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public class A</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  </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int data=50;//</a:t>
            </a:r>
            <a:r>
              <a:rPr lang="en-US">
                <a:solidFill>
                  <a:srgbClr val="CC3300"/>
                </a:solidFill>
                <a:latin typeface="Times New Roman" panose="02020603050405020304" pitchFamily="18" charset="0"/>
                <a:cs typeface="Times New Roman" panose="02020603050405020304" pitchFamily="18" charset="0"/>
              </a:rPr>
              <a:t>instance variable  </a:t>
            </a:r>
            <a:endParaRPr lang="en-US">
              <a:solidFill>
                <a:srgbClr val="CC3300"/>
              </a:solidFill>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static int m=100;//</a:t>
            </a:r>
            <a:r>
              <a:rPr lang="en-US">
                <a:solidFill>
                  <a:srgbClr val="CC3300"/>
                </a:solidFill>
                <a:latin typeface="Times New Roman" panose="02020603050405020304" pitchFamily="18" charset="0"/>
                <a:cs typeface="Times New Roman" panose="02020603050405020304" pitchFamily="18" charset="0"/>
              </a:rPr>
              <a:t>static variable </a:t>
            </a:r>
            <a:r>
              <a:rPr lang="en-US">
                <a:latin typeface="Times New Roman" panose="02020603050405020304" pitchFamily="18" charset="0"/>
                <a:cs typeface="Times New Roman" panose="02020603050405020304" pitchFamily="18" charset="0"/>
              </a:rPr>
              <a:t> </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void method()</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  </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int n=90;//</a:t>
            </a:r>
            <a:r>
              <a:rPr lang="en-US">
                <a:solidFill>
                  <a:srgbClr val="CC3300"/>
                </a:solidFill>
                <a:latin typeface="Times New Roman" panose="02020603050405020304" pitchFamily="18" charset="0"/>
                <a:cs typeface="Times New Roman" panose="02020603050405020304" pitchFamily="18" charset="0"/>
              </a:rPr>
              <a:t>local variable </a:t>
            </a:r>
            <a:r>
              <a:rPr lang="en-US">
                <a:latin typeface="Times New Roman" panose="02020603050405020304" pitchFamily="18" charset="0"/>
                <a:cs typeface="Times New Roman" panose="02020603050405020304" pitchFamily="18" charset="0"/>
              </a:rPr>
              <a:t> </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  </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}//end of class  </a:t>
            </a: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ext Box 3"/>
          <p:cNvSpPr txBox="1"/>
          <p:nvPr/>
        </p:nvSpPr>
        <p:spPr>
          <a:xfrm>
            <a:off x="381000" y="1411605"/>
            <a:ext cx="7543800" cy="5446395"/>
          </a:xfrm>
          <a:prstGeom prst="rect">
            <a:avLst/>
          </a:prstGeom>
          <a:noFill/>
          <a:ln w="9525">
            <a:noFill/>
          </a:ln>
        </p:spPr>
        <p:txBody>
          <a:bodyPr>
            <a:spAutoFit/>
          </a:bodyPr>
          <a:p>
            <a:pPr>
              <a:spcBef>
                <a:spcPct val="50000"/>
              </a:spcBef>
            </a:pPr>
            <a:r>
              <a:rPr lang="en-US" b="1">
                <a:latin typeface="Times New Roman" panose="02020603050405020304" pitchFamily="18" charset="0"/>
                <a:cs typeface="Times New Roman" panose="02020603050405020304" pitchFamily="18" charset="0"/>
                <a:sym typeface="+mn-ea"/>
              </a:rPr>
              <a:t>    class Simple</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public static void main(String[] args)</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int a=10;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int b=10;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int c=a+b;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System.out.println(c);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example</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ext Box 3"/>
          <p:cNvSpPr txBox="1"/>
          <p:nvPr/>
        </p:nvSpPr>
        <p:spPr>
          <a:xfrm>
            <a:off x="381000" y="1411605"/>
            <a:ext cx="7543800" cy="5446395"/>
          </a:xfrm>
          <a:prstGeom prst="rect">
            <a:avLst/>
          </a:prstGeom>
          <a:noFill/>
          <a:ln w="9525">
            <a:noFill/>
          </a:ln>
        </p:spPr>
        <p:txBody>
          <a:bodyPr>
            <a:spAutoFit/>
          </a:bodyPr>
          <a:p>
            <a:pPr>
              <a:spcBef>
                <a:spcPct val="50000"/>
              </a:spcBef>
            </a:pPr>
            <a:r>
              <a:rPr lang="en-US" b="1">
                <a:latin typeface="Times New Roman" panose="02020603050405020304" pitchFamily="18" charset="0"/>
                <a:cs typeface="Times New Roman" panose="02020603050405020304" pitchFamily="18" charset="0"/>
                <a:sym typeface="+mn-ea"/>
              </a:rPr>
              <a:t>    class Simple{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public static void main(String[] args)</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int a=10;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float f=a;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int b=(int)f;</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System.out.println(a);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System.out.println(f);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p:txBody>
      </p:sp>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example</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ext Box 3"/>
          <p:cNvSpPr txBox="1"/>
          <p:nvPr/>
        </p:nvSpPr>
        <p:spPr>
          <a:xfrm>
            <a:off x="381000" y="1411605"/>
            <a:ext cx="8399780" cy="5446395"/>
          </a:xfrm>
          <a:prstGeom prst="rect">
            <a:avLst/>
          </a:prstGeom>
          <a:noFill/>
          <a:ln w="9525">
            <a:noFill/>
          </a:ln>
        </p:spPr>
        <p:txBody>
          <a:bodyPr wrap="square">
            <a:spAutoFit/>
          </a:bodyPr>
          <a:p>
            <a:pPr>
              <a:spcBef>
                <a:spcPct val="50000"/>
              </a:spcBef>
            </a:pPr>
            <a:r>
              <a:rPr lang="en-US" b="1">
                <a:latin typeface="Times New Roman" panose="02020603050405020304" pitchFamily="18" charset="0"/>
                <a:cs typeface="Times New Roman" panose="02020603050405020304" pitchFamily="18" charset="0"/>
                <a:sym typeface="+mn-ea"/>
              </a:rPr>
              <a:t>    class Simple</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float f=10.5f;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a:t>
            </a:r>
            <a:r>
              <a:rPr lang="en-US" b="1">
                <a:solidFill>
                  <a:srgbClr val="FF0000"/>
                </a:solidFill>
                <a:latin typeface="Times New Roman" panose="02020603050405020304" pitchFamily="18" charset="0"/>
                <a:cs typeface="Times New Roman" panose="02020603050405020304" pitchFamily="18" charset="0"/>
                <a:sym typeface="+mn-ea"/>
              </a:rPr>
              <a:t>//int a=f;//Compile time error </a:t>
            </a: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int a=(int)f;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System.out.println(f);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System.out.println(a);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example</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ext Box 3"/>
          <p:cNvSpPr txBox="1"/>
          <p:nvPr/>
        </p:nvSpPr>
        <p:spPr>
          <a:xfrm>
            <a:off x="372110" y="1358265"/>
            <a:ext cx="8399780" cy="5446395"/>
          </a:xfrm>
          <a:prstGeom prst="rect">
            <a:avLst/>
          </a:prstGeom>
          <a:noFill/>
          <a:ln w="9525">
            <a:noFill/>
          </a:ln>
        </p:spPr>
        <p:txBody>
          <a:bodyPr wrap="square">
            <a:spAutoFit/>
          </a:bodyPr>
          <a:p>
            <a:pPr>
              <a:spcBef>
                <a:spcPct val="50000"/>
              </a:spcBef>
            </a:pPr>
            <a:r>
              <a:rPr lang="en-US" b="1">
                <a:latin typeface="Times New Roman" panose="02020603050405020304" pitchFamily="18" charset="0"/>
                <a:cs typeface="Times New Roman" panose="02020603050405020304" pitchFamily="18" charset="0"/>
                <a:sym typeface="+mn-ea"/>
              </a:rPr>
              <a:t>    class Simple{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//Overflow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int a=133;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byte b=(byte)a;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System.out.println(a);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System.out.println(b);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output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133              -123</a:t>
            </a:r>
            <a:endParaRPr lang="en-US" b="1">
              <a:latin typeface="Times New Roman" panose="02020603050405020304" pitchFamily="18" charset="0"/>
              <a:cs typeface="Times New Roman" panose="02020603050405020304" pitchFamily="18" charset="0"/>
              <a:sym typeface="+mn-ea"/>
            </a:endParaRPr>
          </a:p>
        </p:txBody>
      </p:sp>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example</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ext Box 3"/>
          <p:cNvSpPr txBox="1"/>
          <p:nvPr/>
        </p:nvSpPr>
        <p:spPr>
          <a:xfrm>
            <a:off x="52705" y="1411605"/>
            <a:ext cx="9016365" cy="5815965"/>
          </a:xfrm>
          <a:prstGeom prst="rect">
            <a:avLst/>
          </a:prstGeom>
          <a:noFill/>
          <a:ln w="9525">
            <a:noFill/>
          </a:ln>
        </p:spPr>
        <p:txBody>
          <a:bodyPr wrap="square">
            <a:spAutoFit/>
          </a:bodyPr>
          <a:p>
            <a:pPr>
              <a:spcBef>
                <a:spcPct val="50000"/>
              </a:spcBef>
            </a:pPr>
            <a:r>
              <a:rPr lang="en-US" b="1">
                <a:latin typeface="Times New Roman" panose="02020603050405020304" pitchFamily="18" charset="0"/>
                <a:cs typeface="Times New Roman" panose="02020603050405020304" pitchFamily="18" charset="0"/>
                <a:sym typeface="+mn-ea"/>
              </a:rPr>
              <a:t>    class Simple</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byte a=10;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byte b=10;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a:t>
            </a:r>
            <a:r>
              <a:rPr lang="en-US" b="1">
                <a:solidFill>
                  <a:srgbClr val="FF0000"/>
                </a:solidFill>
                <a:latin typeface="Times New Roman" panose="02020603050405020304" pitchFamily="18" charset="0"/>
                <a:cs typeface="Times New Roman" panose="02020603050405020304" pitchFamily="18" charset="0"/>
                <a:sym typeface="+mn-ea"/>
              </a:rPr>
              <a:t>  //byte c=a+b;//Compile Time Error: because a+b=20 will be                                              int </a:t>
            </a:r>
            <a:endParaRPr lang="en-US" b="1">
              <a:solidFill>
                <a:srgbClr val="FF0000"/>
              </a:solidFill>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byte c=(byte)(a+b);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System.out.println(c);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example</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ext Box 3"/>
          <p:cNvSpPr txBox="1"/>
          <p:nvPr/>
        </p:nvSpPr>
        <p:spPr>
          <a:xfrm>
            <a:off x="381000" y="1411605"/>
            <a:ext cx="8399780" cy="3599815"/>
          </a:xfrm>
          <a:prstGeom prst="rect">
            <a:avLst/>
          </a:prstGeom>
          <a:noFill/>
          <a:ln w="9525">
            <a:noFill/>
          </a:ln>
        </p:spPr>
        <p:txBody>
          <a:bodyPr wrap="square">
            <a:spAutoFit/>
          </a:bodyPr>
          <a:p>
            <a:pPr>
              <a:spcBef>
                <a:spcPct val="50000"/>
              </a:spcBef>
            </a:pPr>
            <a:r>
              <a:rPr lang="en-US" b="1">
                <a:latin typeface="Times New Roman" panose="02020603050405020304" pitchFamily="18" charset="0"/>
                <a:cs typeface="Times New Roman" panose="02020603050405020304" pitchFamily="18" charset="0"/>
                <a:sym typeface="+mn-ea"/>
              </a:rPr>
              <a:t>Data types specify the different sizes and values that can be stored in the variable. There are two types of data types in Java:</a:t>
            </a:r>
            <a:endParaRPr lang="en-US" b="1">
              <a:latin typeface="Times New Roman" panose="02020603050405020304" pitchFamily="18" charset="0"/>
              <a:cs typeface="Times New Roman" panose="02020603050405020304" pitchFamily="18" charset="0"/>
              <a:sym typeface="+mn-ea"/>
            </a:endParaRPr>
          </a:p>
          <a:p>
            <a:pPr>
              <a:spcBef>
                <a:spcPct val="50000"/>
              </a:spcBef>
            </a:pP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a:t>
            </a:r>
            <a:r>
              <a:rPr lang="en-US" b="1">
                <a:solidFill>
                  <a:srgbClr val="CC3300"/>
                </a:solidFill>
                <a:latin typeface="Times New Roman" panose="02020603050405020304" pitchFamily="18" charset="0"/>
                <a:cs typeface="Times New Roman" panose="02020603050405020304" pitchFamily="18" charset="0"/>
                <a:sym typeface="+mn-ea"/>
              </a:rPr>
              <a:t>Primitive data types:</a:t>
            </a:r>
            <a:r>
              <a:rPr lang="en-US" b="1">
                <a:latin typeface="Times New Roman" panose="02020603050405020304" pitchFamily="18" charset="0"/>
                <a:cs typeface="Times New Roman" panose="02020603050405020304" pitchFamily="18" charset="0"/>
                <a:sym typeface="+mn-ea"/>
              </a:rPr>
              <a:t> The primitive data types include Integer, Character, Boolean, and Floating Point.</a:t>
            </a: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    </a:t>
            </a:r>
            <a:r>
              <a:rPr lang="en-US" b="1">
                <a:solidFill>
                  <a:srgbClr val="CC3300"/>
                </a:solidFill>
                <a:latin typeface="Times New Roman" panose="02020603050405020304" pitchFamily="18" charset="0"/>
                <a:cs typeface="Times New Roman" panose="02020603050405020304" pitchFamily="18" charset="0"/>
                <a:sym typeface="+mn-ea"/>
              </a:rPr>
              <a:t>Non-primitive data types:</a:t>
            </a:r>
            <a:r>
              <a:rPr lang="en-US" b="1">
                <a:latin typeface="Times New Roman" panose="02020603050405020304" pitchFamily="18" charset="0"/>
                <a:cs typeface="Times New Roman" panose="02020603050405020304" pitchFamily="18" charset="0"/>
                <a:sym typeface="+mn-ea"/>
              </a:rPr>
              <a:t> The non-primitive data types include Classes, Interfaces, and Arrays.</a:t>
            </a:r>
            <a:endParaRPr lang="en-US" b="1">
              <a:latin typeface="Times New Roman" panose="02020603050405020304" pitchFamily="18" charset="0"/>
              <a:cs typeface="Times New Roman" panose="02020603050405020304" pitchFamily="18" charset="0"/>
              <a:sym typeface="+mn-ea"/>
            </a:endParaRPr>
          </a:p>
        </p:txBody>
      </p:sp>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Data Types in Java</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ext Box 3"/>
          <p:cNvSpPr txBox="1"/>
          <p:nvPr/>
        </p:nvSpPr>
        <p:spPr>
          <a:xfrm>
            <a:off x="381000" y="1411605"/>
            <a:ext cx="8399780" cy="2306955"/>
          </a:xfrm>
          <a:prstGeom prst="rect">
            <a:avLst/>
          </a:prstGeom>
          <a:noFill/>
          <a:ln w="9525">
            <a:noFill/>
          </a:ln>
        </p:spPr>
        <p:txBody>
          <a:bodyPr wrap="square">
            <a:spAutoFit/>
          </a:bodyPr>
          <a:p>
            <a:pPr>
              <a:spcBef>
                <a:spcPct val="50000"/>
              </a:spcBef>
            </a:pPr>
            <a:r>
              <a:rPr lang="en-US" b="1">
                <a:solidFill>
                  <a:srgbClr val="CC3300"/>
                </a:solidFill>
                <a:latin typeface="Times New Roman" panose="02020603050405020304" pitchFamily="18" charset="0"/>
                <a:cs typeface="Times New Roman" panose="02020603050405020304" pitchFamily="18" charset="0"/>
                <a:sym typeface="+mn-ea"/>
              </a:rPr>
              <a:t>Java Primitive Data Types :</a:t>
            </a:r>
            <a:endParaRPr lang="en-US" b="1">
              <a:latin typeface="Times New Roman" panose="02020603050405020304" pitchFamily="18" charset="0"/>
              <a:cs typeface="Times New Roman" panose="02020603050405020304" pitchFamily="18" charset="0"/>
              <a:sym typeface="+mn-ea"/>
            </a:endParaRPr>
          </a:p>
          <a:p>
            <a:pPr>
              <a:spcBef>
                <a:spcPct val="50000"/>
              </a:spcBef>
            </a:pPr>
            <a:endParaRPr lang="en-US" b="1">
              <a:latin typeface="Times New Roman" panose="02020603050405020304" pitchFamily="18" charset="0"/>
              <a:cs typeface="Times New Roman" panose="02020603050405020304" pitchFamily="18" charset="0"/>
              <a:sym typeface="+mn-ea"/>
            </a:endParaRPr>
          </a:p>
          <a:p>
            <a:pPr>
              <a:spcBef>
                <a:spcPct val="50000"/>
              </a:spcBef>
            </a:pPr>
            <a:r>
              <a:rPr lang="en-US" b="1">
                <a:latin typeface="Times New Roman" panose="02020603050405020304" pitchFamily="18" charset="0"/>
                <a:cs typeface="Times New Roman" panose="02020603050405020304" pitchFamily="18" charset="0"/>
                <a:sym typeface="+mn-ea"/>
              </a:rPr>
              <a:t>In Java language, primitive data types are the building blocks of data manipulation. These are the most basic data types available in Java language. </a:t>
            </a:r>
            <a:endParaRPr lang="en-US" b="1">
              <a:latin typeface="Times New Roman" panose="02020603050405020304" pitchFamily="18" charset="0"/>
              <a:cs typeface="Times New Roman" panose="02020603050405020304" pitchFamily="18" charset="0"/>
              <a:sym typeface="+mn-ea"/>
            </a:endParaRPr>
          </a:p>
        </p:txBody>
      </p:sp>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Data Types in Java</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ext Box 3"/>
          <p:cNvSpPr txBox="1"/>
          <p:nvPr/>
        </p:nvSpPr>
        <p:spPr>
          <a:xfrm>
            <a:off x="381000" y="1411605"/>
            <a:ext cx="8399780" cy="4892675"/>
          </a:xfrm>
          <a:prstGeom prst="rect">
            <a:avLst/>
          </a:prstGeom>
          <a:noFill/>
          <a:ln w="9525">
            <a:noFill/>
          </a:ln>
        </p:spPr>
        <p:txBody>
          <a:bodyPr wrap="square">
            <a:spAutoFit/>
          </a:bodyPr>
          <a:p>
            <a:pPr>
              <a:spcBef>
                <a:spcPct val="50000"/>
              </a:spcBef>
            </a:pPr>
            <a:r>
              <a:rPr lang="en-US" b="1">
                <a:solidFill>
                  <a:srgbClr val="CC3300"/>
                </a:solidFill>
                <a:latin typeface="Times New Roman" panose="02020603050405020304" pitchFamily="18" charset="0"/>
                <a:cs typeface="Times New Roman" panose="02020603050405020304" pitchFamily="18" charset="0"/>
                <a:sym typeface="+mn-ea"/>
              </a:rPr>
              <a:t>There are 8 types of primitive data types:</a:t>
            </a:r>
            <a:endParaRPr lang="en-US" b="1">
              <a:solidFill>
                <a:srgbClr val="CC3300"/>
              </a:solidFill>
              <a:latin typeface="Times New Roman" panose="02020603050405020304" pitchFamily="18" charset="0"/>
              <a:cs typeface="Times New Roman" panose="02020603050405020304" pitchFamily="18" charset="0"/>
              <a:sym typeface="+mn-ea"/>
            </a:endParaRPr>
          </a:p>
          <a:p>
            <a:pPr>
              <a:spcBef>
                <a:spcPct val="50000"/>
              </a:spcBef>
            </a:pPr>
            <a:r>
              <a:rPr lang="en-US" b="1">
                <a:solidFill>
                  <a:srgbClr val="CC3300"/>
                </a:solidFill>
                <a:latin typeface="Times New Roman" panose="02020603050405020304" pitchFamily="18" charset="0"/>
                <a:cs typeface="Times New Roman" panose="02020603050405020304" pitchFamily="18" charset="0"/>
                <a:sym typeface="+mn-ea"/>
              </a:rPr>
              <a:t>    boolean data type</a:t>
            </a:r>
            <a:endParaRPr lang="en-US" b="1">
              <a:solidFill>
                <a:srgbClr val="CC3300"/>
              </a:solidFill>
              <a:latin typeface="Times New Roman" panose="02020603050405020304" pitchFamily="18" charset="0"/>
              <a:cs typeface="Times New Roman" panose="02020603050405020304" pitchFamily="18" charset="0"/>
              <a:sym typeface="+mn-ea"/>
            </a:endParaRPr>
          </a:p>
          <a:p>
            <a:pPr>
              <a:spcBef>
                <a:spcPct val="50000"/>
              </a:spcBef>
            </a:pPr>
            <a:r>
              <a:rPr lang="en-US" b="1">
                <a:solidFill>
                  <a:srgbClr val="CC3300"/>
                </a:solidFill>
                <a:latin typeface="Times New Roman" panose="02020603050405020304" pitchFamily="18" charset="0"/>
                <a:cs typeface="Times New Roman" panose="02020603050405020304" pitchFamily="18" charset="0"/>
                <a:sym typeface="+mn-ea"/>
              </a:rPr>
              <a:t>    byte data type</a:t>
            </a:r>
            <a:endParaRPr lang="en-US" b="1">
              <a:solidFill>
                <a:srgbClr val="CC3300"/>
              </a:solidFill>
              <a:latin typeface="Times New Roman" panose="02020603050405020304" pitchFamily="18" charset="0"/>
              <a:cs typeface="Times New Roman" panose="02020603050405020304" pitchFamily="18" charset="0"/>
              <a:sym typeface="+mn-ea"/>
            </a:endParaRPr>
          </a:p>
          <a:p>
            <a:pPr>
              <a:spcBef>
                <a:spcPct val="50000"/>
              </a:spcBef>
            </a:pPr>
            <a:r>
              <a:rPr lang="en-US" b="1">
                <a:solidFill>
                  <a:srgbClr val="CC3300"/>
                </a:solidFill>
                <a:latin typeface="Times New Roman" panose="02020603050405020304" pitchFamily="18" charset="0"/>
                <a:cs typeface="Times New Roman" panose="02020603050405020304" pitchFamily="18" charset="0"/>
                <a:sym typeface="+mn-ea"/>
              </a:rPr>
              <a:t>    char data type</a:t>
            </a:r>
            <a:endParaRPr lang="en-US" b="1">
              <a:solidFill>
                <a:srgbClr val="CC3300"/>
              </a:solidFill>
              <a:latin typeface="Times New Roman" panose="02020603050405020304" pitchFamily="18" charset="0"/>
              <a:cs typeface="Times New Roman" panose="02020603050405020304" pitchFamily="18" charset="0"/>
              <a:sym typeface="+mn-ea"/>
            </a:endParaRPr>
          </a:p>
          <a:p>
            <a:pPr>
              <a:spcBef>
                <a:spcPct val="50000"/>
              </a:spcBef>
            </a:pPr>
            <a:r>
              <a:rPr lang="en-US" b="1">
                <a:solidFill>
                  <a:srgbClr val="CC3300"/>
                </a:solidFill>
                <a:latin typeface="Times New Roman" panose="02020603050405020304" pitchFamily="18" charset="0"/>
                <a:cs typeface="Times New Roman" panose="02020603050405020304" pitchFamily="18" charset="0"/>
                <a:sym typeface="+mn-ea"/>
              </a:rPr>
              <a:t>    short data type</a:t>
            </a:r>
            <a:endParaRPr lang="en-US" b="1">
              <a:solidFill>
                <a:srgbClr val="CC3300"/>
              </a:solidFill>
              <a:latin typeface="Times New Roman" panose="02020603050405020304" pitchFamily="18" charset="0"/>
              <a:cs typeface="Times New Roman" panose="02020603050405020304" pitchFamily="18" charset="0"/>
              <a:sym typeface="+mn-ea"/>
            </a:endParaRPr>
          </a:p>
          <a:p>
            <a:pPr>
              <a:spcBef>
                <a:spcPct val="50000"/>
              </a:spcBef>
            </a:pPr>
            <a:r>
              <a:rPr lang="en-US" b="1">
                <a:solidFill>
                  <a:srgbClr val="CC3300"/>
                </a:solidFill>
                <a:latin typeface="Times New Roman" panose="02020603050405020304" pitchFamily="18" charset="0"/>
                <a:cs typeface="Times New Roman" panose="02020603050405020304" pitchFamily="18" charset="0"/>
                <a:sym typeface="+mn-ea"/>
              </a:rPr>
              <a:t>    int data type</a:t>
            </a:r>
            <a:endParaRPr lang="en-US" b="1">
              <a:solidFill>
                <a:srgbClr val="CC3300"/>
              </a:solidFill>
              <a:latin typeface="Times New Roman" panose="02020603050405020304" pitchFamily="18" charset="0"/>
              <a:cs typeface="Times New Roman" panose="02020603050405020304" pitchFamily="18" charset="0"/>
              <a:sym typeface="+mn-ea"/>
            </a:endParaRPr>
          </a:p>
          <a:p>
            <a:pPr>
              <a:spcBef>
                <a:spcPct val="50000"/>
              </a:spcBef>
            </a:pPr>
            <a:r>
              <a:rPr lang="en-US" b="1">
                <a:solidFill>
                  <a:srgbClr val="CC3300"/>
                </a:solidFill>
                <a:latin typeface="Times New Roman" panose="02020603050405020304" pitchFamily="18" charset="0"/>
                <a:cs typeface="Times New Roman" panose="02020603050405020304" pitchFamily="18" charset="0"/>
                <a:sym typeface="+mn-ea"/>
              </a:rPr>
              <a:t>    long data type</a:t>
            </a:r>
            <a:endParaRPr lang="en-US" b="1">
              <a:solidFill>
                <a:srgbClr val="CC3300"/>
              </a:solidFill>
              <a:latin typeface="Times New Roman" panose="02020603050405020304" pitchFamily="18" charset="0"/>
              <a:cs typeface="Times New Roman" panose="02020603050405020304" pitchFamily="18" charset="0"/>
              <a:sym typeface="+mn-ea"/>
            </a:endParaRPr>
          </a:p>
          <a:p>
            <a:pPr>
              <a:spcBef>
                <a:spcPct val="50000"/>
              </a:spcBef>
            </a:pPr>
            <a:r>
              <a:rPr lang="en-US" b="1">
                <a:solidFill>
                  <a:srgbClr val="CC3300"/>
                </a:solidFill>
                <a:latin typeface="Times New Roman" panose="02020603050405020304" pitchFamily="18" charset="0"/>
                <a:cs typeface="Times New Roman" panose="02020603050405020304" pitchFamily="18" charset="0"/>
                <a:sym typeface="+mn-ea"/>
              </a:rPr>
              <a:t>    float data type</a:t>
            </a:r>
            <a:endParaRPr lang="en-US" b="1">
              <a:solidFill>
                <a:srgbClr val="CC3300"/>
              </a:solidFill>
              <a:latin typeface="Times New Roman" panose="02020603050405020304" pitchFamily="18" charset="0"/>
              <a:cs typeface="Times New Roman" panose="02020603050405020304" pitchFamily="18" charset="0"/>
              <a:sym typeface="+mn-ea"/>
            </a:endParaRPr>
          </a:p>
          <a:p>
            <a:pPr>
              <a:spcBef>
                <a:spcPct val="50000"/>
              </a:spcBef>
            </a:pPr>
            <a:r>
              <a:rPr lang="en-US" b="1">
                <a:solidFill>
                  <a:srgbClr val="CC3300"/>
                </a:solidFill>
                <a:latin typeface="Times New Roman" panose="02020603050405020304" pitchFamily="18" charset="0"/>
                <a:cs typeface="Times New Roman" panose="02020603050405020304" pitchFamily="18" charset="0"/>
                <a:sym typeface="+mn-ea"/>
              </a:rPr>
              <a:t>    double data type</a:t>
            </a:r>
            <a:endParaRPr lang="en-US" b="1">
              <a:solidFill>
                <a:srgbClr val="CC3300"/>
              </a:solidFill>
              <a:latin typeface="Times New Roman" panose="02020603050405020304" pitchFamily="18" charset="0"/>
              <a:cs typeface="Times New Roman" panose="02020603050405020304" pitchFamily="18" charset="0"/>
              <a:sym typeface="+mn-ea"/>
            </a:endParaRPr>
          </a:p>
        </p:txBody>
      </p:sp>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Data Types in Java</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Data Types in Java</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pic>
        <p:nvPicPr>
          <p:cNvPr id="2" name="Picture 1" descr="java-data-types"/>
          <p:cNvPicPr>
            <a:picLocks noChangeAspect="1"/>
          </p:cNvPicPr>
          <p:nvPr/>
        </p:nvPicPr>
        <p:blipFill>
          <a:blip r:embed="rId1"/>
          <a:stretch>
            <a:fillRect/>
          </a:stretch>
        </p:blipFill>
        <p:spPr>
          <a:xfrm>
            <a:off x="560705" y="1470025"/>
            <a:ext cx="8291830" cy="456057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Data Types in Java</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graphicFrame>
        <p:nvGraphicFramePr>
          <p:cNvPr id="4" name="Table 3"/>
          <p:cNvGraphicFramePr/>
          <p:nvPr/>
        </p:nvGraphicFramePr>
        <p:xfrm>
          <a:off x="1371600" y="1524000"/>
          <a:ext cx="6837045" cy="4337685"/>
        </p:xfrm>
        <a:graphic>
          <a:graphicData uri="http://schemas.openxmlformats.org/drawingml/2006/table">
            <a:tbl>
              <a:tblPr firstRow="1" bandRow="1">
                <a:tableStyleId>{5C22544A-7EE6-4342-B048-85BDC9FD1C3A}</a:tableStyleId>
              </a:tblPr>
              <a:tblGrid>
                <a:gridCol w="2279015"/>
                <a:gridCol w="2279015"/>
                <a:gridCol w="2279015"/>
              </a:tblGrid>
              <a:tr h="481965">
                <a:tc>
                  <a:txBody>
                    <a:bodyPr/>
                    <a:p>
                      <a:pPr>
                        <a:buNone/>
                      </a:pPr>
                      <a:r>
                        <a:rPr lang="en-US"/>
                        <a:t>Data Type </a:t>
                      </a:r>
                      <a:endParaRPr lang="en-US"/>
                    </a:p>
                  </a:txBody>
                  <a:tcPr/>
                </a:tc>
                <a:tc>
                  <a:txBody>
                    <a:bodyPr/>
                    <a:p>
                      <a:pPr>
                        <a:buNone/>
                      </a:pPr>
                      <a:r>
                        <a:rPr lang="en-US"/>
                        <a:t>Default Value </a:t>
                      </a:r>
                      <a:endParaRPr lang="en-US"/>
                    </a:p>
                  </a:txBody>
                  <a:tcPr/>
                </a:tc>
                <a:tc>
                  <a:txBody>
                    <a:bodyPr/>
                    <a:p>
                      <a:pPr>
                        <a:buNone/>
                      </a:pPr>
                      <a:r>
                        <a:rPr lang="en-US"/>
                        <a:t>Default size</a:t>
                      </a:r>
                      <a:endParaRPr lang="en-US"/>
                    </a:p>
                  </a:txBody>
                  <a:tcPr/>
                </a:tc>
              </a:tr>
              <a:tr h="481965">
                <a:tc>
                  <a:txBody>
                    <a:bodyPr/>
                    <a:p>
                      <a:pPr>
                        <a:buNone/>
                      </a:pPr>
                      <a:r>
                        <a:rPr lang="en-US"/>
                        <a:t>boolean </a:t>
                      </a:r>
                      <a:endParaRPr lang="en-US"/>
                    </a:p>
                  </a:txBody>
                  <a:tcPr/>
                </a:tc>
                <a:tc>
                  <a:txBody>
                    <a:bodyPr/>
                    <a:p>
                      <a:pPr>
                        <a:buNone/>
                      </a:pPr>
                      <a:r>
                        <a:rPr lang="en-US"/>
                        <a:t>false </a:t>
                      </a:r>
                      <a:endParaRPr lang="en-US"/>
                    </a:p>
                  </a:txBody>
                  <a:tcPr/>
                </a:tc>
                <a:tc>
                  <a:txBody>
                    <a:bodyPr/>
                    <a:p>
                      <a:pPr>
                        <a:buNone/>
                      </a:pPr>
                      <a:r>
                        <a:rPr lang="en-US"/>
                        <a:t>1 bit</a:t>
                      </a:r>
                      <a:endParaRPr lang="en-US"/>
                    </a:p>
                  </a:txBody>
                  <a:tcPr/>
                </a:tc>
              </a:tr>
              <a:tr h="481965">
                <a:tc>
                  <a:txBody>
                    <a:bodyPr/>
                    <a:p>
                      <a:pPr>
                        <a:buNone/>
                      </a:pPr>
                      <a:r>
                        <a:rPr lang="en-US"/>
                        <a:t>char </a:t>
                      </a:r>
                      <a:endParaRPr lang="en-US"/>
                    </a:p>
                  </a:txBody>
                  <a:tcPr/>
                </a:tc>
                <a:tc>
                  <a:txBody>
                    <a:bodyPr/>
                    <a:p>
                      <a:pPr>
                        <a:buNone/>
                      </a:pPr>
                      <a:r>
                        <a:rPr lang="en-US"/>
                        <a:t>'\u0000' </a:t>
                      </a:r>
                      <a:endParaRPr lang="en-US"/>
                    </a:p>
                  </a:txBody>
                  <a:tcPr/>
                </a:tc>
                <a:tc>
                  <a:txBody>
                    <a:bodyPr/>
                    <a:p>
                      <a:pPr>
                        <a:buNone/>
                      </a:pPr>
                      <a:r>
                        <a:rPr lang="en-US"/>
                        <a:t>2 byte</a:t>
                      </a:r>
                      <a:endParaRPr lang="en-US"/>
                    </a:p>
                  </a:txBody>
                  <a:tcPr/>
                </a:tc>
              </a:tr>
              <a:tr h="481965">
                <a:tc>
                  <a:txBody>
                    <a:bodyPr/>
                    <a:p>
                      <a:pPr>
                        <a:buNone/>
                      </a:pPr>
                      <a:r>
                        <a:rPr lang="en-US"/>
                        <a:t>byte </a:t>
                      </a:r>
                      <a:endParaRPr lang="en-US"/>
                    </a:p>
                  </a:txBody>
                  <a:tcPr/>
                </a:tc>
                <a:tc>
                  <a:txBody>
                    <a:bodyPr/>
                    <a:p>
                      <a:pPr>
                        <a:buNone/>
                      </a:pPr>
                      <a:r>
                        <a:rPr lang="en-US"/>
                        <a:t>0 </a:t>
                      </a:r>
                      <a:endParaRPr lang="en-US"/>
                    </a:p>
                  </a:txBody>
                  <a:tcPr/>
                </a:tc>
                <a:tc>
                  <a:txBody>
                    <a:bodyPr/>
                    <a:p>
                      <a:pPr>
                        <a:buNone/>
                      </a:pPr>
                      <a:r>
                        <a:rPr lang="en-US"/>
                        <a:t>1 byte</a:t>
                      </a:r>
                      <a:endParaRPr lang="en-US"/>
                    </a:p>
                  </a:txBody>
                  <a:tcPr/>
                </a:tc>
              </a:tr>
              <a:tr h="481965">
                <a:tc>
                  <a:txBody>
                    <a:bodyPr/>
                    <a:p>
                      <a:pPr>
                        <a:buNone/>
                      </a:pPr>
                      <a:r>
                        <a:rPr lang="en-US"/>
                        <a:t>short </a:t>
                      </a:r>
                      <a:endParaRPr lang="en-US"/>
                    </a:p>
                  </a:txBody>
                  <a:tcPr/>
                </a:tc>
                <a:tc>
                  <a:txBody>
                    <a:bodyPr/>
                    <a:p>
                      <a:pPr>
                        <a:buNone/>
                      </a:pPr>
                      <a:r>
                        <a:rPr lang="en-US"/>
                        <a:t>0 </a:t>
                      </a:r>
                      <a:endParaRPr lang="en-US"/>
                    </a:p>
                  </a:txBody>
                  <a:tcPr/>
                </a:tc>
                <a:tc>
                  <a:txBody>
                    <a:bodyPr/>
                    <a:p>
                      <a:pPr>
                        <a:buNone/>
                      </a:pPr>
                      <a:r>
                        <a:rPr lang="en-US"/>
                        <a:t>2 byte</a:t>
                      </a:r>
                      <a:endParaRPr lang="en-US"/>
                    </a:p>
                  </a:txBody>
                  <a:tcPr/>
                </a:tc>
              </a:tr>
              <a:tr h="481965">
                <a:tc>
                  <a:txBody>
                    <a:bodyPr/>
                    <a:p>
                      <a:pPr>
                        <a:buNone/>
                      </a:pPr>
                      <a:r>
                        <a:rPr lang="en-US"/>
                        <a:t>int </a:t>
                      </a:r>
                      <a:endParaRPr lang="en-US"/>
                    </a:p>
                  </a:txBody>
                  <a:tcPr/>
                </a:tc>
                <a:tc>
                  <a:txBody>
                    <a:bodyPr/>
                    <a:p>
                      <a:pPr>
                        <a:buNone/>
                      </a:pPr>
                      <a:r>
                        <a:rPr lang="en-US"/>
                        <a:t>0 </a:t>
                      </a:r>
                      <a:endParaRPr lang="en-US"/>
                    </a:p>
                  </a:txBody>
                  <a:tcPr/>
                </a:tc>
                <a:tc>
                  <a:txBody>
                    <a:bodyPr/>
                    <a:p>
                      <a:pPr>
                        <a:buNone/>
                      </a:pPr>
                      <a:r>
                        <a:rPr lang="en-US"/>
                        <a:t>4 byte</a:t>
                      </a:r>
                      <a:endParaRPr lang="en-US"/>
                    </a:p>
                  </a:txBody>
                  <a:tcPr/>
                </a:tc>
              </a:tr>
              <a:tr h="481965">
                <a:tc>
                  <a:txBody>
                    <a:bodyPr/>
                    <a:p>
                      <a:pPr>
                        <a:buNone/>
                      </a:pPr>
                      <a:r>
                        <a:rPr lang="en-US"/>
                        <a:t>long </a:t>
                      </a:r>
                      <a:endParaRPr lang="en-US"/>
                    </a:p>
                  </a:txBody>
                  <a:tcPr/>
                </a:tc>
                <a:tc>
                  <a:txBody>
                    <a:bodyPr/>
                    <a:p>
                      <a:pPr>
                        <a:buNone/>
                      </a:pPr>
                      <a:r>
                        <a:rPr lang="en-US"/>
                        <a:t>0L </a:t>
                      </a:r>
                      <a:endParaRPr lang="en-US"/>
                    </a:p>
                  </a:txBody>
                  <a:tcPr/>
                </a:tc>
                <a:tc>
                  <a:txBody>
                    <a:bodyPr/>
                    <a:p>
                      <a:pPr>
                        <a:buNone/>
                      </a:pPr>
                      <a:r>
                        <a:rPr lang="en-US"/>
                        <a:t>8 byte</a:t>
                      </a:r>
                      <a:endParaRPr lang="en-US"/>
                    </a:p>
                  </a:txBody>
                  <a:tcPr/>
                </a:tc>
              </a:tr>
              <a:tr h="481965">
                <a:tc>
                  <a:txBody>
                    <a:bodyPr/>
                    <a:p>
                      <a:pPr>
                        <a:buNone/>
                      </a:pPr>
                      <a:r>
                        <a:rPr lang="en-US"/>
                        <a:t>float </a:t>
                      </a:r>
                      <a:endParaRPr lang="en-US"/>
                    </a:p>
                  </a:txBody>
                  <a:tcPr/>
                </a:tc>
                <a:tc>
                  <a:txBody>
                    <a:bodyPr/>
                    <a:p>
                      <a:pPr>
                        <a:buNone/>
                      </a:pPr>
                      <a:r>
                        <a:rPr lang="en-US"/>
                        <a:t>0.0f </a:t>
                      </a:r>
                      <a:endParaRPr lang="en-US"/>
                    </a:p>
                  </a:txBody>
                  <a:tcPr/>
                </a:tc>
                <a:tc>
                  <a:txBody>
                    <a:bodyPr/>
                    <a:p>
                      <a:pPr>
                        <a:buNone/>
                      </a:pPr>
                      <a:r>
                        <a:rPr lang="en-US"/>
                        <a:t>4 byte</a:t>
                      </a:r>
                      <a:endParaRPr lang="en-US"/>
                    </a:p>
                  </a:txBody>
                  <a:tcPr/>
                </a:tc>
              </a:tr>
              <a:tr h="481965">
                <a:tc>
                  <a:txBody>
                    <a:bodyPr/>
                    <a:p>
                      <a:pPr>
                        <a:buNone/>
                      </a:pPr>
                      <a:r>
                        <a:rPr lang="en-US"/>
                        <a:t>double </a:t>
                      </a:r>
                      <a:endParaRPr lang="en-US"/>
                    </a:p>
                  </a:txBody>
                  <a:tcPr/>
                </a:tc>
                <a:tc>
                  <a:txBody>
                    <a:bodyPr/>
                    <a:p>
                      <a:pPr>
                        <a:buNone/>
                      </a:pPr>
                      <a:r>
                        <a:rPr lang="en-US"/>
                        <a:t>0.0d </a:t>
                      </a:r>
                      <a:endParaRPr lang="en-US"/>
                    </a:p>
                  </a:txBody>
                  <a:tcPr/>
                </a:tc>
                <a:tc>
                  <a:txBody>
                    <a:bodyPr/>
                    <a:p>
                      <a:pPr>
                        <a:buNone/>
                      </a:pPr>
                      <a:r>
                        <a:rPr lang="en-US"/>
                        <a:t>8 byte</a:t>
                      </a:r>
                      <a:endParaRPr lang="en-US"/>
                    </a:p>
                  </a:txBody>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Unicode System</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55270" y="1407160"/>
            <a:ext cx="8212455" cy="4892675"/>
          </a:xfrm>
          <a:prstGeom prst="rect">
            <a:avLst/>
          </a:prstGeom>
          <a:noFill/>
        </p:spPr>
        <p:txBody>
          <a:bodyPr wrap="square" rtlCol="0" anchor="t">
            <a:spAutoFit/>
          </a:bodyPr>
          <a:p>
            <a:r>
              <a:rPr lang="en-US"/>
              <a:t>Unicode is a universal international standard character encoding that is capable of representing most of the world's written languages.</a:t>
            </a:r>
            <a:endParaRPr lang="en-US"/>
          </a:p>
          <a:p>
            <a:endParaRPr lang="en-US"/>
          </a:p>
          <a:p>
            <a:r>
              <a:rPr lang="en-US" b="1">
                <a:solidFill>
                  <a:srgbClr val="CC3300"/>
                </a:solidFill>
              </a:rPr>
              <a:t>Why java uses Unicode System ?</a:t>
            </a:r>
            <a:endParaRPr lang="en-US" b="1">
              <a:solidFill>
                <a:srgbClr val="CC3300"/>
              </a:solidFill>
            </a:endParaRPr>
          </a:p>
          <a:p>
            <a:endParaRPr lang="en-US" b="1">
              <a:solidFill>
                <a:srgbClr val="CC3300"/>
              </a:solidFill>
            </a:endParaRPr>
          </a:p>
          <a:p>
            <a:r>
              <a:rPr lang="en-US"/>
              <a:t>Before Unicode, there were many language standards:</a:t>
            </a:r>
            <a:endParaRPr lang="en-US"/>
          </a:p>
          <a:p>
            <a:endParaRPr lang="en-US"/>
          </a:p>
          <a:p>
            <a:pPr marL="342900" indent="-342900">
              <a:buFont typeface="Wingdings" panose="05000000000000000000" charset="0"/>
              <a:buChar char="Ø"/>
            </a:pPr>
            <a:r>
              <a:rPr lang="en-US"/>
              <a:t>   ASCII (American Standard Code for Information      Interchange) for the United States.</a:t>
            </a:r>
            <a:endParaRPr lang="en-US"/>
          </a:p>
          <a:p>
            <a:pPr marL="342900" indent="-342900">
              <a:buFont typeface="Wingdings" panose="05000000000000000000" charset="0"/>
              <a:buChar char="Ø"/>
            </a:pPr>
            <a:r>
              <a:rPr lang="en-US"/>
              <a:t>    ISO 8859-1 for Western European Language.</a:t>
            </a:r>
            <a:endParaRPr lang="en-US"/>
          </a:p>
          <a:p>
            <a:pPr marL="342900" indent="-342900">
              <a:buFont typeface="Wingdings" panose="05000000000000000000" charset="0"/>
              <a:buChar char="Ø"/>
            </a:pPr>
            <a:r>
              <a:rPr lang="en-US"/>
              <a:t>    KOI-8 for Russian.</a:t>
            </a:r>
            <a:endParaRPr lang="en-US"/>
          </a:p>
          <a:p>
            <a:pPr marL="342900" indent="-342900">
              <a:buFont typeface="Wingdings" panose="05000000000000000000" charset="0"/>
              <a:buChar char="Ø"/>
            </a:pPr>
            <a:r>
              <a:rPr lang="en-US"/>
              <a:t>    GB18030 and BIG-5 for chinese, and so on.</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Unicode System</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55270" y="1407160"/>
            <a:ext cx="8212455" cy="3415030"/>
          </a:xfrm>
          <a:prstGeom prst="rect">
            <a:avLst/>
          </a:prstGeom>
          <a:noFill/>
        </p:spPr>
        <p:txBody>
          <a:bodyPr wrap="square" rtlCol="0" anchor="t">
            <a:spAutoFit/>
          </a:bodyPr>
          <a:p>
            <a:r>
              <a:rPr lang="en-US" b="1"/>
              <a:t>This caused two problems:</a:t>
            </a:r>
            <a:endParaRPr lang="en-US" b="1"/>
          </a:p>
          <a:p>
            <a:endParaRPr lang="en-US" b="1"/>
          </a:p>
          <a:p>
            <a:pPr marL="342900" indent="-342900">
              <a:buFont typeface="Wingdings" panose="05000000000000000000" charset="0"/>
              <a:buChar char="Ø"/>
            </a:pPr>
            <a:r>
              <a:rPr lang="en-US" b="1"/>
              <a:t>    A particular code value corresponds to different letters in the various language standards.</a:t>
            </a:r>
            <a:endParaRPr lang="en-US" b="1"/>
          </a:p>
          <a:p>
            <a:endParaRPr lang="en-US" b="1"/>
          </a:p>
          <a:p>
            <a:pPr marL="342900" indent="-342900">
              <a:buFont typeface="Wingdings" panose="05000000000000000000" charset="0"/>
              <a:buChar char="Ø"/>
            </a:pPr>
            <a:r>
              <a:rPr lang="en-US" b="1"/>
              <a:t>    The encodings for languages with large character sets have variable length.Some common characters are encoded as single bytes, other require two or more byte.</a:t>
            </a:r>
            <a:endParaRPr lang="en-US" b="1"/>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Unicode System</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55270" y="1407160"/>
            <a:ext cx="8212455" cy="3415030"/>
          </a:xfrm>
          <a:prstGeom prst="rect">
            <a:avLst/>
          </a:prstGeom>
          <a:noFill/>
        </p:spPr>
        <p:txBody>
          <a:bodyPr wrap="square" rtlCol="0" anchor="t">
            <a:spAutoFit/>
          </a:bodyPr>
          <a:p>
            <a:r>
              <a:rPr lang="en-US" b="1"/>
              <a:t>To solve these problems, a new language standard was developed i.e. Unicode System.</a:t>
            </a:r>
            <a:endParaRPr lang="en-US" b="1"/>
          </a:p>
          <a:p>
            <a:endParaRPr lang="en-US" b="1"/>
          </a:p>
          <a:p>
            <a:r>
              <a:rPr lang="en-US" b="1"/>
              <a:t>In unicode, character holds 2 byte, so java also uses 2 byte for characters.</a:t>
            </a:r>
            <a:endParaRPr lang="en-US" b="1"/>
          </a:p>
          <a:p>
            <a:endParaRPr lang="en-US" b="1"/>
          </a:p>
          <a:p>
            <a:r>
              <a:rPr lang="en-US" b="1"/>
              <a:t>lowest value:\u0000</a:t>
            </a:r>
            <a:endParaRPr lang="en-US" b="1"/>
          </a:p>
          <a:p>
            <a:endParaRPr lang="en-US" b="1"/>
          </a:p>
          <a:p>
            <a:r>
              <a:rPr lang="en-US" b="1"/>
              <a:t>highest value:\uFFFF</a:t>
            </a:r>
            <a:endParaRPr lang="en-US" b="1"/>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Operators in Java</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55270" y="1407160"/>
            <a:ext cx="8212455" cy="5262245"/>
          </a:xfrm>
          <a:prstGeom prst="rect">
            <a:avLst/>
          </a:prstGeom>
          <a:noFill/>
        </p:spPr>
        <p:txBody>
          <a:bodyPr wrap="square" rtlCol="0" anchor="t">
            <a:spAutoFit/>
          </a:bodyPr>
          <a:p>
            <a:r>
              <a:rPr lang="en-US" b="1"/>
              <a:t>Operator in java is a symbol that is used to perform operations. For example: +, -, *, / etc.</a:t>
            </a:r>
            <a:endParaRPr lang="en-US" b="1"/>
          </a:p>
          <a:p>
            <a:endParaRPr lang="en-US" b="1"/>
          </a:p>
          <a:p>
            <a:r>
              <a:rPr lang="en-US" b="1"/>
              <a:t>There are many types of operators in java which are given below:</a:t>
            </a:r>
            <a:endParaRPr lang="en-US" b="1"/>
          </a:p>
          <a:p>
            <a:endParaRPr lang="en-US" b="1"/>
          </a:p>
          <a:p>
            <a:pPr marL="342900" indent="-342900">
              <a:buFont typeface="Wingdings" panose="05000000000000000000" charset="0"/>
              <a:buChar char="Ø"/>
            </a:pPr>
            <a:r>
              <a:rPr lang="en-US" b="1"/>
              <a:t>    Unary Operator</a:t>
            </a:r>
            <a:endParaRPr lang="en-US" b="1"/>
          </a:p>
          <a:p>
            <a:pPr marL="342900" indent="-342900">
              <a:buFont typeface="Wingdings" panose="05000000000000000000" charset="0"/>
              <a:buChar char="Ø"/>
            </a:pPr>
            <a:r>
              <a:rPr lang="en-US" b="1"/>
              <a:t>  </a:t>
            </a:r>
            <a:r>
              <a:rPr lang="en-US" b="1">
                <a:sym typeface="+mn-ea"/>
              </a:rPr>
              <a:t> </a:t>
            </a:r>
            <a:r>
              <a:rPr lang="en-US" b="1"/>
              <a:t>  Arithmetic Operator</a:t>
            </a:r>
            <a:endParaRPr lang="en-US" b="1"/>
          </a:p>
          <a:p>
            <a:pPr marL="342900" indent="-342900">
              <a:buFont typeface="Wingdings" panose="05000000000000000000" charset="0"/>
              <a:buChar char="Ø"/>
            </a:pPr>
            <a:r>
              <a:rPr lang="en-US" b="1"/>
              <a:t>    Shift Operator</a:t>
            </a:r>
            <a:endParaRPr lang="en-US" b="1"/>
          </a:p>
          <a:p>
            <a:pPr marL="342900" indent="-342900">
              <a:buFont typeface="Wingdings" panose="05000000000000000000" charset="0"/>
              <a:buChar char="Ø"/>
            </a:pPr>
            <a:r>
              <a:rPr lang="en-US" b="1"/>
              <a:t>    Relational Operator</a:t>
            </a:r>
            <a:endParaRPr lang="en-US" b="1"/>
          </a:p>
          <a:p>
            <a:pPr marL="342900" indent="-342900">
              <a:buFont typeface="Wingdings" panose="05000000000000000000" charset="0"/>
              <a:buChar char="Ø"/>
            </a:pPr>
            <a:r>
              <a:rPr lang="en-US" b="1"/>
              <a:t>    Bitwise Operator</a:t>
            </a:r>
            <a:endParaRPr lang="en-US" b="1"/>
          </a:p>
          <a:p>
            <a:pPr marL="342900" indent="-342900">
              <a:buFont typeface="Wingdings" panose="05000000000000000000" charset="0"/>
              <a:buChar char="Ø"/>
            </a:pPr>
            <a:r>
              <a:rPr lang="en-US" b="1"/>
              <a:t>    Logical Operator</a:t>
            </a:r>
            <a:endParaRPr lang="en-US" b="1"/>
          </a:p>
          <a:p>
            <a:pPr marL="342900" indent="-342900">
              <a:buFont typeface="Wingdings" panose="05000000000000000000" charset="0"/>
              <a:buChar char="Ø"/>
            </a:pPr>
            <a:r>
              <a:rPr lang="en-US" b="1"/>
              <a:t>    Ternary Operator</a:t>
            </a:r>
            <a:endParaRPr lang="en-US" b="1"/>
          </a:p>
          <a:p>
            <a:pPr marL="342900" indent="-342900">
              <a:buFont typeface="Wingdings" panose="05000000000000000000" charset="0"/>
              <a:buChar char="Ø"/>
            </a:pPr>
            <a:r>
              <a:rPr lang="en-US" b="1"/>
              <a:t>    Assignment Operator</a:t>
            </a:r>
            <a:endParaRPr lang="en-US" b="1"/>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Operators in Java</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graphicFrame>
        <p:nvGraphicFramePr>
          <p:cNvPr id="2" name="Table 1"/>
          <p:cNvGraphicFramePr/>
          <p:nvPr/>
        </p:nvGraphicFramePr>
        <p:xfrm>
          <a:off x="737235" y="1524000"/>
          <a:ext cx="7905750" cy="3883025"/>
        </p:xfrm>
        <a:graphic>
          <a:graphicData uri="http://schemas.openxmlformats.org/drawingml/2006/table">
            <a:tbl>
              <a:tblPr firstRow="1" bandRow="1">
                <a:tableStyleId>{5C22544A-7EE6-4342-B048-85BDC9FD1C3A}</a:tableStyleId>
              </a:tblPr>
              <a:tblGrid>
                <a:gridCol w="2635250"/>
                <a:gridCol w="2635250"/>
                <a:gridCol w="2635250"/>
              </a:tblGrid>
              <a:tr h="418465">
                <a:tc>
                  <a:txBody>
                    <a:bodyPr/>
                    <a:p>
                      <a:pPr>
                        <a:buNone/>
                      </a:pPr>
                      <a:r>
                        <a:rPr lang="en-US"/>
                        <a:t>Operator Type</a:t>
                      </a:r>
                      <a:endParaRPr lang="en-US"/>
                    </a:p>
                  </a:txBody>
                  <a:tcPr/>
                </a:tc>
                <a:tc>
                  <a:txBody>
                    <a:bodyPr/>
                    <a:p>
                      <a:pPr>
                        <a:buNone/>
                      </a:pPr>
                      <a:r>
                        <a:rPr lang="en-US"/>
                        <a:t>Category</a:t>
                      </a:r>
                      <a:endParaRPr lang="en-US"/>
                    </a:p>
                  </a:txBody>
                  <a:tcPr/>
                </a:tc>
                <a:tc>
                  <a:txBody>
                    <a:bodyPr/>
                    <a:p>
                      <a:pPr>
                        <a:buNone/>
                      </a:pPr>
                      <a:r>
                        <a:rPr lang="en-US"/>
                        <a:t>Precedence</a:t>
                      </a:r>
                      <a:endParaRPr lang="en-US"/>
                    </a:p>
                  </a:txBody>
                  <a:tcPr/>
                </a:tc>
              </a:tr>
              <a:tr h="419100">
                <a:tc rowSpan="2">
                  <a:txBody>
                    <a:bodyPr/>
                    <a:p>
                      <a:pPr algn="l">
                        <a:buNone/>
                      </a:pPr>
                      <a:r>
                        <a:rPr lang="en-US"/>
                        <a:t>Unary</a:t>
                      </a:r>
                      <a:endParaRPr lang="en-US"/>
                    </a:p>
                  </a:txBody>
                  <a:tcPr/>
                </a:tc>
                <a:tc>
                  <a:txBody>
                    <a:bodyPr/>
                    <a:p>
                      <a:pPr>
                        <a:buNone/>
                      </a:pPr>
                      <a:r>
                        <a:rPr lang="en-US"/>
                        <a:t>postfix</a:t>
                      </a:r>
                      <a:endParaRPr lang="en-US"/>
                    </a:p>
                  </a:txBody>
                  <a:tcPr/>
                </a:tc>
                <a:tc>
                  <a:txBody>
                    <a:bodyPr/>
                    <a:p>
                      <a:pPr>
                        <a:buNone/>
                      </a:pPr>
                      <a:r>
                        <a:rPr lang="en-US"/>
                        <a:t>expr++, expr--</a:t>
                      </a:r>
                      <a:endParaRPr lang="en-US"/>
                    </a:p>
                  </a:txBody>
                  <a:tcPr/>
                </a:tc>
              </a:tr>
              <a:tr h="576580">
                <a:tc vMerge="1">
                  <a:tcPr/>
                </a:tc>
                <a:tc>
                  <a:txBody>
                    <a:bodyPr/>
                    <a:p>
                      <a:pPr>
                        <a:buNone/>
                      </a:pPr>
                      <a:r>
                        <a:rPr lang="en-US" sz="1800">
                          <a:sym typeface="+mn-ea"/>
                        </a:rPr>
                        <a:t>prefix</a:t>
                      </a:r>
                      <a:endParaRPr lang="en-US" sz="1800">
                        <a:sym typeface="+mn-ea"/>
                      </a:endParaRPr>
                    </a:p>
                    <a:p>
                      <a:pPr>
                        <a:buNone/>
                      </a:pPr>
                      <a:endParaRPr lang="en-US"/>
                    </a:p>
                  </a:txBody>
                  <a:tcPr/>
                </a:tc>
                <a:tc>
                  <a:txBody>
                    <a:bodyPr/>
                    <a:p>
                      <a:pPr>
                        <a:buNone/>
                      </a:pPr>
                      <a:r>
                        <a:rPr lang="en-US" sz="1800">
                          <a:sym typeface="+mn-ea"/>
                        </a:rPr>
                        <a:t>++expr ,--expr ,+expr, -expr, ~ !</a:t>
                      </a:r>
                      <a:endParaRPr lang="en-US" sz="1800">
                        <a:sym typeface="+mn-ea"/>
                      </a:endParaRPr>
                    </a:p>
                    <a:p>
                      <a:pPr>
                        <a:buNone/>
                      </a:pPr>
                      <a:endParaRPr lang="en-US"/>
                    </a:p>
                  </a:txBody>
                  <a:tcPr/>
                </a:tc>
              </a:tr>
              <a:tr h="419100">
                <a:tc rowSpan="2">
                  <a:txBody>
                    <a:bodyPr/>
                    <a:p>
                      <a:pPr>
                        <a:buNone/>
                      </a:pPr>
                      <a:r>
                        <a:rPr lang="en-US"/>
                        <a:t>Arithmetic</a:t>
                      </a:r>
                      <a:endParaRPr lang="en-US"/>
                    </a:p>
                  </a:txBody>
                  <a:tcPr/>
                </a:tc>
                <a:tc>
                  <a:txBody>
                    <a:bodyPr/>
                    <a:p>
                      <a:pPr>
                        <a:buNone/>
                      </a:pPr>
                      <a:r>
                        <a:rPr lang="en-US"/>
                        <a:t>multiplicative</a:t>
                      </a:r>
                      <a:endParaRPr lang="en-US"/>
                    </a:p>
                  </a:txBody>
                  <a:tcPr/>
                </a:tc>
                <a:tc>
                  <a:txBody>
                    <a:bodyPr/>
                    <a:p>
                      <a:pPr>
                        <a:buNone/>
                      </a:pPr>
                      <a:r>
                        <a:rPr lang="en-US"/>
                        <a:t>*, / ,%</a:t>
                      </a:r>
                      <a:endParaRPr lang="en-US"/>
                    </a:p>
                  </a:txBody>
                  <a:tcPr/>
                </a:tc>
              </a:tr>
              <a:tr h="418465">
                <a:tc vMerge="1">
                  <a:tcPr/>
                </a:tc>
                <a:tc>
                  <a:txBody>
                    <a:bodyPr/>
                    <a:p>
                      <a:pPr>
                        <a:buNone/>
                      </a:pPr>
                      <a:r>
                        <a:rPr lang="en-US"/>
                        <a:t>additive</a:t>
                      </a:r>
                      <a:endParaRPr lang="en-US"/>
                    </a:p>
                  </a:txBody>
                  <a:tcPr/>
                </a:tc>
                <a:tc>
                  <a:txBody>
                    <a:bodyPr/>
                    <a:p>
                      <a:pPr>
                        <a:buNone/>
                      </a:pPr>
                      <a:r>
                        <a:rPr lang="en-US"/>
                        <a:t>+, -</a:t>
                      </a:r>
                      <a:endParaRPr lang="en-US"/>
                    </a:p>
                  </a:txBody>
                  <a:tcPr/>
                </a:tc>
              </a:tr>
              <a:tr h="418465">
                <a:tc>
                  <a:txBody>
                    <a:bodyPr/>
                    <a:p>
                      <a:pPr>
                        <a:buNone/>
                      </a:pPr>
                      <a:r>
                        <a:rPr lang="en-US"/>
                        <a:t>Shift</a:t>
                      </a:r>
                      <a:endParaRPr lang="en-US"/>
                    </a:p>
                  </a:txBody>
                  <a:tcPr/>
                </a:tc>
                <a:tc>
                  <a:txBody>
                    <a:bodyPr/>
                    <a:p>
                      <a:pPr>
                        <a:buNone/>
                      </a:pPr>
                      <a:r>
                        <a:rPr lang="en-US"/>
                        <a:t>shift</a:t>
                      </a:r>
                      <a:endParaRPr lang="en-US"/>
                    </a:p>
                  </a:txBody>
                  <a:tcPr/>
                </a:tc>
                <a:tc>
                  <a:txBody>
                    <a:bodyPr/>
                    <a:p>
                      <a:pPr>
                        <a:buNone/>
                      </a:pPr>
                      <a:r>
                        <a:rPr lang="en-US"/>
                        <a:t>&lt;&lt;, &gt;&gt;, &gt;&gt;&gt;</a:t>
                      </a:r>
                      <a:endParaRPr lang="en-US"/>
                    </a:p>
                  </a:txBody>
                  <a:tcPr/>
                </a:tc>
              </a:tr>
              <a:tr h="456565">
                <a:tc rowSpan="2">
                  <a:txBody>
                    <a:bodyPr/>
                    <a:p>
                      <a:pPr>
                        <a:buNone/>
                      </a:pPr>
                      <a:r>
                        <a:rPr lang="en-US"/>
                        <a:t>Relational</a:t>
                      </a:r>
                      <a:endParaRPr lang="en-US"/>
                    </a:p>
                  </a:txBody>
                  <a:tcPr/>
                </a:tc>
                <a:tc>
                  <a:txBody>
                    <a:bodyPr/>
                    <a:p>
                      <a:pPr>
                        <a:buNone/>
                      </a:pPr>
                      <a:r>
                        <a:rPr lang="en-US"/>
                        <a:t>comparison</a:t>
                      </a:r>
                      <a:endParaRPr lang="en-US"/>
                    </a:p>
                  </a:txBody>
                  <a:tcPr/>
                </a:tc>
                <a:tc>
                  <a:txBody>
                    <a:bodyPr/>
                    <a:p>
                      <a:pPr>
                        <a:buNone/>
                      </a:pPr>
                      <a:r>
                        <a:rPr lang="en-US"/>
                        <a:t>&lt; ,&gt;, &lt;=, &gt;= ,instanceof</a:t>
                      </a:r>
                      <a:endParaRPr lang="en-US"/>
                    </a:p>
                  </a:txBody>
                  <a:tcPr/>
                </a:tc>
              </a:tr>
              <a:tr h="418465">
                <a:tc vMerge="1">
                  <a:tcPr/>
                </a:tc>
                <a:tc>
                  <a:txBody>
                    <a:bodyPr/>
                    <a:p>
                      <a:pPr>
                        <a:buNone/>
                      </a:pPr>
                      <a:r>
                        <a:rPr lang="en-US"/>
                        <a:t>equality</a:t>
                      </a:r>
                      <a:endParaRPr lang="en-US"/>
                    </a:p>
                  </a:txBody>
                  <a:tcPr/>
                </a:tc>
                <a:tc>
                  <a:txBody>
                    <a:bodyPr/>
                    <a:p>
                      <a:pPr>
                        <a:buNone/>
                      </a:pPr>
                      <a:r>
                        <a:rPr lang="en-US"/>
                        <a:t>== , !=</a:t>
                      </a:r>
                      <a:endParaRPr lang="en-US"/>
                    </a:p>
                  </a:txBody>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Operators in Java</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graphicFrame>
        <p:nvGraphicFramePr>
          <p:cNvPr id="2" name="Table 1"/>
          <p:cNvGraphicFramePr/>
          <p:nvPr/>
        </p:nvGraphicFramePr>
        <p:xfrm>
          <a:off x="737235" y="1524000"/>
          <a:ext cx="7905750" cy="3818890"/>
        </p:xfrm>
        <a:graphic>
          <a:graphicData uri="http://schemas.openxmlformats.org/drawingml/2006/table">
            <a:tbl>
              <a:tblPr firstRow="1" bandRow="1">
                <a:tableStyleId>{5C22544A-7EE6-4342-B048-85BDC9FD1C3A}</a:tableStyleId>
              </a:tblPr>
              <a:tblGrid>
                <a:gridCol w="2635250"/>
                <a:gridCol w="2635250"/>
                <a:gridCol w="2635250"/>
              </a:tblGrid>
              <a:tr h="418465">
                <a:tc>
                  <a:txBody>
                    <a:bodyPr/>
                    <a:p>
                      <a:pPr>
                        <a:buNone/>
                      </a:pPr>
                      <a:r>
                        <a:rPr lang="en-US"/>
                        <a:t>Operator Type</a:t>
                      </a:r>
                      <a:endParaRPr lang="en-US"/>
                    </a:p>
                  </a:txBody>
                  <a:tcPr/>
                </a:tc>
                <a:tc>
                  <a:txBody>
                    <a:bodyPr/>
                    <a:p>
                      <a:pPr>
                        <a:buNone/>
                      </a:pPr>
                      <a:r>
                        <a:rPr lang="en-US"/>
                        <a:t>Category</a:t>
                      </a:r>
                      <a:endParaRPr lang="en-US"/>
                    </a:p>
                  </a:txBody>
                  <a:tcPr/>
                </a:tc>
                <a:tc>
                  <a:txBody>
                    <a:bodyPr/>
                    <a:p>
                      <a:pPr>
                        <a:buNone/>
                      </a:pPr>
                      <a:r>
                        <a:rPr lang="en-US"/>
                        <a:t>Precedence</a:t>
                      </a:r>
                      <a:endParaRPr lang="en-US"/>
                    </a:p>
                  </a:txBody>
                  <a:tcPr/>
                </a:tc>
              </a:tr>
              <a:tr h="419100">
                <a:tc rowSpan="3">
                  <a:txBody>
                    <a:bodyPr/>
                    <a:p>
                      <a:pPr algn="l">
                        <a:buNone/>
                      </a:pPr>
                      <a:r>
                        <a:rPr lang="en-US"/>
                        <a:t>Bitwise</a:t>
                      </a:r>
                      <a:endParaRPr lang="en-US"/>
                    </a:p>
                  </a:txBody>
                  <a:tcPr/>
                </a:tc>
                <a:tc>
                  <a:txBody>
                    <a:bodyPr/>
                    <a:p>
                      <a:pPr>
                        <a:buNone/>
                      </a:pPr>
                      <a:r>
                        <a:rPr lang="en-US"/>
                        <a:t>bitwise AND</a:t>
                      </a:r>
                      <a:endParaRPr lang="en-US"/>
                    </a:p>
                  </a:txBody>
                  <a:tcPr/>
                </a:tc>
                <a:tc>
                  <a:txBody>
                    <a:bodyPr/>
                    <a:p>
                      <a:pPr>
                        <a:buNone/>
                      </a:pPr>
                      <a:r>
                        <a:rPr lang="en-US"/>
                        <a:t>&amp;</a:t>
                      </a:r>
                      <a:endParaRPr lang="en-US"/>
                    </a:p>
                  </a:txBody>
                  <a:tcPr/>
                </a:tc>
              </a:tr>
              <a:tr h="381635">
                <a:tc vMerge="1">
                  <a:tcPr/>
                </a:tc>
                <a:tc>
                  <a:txBody>
                    <a:bodyPr/>
                    <a:p>
                      <a:pPr>
                        <a:buNone/>
                      </a:pPr>
                      <a:r>
                        <a:rPr lang="en-US"/>
                        <a:t>bitwise exclusive OR</a:t>
                      </a:r>
                      <a:endParaRPr lang="en-US"/>
                    </a:p>
                  </a:txBody>
                  <a:tcPr/>
                </a:tc>
                <a:tc>
                  <a:txBody>
                    <a:bodyPr/>
                    <a:p>
                      <a:pPr>
                        <a:buNone/>
                      </a:pPr>
                      <a:r>
                        <a:rPr lang="en-US" sz="1800">
                          <a:sym typeface="+mn-ea"/>
                        </a:rPr>
                        <a:t>^</a:t>
                      </a:r>
                      <a:endParaRPr lang="en-US" sz="1800">
                        <a:sym typeface="+mn-ea"/>
                      </a:endParaRPr>
                    </a:p>
                  </a:txBody>
                  <a:tcPr/>
                </a:tc>
              </a:tr>
              <a:tr h="419100">
                <a:tc vMerge="1">
                  <a:tcPr/>
                </a:tc>
                <a:tc>
                  <a:txBody>
                    <a:bodyPr/>
                    <a:p>
                      <a:pPr>
                        <a:buNone/>
                      </a:pPr>
                      <a:r>
                        <a:rPr lang="en-US"/>
                        <a:t>bitwise inclusive OR</a:t>
                      </a:r>
                      <a:endParaRPr lang="en-US"/>
                    </a:p>
                  </a:txBody>
                  <a:tcPr/>
                </a:tc>
                <a:tc>
                  <a:txBody>
                    <a:bodyPr/>
                    <a:p>
                      <a:pPr>
                        <a:buNone/>
                      </a:pPr>
                      <a:r>
                        <a:rPr lang="en-US"/>
                        <a:t>|</a:t>
                      </a:r>
                      <a:endParaRPr lang="en-US"/>
                    </a:p>
                  </a:txBody>
                  <a:tcPr/>
                </a:tc>
              </a:tr>
              <a:tr h="418465">
                <a:tc rowSpan="2">
                  <a:txBody>
                    <a:bodyPr/>
                    <a:p>
                      <a:pPr>
                        <a:buNone/>
                      </a:pPr>
                      <a:r>
                        <a:rPr lang="en-US"/>
                        <a:t>Logical</a:t>
                      </a:r>
                      <a:endParaRPr lang="en-US"/>
                    </a:p>
                  </a:txBody>
                  <a:tcPr/>
                </a:tc>
                <a:tc>
                  <a:txBody>
                    <a:bodyPr/>
                    <a:p>
                      <a:pPr>
                        <a:buNone/>
                      </a:pPr>
                      <a:r>
                        <a:rPr lang="en-US"/>
                        <a:t>logical AND</a:t>
                      </a:r>
                      <a:endParaRPr lang="en-US"/>
                    </a:p>
                  </a:txBody>
                  <a:tcPr/>
                </a:tc>
                <a:tc>
                  <a:txBody>
                    <a:bodyPr/>
                    <a:p>
                      <a:pPr>
                        <a:buNone/>
                      </a:pPr>
                      <a:r>
                        <a:rPr lang="en-US"/>
                        <a:t>&amp;&amp;</a:t>
                      </a:r>
                      <a:endParaRPr lang="en-US"/>
                    </a:p>
                  </a:txBody>
                  <a:tcPr/>
                </a:tc>
              </a:tr>
              <a:tr h="418465">
                <a:tc vMerge="1">
                  <a:tcPr/>
                </a:tc>
                <a:tc>
                  <a:txBody>
                    <a:bodyPr/>
                    <a:p>
                      <a:pPr>
                        <a:buNone/>
                      </a:pPr>
                      <a:r>
                        <a:rPr lang="en-US"/>
                        <a:t>logical OR</a:t>
                      </a:r>
                      <a:endParaRPr lang="en-US"/>
                    </a:p>
                  </a:txBody>
                  <a:tcPr/>
                </a:tc>
                <a:tc>
                  <a:txBody>
                    <a:bodyPr/>
                    <a:p>
                      <a:pPr>
                        <a:buNone/>
                      </a:pPr>
                      <a:r>
                        <a:rPr lang="en-US"/>
                        <a:t>||</a:t>
                      </a:r>
                      <a:endParaRPr lang="en-US"/>
                    </a:p>
                  </a:txBody>
                  <a:tcPr/>
                </a:tc>
              </a:tr>
              <a:tr h="703580">
                <a:tc>
                  <a:txBody>
                    <a:bodyPr/>
                    <a:p>
                      <a:pPr>
                        <a:buNone/>
                      </a:pPr>
                      <a:r>
                        <a:rPr lang="en-US"/>
                        <a:t>Ternary</a:t>
                      </a:r>
                      <a:endParaRPr lang="en-US"/>
                    </a:p>
                  </a:txBody>
                  <a:tcPr/>
                </a:tc>
                <a:tc>
                  <a:txBody>
                    <a:bodyPr/>
                    <a:p>
                      <a:pPr>
                        <a:buNone/>
                      </a:pPr>
                      <a:r>
                        <a:rPr lang="en-US"/>
                        <a:t>ternary</a:t>
                      </a:r>
                      <a:endParaRPr lang="en-US"/>
                    </a:p>
                  </a:txBody>
                  <a:tcPr/>
                </a:tc>
                <a:tc>
                  <a:txBody>
                    <a:bodyPr/>
                    <a:p>
                      <a:pPr>
                        <a:buNone/>
                      </a:pPr>
                      <a:r>
                        <a:rPr lang="en-US"/>
                        <a:t>? :</a:t>
                      </a:r>
                      <a:endParaRPr lang="en-US"/>
                    </a:p>
                  </a:txBody>
                  <a:tcPr/>
                </a:tc>
              </a:tr>
              <a:tr h="418465">
                <a:tc>
                  <a:txBody>
                    <a:bodyPr/>
                    <a:p>
                      <a:pPr>
                        <a:buNone/>
                      </a:pPr>
                      <a:r>
                        <a:rPr lang="en-US"/>
                        <a:t>Assignment</a:t>
                      </a:r>
                      <a:endParaRPr lang="en-US"/>
                    </a:p>
                  </a:txBody>
                  <a:tcPr/>
                </a:tc>
                <a:tc>
                  <a:txBody>
                    <a:bodyPr/>
                    <a:p>
                      <a:pPr>
                        <a:buNone/>
                      </a:pPr>
                      <a:r>
                        <a:rPr lang="en-US"/>
                        <a:t>assignment</a:t>
                      </a:r>
                      <a:endParaRPr lang="en-US"/>
                    </a:p>
                  </a:txBody>
                  <a:tcPr/>
                </a:tc>
                <a:tc>
                  <a:txBody>
                    <a:bodyPr/>
                    <a:p>
                      <a:pPr>
                        <a:buNone/>
                      </a:pPr>
                      <a:r>
                        <a:rPr lang="en-US"/>
                        <a:t>= ,+=, -=, *= ,/= ,%= ,&amp;=, ^=, |=, &lt;&lt;=, &gt;&gt;=, &gt;&gt;&gt;=</a:t>
                      </a:r>
                      <a:endParaRPr lang="en-US"/>
                    </a:p>
                  </a:txBody>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Unary Operator Example: ++ and --</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556260" y="2414905"/>
            <a:ext cx="8030845" cy="3046095"/>
          </a:xfrm>
          <a:prstGeom prst="rect">
            <a:avLst/>
          </a:prstGeom>
          <a:noFill/>
        </p:spPr>
        <p:txBody>
          <a:bodyPr wrap="square" rtlCol="0" anchor="t">
            <a:spAutoFit/>
          </a:bodyPr>
          <a:p>
            <a:r>
              <a:rPr lang="en-US" b="1">
                <a:solidFill>
                  <a:srgbClr val="CC3300"/>
                </a:solidFill>
              </a:rPr>
              <a:t>    class OperatorExample{  </a:t>
            </a:r>
            <a:endParaRPr lang="en-US" b="1">
              <a:solidFill>
                <a:srgbClr val="CC3300"/>
              </a:solidFill>
            </a:endParaRPr>
          </a:p>
          <a:p>
            <a:r>
              <a:rPr lang="en-US" b="1">
                <a:solidFill>
                  <a:srgbClr val="CC3300"/>
                </a:solidFill>
              </a:rPr>
              <a:t>    public static void main(String args[]){  </a:t>
            </a:r>
            <a:endParaRPr lang="en-US" b="1">
              <a:solidFill>
                <a:srgbClr val="CC3300"/>
              </a:solidFill>
            </a:endParaRPr>
          </a:p>
          <a:p>
            <a:r>
              <a:rPr lang="en-US" b="1">
                <a:solidFill>
                  <a:srgbClr val="CC3300"/>
                </a:solidFill>
              </a:rPr>
              <a:t>    int x=10;  </a:t>
            </a:r>
            <a:endParaRPr lang="en-US" b="1">
              <a:solidFill>
                <a:srgbClr val="CC3300"/>
              </a:solidFill>
            </a:endParaRPr>
          </a:p>
          <a:p>
            <a:r>
              <a:rPr lang="en-US" b="1">
                <a:solidFill>
                  <a:srgbClr val="CC3300"/>
                </a:solidFill>
              </a:rPr>
              <a:t>    System.out.println(x++);</a:t>
            </a:r>
            <a:endParaRPr lang="en-US" b="1">
              <a:solidFill>
                <a:srgbClr val="CC3300"/>
              </a:solidFill>
            </a:endParaRPr>
          </a:p>
          <a:p>
            <a:r>
              <a:rPr lang="en-US" b="1">
                <a:solidFill>
                  <a:srgbClr val="CC3300"/>
                </a:solidFill>
              </a:rPr>
              <a:t>    System.out.println(++x);  </a:t>
            </a:r>
            <a:endParaRPr lang="en-US" b="1">
              <a:solidFill>
                <a:srgbClr val="CC3300"/>
              </a:solidFill>
            </a:endParaRPr>
          </a:p>
          <a:p>
            <a:r>
              <a:rPr lang="en-US" b="1">
                <a:solidFill>
                  <a:srgbClr val="CC3300"/>
                </a:solidFill>
              </a:rPr>
              <a:t>    System.out.println(x--); </a:t>
            </a:r>
            <a:endParaRPr lang="en-US" b="1">
              <a:solidFill>
                <a:srgbClr val="CC3300"/>
              </a:solidFill>
            </a:endParaRPr>
          </a:p>
          <a:p>
            <a:r>
              <a:rPr lang="en-US" b="1">
                <a:solidFill>
                  <a:srgbClr val="CC3300"/>
                </a:solidFill>
              </a:rPr>
              <a:t>    System.out.println(--x);</a:t>
            </a:r>
            <a:endParaRPr lang="en-US" b="1">
              <a:solidFill>
                <a:srgbClr val="CC3300"/>
              </a:solidFill>
            </a:endParaRPr>
          </a:p>
          <a:p>
            <a:r>
              <a:rPr lang="en-US" b="1">
                <a:solidFill>
                  <a:srgbClr val="CC3300"/>
                </a:solidFill>
              </a:rPr>
              <a:t>    }}  </a:t>
            </a:r>
            <a:endParaRPr lang="en-US" b="1">
              <a:solidFill>
                <a:srgbClr val="CC33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Unary Operator Example : ++ and --</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482600" y="1797685"/>
            <a:ext cx="8030845" cy="3784600"/>
          </a:xfrm>
          <a:prstGeom prst="rect">
            <a:avLst/>
          </a:prstGeom>
          <a:noFill/>
        </p:spPr>
        <p:txBody>
          <a:bodyPr wrap="square" rtlCol="0" anchor="t">
            <a:spAutoFit/>
          </a:bodyPr>
          <a:p>
            <a:r>
              <a:rPr lang="en-US" b="1">
                <a:solidFill>
                  <a:srgbClr val="CC3300"/>
                </a:solidFill>
              </a:rPr>
              <a:t>    class OperatorExample</a:t>
            </a:r>
            <a:endParaRPr lang="en-US" b="1">
              <a:solidFill>
                <a:srgbClr val="CC3300"/>
              </a:solidFill>
            </a:endParaRPr>
          </a:p>
          <a:p>
            <a:r>
              <a:rPr lang="en-US" b="1">
                <a:solidFill>
                  <a:srgbClr val="CC3300"/>
                </a:solidFill>
              </a:rPr>
              <a:t>{  </a:t>
            </a:r>
            <a:endParaRPr lang="en-US" b="1">
              <a:solidFill>
                <a:srgbClr val="CC3300"/>
              </a:solidFill>
            </a:endParaRPr>
          </a:p>
          <a:p>
            <a:r>
              <a:rPr lang="en-US" b="1">
                <a:solidFill>
                  <a:srgbClr val="CC3300"/>
                </a:solidFill>
              </a:rPr>
              <a:t>    public static void main(String args[]){  </a:t>
            </a:r>
            <a:endParaRPr lang="en-US" b="1">
              <a:solidFill>
                <a:srgbClr val="CC3300"/>
              </a:solidFill>
            </a:endParaRPr>
          </a:p>
          <a:p>
            <a:r>
              <a:rPr lang="en-US" b="1">
                <a:solidFill>
                  <a:srgbClr val="CC3300"/>
                </a:solidFill>
              </a:rPr>
              <a:t>    int a=10;  </a:t>
            </a:r>
            <a:endParaRPr lang="en-US" b="1">
              <a:solidFill>
                <a:srgbClr val="CC3300"/>
              </a:solidFill>
            </a:endParaRPr>
          </a:p>
          <a:p>
            <a:r>
              <a:rPr lang="en-US" b="1">
                <a:solidFill>
                  <a:srgbClr val="CC3300"/>
                </a:solidFill>
              </a:rPr>
              <a:t>    int b=10;  </a:t>
            </a:r>
            <a:endParaRPr lang="en-US" b="1">
              <a:solidFill>
                <a:srgbClr val="CC3300"/>
              </a:solidFill>
            </a:endParaRPr>
          </a:p>
          <a:p>
            <a:r>
              <a:rPr lang="en-US" b="1">
                <a:solidFill>
                  <a:srgbClr val="CC3300"/>
                </a:solidFill>
              </a:rPr>
              <a:t>    System.out.println(a++ + ++a); </a:t>
            </a:r>
            <a:endParaRPr lang="en-US" b="1">
              <a:solidFill>
                <a:srgbClr val="CC3300"/>
              </a:solidFill>
            </a:endParaRPr>
          </a:p>
          <a:p>
            <a:r>
              <a:rPr lang="en-US" b="1">
                <a:solidFill>
                  <a:srgbClr val="CC3300"/>
                </a:solidFill>
              </a:rPr>
              <a:t>    System.out.println(b++ + b++); </a:t>
            </a:r>
            <a:endParaRPr lang="en-US" b="1">
              <a:solidFill>
                <a:srgbClr val="CC3300"/>
              </a:solidFill>
            </a:endParaRPr>
          </a:p>
          <a:p>
            <a:r>
              <a:rPr lang="en-US" b="1">
                <a:solidFill>
                  <a:srgbClr val="CC3300"/>
                </a:solidFill>
              </a:rPr>
              <a:t>      </a:t>
            </a:r>
            <a:endParaRPr lang="en-US" b="1">
              <a:solidFill>
                <a:srgbClr val="CC3300"/>
              </a:solidFill>
            </a:endParaRPr>
          </a:p>
          <a:p>
            <a:r>
              <a:rPr lang="en-US" b="1">
                <a:solidFill>
                  <a:srgbClr val="CC3300"/>
                </a:solidFill>
              </a:rPr>
              <a:t>    }</a:t>
            </a:r>
            <a:endParaRPr lang="en-US" b="1">
              <a:solidFill>
                <a:srgbClr val="CC3300"/>
              </a:solidFill>
            </a:endParaRPr>
          </a:p>
          <a:p>
            <a:r>
              <a:rPr lang="en-US" b="1">
                <a:solidFill>
                  <a:srgbClr val="CC3300"/>
                </a:solidFill>
              </a:rPr>
              <a:t>}  </a:t>
            </a:r>
            <a:endParaRPr lang="en-US" b="1">
              <a:solidFill>
                <a:srgbClr val="CC33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Unary Operator Example: ~ and !</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449580" y="1254125"/>
            <a:ext cx="8030845" cy="4154170"/>
          </a:xfrm>
          <a:prstGeom prst="rect">
            <a:avLst/>
          </a:prstGeom>
          <a:noFill/>
        </p:spPr>
        <p:txBody>
          <a:bodyPr wrap="square" rtlCol="0" anchor="t">
            <a:spAutoFit/>
          </a:bodyPr>
          <a:p>
            <a:r>
              <a:rPr lang="en-US" b="1">
                <a:solidFill>
                  <a:srgbClr val="CC3300"/>
                </a:solidFill>
              </a:rPr>
              <a:t>    class OperatorExample{  </a:t>
            </a:r>
            <a:endParaRPr lang="en-US" b="1">
              <a:solidFill>
                <a:srgbClr val="CC3300"/>
              </a:solidFill>
            </a:endParaRPr>
          </a:p>
          <a:p>
            <a:r>
              <a:rPr lang="en-US" b="1">
                <a:solidFill>
                  <a:srgbClr val="CC3300"/>
                </a:solidFill>
              </a:rPr>
              <a:t>    public static void main(String args[]){  </a:t>
            </a:r>
            <a:endParaRPr lang="en-US" b="1">
              <a:solidFill>
                <a:srgbClr val="CC3300"/>
              </a:solidFill>
            </a:endParaRPr>
          </a:p>
          <a:p>
            <a:r>
              <a:rPr lang="en-US" b="1">
                <a:solidFill>
                  <a:srgbClr val="CC3300"/>
                </a:solidFill>
              </a:rPr>
              <a:t>    int a=10;  </a:t>
            </a:r>
            <a:endParaRPr lang="en-US" b="1">
              <a:solidFill>
                <a:srgbClr val="CC3300"/>
              </a:solidFill>
            </a:endParaRPr>
          </a:p>
          <a:p>
            <a:r>
              <a:rPr lang="en-US" b="1">
                <a:solidFill>
                  <a:srgbClr val="CC3300"/>
                </a:solidFill>
              </a:rPr>
              <a:t>    int b=-10;  </a:t>
            </a:r>
            <a:endParaRPr lang="en-US" b="1">
              <a:solidFill>
                <a:srgbClr val="CC3300"/>
              </a:solidFill>
            </a:endParaRPr>
          </a:p>
          <a:p>
            <a:r>
              <a:rPr lang="en-US" b="1">
                <a:solidFill>
                  <a:srgbClr val="CC3300"/>
                </a:solidFill>
              </a:rPr>
              <a:t>    boolean c=true;  </a:t>
            </a:r>
            <a:endParaRPr lang="en-US" b="1">
              <a:solidFill>
                <a:srgbClr val="CC3300"/>
              </a:solidFill>
            </a:endParaRPr>
          </a:p>
          <a:p>
            <a:r>
              <a:rPr lang="en-US" b="1">
                <a:solidFill>
                  <a:srgbClr val="CC3300"/>
                </a:solidFill>
              </a:rPr>
              <a:t>    boolean d=false;  </a:t>
            </a:r>
            <a:endParaRPr lang="en-US" b="1">
              <a:solidFill>
                <a:srgbClr val="CC3300"/>
              </a:solidFill>
            </a:endParaRPr>
          </a:p>
          <a:p>
            <a:r>
              <a:rPr lang="en-US" b="1">
                <a:solidFill>
                  <a:srgbClr val="CC3300"/>
                </a:solidFill>
              </a:rPr>
              <a:t>    System.out.println(~a);</a:t>
            </a:r>
            <a:endParaRPr lang="en-US" b="1">
              <a:solidFill>
                <a:srgbClr val="CC3300"/>
              </a:solidFill>
            </a:endParaRPr>
          </a:p>
          <a:p>
            <a:r>
              <a:rPr lang="en-US" b="1">
                <a:solidFill>
                  <a:srgbClr val="CC3300"/>
                </a:solidFill>
              </a:rPr>
              <a:t>    System.out.println(~b);</a:t>
            </a:r>
            <a:endParaRPr lang="en-US" b="1">
              <a:solidFill>
                <a:srgbClr val="CC3300"/>
              </a:solidFill>
            </a:endParaRPr>
          </a:p>
          <a:p>
            <a:r>
              <a:rPr lang="en-US" b="1">
                <a:solidFill>
                  <a:srgbClr val="CC3300"/>
                </a:solidFill>
              </a:rPr>
              <a:t>    System.out.println(!c);</a:t>
            </a:r>
            <a:endParaRPr lang="en-US" b="1">
              <a:solidFill>
                <a:srgbClr val="CC3300"/>
              </a:solidFill>
            </a:endParaRPr>
          </a:p>
          <a:p>
            <a:r>
              <a:rPr lang="en-US" b="1">
                <a:solidFill>
                  <a:srgbClr val="CC3300"/>
                </a:solidFill>
              </a:rPr>
              <a:t>    System.out.println(!d);</a:t>
            </a:r>
            <a:endParaRPr lang="en-US" b="1">
              <a:solidFill>
                <a:srgbClr val="CC3300"/>
              </a:solidFill>
            </a:endParaRPr>
          </a:p>
          <a:p>
            <a:r>
              <a:rPr lang="en-US" b="1">
                <a:solidFill>
                  <a:srgbClr val="CC3300"/>
                </a:solidFill>
              </a:rPr>
              <a:t>    }}  </a:t>
            </a:r>
            <a:endParaRPr lang="en-US" b="1">
              <a:solidFill>
                <a:srgbClr val="CC33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Unary Operator Example: ~ and !</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449580" y="1254125"/>
            <a:ext cx="8030845" cy="4892675"/>
          </a:xfrm>
          <a:prstGeom prst="rect">
            <a:avLst/>
          </a:prstGeom>
          <a:noFill/>
        </p:spPr>
        <p:txBody>
          <a:bodyPr wrap="square" rtlCol="0" anchor="t">
            <a:spAutoFit/>
          </a:bodyPr>
          <a:p>
            <a:endParaRPr lang="en-US" b="1">
              <a:solidFill>
                <a:srgbClr val="CC3300"/>
              </a:solidFill>
            </a:endParaRPr>
          </a:p>
          <a:p>
            <a:r>
              <a:rPr lang="en-US" b="1">
                <a:solidFill>
                  <a:srgbClr val="CC3300"/>
                </a:solidFill>
              </a:rPr>
              <a:t>    System.out.println(~a)</a:t>
            </a:r>
            <a:endParaRPr lang="en-US" b="1">
              <a:solidFill>
                <a:srgbClr val="CC3300"/>
              </a:solidFill>
            </a:endParaRPr>
          </a:p>
          <a:p>
            <a:endParaRPr lang="en-US" b="1">
              <a:solidFill>
                <a:srgbClr val="CC3300"/>
              </a:solidFill>
            </a:endParaRPr>
          </a:p>
          <a:p>
            <a:r>
              <a:rPr lang="en-US" b="1">
                <a:solidFill>
                  <a:srgbClr val="CC3300"/>
                </a:solidFill>
              </a:rPr>
              <a:t>-11 (minus of total positive value which starts from 0)  </a:t>
            </a:r>
            <a:endParaRPr lang="en-US" b="1">
              <a:solidFill>
                <a:srgbClr val="CC3300"/>
              </a:solidFill>
            </a:endParaRPr>
          </a:p>
          <a:p>
            <a:endParaRPr lang="en-US" b="1">
              <a:solidFill>
                <a:srgbClr val="CC3300"/>
              </a:solidFill>
            </a:endParaRPr>
          </a:p>
          <a:p>
            <a:r>
              <a:rPr lang="en-US" b="1">
                <a:solidFill>
                  <a:srgbClr val="CC3300"/>
                </a:solidFill>
              </a:rPr>
              <a:t>    System.out.println(~b);</a:t>
            </a:r>
            <a:endParaRPr lang="en-US" b="1">
              <a:solidFill>
                <a:srgbClr val="CC3300"/>
              </a:solidFill>
            </a:endParaRPr>
          </a:p>
          <a:p>
            <a:r>
              <a:rPr lang="en-US" b="1">
                <a:solidFill>
                  <a:srgbClr val="CC3300"/>
                </a:solidFill>
              </a:rPr>
              <a:t>9 (positive of total minus, positive starts from 0)  </a:t>
            </a:r>
            <a:endParaRPr lang="en-US" b="1">
              <a:solidFill>
                <a:srgbClr val="CC3300"/>
              </a:solidFill>
            </a:endParaRPr>
          </a:p>
          <a:p>
            <a:endParaRPr lang="en-US" b="1">
              <a:solidFill>
                <a:srgbClr val="CC3300"/>
              </a:solidFill>
            </a:endParaRPr>
          </a:p>
          <a:p>
            <a:r>
              <a:rPr lang="en-US" b="1">
                <a:solidFill>
                  <a:srgbClr val="CC3300"/>
                </a:solidFill>
              </a:rPr>
              <a:t>    System.out.println(!c);</a:t>
            </a:r>
            <a:endParaRPr lang="en-US" b="1">
              <a:solidFill>
                <a:srgbClr val="CC3300"/>
              </a:solidFill>
            </a:endParaRPr>
          </a:p>
          <a:p>
            <a:r>
              <a:rPr lang="en-US" b="1">
                <a:solidFill>
                  <a:srgbClr val="CC3300"/>
                </a:solidFill>
              </a:rPr>
              <a:t>false (opposite of boolean value)  </a:t>
            </a:r>
            <a:endParaRPr lang="en-US" b="1">
              <a:solidFill>
                <a:srgbClr val="CC3300"/>
              </a:solidFill>
            </a:endParaRPr>
          </a:p>
          <a:p>
            <a:endParaRPr lang="en-US" b="1">
              <a:solidFill>
                <a:srgbClr val="CC3300"/>
              </a:solidFill>
            </a:endParaRPr>
          </a:p>
          <a:p>
            <a:r>
              <a:rPr lang="en-US" b="1">
                <a:solidFill>
                  <a:srgbClr val="CC3300"/>
                </a:solidFill>
              </a:rPr>
              <a:t>    System.out.println(!d);</a:t>
            </a:r>
            <a:endParaRPr lang="en-US" b="1">
              <a:solidFill>
                <a:srgbClr val="CC3300"/>
              </a:solidFill>
            </a:endParaRPr>
          </a:p>
          <a:p>
            <a:r>
              <a:rPr lang="en-US" b="1">
                <a:solidFill>
                  <a:srgbClr val="CC3300"/>
                </a:solidFill>
              </a:rPr>
              <a:t>true</a:t>
            </a:r>
            <a:endParaRPr lang="en-US" b="1">
              <a:solidFill>
                <a:srgbClr val="CC33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Left Shift Operator Example</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449580" y="1254125"/>
            <a:ext cx="8030845" cy="2676525"/>
          </a:xfrm>
          <a:prstGeom prst="rect">
            <a:avLst/>
          </a:prstGeom>
          <a:noFill/>
        </p:spPr>
        <p:txBody>
          <a:bodyPr wrap="square" rtlCol="0" anchor="t">
            <a:spAutoFit/>
          </a:bodyPr>
          <a:p>
            <a:r>
              <a:rPr lang="en-US" b="1">
                <a:solidFill>
                  <a:srgbClr val="CC3300"/>
                </a:solidFill>
              </a:rPr>
              <a:t>    class OperatorExample{  </a:t>
            </a:r>
            <a:endParaRPr lang="en-US" b="1">
              <a:solidFill>
                <a:srgbClr val="CC3300"/>
              </a:solidFill>
            </a:endParaRPr>
          </a:p>
          <a:p>
            <a:r>
              <a:rPr lang="en-US" b="1">
                <a:solidFill>
                  <a:srgbClr val="CC3300"/>
                </a:solidFill>
              </a:rPr>
              <a:t>    public static void main(String args[]){  </a:t>
            </a:r>
            <a:endParaRPr lang="en-US" b="1">
              <a:solidFill>
                <a:srgbClr val="CC3300"/>
              </a:solidFill>
            </a:endParaRPr>
          </a:p>
          <a:p>
            <a:r>
              <a:rPr lang="en-US" b="1">
                <a:solidFill>
                  <a:srgbClr val="CC3300"/>
                </a:solidFill>
              </a:rPr>
              <a:t>    System.out.println(10&lt;&lt;2);  </a:t>
            </a:r>
            <a:endParaRPr lang="en-US" b="1">
              <a:solidFill>
                <a:srgbClr val="CC3300"/>
              </a:solidFill>
            </a:endParaRPr>
          </a:p>
          <a:p>
            <a:r>
              <a:rPr lang="en-US" b="1">
                <a:solidFill>
                  <a:srgbClr val="CC3300"/>
                </a:solidFill>
              </a:rPr>
              <a:t>    System.out.println(10&lt;&lt;3);</a:t>
            </a:r>
            <a:endParaRPr lang="en-US" b="1">
              <a:solidFill>
                <a:srgbClr val="CC3300"/>
              </a:solidFill>
            </a:endParaRPr>
          </a:p>
          <a:p>
            <a:r>
              <a:rPr lang="en-US" b="1">
                <a:solidFill>
                  <a:srgbClr val="CC3300"/>
                </a:solidFill>
              </a:rPr>
              <a:t>    System.out.println(20&lt;&lt;2); </a:t>
            </a:r>
            <a:endParaRPr lang="en-US" b="1">
              <a:solidFill>
                <a:srgbClr val="CC3300"/>
              </a:solidFill>
            </a:endParaRPr>
          </a:p>
          <a:p>
            <a:r>
              <a:rPr lang="en-US" b="1">
                <a:solidFill>
                  <a:srgbClr val="CC3300"/>
                </a:solidFill>
              </a:rPr>
              <a:t>    System.out.println(15&lt;&lt;4); </a:t>
            </a:r>
            <a:endParaRPr lang="en-US" b="1">
              <a:solidFill>
                <a:srgbClr val="CC3300"/>
              </a:solidFill>
            </a:endParaRPr>
          </a:p>
          <a:p>
            <a:r>
              <a:rPr lang="en-US" b="1">
                <a:solidFill>
                  <a:srgbClr val="CC3300"/>
                </a:solidFill>
              </a:rPr>
              <a:t>    }}  </a:t>
            </a:r>
            <a:endParaRPr lang="en-US" b="1">
              <a:solidFill>
                <a:srgbClr val="CC33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Right Shift Operator Example</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153670" y="1270635"/>
            <a:ext cx="8030845" cy="5262245"/>
          </a:xfrm>
          <a:prstGeom prst="rect">
            <a:avLst/>
          </a:prstGeom>
          <a:noFill/>
        </p:spPr>
        <p:txBody>
          <a:bodyPr wrap="square" rtlCol="0" anchor="t">
            <a:spAutoFit/>
          </a:bodyPr>
          <a:p>
            <a:r>
              <a:rPr lang="en-US" b="1">
                <a:solidFill>
                  <a:srgbClr val="CC3300"/>
                </a:solidFill>
              </a:rPr>
              <a:t>    The operator ‘&gt;&gt;’ uses the sign bit (left most bit) to fill the trailing positions after shift. If the number is negative, then 1 is used as a filler and if the number is positive, then 0 is used as a filler.</a:t>
            </a:r>
            <a:endParaRPr lang="en-US" b="1">
              <a:solidFill>
                <a:srgbClr val="CC3300"/>
              </a:solidFill>
            </a:endParaRPr>
          </a:p>
          <a:p>
            <a:endParaRPr lang="en-US" b="1">
              <a:solidFill>
                <a:srgbClr val="CC3300"/>
              </a:solidFill>
            </a:endParaRPr>
          </a:p>
          <a:p>
            <a:endParaRPr lang="en-US" b="1">
              <a:solidFill>
                <a:srgbClr val="CC3300"/>
              </a:solidFill>
            </a:endParaRPr>
          </a:p>
          <a:p>
            <a:r>
              <a:rPr lang="en-US" b="1">
                <a:solidFill>
                  <a:srgbClr val="CC3300"/>
                </a:solidFill>
              </a:rPr>
              <a:t>   class OperatorExample</a:t>
            </a:r>
            <a:endParaRPr lang="en-US" b="1">
              <a:solidFill>
                <a:srgbClr val="CC3300"/>
              </a:solidFill>
            </a:endParaRPr>
          </a:p>
          <a:p>
            <a:r>
              <a:rPr lang="en-US" b="1">
                <a:solidFill>
                  <a:srgbClr val="CC3300"/>
                </a:solidFill>
              </a:rPr>
              <a:t>{  </a:t>
            </a:r>
            <a:endParaRPr lang="en-US" b="1">
              <a:solidFill>
                <a:srgbClr val="CC3300"/>
              </a:solidFill>
            </a:endParaRPr>
          </a:p>
          <a:p>
            <a:r>
              <a:rPr lang="en-US" b="1">
                <a:solidFill>
                  <a:srgbClr val="CC3300"/>
                </a:solidFill>
              </a:rPr>
              <a:t>    public static void main(String args[]){  </a:t>
            </a:r>
            <a:endParaRPr lang="en-US" b="1">
              <a:solidFill>
                <a:srgbClr val="CC3300"/>
              </a:solidFill>
            </a:endParaRPr>
          </a:p>
          <a:p>
            <a:r>
              <a:rPr lang="en-US" b="1">
                <a:solidFill>
                  <a:srgbClr val="CC3300"/>
                </a:solidFill>
              </a:rPr>
              <a:t>    System.out.println(10&gt;&gt;2);  </a:t>
            </a:r>
            <a:endParaRPr lang="en-US" b="1">
              <a:solidFill>
                <a:srgbClr val="CC3300"/>
              </a:solidFill>
            </a:endParaRPr>
          </a:p>
          <a:p>
            <a:r>
              <a:rPr lang="en-US" b="1">
                <a:solidFill>
                  <a:srgbClr val="CC3300"/>
                </a:solidFill>
              </a:rPr>
              <a:t>    System.out.println(20&gt;&gt;2); </a:t>
            </a:r>
            <a:endParaRPr lang="en-US" b="1">
              <a:solidFill>
                <a:srgbClr val="CC3300"/>
              </a:solidFill>
            </a:endParaRPr>
          </a:p>
          <a:p>
            <a:r>
              <a:rPr lang="en-US" b="1">
                <a:solidFill>
                  <a:srgbClr val="CC3300"/>
                </a:solidFill>
              </a:rPr>
              <a:t>    System.out.println(20&gt;&gt;3);  </a:t>
            </a:r>
            <a:endParaRPr lang="en-US" b="1">
              <a:solidFill>
                <a:srgbClr val="CC3300"/>
              </a:solidFill>
            </a:endParaRPr>
          </a:p>
          <a:p>
            <a:r>
              <a:rPr lang="en-US" b="1">
                <a:solidFill>
                  <a:srgbClr val="CC3300"/>
                </a:solidFill>
              </a:rPr>
              <a:t>    }</a:t>
            </a:r>
            <a:endParaRPr lang="en-US" b="1">
              <a:solidFill>
                <a:srgbClr val="CC3300"/>
              </a:solidFill>
            </a:endParaRPr>
          </a:p>
          <a:p>
            <a:r>
              <a:rPr lang="en-US" b="1">
                <a:solidFill>
                  <a:srgbClr val="CC3300"/>
                </a:solidFill>
              </a:rPr>
              <a:t>}  </a:t>
            </a:r>
            <a:endParaRPr lang="en-US" b="1">
              <a:solidFill>
                <a:srgbClr val="CC33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Shift Operator Example: &gt;&gt; vs &gt;&gt;&gt;</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153670" y="1270635"/>
            <a:ext cx="8030845" cy="4892675"/>
          </a:xfrm>
          <a:prstGeom prst="rect">
            <a:avLst/>
          </a:prstGeom>
          <a:noFill/>
        </p:spPr>
        <p:txBody>
          <a:bodyPr wrap="square" rtlCol="0" anchor="t">
            <a:spAutoFit/>
          </a:bodyPr>
          <a:p>
            <a:r>
              <a:rPr lang="en-US" b="1">
                <a:solidFill>
                  <a:srgbClr val="CC3300"/>
                </a:solidFill>
              </a:rPr>
              <a:t>    class OperatorExample{  </a:t>
            </a:r>
            <a:endParaRPr lang="en-US" b="1">
              <a:solidFill>
                <a:srgbClr val="CC3300"/>
              </a:solidFill>
            </a:endParaRPr>
          </a:p>
          <a:p>
            <a:r>
              <a:rPr lang="en-US" b="1">
                <a:solidFill>
                  <a:srgbClr val="CC3300"/>
                </a:solidFill>
              </a:rPr>
              <a:t>    public static void main(String args[]){  </a:t>
            </a:r>
            <a:endParaRPr lang="en-US" b="1">
              <a:solidFill>
                <a:srgbClr val="CC3300"/>
              </a:solidFill>
            </a:endParaRPr>
          </a:p>
          <a:p>
            <a:r>
              <a:rPr lang="en-US" b="1">
                <a:solidFill>
                  <a:srgbClr val="CC3300"/>
                </a:solidFill>
              </a:rPr>
              <a:t>        </a:t>
            </a:r>
            <a:r>
              <a:rPr lang="en-US" b="1">
                <a:solidFill>
                  <a:srgbClr val="92D050"/>
                </a:solidFill>
              </a:rPr>
              <a:t>//For positive number, &gt;&gt; and &gt;&gt;&gt; works same</a:t>
            </a:r>
            <a:r>
              <a:rPr lang="en-US" b="1">
                <a:solidFill>
                  <a:srgbClr val="CC3300"/>
                </a:solidFill>
              </a:rPr>
              <a:t>  </a:t>
            </a:r>
            <a:endParaRPr lang="en-US" b="1">
              <a:solidFill>
                <a:srgbClr val="CC3300"/>
              </a:solidFill>
            </a:endParaRPr>
          </a:p>
          <a:p>
            <a:r>
              <a:rPr lang="en-US" b="1">
                <a:solidFill>
                  <a:srgbClr val="CC3300"/>
                </a:solidFill>
              </a:rPr>
              <a:t>        System.out.println(20&gt;&gt;2);  </a:t>
            </a:r>
            <a:endParaRPr lang="en-US" b="1">
              <a:solidFill>
                <a:srgbClr val="CC3300"/>
              </a:solidFill>
            </a:endParaRPr>
          </a:p>
          <a:p>
            <a:r>
              <a:rPr lang="en-US" b="1">
                <a:solidFill>
                  <a:srgbClr val="CC3300"/>
                </a:solidFill>
              </a:rPr>
              <a:t>        System.out.println(20&gt;&gt;&gt;2);  </a:t>
            </a:r>
            <a:endParaRPr lang="en-US" b="1">
              <a:solidFill>
                <a:srgbClr val="CC3300"/>
              </a:solidFill>
            </a:endParaRPr>
          </a:p>
          <a:p>
            <a:r>
              <a:rPr lang="en-US" b="1">
                <a:solidFill>
                  <a:srgbClr val="CC3300"/>
                </a:solidFill>
              </a:rPr>
              <a:t>        </a:t>
            </a:r>
            <a:r>
              <a:rPr lang="en-US" b="1">
                <a:solidFill>
                  <a:srgbClr val="92D050"/>
                </a:solidFill>
              </a:rPr>
              <a:t>//For negative number, &gt;&gt;&gt; changes parity bit (MSB) to 0</a:t>
            </a:r>
            <a:r>
              <a:rPr lang="en-US" b="1">
                <a:solidFill>
                  <a:srgbClr val="CC3300"/>
                </a:solidFill>
              </a:rPr>
              <a:t>  </a:t>
            </a:r>
            <a:endParaRPr lang="en-US" b="1">
              <a:solidFill>
                <a:srgbClr val="CC3300"/>
              </a:solidFill>
            </a:endParaRPr>
          </a:p>
          <a:p>
            <a:r>
              <a:rPr lang="en-US" b="1">
                <a:solidFill>
                  <a:srgbClr val="CC3300"/>
                </a:solidFill>
              </a:rPr>
              <a:t>        System.out.println(-20&gt;&gt;2);  </a:t>
            </a:r>
            <a:endParaRPr lang="en-US" b="1">
              <a:solidFill>
                <a:srgbClr val="CC3300"/>
              </a:solidFill>
            </a:endParaRPr>
          </a:p>
          <a:p>
            <a:r>
              <a:rPr lang="en-US" b="1">
                <a:solidFill>
                  <a:srgbClr val="CC3300"/>
                </a:solidFill>
              </a:rPr>
              <a:t>        System.out.println(-20&gt;&gt;&gt;2);  </a:t>
            </a:r>
            <a:endParaRPr lang="en-US" b="1">
              <a:solidFill>
                <a:srgbClr val="CC3300"/>
              </a:solidFill>
            </a:endParaRPr>
          </a:p>
          <a:p>
            <a:r>
              <a:rPr lang="en-US" b="1">
                <a:solidFill>
                  <a:srgbClr val="CC3300"/>
                </a:solidFill>
              </a:rPr>
              <a:t>    }}  </a:t>
            </a:r>
            <a:endParaRPr lang="en-US" b="1">
              <a:solidFill>
                <a:srgbClr val="CC3300"/>
              </a:solidFill>
            </a:endParaRPr>
          </a:p>
          <a:p>
            <a:endParaRPr lang="en-US" b="1">
              <a:solidFill>
                <a:srgbClr val="CC3300"/>
              </a:solidFill>
            </a:endParaRPr>
          </a:p>
          <a:p>
            <a:r>
              <a:rPr lang="en-US" b="1">
                <a:solidFill>
                  <a:srgbClr val="CC3300"/>
                </a:solidFill>
              </a:rPr>
              <a:t>output :</a:t>
            </a:r>
            <a:endParaRPr lang="en-US" b="1">
              <a:solidFill>
                <a:srgbClr val="CC3300"/>
              </a:solidFill>
            </a:endParaRPr>
          </a:p>
          <a:p>
            <a:r>
              <a:rPr lang="en-US" b="1">
                <a:solidFill>
                  <a:srgbClr val="CC3300"/>
                </a:solidFill>
              </a:rPr>
              <a:t>5      5     -5   1073741819</a:t>
            </a:r>
            <a:endParaRPr lang="en-US" b="1">
              <a:solidFill>
                <a:srgbClr val="CC33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 Logical &amp;&amp; and Bitwise &amp; Example</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153670" y="1270635"/>
            <a:ext cx="8030845" cy="5262245"/>
          </a:xfrm>
          <a:prstGeom prst="rect">
            <a:avLst/>
          </a:prstGeom>
          <a:noFill/>
        </p:spPr>
        <p:txBody>
          <a:bodyPr wrap="square" rtlCol="0" anchor="t">
            <a:spAutoFit/>
          </a:bodyPr>
          <a:p>
            <a:r>
              <a:rPr lang="en-US">
                <a:solidFill>
                  <a:srgbClr val="CC3300"/>
                </a:solidFill>
              </a:rPr>
              <a:t>The logical &amp;&amp; operator doesn't check second condition if first condition is false. It checks second condition only if first one is true.</a:t>
            </a:r>
            <a:endParaRPr lang="en-US">
              <a:solidFill>
                <a:srgbClr val="CC3300"/>
              </a:solidFill>
            </a:endParaRPr>
          </a:p>
          <a:p>
            <a:r>
              <a:rPr lang="en-US">
                <a:solidFill>
                  <a:srgbClr val="CC3300"/>
                </a:solidFill>
              </a:rPr>
              <a:t>The bitwise &amp; operator always checks both conditions whether first condition is true or false.</a:t>
            </a:r>
            <a:endParaRPr lang="en-US">
              <a:solidFill>
                <a:srgbClr val="CC3300"/>
              </a:solidFill>
            </a:endParaRPr>
          </a:p>
          <a:p>
            <a:endParaRPr lang="en-US">
              <a:solidFill>
                <a:srgbClr val="CC3300"/>
              </a:solidFill>
            </a:endParaRPr>
          </a:p>
          <a:p>
            <a:r>
              <a:rPr lang="en-US">
                <a:solidFill>
                  <a:srgbClr val="CC3300"/>
                </a:solidFill>
              </a:rPr>
              <a:t>    class OperatorExample{  </a:t>
            </a:r>
            <a:endParaRPr lang="en-US">
              <a:solidFill>
                <a:srgbClr val="CC3300"/>
              </a:solidFill>
            </a:endParaRPr>
          </a:p>
          <a:p>
            <a:r>
              <a:rPr lang="en-US">
                <a:solidFill>
                  <a:srgbClr val="CC3300"/>
                </a:solidFill>
              </a:rPr>
              <a:t>    public static void main(String args[]){  </a:t>
            </a:r>
            <a:endParaRPr lang="en-US">
              <a:solidFill>
                <a:srgbClr val="CC3300"/>
              </a:solidFill>
            </a:endParaRPr>
          </a:p>
          <a:p>
            <a:r>
              <a:rPr lang="en-US">
                <a:solidFill>
                  <a:srgbClr val="CC3300"/>
                </a:solidFill>
              </a:rPr>
              <a:t>    int a=10;  </a:t>
            </a:r>
            <a:endParaRPr lang="en-US">
              <a:solidFill>
                <a:srgbClr val="CC3300"/>
              </a:solidFill>
            </a:endParaRPr>
          </a:p>
          <a:p>
            <a:r>
              <a:rPr lang="en-US">
                <a:solidFill>
                  <a:srgbClr val="CC3300"/>
                </a:solidFill>
              </a:rPr>
              <a:t>    int b=5;  </a:t>
            </a:r>
            <a:endParaRPr lang="en-US">
              <a:solidFill>
                <a:srgbClr val="CC3300"/>
              </a:solidFill>
            </a:endParaRPr>
          </a:p>
          <a:p>
            <a:r>
              <a:rPr lang="en-US">
                <a:solidFill>
                  <a:srgbClr val="CC3300"/>
                </a:solidFill>
              </a:rPr>
              <a:t>    int c=20;  </a:t>
            </a:r>
            <a:endParaRPr lang="en-US">
              <a:solidFill>
                <a:srgbClr val="CC3300"/>
              </a:solidFill>
            </a:endParaRPr>
          </a:p>
          <a:p>
            <a:r>
              <a:rPr lang="en-US">
                <a:solidFill>
                  <a:srgbClr val="CC3300"/>
                </a:solidFill>
              </a:rPr>
              <a:t>    System.out.println(a&lt;b&amp;&amp;a&lt;c);//false &amp;&amp; true = false  </a:t>
            </a:r>
            <a:endParaRPr lang="en-US">
              <a:solidFill>
                <a:srgbClr val="CC3300"/>
              </a:solidFill>
            </a:endParaRPr>
          </a:p>
          <a:p>
            <a:r>
              <a:rPr lang="en-US">
                <a:solidFill>
                  <a:srgbClr val="CC3300"/>
                </a:solidFill>
              </a:rPr>
              <a:t>    System.out.println(a&lt;b&amp;a&lt;c);//false &amp; true = false  </a:t>
            </a:r>
            <a:endParaRPr lang="en-US">
              <a:solidFill>
                <a:srgbClr val="CC3300"/>
              </a:solidFill>
            </a:endParaRPr>
          </a:p>
          <a:p>
            <a:r>
              <a:rPr lang="en-US">
                <a:solidFill>
                  <a:srgbClr val="CC3300"/>
                </a:solidFill>
              </a:rPr>
              <a:t>    }}  </a:t>
            </a:r>
            <a:endParaRPr lang="en-US">
              <a:solidFill>
                <a:srgbClr val="CC33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 Logical &amp;&amp; and Bitwise &amp; Example</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153670" y="1270635"/>
            <a:ext cx="8030845" cy="4892675"/>
          </a:xfrm>
          <a:prstGeom prst="rect">
            <a:avLst/>
          </a:prstGeom>
          <a:noFill/>
        </p:spPr>
        <p:txBody>
          <a:bodyPr wrap="square" rtlCol="0" anchor="t">
            <a:spAutoFit/>
          </a:bodyPr>
          <a:p>
            <a:r>
              <a:rPr lang="en-US">
                <a:solidFill>
                  <a:srgbClr val="CC3300"/>
                </a:solidFill>
              </a:rPr>
              <a:t>    class OperatorExample{  </a:t>
            </a:r>
            <a:endParaRPr lang="en-US">
              <a:solidFill>
                <a:srgbClr val="CC3300"/>
              </a:solidFill>
            </a:endParaRPr>
          </a:p>
          <a:p>
            <a:r>
              <a:rPr lang="en-US">
                <a:solidFill>
                  <a:srgbClr val="CC3300"/>
                </a:solidFill>
              </a:rPr>
              <a:t>    public static void main(String args[]){  </a:t>
            </a:r>
            <a:endParaRPr lang="en-US">
              <a:solidFill>
                <a:srgbClr val="CC3300"/>
              </a:solidFill>
            </a:endParaRPr>
          </a:p>
          <a:p>
            <a:r>
              <a:rPr lang="en-US">
                <a:solidFill>
                  <a:srgbClr val="CC3300"/>
                </a:solidFill>
              </a:rPr>
              <a:t>    int a=10;  </a:t>
            </a:r>
            <a:endParaRPr lang="en-US">
              <a:solidFill>
                <a:srgbClr val="CC3300"/>
              </a:solidFill>
            </a:endParaRPr>
          </a:p>
          <a:p>
            <a:r>
              <a:rPr lang="en-US">
                <a:solidFill>
                  <a:srgbClr val="CC3300"/>
                </a:solidFill>
              </a:rPr>
              <a:t>    int b=5;  </a:t>
            </a:r>
            <a:endParaRPr lang="en-US">
              <a:solidFill>
                <a:srgbClr val="CC3300"/>
              </a:solidFill>
            </a:endParaRPr>
          </a:p>
          <a:p>
            <a:r>
              <a:rPr lang="en-US">
                <a:solidFill>
                  <a:srgbClr val="CC3300"/>
                </a:solidFill>
              </a:rPr>
              <a:t>    int c=20;  </a:t>
            </a:r>
            <a:endParaRPr lang="en-US">
              <a:solidFill>
                <a:srgbClr val="CC3300"/>
              </a:solidFill>
            </a:endParaRPr>
          </a:p>
          <a:p>
            <a:r>
              <a:rPr lang="en-US">
                <a:solidFill>
                  <a:srgbClr val="CC3300"/>
                </a:solidFill>
              </a:rPr>
              <a:t>    System.out.println(a&lt;b&amp;&amp;a++&lt;c);//false &amp;&amp; true = false  </a:t>
            </a:r>
            <a:endParaRPr lang="en-US">
              <a:solidFill>
                <a:srgbClr val="CC3300"/>
              </a:solidFill>
            </a:endParaRPr>
          </a:p>
          <a:p>
            <a:r>
              <a:rPr lang="en-US">
                <a:solidFill>
                  <a:srgbClr val="CC3300"/>
                </a:solidFill>
              </a:rPr>
              <a:t>    System.out.println(a);</a:t>
            </a:r>
            <a:endParaRPr lang="en-US">
              <a:solidFill>
                <a:srgbClr val="CC3300"/>
              </a:solidFill>
            </a:endParaRPr>
          </a:p>
          <a:p>
            <a:r>
              <a:rPr lang="en-US">
                <a:solidFill>
                  <a:srgbClr val="CC3300"/>
                </a:solidFill>
              </a:rPr>
              <a:t>    System.out.println(a&lt;b&amp;a++&lt;c);//false &amp; true = false  </a:t>
            </a:r>
            <a:endParaRPr lang="en-US">
              <a:solidFill>
                <a:srgbClr val="CC3300"/>
              </a:solidFill>
            </a:endParaRPr>
          </a:p>
          <a:p>
            <a:r>
              <a:rPr lang="en-US">
                <a:solidFill>
                  <a:srgbClr val="CC3300"/>
                </a:solidFill>
              </a:rPr>
              <a:t>    System.out.println(a);</a:t>
            </a:r>
            <a:endParaRPr lang="en-US">
              <a:solidFill>
                <a:srgbClr val="CC3300"/>
              </a:solidFill>
            </a:endParaRPr>
          </a:p>
          <a:p>
            <a:r>
              <a:rPr lang="en-US">
                <a:solidFill>
                  <a:srgbClr val="CC3300"/>
                </a:solidFill>
              </a:rPr>
              <a:t>    }}  </a:t>
            </a:r>
            <a:endParaRPr lang="en-US">
              <a:solidFill>
                <a:srgbClr val="CC3300"/>
              </a:solidFill>
            </a:endParaRPr>
          </a:p>
          <a:p>
            <a:endParaRPr lang="en-US">
              <a:solidFill>
                <a:srgbClr val="CC3300"/>
              </a:solidFill>
            </a:endParaRPr>
          </a:p>
          <a:p>
            <a:r>
              <a:rPr lang="en-US">
                <a:solidFill>
                  <a:srgbClr val="CC3300"/>
                </a:solidFill>
              </a:rPr>
              <a:t>output :</a:t>
            </a:r>
            <a:endParaRPr lang="en-US">
              <a:solidFill>
                <a:srgbClr val="CC3300"/>
              </a:solidFill>
            </a:endParaRPr>
          </a:p>
          <a:p>
            <a:r>
              <a:rPr lang="en-US">
                <a:solidFill>
                  <a:srgbClr val="CC3300"/>
                </a:solidFill>
              </a:rPr>
              <a:t>false  10  false 11</a:t>
            </a:r>
            <a:endParaRPr lang="en-US">
              <a:solidFill>
                <a:srgbClr val="CC33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Logical || and Bitwise | Example</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153670" y="1270635"/>
            <a:ext cx="8030845" cy="2306955"/>
          </a:xfrm>
          <a:prstGeom prst="rect">
            <a:avLst/>
          </a:prstGeom>
          <a:noFill/>
        </p:spPr>
        <p:txBody>
          <a:bodyPr wrap="square" rtlCol="0" anchor="t">
            <a:spAutoFit/>
          </a:bodyPr>
          <a:p>
            <a:r>
              <a:rPr lang="en-US">
                <a:solidFill>
                  <a:srgbClr val="CC3300"/>
                </a:solidFill>
              </a:rPr>
              <a:t>The logical || operator doesn't check second condition if first condition is true. It checks second condition only if first one is false.</a:t>
            </a:r>
            <a:endParaRPr lang="en-US">
              <a:solidFill>
                <a:srgbClr val="CC3300"/>
              </a:solidFill>
            </a:endParaRPr>
          </a:p>
          <a:p>
            <a:endParaRPr lang="en-US">
              <a:solidFill>
                <a:srgbClr val="CC3300"/>
              </a:solidFill>
            </a:endParaRPr>
          </a:p>
          <a:p>
            <a:r>
              <a:rPr lang="en-US">
                <a:solidFill>
                  <a:srgbClr val="CC3300"/>
                </a:solidFill>
              </a:rPr>
              <a:t>The bitwise | operator always checks both conditions whether first condition is true or false.</a:t>
            </a:r>
            <a:endParaRPr lang="en-US">
              <a:solidFill>
                <a:srgbClr val="CC33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Logical || and Bitwise | Example</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153670" y="1270635"/>
            <a:ext cx="8030845" cy="4892675"/>
          </a:xfrm>
          <a:prstGeom prst="rect">
            <a:avLst/>
          </a:prstGeom>
          <a:noFill/>
        </p:spPr>
        <p:txBody>
          <a:bodyPr wrap="square" rtlCol="0" anchor="t">
            <a:spAutoFit/>
          </a:bodyPr>
          <a:p>
            <a:r>
              <a:rPr lang="en-US">
                <a:solidFill>
                  <a:srgbClr val="CC3300"/>
                </a:solidFill>
              </a:rPr>
              <a:t>    class OperatorExample{  </a:t>
            </a:r>
            <a:endParaRPr lang="en-US">
              <a:solidFill>
                <a:srgbClr val="CC3300"/>
              </a:solidFill>
            </a:endParaRPr>
          </a:p>
          <a:p>
            <a:r>
              <a:rPr lang="en-US">
                <a:solidFill>
                  <a:srgbClr val="CC3300"/>
                </a:solidFill>
              </a:rPr>
              <a:t>    public static void main(String args[]){  </a:t>
            </a:r>
            <a:endParaRPr lang="en-US">
              <a:solidFill>
                <a:srgbClr val="CC3300"/>
              </a:solidFill>
            </a:endParaRPr>
          </a:p>
          <a:p>
            <a:r>
              <a:rPr lang="en-US">
                <a:solidFill>
                  <a:srgbClr val="CC3300"/>
                </a:solidFill>
              </a:rPr>
              <a:t>    int a=10;  </a:t>
            </a:r>
            <a:endParaRPr lang="en-US">
              <a:solidFill>
                <a:srgbClr val="CC3300"/>
              </a:solidFill>
            </a:endParaRPr>
          </a:p>
          <a:p>
            <a:r>
              <a:rPr lang="en-US">
                <a:solidFill>
                  <a:srgbClr val="CC3300"/>
                </a:solidFill>
              </a:rPr>
              <a:t>    int b=5;  </a:t>
            </a:r>
            <a:endParaRPr lang="en-US">
              <a:solidFill>
                <a:srgbClr val="CC3300"/>
              </a:solidFill>
            </a:endParaRPr>
          </a:p>
          <a:p>
            <a:r>
              <a:rPr lang="en-US">
                <a:solidFill>
                  <a:srgbClr val="CC3300"/>
                </a:solidFill>
              </a:rPr>
              <a:t>    int c=20;  </a:t>
            </a:r>
            <a:endParaRPr lang="en-US">
              <a:solidFill>
                <a:srgbClr val="CC3300"/>
              </a:solidFill>
            </a:endParaRPr>
          </a:p>
          <a:p>
            <a:r>
              <a:rPr lang="en-US">
                <a:solidFill>
                  <a:srgbClr val="CC3300"/>
                </a:solidFill>
              </a:rPr>
              <a:t>    System.out.println(a&gt;b||a&lt;c);//true || true = true  </a:t>
            </a:r>
            <a:endParaRPr lang="en-US">
              <a:solidFill>
                <a:srgbClr val="CC3300"/>
              </a:solidFill>
            </a:endParaRPr>
          </a:p>
          <a:p>
            <a:r>
              <a:rPr lang="en-US">
                <a:solidFill>
                  <a:srgbClr val="CC3300"/>
                </a:solidFill>
              </a:rPr>
              <a:t>    System.out.println(a&gt;b|a&lt;c);//true | true = true  </a:t>
            </a:r>
            <a:endParaRPr lang="en-US">
              <a:solidFill>
                <a:srgbClr val="CC3300"/>
              </a:solidFill>
            </a:endParaRPr>
          </a:p>
          <a:p>
            <a:r>
              <a:rPr lang="en-US">
                <a:solidFill>
                  <a:srgbClr val="CC3300"/>
                </a:solidFill>
              </a:rPr>
              <a:t>    //|| vs |  </a:t>
            </a:r>
            <a:endParaRPr lang="en-US">
              <a:solidFill>
                <a:srgbClr val="CC3300"/>
              </a:solidFill>
            </a:endParaRPr>
          </a:p>
          <a:p>
            <a:r>
              <a:rPr lang="en-US">
                <a:solidFill>
                  <a:srgbClr val="CC3300"/>
                </a:solidFill>
              </a:rPr>
              <a:t>    System.out.println(a&gt;b||a++&lt;c);//true || true = true  </a:t>
            </a:r>
            <a:endParaRPr lang="en-US">
              <a:solidFill>
                <a:srgbClr val="CC3300"/>
              </a:solidFill>
            </a:endParaRPr>
          </a:p>
          <a:p>
            <a:r>
              <a:rPr lang="en-US">
                <a:solidFill>
                  <a:srgbClr val="CC3300"/>
                </a:solidFill>
              </a:rPr>
              <a:t>    System.out.println(a);</a:t>
            </a:r>
            <a:endParaRPr lang="en-US">
              <a:solidFill>
                <a:srgbClr val="CC3300"/>
              </a:solidFill>
            </a:endParaRPr>
          </a:p>
          <a:p>
            <a:r>
              <a:rPr lang="en-US">
                <a:solidFill>
                  <a:srgbClr val="CC3300"/>
                </a:solidFill>
              </a:rPr>
              <a:t>    System.out.println(a&gt;b|a++&lt;c);//true | true = true  </a:t>
            </a:r>
            <a:endParaRPr lang="en-US">
              <a:solidFill>
                <a:srgbClr val="CC3300"/>
              </a:solidFill>
            </a:endParaRPr>
          </a:p>
          <a:p>
            <a:r>
              <a:rPr lang="en-US">
                <a:solidFill>
                  <a:srgbClr val="CC3300"/>
                </a:solidFill>
              </a:rPr>
              <a:t>    System.out.println(a);</a:t>
            </a:r>
            <a:endParaRPr lang="en-US">
              <a:solidFill>
                <a:srgbClr val="CC3300"/>
              </a:solidFill>
            </a:endParaRPr>
          </a:p>
          <a:p>
            <a:r>
              <a:rPr lang="en-US">
                <a:solidFill>
                  <a:srgbClr val="CC3300"/>
                </a:solidFill>
              </a:rPr>
              <a:t>    }}  </a:t>
            </a:r>
            <a:endParaRPr lang="en-US">
              <a:solidFill>
                <a:srgbClr val="CC33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Ternary Operator Example</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153670" y="1270635"/>
            <a:ext cx="8484235" cy="4523105"/>
          </a:xfrm>
          <a:prstGeom prst="rect">
            <a:avLst/>
          </a:prstGeom>
          <a:noFill/>
        </p:spPr>
        <p:txBody>
          <a:bodyPr wrap="square" rtlCol="0" anchor="t">
            <a:spAutoFit/>
          </a:bodyPr>
          <a:p>
            <a:r>
              <a:rPr lang="en-US" b="1">
                <a:solidFill>
                  <a:schemeClr val="tx1"/>
                </a:solidFill>
              </a:rPr>
              <a:t>Java Ternary operator is used as one liner replacement for if-then-else statement and used a lot in java programming. it is the only conditional operator which takes three operands.</a:t>
            </a:r>
            <a:endParaRPr lang="en-US" b="1">
              <a:solidFill>
                <a:schemeClr val="tx1"/>
              </a:solidFill>
            </a:endParaRPr>
          </a:p>
          <a:p>
            <a:endParaRPr lang="en-US" b="1">
              <a:solidFill>
                <a:schemeClr val="tx1"/>
              </a:solidFill>
            </a:endParaRPr>
          </a:p>
          <a:p>
            <a:r>
              <a:rPr lang="en-US" b="1">
                <a:solidFill>
                  <a:schemeClr val="tx1"/>
                </a:solidFill>
              </a:rPr>
              <a:t>    </a:t>
            </a:r>
            <a:r>
              <a:rPr lang="en-US" b="1">
                <a:solidFill>
                  <a:srgbClr val="993300"/>
                </a:solidFill>
              </a:rPr>
              <a:t>class OperatorExample{  </a:t>
            </a:r>
            <a:endParaRPr lang="en-US" b="1">
              <a:solidFill>
                <a:srgbClr val="993300"/>
              </a:solidFill>
            </a:endParaRPr>
          </a:p>
          <a:p>
            <a:r>
              <a:rPr lang="en-US" b="1">
                <a:solidFill>
                  <a:srgbClr val="993300"/>
                </a:solidFill>
              </a:rPr>
              <a:t>    public static void main(String args[]){  </a:t>
            </a:r>
            <a:endParaRPr lang="en-US" b="1">
              <a:solidFill>
                <a:srgbClr val="993300"/>
              </a:solidFill>
            </a:endParaRPr>
          </a:p>
          <a:p>
            <a:r>
              <a:rPr lang="en-US" b="1">
                <a:solidFill>
                  <a:srgbClr val="993300"/>
                </a:solidFill>
              </a:rPr>
              <a:t>    int a=2;  </a:t>
            </a:r>
            <a:endParaRPr lang="en-US" b="1">
              <a:solidFill>
                <a:srgbClr val="993300"/>
              </a:solidFill>
            </a:endParaRPr>
          </a:p>
          <a:p>
            <a:r>
              <a:rPr lang="en-US" b="1">
                <a:solidFill>
                  <a:srgbClr val="993300"/>
                </a:solidFill>
              </a:rPr>
              <a:t>    int b=5;  </a:t>
            </a:r>
            <a:endParaRPr lang="en-US" b="1">
              <a:solidFill>
                <a:srgbClr val="993300"/>
              </a:solidFill>
            </a:endParaRPr>
          </a:p>
          <a:p>
            <a:r>
              <a:rPr lang="en-US" b="1">
                <a:solidFill>
                  <a:srgbClr val="993300"/>
                </a:solidFill>
              </a:rPr>
              <a:t>    int min=(a&lt;b)?a:b;  </a:t>
            </a:r>
            <a:endParaRPr lang="en-US" b="1">
              <a:solidFill>
                <a:srgbClr val="993300"/>
              </a:solidFill>
            </a:endParaRPr>
          </a:p>
          <a:p>
            <a:r>
              <a:rPr lang="en-US" b="1">
                <a:solidFill>
                  <a:srgbClr val="993300"/>
                </a:solidFill>
              </a:rPr>
              <a:t>    System.out.println(min);  </a:t>
            </a:r>
            <a:endParaRPr lang="en-US" b="1">
              <a:solidFill>
                <a:srgbClr val="993300"/>
              </a:solidFill>
            </a:endParaRPr>
          </a:p>
          <a:p>
            <a:r>
              <a:rPr lang="en-US" b="1">
                <a:solidFill>
                  <a:srgbClr val="993300"/>
                </a:solidFill>
              </a:rPr>
              <a:t>    }}  </a:t>
            </a:r>
            <a:endParaRPr lang="en-US" b="1">
              <a:solidFill>
                <a:srgbClr val="9933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Operator Precedence</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153670" y="1270635"/>
            <a:ext cx="8484235" cy="829945"/>
          </a:xfrm>
          <a:prstGeom prst="rect">
            <a:avLst/>
          </a:prstGeom>
          <a:noFill/>
        </p:spPr>
        <p:txBody>
          <a:bodyPr wrap="square" rtlCol="0" anchor="t">
            <a:spAutoFit/>
          </a:bodyPr>
          <a:p>
            <a:pPr marL="49530" marR="236220">
              <a:lnSpc>
                <a:spcPct val="100000"/>
              </a:lnSpc>
              <a:spcBef>
                <a:spcPts val="195"/>
              </a:spcBef>
            </a:pPr>
            <a:r>
              <a:rPr spc="-5" dirty="0">
                <a:latin typeface="Arial" panose="020B0604020202020204"/>
                <a:cs typeface="Arial" panose="020B0604020202020204"/>
                <a:sym typeface="+mn-ea"/>
              </a:rPr>
              <a:t>When operators </a:t>
            </a:r>
            <a:r>
              <a:rPr spc="-15" dirty="0">
                <a:latin typeface="Arial" panose="020B0604020202020204"/>
                <a:cs typeface="Arial" panose="020B0604020202020204"/>
                <a:sym typeface="+mn-ea"/>
              </a:rPr>
              <a:t>have </a:t>
            </a:r>
            <a:r>
              <a:rPr spc="-5" dirty="0">
                <a:latin typeface="Arial" panose="020B0604020202020204"/>
                <a:cs typeface="Arial" panose="020B0604020202020204"/>
                <a:sym typeface="+mn-ea"/>
              </a:rPr>
              <a:t>the same precedence, the earlier one  binds</a:t>
            </a:r>
            <a:r>
              <a:rPr spc="-10" dirty="0">
                <a:latin typeface="Arial" panose="020B0604020202020204"/>
                <a:cs typeface="Arial" panose="020B0604020202020204"/>
                <a:sym typeface="+mn-ea"/>
              </a:rPr>
              <a:t> </a:t>
            </a:r>
            <a:r>
              <a:rPr spc="-5" dirty="0">
                <a:latin typeface="Arial" panose="020B0604020202020204"/>
                <a:cs typeface="Arial" panose="020B0604020202020204"/>
                <a:sym typeface="+mn-ea"/>
              </a:rPr>
              <a:t>stronger</a:t>
            </a:r>
            <a:endParaRPr lang="en-US" b="1">
              <a:solidFill>
                <a:srgbClr val="993300"/>
              </a:solidFill>
            </a:endParaRPr>
          </a:p>
        </p:txBody>
      </p:sp>
      <p:sp>
        <p:nvSpPr>
          <p:cNvPr id="10" name="object 10"/>
          <p:cNvSpPr/>
          <p:nvPr/>
        </p:nvSpPr>
        <p:spPr>
          <a:xfrm>
            <a:off x="1891030" y="2329180"/>
            <a:ext cx="4382135" cy="4156710"/>
          </a:xfrm>
          <a:prstGeom prst="rect">
            <a:avLst/>
          </a:prstGeom>
          <a:blipFill>
            <a:blip r:embed="rId1" cstate="print"/>
            <a:stretch>
              <a:fillRect/>
            </a:stretch>
          </a:blipFill>
        </p:spPr>
        <p:txBody>
          <a:bodyPr wrap="square" lIns="0" tIns="0" rIns="0" bIns="0" rtlCol="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Selection Statements</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153670" y="1270635"/>
            <a:ext cx="8484235" cy="460375"/>
          </a:xfrm>
          <a:prstGeom prst="rect">
            <a:avLst/>
          </a:prstGeom>
          <a:noFill/>
        </p:spPr>
        <p:txBody>
          <a:bodyPr wrap="square" rtlCol="0" anchor="t">
            <a:spAutoFit/>
          </a:bodyPr>
          <a:p>
            <a:pPr marL="133985" indent="-121285">
              <a:lnSpc>
                <a:spcPct val="100000"/>
              </a:lnSpc>
              <a:spcBef>
                <a:spcPts val="95"/>
              </a:spcBef>
              <a:buClr>
                <a:srgbClr val="0000FF"/>
              </a:buClr>
              <a:buSzPct val="90000"/>
              <a:buFont typeface="Lucida Sans Unicode" panose="020B0602030504020204"/>
              <a:buChar char="•"/>
              <a:tabLst>
                <a:tab pos="134620" algn="l"/>
              </a:tabLst>
            </a:pPr>
            <a:r>
              <a:rPr spc="-5" dirty="0">
                <a:solidFill>
                  <a:srgbClr val="FF0000"/>
                </a:solidFill>
                <a:latin typeface="Arial" panose="020B0604020202020204"/>
                <a:cs typeface="Arial" panose="020B0604020202020204"/>
                <a:sym typeface="+mn-ea"/>
              </a:rPr>
              <a:t>if-else</a:t>
            </a:r>
            <a:r>
              <a:rPr spc="-40" dirty="0">
                <a:solidFill>
                  <a:srgbClr val="FF0000"/>
                </a:solidFill>
                <a:latin typeface="Arial" panose="020B0604020202020204"/>
                <a:cs typeface="Arial" panose="020B0604020202020204"/>
                <a:sym typeface="+mn-ea"/>
              </a:rPr>
              <a:t> </a:t>
            </a:r>
            <a:r>
              <a:rPr spc="-5" dirty="0">
                <a:solidFill>
                  <a:srgbClr val="FF0000"/>
                </a:solidFill>
                <a:latin typeface="Arial" panose="020B0604020202020204"/>
                <a:cs typeface="Arial" panose="020B0604020202020204"/>
                <a:sym typeface="+mn-ea"/>
              </a:rPr>
              <a:t>statement</a:t>
            </a:r>
            <a:endParaRPr lang="en-US" b="1">
              <a:solidFill>
                <a:srgbClr val="993300"/>
              </a:solidFill>
            </a:endParaRPr>
          </a:p>
        </p:txBody>
      </p:sp>
      <p:sp>
        <p:nvSpPr>
          <p:cNvPr id="12" name="object 12"/>
          <p:cNvSpPr/>
          <p:nvPr/>
        </p:nvSpPr>
        <p:spPr>
          <a:xfrm>
            <a:off x="2841625" y="1952625"/>
            <a:ext cx="3642995" cy="1510665"/>
          </a:xfrm>
          <a:prstGeom prst="rect">
            <a:avLst/>
          </a:prstGeom>
          <a:blipFill>
            <a:blip r:embed="rId1" cstate="print"/>
            <a:stretch>
              <a:fillRect/>
            </a:stretch>
          </a:blipFill>
        </p:spPr>
        <p:txBody>
          <a:bodyPr wrap="square" lIns="0" tIns="0" rIns="0" bIns="0" rtlCol="0"/>
          <a:p/>
        </p:txBody>
      </p:sp>
      <p:sp>
        <p:nvSpPr>
          <p:cNvPr id="14" name="object 14"/>
          <p:cNvSpPr/>
          <p:nvPr/>
        </p:nvSpPr>
        <p:spPr>
          <a:xfrm>
            <a:off x="2842260" y="4735830"/>
            <a:ext cx="3642360" cy="1517650"/>
          </a:xfrm>
          <a:prstGeom prst="rect">
            <a:avLst/>
          </a:prstGeom>
          <a:blipFill>
            <a:blip r:embed="rId2" cstate="print"/>
            <a:stretch>
              <a:fillRect/>
            </a:stretch>
          </a:blipFill>
        </p:spPr>
        <p:txBody>
          <a:bodyPr wrap="square" lIns="0" tIns="0" rIns="0" bIns="0" rtlCol="0"/>
          <a:p/>
        </p:txBody>
      </p:sp>
      <p:sp>
        <p:nvSpPr>
          <p:cNvPr id="2" name="Text Box 1"/>
          <p:cNvSpPr txBox="1"/>
          <p:nvPr/>
        </p:nvSpPr>
        <p:spPr>
          <a:xfrm>
            <a:off x="304800" y="4145280"/>
            <a:ext cx="2842260" cy="460375"/>
          </a:xfrm>
          <a:prstGeom prst="rect">
            <a:avLst/>
          </a:prstGeom>
          <a:noFill/>
        </p:spPr>
        <p:txBody>
          <a:bodyPr wrap="none" rtlCol="0" anchor="t">
            <a:spAutoFit/>
          </a:bodyPr>
          <a:p>
            <a:pPr marL="133985" indent="-121285">
              <a:lnSpc>
                <a:spcPct val="100000"/>
              </a:lnSpc>
              <a:spcBef>
                <a:spcPts val="95"/>
              </a:spcBef>
              <a:buClr>
                <a:srgbClr val="0000FF"/>
              </a:buClr>
              <a:buSzPct val="90000"/>
              <a:buFont typeface="Lucida Sans Unicode" panose="020B0602030504020204"/>
              <a:buChar char="•"/>
              <a:tabLst>
                <a:tab pos="134620" algn="l"/>
              </a:tabLst>
            </a:pPr>
            <a:r>
              <a:rPr spc="-5" dirty="0">
                <a:solidFill>
                  <a:srgbClr val="FF0000"/>
                </a:solidFill>
                <a:latin typeface="Arial" panose="020B0604020202020204"/>
                <a:cs typeface="Arial" panose="020B0604020202020204"/>
                <a:sym typeface="+mn-ea"/>
              </a:rPr>
              <a:t>if-else-if</a:t>
            </a:r>
            <a:r>
              <a:rPr spc="-30" dirty="0">
                <a:solidFill>
                  <a:srgbClr val="FF0000"/>
                </a:solidFill>
                <a:latin typeface="Arial" panose="020B0604020202020204"/>
                <a:cs typeface="Arial" panose="020B0604020202020204"/>
                <a:sym typeface="+mn-ea"/>
              </a:rPr>
              <a:t> </a:t>
            </a:r>
            <a:r>
              <a:rPr spc="-5" dirty="0">
                <a:solidFill>
                  <a:srgbClr val="FF0000"/>
                </a:solidFill>
                <a:latin typeface="Arial" panose="020B0604020202020204"/>
                <a:cs typeface="Arial" panose="020B0604020202020204"/>
                <a:sym typeface="+mn-ea"/>
              </a:rPr>
              <a:t>statement</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Switch Statement</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153670" y="1270635"/>
            <a:ext cx="8484235" cy="1580515"/>
          </a:xfrm>
          <a:prstGeom prst="rect">
            <a:avLst/>
          </a:prstGeom>
          <a:noFill/>
        </p:spPr>
        <p:txBody>
          <a:bodyPr wrap="square" rtlCol="0" anchor="t">
            <a:spAutoFit/>
          </a:bodyPr>
          <a:p>
            <a:pPr marL="133985" indent="-121285">
              <a:lnSpc>
                <a:spcPct val="100000"/>
              </a:lnSpc>
              <a:spcBef>
                <a:spcPts val="95"/>
              </a:spcBef>
              <a:buClr>
                <a:srgbClr val="0000FF"/>
              </a:buClr>
              <a:buSzPct val="90000"/>
              <a:buFont typeface="Lucida Sans Unicode" panose="020B0602030504020204"/>
              <a:buChar char="•"/>
              <a:tabLst>
                <a:tab pos="134620" algn="l"/>
              </a:tabLst>
            </a:pPr>
            <a:r>
              <a:rPr spc="-10" dirty="0">
                <a:solidFill>
                  <a:schemeClr val="tx1"/>
                </a:solidFill>
                <a:latin typeface="Arial" panose="020B0604020202020204"/>
                <a:cs typeface="Arial" panose="020B0604020202020204"/>
                <a:sym typeface="+mn-ea"/>
              </a:rPr>
              <a:t>switch</a:t>
            </a:r>
            <a:r>
              <a:rPr spc="-10" dirty="0">
                <a:solidFill>
                  <a:srgbClr val="FF0000"/>
                </a:solidFill>
                <a:latin typeface="Arial" panose="020B0604020202020204"/>
                <a:cs typeface="Arial" panose="020B0604020202020204"/>
                <a:sym typeface="+mn-ea"/>
              </a:rPr>
              <a:t> </a:t>
            </a:r>
            <a:r>
              <a:rPr spc="-5" dirty="0">
                <a:latin typeface="Arial" panose="020B0604020202020204"/>
                <a:cs typeface="Arial" panose="020B0604020202020204"/>
                <a:sym typeface="+mn-ea"/>
              </a:rPr>
              <a:t>provides a better alternative than if-else-if when</a:t>
            </a:r>
            <a:r>
              <a:rPr spc="45" dirty="0">
                <a:latin typeface="Arial" panose="020B0604020202020204"/>
                <a:cs typeface="Arial" panose="020B0604020202020204"/>
                <a:sym typeface="+mn-ea"/>
              </a:rPr>
              <a:t> </a:t>
            </a:r>
            <a:r>
              <a:rPr spc="-5" dirty="0">
                <a:latin typeface="Arial" panose="020B0604020202020204"/>
                <a:cs typeface="Arial" panose="020B0604020202020204"/>
                <a:sym typeface="+mn-ea"/>
              </a:rPr>
              <a:t>the </a:t>
            </a:r>
            <a:r>
              <a:rPr spc="-10" dirty="0">
                <a:latin typeface="Arial" panose="020B0604020202020204"/>
                <a:cs typeface="Arial" panose="020B0604020202020204"/>
                <a:sym typeface="+mn-ea"/>
              </a:rPr>
              <a:t>execution follows </a:t>
            </a:r>
            <a:r>
              <a:rPr spc="-15" dirty="0">
                <a:latin typeface="Arial" panose="020B0604020202020204"/>
                <a:cs typeface="Arial" panose="020B0604020202020204"/>
                <a:sym typeface="+mn-ea"/>
              </a:rPr>
              <a:t>several </a:t>
            </a:r>
            <a:r>
              <a:rPr spc="-5" dirty="0">
                <a:latin typeface="Arial" panose="020B0604020202020204"/>
                <a:cs typeface="Arial" panose="020B0604020202020204"/>
                <a:sym typeface="+mn-ea"/>
              </a:rPr>
              <a:t>branches depending on the  </a:t>
            </a:r>
            <a:r>
              <a:rPr spc="-10" dirty="0">
                <a:latin typeface="Arial" panose="020B0604020202020204"/>
                <a:cs typeface="Arial" panose="020B0604020202020204"/>
                <a:sym typeface="+mn-ea"/>
              </a:rPr>
              <a:t>value </a:t>
            </a:r>
            <a:r>
              <a:rPr spc="-5" dirty="0">
                <a:latin typeface="Arial" panose="020B0604020202020204"/>
                <a:cs typeface="Arial" panose="020B0604020202020204"/>
                <a:sym typeface="+mn-ea"/>
              </a:rPr>
              <a:t>of an expression</a:t>
            </a:r>
            <a:endParaRPr>
              <a:latin typeface="Arial" panose="020B0604020202020204"/>
              <a:cs typeface="Arial" panose="020B0604020202020204"/>
            </a:endParaRPr>
          </a:p>
          <a:p>
            <a:pPr marL="133985" indent="-121285">
              <a:lnSpc>
                <a:spcPct val="100000"/>
              </a:lnSpc>
              <a:spcBef>
                <a:spcPts val="95"/>
              </a:spcBef>
              <a:buClr>
                <a:srgbClr val="0000FF"/>
              </a:buClr>
              <a:buSzPct val="90000"/>
              <a:buFont typeface="Lucida Sans Unicode" panose="020B0602030504020204"/>
              <a:buChar char="•"/>
              <a:tabLst>
                <a:tab pos="134620" algn="l"/>
              </a:tabLst>
            </a:pPr>
            <a:endParaRPr lang="en-US" b="1">
              <a:solidFill>
                <a:srgbClr val="993300"/>
              </a:solidFill>
            </a:endParaRPr>
          </a:p>
        </p:txBody>
      </p:sp>
      <p:sp>
        <p:nvSpPr>
          <p:cNvPr id="13" name="object 13"/>
          <p:cNvSpPr/>
          <p:nvPr/>
        </p:nvSpPr>
        <p:spPr>
          <a:xfrm>
            <a:off x="2144395" y="3027045"/>
            <a:ext cx="4098925" cy="2703830"/>
          </a:xfrm>
          <a:prstGeom prst="rect">
            <a:avLst/>
          </a:prstGeom>
          <a:blipFill>
            <a:blip r:embed="rId1" cstate="print"/>
            <a:stretch>
              <a:fillRect/>
            </a:stretch>
          </a:blipFill>
        </p:spPr>
        <p:txBody>
          <a:bodyPr wrap="square" lIns="0" tIns="0" rIns="0" bIns="0" rtlCol="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Switch Statement</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153670" y="1270635"/>
            <a:ext cx="8484235" cy="4632960"/>
          </a:xfrm>
          <a:prstGeom prst="rect">
            <a:avLst/>
          </a:prstGeom>
          <a:noFill/>
        </p:spPr>
        <p:txBody>
          <a:bodyPr wrap="square" rtlCol="0" anchor="t">
            <a:spAutoFit/>
          </a:bodyPr>
          <a:p>
            <a:pPr marL="133985" indent="-121285">
              <a:lnSpc>
                <a:spcPct val="100000"/>
              </a:lnSpc>
              <a:spcBef>
                <a:spcPts val="95"/>
              </a:spcBef>
              <a:buClr>
                <a:srgbClr val="0000FF"/>
              </a:buClr>
              <a:buSzPct val="90000"/>
              <a:buFont typeface="Lucida Sans Unicode" panose="020B0602030504020204"/>
              <a:buChar char="•"/>
              <a:tabLst>
                <a:tab pos="134620" algn="l"/>
              </a:tabLst>
            </a:pPr>
            <a:r>
              <a:rPr i="1" spc="-5" dirty="0">
                <a:latin typeface="Arial" panose="020B0604020202020204"/>
                <a:cs typeface="Arial" panose="020B0604020202020204"/>
                <a:sym typeface="+mn-ea"/>
              </a:rPr>
              <a:t>Expression must be of type </a:t>
            </a:r>
            <a:r>
              <a:rPr i="1" spc="-10" dirty="0">
                <a:latin typeface="Arial" panose="020B0604020202020204"/>
                <a:cs typeface="Arial" panose="020B0604020202020204"/>
                <a:sym typeface="+mn-ea"/>
              </a:rPr>
              <a:t>byte, </a:t>
            </a:r>
            <a:r>
              <a:rPr i="1" dirty="0">
                <a:latin typeface="Arial" panose="020B0604020202020204"/>
                <a:cs typeface="Arial" panose="020B0604020202020204"/>
                <a:sym typeface="+mn-ea"/>
              </a:rPr>
              <a:t>short, </a:t>
            </a:r>
            <a:r>
              <a:rPr i="1" spc="-5" dirty="0">
                <a:latin typeface="Arial" panose="020B0604020202020204"/>
                <a:cs typeface="Arial" panose="020B0604020202020204"/>
                <a:sym typeface="+mn-ea"/>
              </a:rPr>
              <a:t>int or</a:t>
            </a:r>
            <a:r>
              <a:rPr i="1" spc="10" dirty="0">
                <a:latin typeface="Arial" panose="020B0604020202020204"/>
                <a:cs typeface="Arial" panose="020B0604020202020204"/>
                <a:sym typeface="+mn-ea"/>
              </a:rPr>
              <a:t> </a:t>
            </a:r>
            <a:r>
              <a:rPr i="1" spc="-5" dirty="0">
                <a:latin typeface="Arial" panose="020B0604020202020204"/>
                <a:cs typeface="Arial" panose="020B0604020202020204"/>
                <a:sym typeface="+mn-ea"/>
              </a:rPr>
              <a:t>char</a:t>
            </a:r>
            <a:endParaRPr i="1" spc="-5" dirty="0">
              <a:latin typeface="Arial" panose="020B0604020202020204"/>
              <a:cs typeface="Arial" panose="020B0604020202020204"/>
              <a:sym typeface="+mn-ea"/>
            </a:endParaRPr>
          </a:p>
          <a:p>
            <a:pPr marL="12700">
              <a:lnSpc>
                <a:spcPct val="100000"/>
              </a:lnSpc>
              <a:spcBef>
                <a:spcPts val="95"/>
              </a:spcBef>
              <a:buClr>
                <a:srgbClr val="0000FF"/>
              </a:buClr>
              <a:buSzPct val="90000"/>
              <a:buFont typeface="Lucida Sans Unicode" panose="020B0602030504020204"/>
              <a:tabLst>
                <a:tab pos="134620" algn="l"/>
              </a:tabLst>
            </a:pPr>
            <a:endParaRPr i="1" spc="-5" dirty="0">
              <a:latin typeface="Arial" panose="020B0604020202020204"/>
              <a:cs typeface="Arial" panose="020B0604020202020204"/>
              <a:sym typeface="+mn-ea"/>
            </a:endParaRPr>
          </a:p>
          <a:p>
            <a:pPr marL="133985" indent="-121285">
              <a:lnSpc>
                <a:spcPct val="100000"/>
              </a:lnSpc>
              <a:spcBef>
                <a:spcPts val="95"/>
              </a:spcBef>
              <a:buClr>
                <a:srgbClr val="0000FF"/>
              </a:buClr>
              <a:buSzPct val="90000"/>
              <a:buFont typeface="Lucida Sans Unicode" panose="020B0602030504020204"/>
              <a:buChar char="•"/>
              <a:tabLst>
                <a:tab pos="134620" algn="l"/>
              </a:tabLst>
            </a:pPr>
            <a:r>
              <a:rPr i="1" spc="-5" dirty="0">
                <a:latin typeface="Arial" panose="020B0604020202020204"/>
                <a:cs typeface="Arial" panose="020B0604020202020204"/>
                <a:sym typeface="+mn-ea"/>
              </a:rPr>
              <a:t>Each of the case </a:t>
            </a:r>
            <a:r>
              <a:rPr i="1" spc="-10" dirty="0">
                <a:latin typeface="Arial" panose="020B0604020202020204"/>
                <a:cs typeface="Arial" panose="020B0604020202020204"/>
                <a:sym typeface="+mn-ea"/>
              </a:rPr>
              <a:t>values </a:t>
            </a:r>
            <a:r>
              <a:rPr i="1" spc="-5" dirty="0">
                <a:latin typeface="Arial" panose="020B0604020202020204"/>
                <a:cs typeface="Arial" panose="020B0604020202020204"/>
                <a:sym typeface="+mn-ea"/>
              </a:rPr>
              <a:t>must be a literal of the</a:t>
            </a:r>
            <a:r>
              <a:rPr i="1" spc="15" dirty="0">
                <a:latin typeface="Arial" panose="020B0604020202020204"/>
                <a:cs typeface="Arial" panose="020B0604020202020204"/>
                <a:sym typeface="+mn-ea"/>
              </a:rPr>
              <a:t> </a:t>
            </a:r>
            <a:r>
              <a:rPr i="1" spc="-5" dirty="0">
                <a:latin typeface="Arial" panose="020B0604020202020204"/>
                <a:cs typeface="Arial" panose="020B0604020202020204"/>
                <a:sym typeface="+mn-ea"/>
              </a:rPr>
              <a:t>compatible </a:t>
            </a:r>
            <a:r>
              <a:rPr lang="en-US" i="1" spc="-5" dirty="0">
                <a:latin typeface="Arial" panose="020B0604020202020204"/>
                <a:cs typeface="Arial" panose="020B0604020202020204"/>
                <a:sym typeface="+mn-ea"/>
              </a:rPr>
              <a:t>type</a:t>
            </a:r>
            <a:endParaRPr lang="en-US" i="1" spc="-5" dirty="0">
              <a:latin typeface="Arial" panose="020B0604020202020204"/>
              <a:cs typeface="Arial" panose="020B0604020202020204"/>
              <a:sym typeface="+mn-ea"/>
            </a:endParaRPr>
          </a:p>
          <a:p>
            <a:pPr marL="12700">
              <a:lnSpc>
                <a:spcPct val="100000"/>
              </a:lnSpc>
              <a:spcBef>
                <a:spcPts val="95"/>
              </a:spcBef>
              <a:buClr>
                <a:srgbClr val="0000FF"/>
              </a:buClr>
              <a:buSzPct val="90000"/>
              <a:buFont typeface="Lucida Sans Unicode" panose="020B0602030504020204"/>
              <a:tabLst>
                <a:tab pos="134620" algn="l"/>
              </a:tabLst>
            </a:pPr>
            <a:endParaRPr lang="en-US" i="1" spc="-5" dirty="0">
              <a:latin typeface="Arial" panose="020B0604020202020204"/>
              <a:cs typeface="Arial" panose="020B0604020202020204"/>
              <a:sym typeface="+mn-ea"/>
            </a:endParaRPr>
          </a:p>
          <a:p>
            <a:pPr marL="133985" indent="-121285">
              <a:lnSpc>
                <a:spcPct val="100000"/>
              </a:lnSpc>
              <a:spcBef>
                <a:spcPts val="95"/>
              </a:spcBef>
              <a:buClr>
                <a:srgbClr val="0000FF"/>
              </a:buClr>
              <a:buSzPct val="90000"/>
              <a:buFont typeface="Lucida Sans Unicode" panose="020B0602030504020204"/>
              <a:buChar char="•"/>
              <a:tabLst>
                <a:tab pos="134620" algn="l"/>
              </a:tabLst>
            </a:pPr>
            <a:r>
              <a:rPr i="1" spc="-5" dirty="0">
                <a:latin typeface="Arial" panose="020B0604020202020204"/>
                <a:cs typeface="Arial" panose="020B0604020202020204"/>
                <a:sym typeface="+mn-ea"/>
              </a:rPr>
              <a:t>Case </a:t>
            </a:r>
            <a:r>
              <a:rPr i="1" spc="-10" dirty="0">
                <a:latin typeface="Arial" panose="020B0604020202020204"/>
                <a:cs typeface="Arial" panose="020B0604020202020204"/>
                <a:sym typeface="+mn-ea"/>
              </a:rPr>
              <a:t>values </a:t>
            </a:r>
            <a:r>
              <a:rPr i="1" spc="-5" dirty="0">
                <a:latin typeface="Arial" panose="020B0604020202020204"/>
                <a:cs typeface="Arial" panose="020B0604020202020204"/>
                <a:sym typeface="+mn-ea"/>
              </a:rPr>
              <a:t>must be</a:t>
            </a:r>
            <a:r>
              <a:rPr i="1" spc="-40" dirty="0">
                <a:latin typeface="Arial" panose="020B0604020202020204"/>
                <a:cs typeface="Arial" panose="020B0604020202020204"/>
                <a:sym typeface="+mn-ea"/>
              </a:rPr>
              <a:t> </a:t>
            </a:r>
            <a:r>
              <a:rPr i="1" spc="-5" dirty="0">
                <a:latin typeface="Arial" panose="020B0604020202020204"/>
                <a:cs typeface="Arial" panose="020B0604020202020204"/>
                <a:sym typeface="+mn-ea"/>
              </a:rPr>
              <a:t>unique</a:t>
            </a:r>
            <a:endParaRPr i="1" spc="-5" dirty="0">
              <a:latin typeface="Arial" panose="020B0604020202020204"/>
              <a:cs typeface="Arial" panose="020B0604020202020204"/>
              <a:sym typeface="+mn-ea"/>
            </a:endParaRPr>
          </a:p>
          <a:p>
            <a:pPr marL="12700">
              <a:lnSpc>
                <a:spcPct val="100000"/>
              </a:lnSpc>
              <a:spcBef>
                <a:spcPts val="95"/>
              </a:spcBef>
              <a:buClr>
                <a:srgbClr val="0000FF"/>
              </a:buClr>
              <a:buSzPct val="90000"/>
              <a:buFont typeface="Lucida Sans Unicode" panose="020B0602030504020204"/>
              <a:tabLst>
                <a:tab pos="134620" algn="l"/>
              </a:tabLst>
            </a:pPr>
            <a:endParaRPr lang="en-US" i="1" spc="-5" dirty="0">
              <a:latin typeface="Arial" panose="020B0604020202020204"/>
              <a:cs typeface="Arial" panose="020B0604020202020204"/>
              <a:sym typeface="+mn-ea"/>
            </a:endParaRPr>
          </a:p>
          <a:p>
            <a:pPr marL="133985" indent="-121285">
              <a:lnSpc>
                <a:spcPct val="100000"/>
              </a:lnSpc>
              <a:spcBef>
                <a:spcPts val="95"/>
              </a:spcBef>
              <a:buClr>
                <a:srgbClr val="0000FF"/>
              </a:buClr>
              <a:buSzPct val="90000"/>
              <a:buFont typeface="Lucida Sans Unicode" panose="020B0602030504020204"/>
              <a:buChar char="•"/>
              <a:tabLst>
                <a:tab pos="134620" algn="l"/>
              </a:tabLst>
            </a:pPr>
            <a:r>
              <a:rPr i="1" spc="-5" dirty="0">
                <a:latin typeface="Arial" panose="020B0604020202020204"/>
                <a:cs typeface="Arial" panose="020B0604020202020204"/>
                <a:sym typeface="+mn-ea"/>
              </a:rPr>
              <a:t>Break </a:t>
            </a:r>
            <a:r>
              <a:rPr i="1" spc="-10" dirty="0">
                <a:latin typeface="Arial" panose="020B0604020202020204"/>
                <a:cs typeface="Arial" panose="020B0604020202020204"/>
                <a:sym typeface="+mn-ea"/>
              </a:rPr>
              <a:t>makes </a:t>
            </a:r>
            <a:r>
              <a:rPr i="1" spc="-5" dirty="0">
                <a:latin typeface="Arial" panose="020B0604020202020204"/>
                <a:cs typeface="Arial" panose="020B0604020202020204"/>
                <a:sym typeface="+mn-ea"/>
              </a:rPr>
              <a:t>sure that only the matching statement</a:t>
            </a:r>
            <a:r>
              <a:rPr i="1" spc="35" dirty="0">
                <a:latin typeface="Arial" panose="020B0604020202020204"/>
                <a:cs typeface="Arial" panose="020B0604020202020204"/>
                <a:sym typeface="+mn-ea"/>
              </a:rPr>
              <a:t> </a:t>
            </a:r>
            <a:r>
              <a:rPr i="1" spc="-5" dirty="0">
                <a:latin typeface="Arial" panose="020B0604020202020204"/>
                <a:cs typeface="Arial" panose="020B0604020202020204"/>
                <a:sym typeface="+mn-ea"/>
              </a:rPr>
              <a:t>is </a:t>
            </a:r>
            <a:r>
              <a:rPr i="1" spc="-35" dirty="0">
                <a:latin typeface="Arial" panose="020B0604020202020204"/>
                <a:cs typeface="Arial" panose="020B0604020202020204"/>
                <a:sym typeface="+mn-ea"/>
              </a:rPr>
              <a:t>ex</a:t>
            </a:r>
            <a:r>
              <a:rPr i="1" spc="-5" dirty="0">
                <a:latin typeface="Arial" panose="020B0604020202020204"/>
                <a:cs typeface="Arial" panose="020B0604020202020204"/>
                <a:sym typeface="+mn-ea"/>
              </a:rPr>
              <a:t>ecuted</a:t>
            </a:r>
            <a:endParaRPr>
              <a:latin typeface="Arial" panose="020B0604020202020204"/>
              <a:cs typeface="Arial" panose="020B0604020202020204"/>
            </a:endParaRPr>
          </a:p>
          <a:p>
            <a:pPr marL="133985" indent="-121285">
              <a:lnSpc>
                <a:spcPct val="100000"/>
              </a:lnSpc>
              <a:spcBef>
                <a:spcPts val="95"/>
              </a:spcBef>
              <a:buClr>
                <a:srgbClr val="0000FF"/>
              </a:buClr>
              <a:buSzPct val="90000"/>
              <a:buFont typeface="Lucida Sans Unicode" panose="020B0602030504020204"/>
              <a:buChar char="•"/>
              <a:tabLst>
                <a:tab pos="134620" algn="l"/>
              </a:tabLst>
            </a:pPr>
            <a:endParaRPr>
              <a:latin typeface="Arial" panose="020B0604020202020204"/>
              <a:cs typeface="Arial" panose="020B0604020202020204"/>
            </a:endParaRPr>
          </a:p>
          <a:p>
            <a:pPr marL="133985" indent="-121285">
              <a:lnSpc>
                <a:spcPct val="100000"/>
              </a:lnSpc>
              <a:spcBef>
                <a:spcPts val="95"/>
              </a:spcBef>
              <a:buClr>
                <a:srgbClr val="0000FF"/>
              </a:buClr>
              <a:buSzPct val="90000"/>
              <a:buFont typeface="Lucida Sans Unicode" panose="020B0602030504020204"/>
              <a:buChar char="•"/>
              <a:tabLst>
                <a:tab pos="134620" algn="l"/>
              </a:tabLst>
            </a:pPr>
            <a:endParaRPr>
              <a:latin typeface="Arial" panose="020B0604020202020204"/>
              <a:cs typeface="Arial" panose="020B0604020202020204"/>
            </a:endParaRPr>
          </a:p>
          <a:p>
            <a:pPr marL="133985" indent="-121285">
              <a:lnSpc>
                <a:spcPct val="100000"/>
              </a:lnSpc>
              <a:spcBef>
                <a:spcPts val="95"/>
              </a:spcBef>
              <a:buClr>
                <a:srgbClr val="0000FF"/>
              </a:buClr>
              <a:buSzPct val="90000"/>
              <a:buFont typeface="Lucida Sans Unicode" panose="020B0602030504020204"/>
              <a:buChar char="•"/>
              <a:tabLst>
                <a:tab pos="134620" algn="l"/>
              </a:tabLst>
            </a:pPr>
            <a:endParaRPr lang="en-US" b="1">
              <a:solidFill>
                <a:srgbClr val="9933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Iteration Statement</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153670" y="1270635"/>
            <a:ext cx="8484235" cy="6052820"/>
          </a:xfrm>
          <a:prstGeom prst="rect">
            <a:avLst/>
          </a:prstGeom>
          <a:noFill/>
        </p:spPr>
        <p:txBody>
          <a:bodyPr wrap="square" rtlCol="0" anchor="t">
            <a:spAutoFit/>
          </a:bodyPr>
          <a:p>
            <a:pPr marL="133985" marR="5080">
              <a:lnSpc>
                <a:spcPct val="100000"/>
              </a:lnSpc>
              <a:spcBef>
                <a:spcPts val="95"/>
              </a:spcBef>
            </a:pPr>
            <a:r>
              <a:rPr spc="-20" dirty="0">
                <a:latin typeface="Arial" panose="020B0604020202020204"/>
                <a:cs typeface="Arial" panose="020B0604020202020204"/>
                <a:sym typeface="+mn-ea"/>
              </a:rPr>
              <a:t>Java </a:t>
            </a:r>
            <a:r>
              <a:rPr spc="-5" dirty="0">
                <a:latin typeface="Arial" panose="020B0604020202020204"/>
                <a:cs typeface="Arial" panose="020B0604020202020204"/>
                <a:sym typeface="+mn-ea"/>
              </a:rPr>
              <a:t>iteration statements </a:t>
            </a:r>
            <a:r>
              <a:rPr spc="-10" dirty="0">
                <a:latin typeface="Arial" panose="020B0604020202020204"/>
                <a:cs typeface="Arial" panose="020B0604020202020204"/>
                <a:sym typeface="+mn-ea"/>
              </a:rPr>
              <a:t>enable </a:t>
            </a:r>
            <a:r>
              <a:rPr spc="-5" dirty="0">
                <a:latin typeface="Arial" panose="020B0604020202020204"/>
                <a:cs typeface="Arial" panose="020B0604020202020204"/>
                <a:sym typeface="+mn-ea"/>
              </a:rPr>
              <a:t>repeated </a:t>
            </a:r>
            <a:r>
              <a:rPr spc="-10" dirty="0">
                <a:latin typeface="Arial" panose="020B0604020202020204"/>
                <a:cs typeface="Arial" panose="020B0604020202020204"/>
                <a:sym typeface="+mn-ea"/>
              </a:rPr>
              <a:t>execution</a:t>
            </a:r>
            <a:r>
              <a:rPr spc="40" dirty="0">
                <a:latin typeface="Arial" panose="020B0604020202020204"/>
                <a:cs typeface="Arial" panose="020B0604020202020204"/>
                <a:sym typeface="+mn-ea"/>
              </a:rPr>
              <a:t> </a:t>
            </a:r>
            <a:r>
              <a:rPr spc="-5" dirty="0">
                <a:latin typeface="Arial" panose="020B0604020202020204"/>
                <a:cs typeface="Arial" panose="020B0604020202020204"/>
                <a:sym typeface="+mn-ea"/>
              </a:rPr>
              <a:t>of </a:t>
            </a:r>
            <a:r>
              <a:rPr spc="5" dirty="0">
                <a:latin typeface="Arial" panose="020B0604020202020204"/>
                <a:cs typeface="Arial" panose="020B0604020202020204"/>
                <a:sym typeface="+mn-ea"/>
              </a:rPr>
              <a:t>part </a:t>
            </a:r>
            <a:r>
              <a:rPr spc="-5" dirty="0">
                <a:latin typeface="Arial" panose="020B0604020202020204"/>
                <a:cs typeface="Arial" panose="020B0604020202020204"/>
                <a:sym typeface="+mn-ea"/>
              </a:rPr>
              <a:t>of a program until a </a:t>
            </a:r>
            <a:r>
              <a:rPr dirty="0">
                <a:latin typeface="Arial" panose="020B0604020202020204"/>
                <a:cs typeface="Arial" panose="020B0604020202020204"/>
                <a:sym typeface="+mn-ea"/>
              </a:rPr>
              <a:t>certain termination </a:t>
            </a:r>
            <a:r>
              <a:rPr spc="-5" dirty="0">
                <a:latin typeface="Arial" panose="020B0604020202020204"/>
                <a:cs typeface="Arial" panose="020B0604020202020204"/>
                <a:sym typeface="+mn-ea"/>
              </a:rPr>
              <a:t>condition  becomes</a:t>
            </a:r>
            <a:r>
              <a:rPr spc="-10" dirty="0">
                <a:latin typeface="Arial" panose="020B0604020202020204"/>
                <a:cs typeface="Arial" panose="020B0604020202020204"/>
                <a:sym typeface="+mn-ea"/>
              </a:rPr>
              <a:t> </a:t>
            </a:r>
            <a:r>
              <a:rPr dirty="0">
                <a:latin typeface="Arial" panose="020B0604020202020204"/>
                <a:cs typeface="Arial" panose="020B0604020202020204"/>
                <a:sym typeface="+mn-ea"/>
              </a:rPr>
              <a:t>true</a:t>
            </a:r>
            <a:endParaRPr>
              <a:latin typeface="Arial" panose="020B0604020202020204"/>
              <a:cs typeface="Arial" panose="020B0604020202020204"/>
            </a:endParaRPr>
          </a:p>
          <a:p>
            <a:pPr marL="133985" indent="-121285">
              <a:lnSpc>
                <a:spcPct val="100000"/>
              </a:lnSpc>
              <a:spcBef>
                <a:spcPts val="290"/>
              </a:spcBef>
              <a:buClr>
                <a:srgbClr val="0000FF"/>
              </a:buClr>
              <a:buSzPct val="90000"/>
              <a:buFont typeface="Lucida Sans Unicode" panose="020B0602030504020204"/>
              <a:buChar char="•"/>
              <a:tabLst>
                <a:tab pos="134620" algn="l"/>
              </a:tabLst>
            </a:pPr>
            <a:r>
              <a:rPr spc="-5" dirty="0">
                <a:solidFill>
                  <a:srgbClr val="FF0000"/>
                </a:solidFill>
                <a:latin typeface="Arial" panose="020B0604020202020204"/>
                <a:cs typeface="Arial" panose="020B0604020202020204"/>
                <a:sym typeface="+mn-ea"/>
              </a:rPr>
              <a:t>while</a:t>
            </a:r>
            <a:r>
              <a:rPr spc="-10" dirty="0">
                <a:solidFill>
                  <a:srgbClr val="FF0000"/>
                </a:solidFill>
                <a:latin typeface="Arial" panose="020B0604020202020204"/>
                <a:cs typeface="Arial" panose="020B0604020202020204"/>
                <a:sym typeface="+mn-ea"/>
              </a:rPr>
              <a:t> </a:t>
            </a:r>
            <a:r>
              <a:rPr spc="-5" dirty="0">
                <a:solidFill>
                  <a:srgbClr val="FF0000"/>
                </a:solidFill>
                <a:latin typeface="Arial" panose="020B0604020202020204"/>
                <a:cs typeface="Arial" panose="020B0604020202020204"/>
                <a:sym typeface="+mn-ea"/>
              </a:rPr>
              <a:t>statement</a:t>
            </a:r>
            <a:endParaRPr spc="-5" dirty="0">
              <a:solidFill>
                <a:srgbClr val="FF0000"/>
              </a:solidFill>
              <a:latin typeface="Arial" panose="020B0604020202020204"/>
              <a:cs typeface="Arial" panose="020B0604020202020204"/>
              <a:sym typeface="+mn-ea"/>
            </a:endParaRPr>
          </a:p>
          <a:p>
            <a:pPr marL="133985" indent="-121285">
              <a:lnSpc>
                <a:spcPct val="100000"/>
              </a:lnSpc>
              <a:spcBef>
                <a:spcPts val="290"/>
              </a:spcBef>
              <a:buClr>
                <a:srgbClr val="0000FF"/>
              </a:buClr>
              <a:buSzPct val="90000"/>
              <a:buFont typeface="Lucida Sans Unicode" panose="020B0602030504020204"/>
              <a:buChar char="•"/>
              <a:tabLst>
                <a:tab pos="134620" algn="l"/>
              </a:tabLst>
            </a:pPr>
            <a:endParaRPr spc="-5" dirty="0">
              <a:solidFill>
                <a:srgbClr val="FF0000"/>
              </a:solidFill>
              <a:latin typeface="Arial" panose="020B0604020202020204"/>
              <a:cs typeface="Arial" panose="020B0604020202020204"/>
              <a:sym typeface="+mn-ea"/>
            </a:endParaRPr>
          </a:p>
          <a:p>
            <a:pPr marL="133985" indent="-121285">
              <a:lnSpc>
                <a:spcPct val="100000"/>
              </a:lnSpc>
              <a:spcBef>
                <a:spcPts val="290"/>
              </a:spcBef>
              <a:buClr>
                <a:srgbClr val="0000FF"/>
              </a:buClr>
              <a:buSzPct val="90000"/>
              <a:buFont typeface="Lucida Sans Unicode" panose="020B0602030504020204"/>
              <a:buChar char="•"/>
              <a:tabLst>
                <a:tab pos="134620" algn="l"/>
              </a:tabLst>
            </a:pPr>
            <a:endParaRPr spc="-5" dirty="0">
              <a:solidFill>
                <a:srgbClr val="FF0000"/>
              </a:solidFill>
              <a:latin typeface="Arial" panose="020B0604020202020204"/>
              <a:cs typeface="Arial" panose="020B0604020202020204"/>
              <a:sym typeface="+mn-ea"/>
            </a:endParaRPr>
          </a:p>
          <a:p>
            <a:pPr marL="133985" indent="-121285">
              <a:lnSpc>
                <a:spcPct val="100000"/>
              </a:lnSpc>
              <a:spcBef>
                <a:spcPts val="290"/>
              </a:spcBef>
              <a:buClr>
                <a:srgbClr val="0000FF"/>
              </a:buClr>
              <a:buSzPct val="90000"/>
              <a:buFont typeface="Lucida Sans Unicode" panose="020B0602030504020204"/>
              <a:buChar char="•"/>
              <a:tabLst>
                <a:tab pos="134620" algn="l"/>
              </a:tabLst>
            </a:pPr>
            <a:endParaRPr spc="-5" dirty="0">
              <a:solidFill>
                <a:srgbClr val="FF0000"/>
              </a:solidFill>
              <a:latin typeface="Arial" panose="020B0604020202020204"/>
              <a:cs typeface="Arial" panose="020B0604020202020204"/>
              <a:sym typeface="+mn-ea"/>
            </a:endParaRPr>
          </a:p>
          <a:p>
            <a:pPr marL="133985" indent="-121285">
              <a:lnSpc>
                <a:spcPct val="100000"/>
              </a:lnSpc>
              <a:spcBef>
                <a:spcPts val="290"/>
              </a:spcBef>
              <a:buClr>
                <a:srgbClr val="0000FF"/>
              </a:buClr>
              <a:buSzPct val="90000"/>
              <a:buFont typeface="Lucida Sans Unicode" panose="020B0602030504020204"/>
              <a:buChar char="•"/>
              <a:tabLst>
                <a:tab pos="134620" algn="l"/>
              </a:tabLst>
            </a:pPr>
            <a:r>
              <a:rPr lang="en-US" spc="-5" dirty="0">
                <a:solidFill>
                  <a:srgbClr val="FF0000"/>
                </a:solidFill>
                <a:latin typeface="Arial" panose="020B0604020202020204"/>
                <a:cs typeface="Arial" panose="020B0604020202020204"/>
                <a:sym typeface="+mn-ea"/>
              </a:rPr>
              <a:t>How to run an infinte while loop ?</a:t>
            </a:r>
            <a:endParaRPr spc="-5" dirty="0">
              <a:solidFill>
                <a:srgbClr val="FF0000"/>
              </a:solidFill>
              <a:latin typeface="Arial" panose="020B0604020202020204"/>
              <a:cs typeface="Arial" panose="020B0604020202020204"/>
              <a:sym typeface="+mn-ea"/>
            </a:endParaRPr>
          </a:p>
          <a:p>
            <a:pPr marL="133985" indent="-121285">
              <a:lnSpc>
                <a:spcPct val="100000"/>
              </a:lnSpc>
              <a:spcBef>
                <a:spcPts val="290"/>
              </a:spcBef>
              <a:buClr>
                <a:srgbClr val="0000FF"/>
              </a:buClr>
              <a:buSzPct val="90000"/>
              <a:buFont typeface="Lucida Sans Unicode" panose="020B0602030504020204"/>
              <a:buChar char="•"/>
              <a:tabLst>
                <a:tab pos="134620" algn="l"/>
              </a:tabLst>
            </a:pPr>
            <a:r>
              <a:rPr spc="-5" dirty="0">
                <a:solidFill>
                  <a:srgbClr val="FF0000"/>
                </a:solidFill>
                <a:latin typeface="Arial" panose="020B0604020202020204"/>
                <a:cs typeface="Arial" panose="020B0604020202020204"/>
                <a:sym typeface="+mn-ea"/>
              </a:rPr>
              <a:t>do-while</a:t>
            </a:r>
            <a:r>
              <a:rPr spc="-40" dirty="0">
                <a:solidFill>
                  <a:srgbClr val="FF0000"/>
                </a:solidFill>
                <a:latin typeface="Arial" panose="020B0604020202020204"/>
                <a:cs typeface="Arial" panose="020B0604020202020204"/>
                <a:sym typeface="+mn-ea"/>
              </a:rPr>
              <a:t> </a:t>
            </a:r>
            <a:r>
              <a:rPr spc="-5" dirty="0">
                <a:solidFill>
                  <a:srgbClr val="FF0000"/>
                </a:solidFill>
                <a:latin typeface="Arial" panose="020B0604020202020204"/>
                <a:cs typeface="Arial" panose="020B0604020202020204"/>
                <a:sym typeface="+mn-ea"/>
              </a:rPr>
              <a:t>statement</a:t>
            </a:r>
            <a:endParaRPr spc="-5" dirty="0">
              <a:solidFill>
                <a:srgbClr val="FF0000"/>
              </a:solidFill>
              <a:latin typeface="Arial" panose="020B0604020202020204"/>
              <a:cs typeface="Arial" panose="020B0604020202020204"/>
              <a:sym typeface="+mn-ea"/>
            </a:endParaRPr>
          </a:p>
          <a:p>
            <a:pPr marL="133985" indent="-121285">
              <a:lnSpc>
                <a:spcPct val="100000"/>
              </a:lnSpc>
              <a:spcBef>
                <a:spcPts val="290"/>
              </a:spcBef>
              <a:buClr>
                <a:srgbClr val="0000FF"/>
              </a:buClr>
              <a:buSzPct val="90000"/>
              <a:buFont typeface="Lucida Sans Unicode" panose="020B0602030504020204"/>
              <a:buChar char="•"/>
              <a:tabLst>
                <a:tab pos="134620" algn="l"/>
              </a:tabLst>
            </a:pPr>
            <a:endParaRPr spc="-5" dirty="0">
              <a:solidFill>
                <a:srgbClr val="FF0000"/>
              </a:solidFill>
              <a:latin typeface="Arial" panose="020B0604020202020204"/>
              <a:cs typeface="Arial" panose="020B0604020202020204"/>
              <a:sym typeface="+mn-ea"/>
            </a:endParaRPr>
          </a:p>
          <a:p>
            <a:pPr marL="133985" indent="-121285">
              <a:lnSpc>
                <a:spcPct val="100000"/>
              </a:lnSpc>
              <a:spcBef>
                <a:spcPts val="290"/>
              </a:spcBef>
              <a:buClr>
                <a:srgbClr val="0000FF"/>
              </a:buClr>
              <a:buSzPct val="90000"/>
              <a:buFont typeface="Lucida Sans Unicode" panose="020B0602030504020204"/>
              <a:buChar char="•"/>
              <a:tabLst>
                <a:tab pos="134620" algn="l"/>
              </a:tabLst>
            </a:pPr>
            <a:endParaRPr spc="-5" dirty="0">
              <a:solidFill>
                <a:srgbClr val="FF0000"/>
              </a:solidFill>
              <a:latin typeface="Arial" panose="020B0604020202020204"/>
              <a:cs typeface="Arial" panose="020B0604020202020204"/>
              <a:sym typeface="+mn-ea"/>
            </a:endParaRPr>
          </a:p>
          <a:p>
            <a:pPr marL="133985" indent="-121285">
              <a:lnSpc>
                <a:spcPct val="100000"/>
              </a:lnSpc>
              <a:spcBef>
                <a:spcPts val="290"/>
              </a:spcBef>
              <a:buClr>
                <a:srgbClr val="0000FF"/>
              </a:buClr>
              <a:buSzPct val="90000"/>
              <a:buFont typeface="Lucida Sans Unicode" panose="020B0602030504020204"/>
              <a:buChar char="•"/>
              <a:tabLst>
                <a:tab pos="134620" algn="l"/>
              </a:tabLst>
            </a:pPr>
            <a:endParaRPr>
              <a:latin typeface="Arial" panose="020B0604020202020204"/>
              <a:cs typeface="Arial" panose="020B0604020202020204"/>
            </a:endParaRPr>
          </a:p>
          <a:p>
            <a:pPr marL="12700">
              <a:lnSpc>
                <a:spcPct val="100000"/>
              </a:lnSpc>
              <a:spcBef>
                <a:spcPts val="290"/>
              </a:spcBef>
              <a:buClr>
                <a:srgbClr val="0000FF"/>
              </a:buClr>
              <a:buSzPct val="90000"/>
              <a:buFont typeface="Lucida Sans Unicode" panose="020B0602030504020204"/>
              <a:tabLst>
                <a:tab pos="134620" algn="l"/>
              </a:tabLst>
            </a:pPr>
            <a:endParaRPr>
              <a:latin typeface="Arial" panose="020B0604020202020204"/>
              <a:cs typeface="Arial" panose="020B0604020202020204"/>
            </a:endParaRPr>
          </a:p>
          <a:p>
            <a:pPr marL="133985" indent="-121285">
              <a:lnSpc>
                <a:spcPct val="100000"/>
              </a:lnSpc>
              <a:spcBef>
                <a:spcPts val="290"/>
              </a:spcBef>
              <a:buClr>
                <a:srgbClr val="0000FF"/>
              </a:buClr>
              <a:buSzPct val="90000"/>
              <a:buFont typeface="Lucida Sans Unicode" panose="020B0602030504020204"/>
              <a:buChar char="•"/>
              <a:tabLst>
                <a:tab pos="134620" algn="l"/>
              </a:tabLst>
            </a:pPr>
            <a:endParaRPr>
              <a:latin typeface="Arial" panose="020B0604020202020204"/>
              <a:cs typeface="Arial" panose="020B0604020202020204"/>
            </a:endParaRPr>
          </a:p>
          <a:p>
            <a:pPr marL="133985" indent="-121285">
              <a:lnSpc>
                <a:spcPct val="100000"/>
              </a:lnSpc>
              <a:spcBef>
                <a:spcPts val="95"/>
              </a:spcBef>
              <a:buClr>
                <a:srgbClr val="0000FF"/>
              </a:buClr>
              <a:buSzPct val="90000"/>
              <a:buFont typeface="Lucida Sans Unicode" panose="020B0602030504020204"/>
              <a:buChar char="•"/>
              <a:tabLst>
                <a:tab pos="134620" algn="l"/>
              </a:tabLst>
            </a:pPr>
            <a:endParaRPr lang="en-US" b="1">
              <a:solidFill>
                <a:srgbClr val="993300"/>
              </a:solidFill>
            </a:endParaRPr>
          </a:p>
        </p:txBody>
      </p:sp>
      <p:sp>
        <p:nvSpPr>
          <p:cNvPr id="13" name="object 13"/>
          <p:cNvSpPr/>
          <p:nvPr/>
        </p:nvSpPr>
        <p:spPr>
          <a:xfrm>
            <a:off x="2870200" y="2938780"/>
            <a:ext cx="3381375" cy="1003300"/>
          </a:xfrm>
          <a:prstGeom prst="rect">
            <a:avLst/>
          </a:prstGeom>
          <a:blipFill>
            <a:blip r:embed="rId1" cstate="print"/>
            <a:stretch>
              <a:fillRect/>
            </a:stretch>
          </a:blipFill>
        </p:spPr>
        <p:txBody>
          <a:bodyPr wrap="square" lIns="0" tIns="0" rIns="0" bIns="0" rtlCol="0"/>
          <a:p/>
        </p:txBody>
      </p:sp>
      <p:sp>
        <p:nvSpPr>
          <p:cNvPr id="15" name="object 15"/>
          <p:cNvSpPr/>
          <p:nvPr/>
        </p:nvSpPr>
        <p:spPr>
          <a:xfrm>
            <a:off x="2720975" y="5017135"/>
            <a:ext cx="3883025" cy="1275715"/>
          </a:xfrm>
          <a:prstGeom prst="rect">
            <a:avLst/>
          </a:prstGeom>
          <a:blipFill>
            <a:blip r:embed="rId2" cstate="print"/>
            <a:stretch>
              <a:fillRect/>
            </a:stretch>
          </a:blipFill>
        </p:spPr>
        <p:txBody>
          <a:bodyPr wrap="square" lIns="0" tIns="0" rIns="0" bIns="0" rtlCol="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Iteration Statement</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153670" y="1270635"/>
            <a:ext cx="8484235" cy="6508750"/>
          </a:xfrm>
          <a:prstGeom prst="rect">
            <a:avLst/>
          </a:prstGeom>
          <a:noFill/>
        </p:spPr>
        <p:txBody>
          <a:bodyPr wrap="square" rtlCol="0" anchor="t">
            <a:spAutoFit/>
          </a:bodyPr>
          <a:p>
            <a:pPr marL="133985" marR="5080">
              <a:lnSpc>
                <a:spcPct val="100000"/>
              </a:lnSpc>
              <a:spcBef>
                <a:spcPts val="95"/>
              </a:spcBef>
            </a:pPr>
            <a:endParaRPr lang="en-US"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spc="-10" dirty="0">
                <a:solidFill>
                  <a:srgbClr val="FF0000"/>
                </a:solidFill>
                <a:latin typeface="Arial" panose="020B0604020202020204"/>
                <a:cs typeface="Arial" panose="020B0604020202020204"/>
                <a:sym typeface="+mn-ea"/>
              </a:rPr>
              <a:t>for</a:t>
            </a:r>
            <a:r>
              <a:rPr spc="-10" dirty="0">
                <a:solidFill>
                  <a:srgbClr val="FF0000"/>
                </a:solidFill>
                <a:latin typeface="Arial" panose="020B0604020202020204"/>
                <a:cs typeface="Arial" panose="020B0604020202020204"/>
                <a:sym typeface="+mn-ea"/>
              </a:rPr>
              <a:t> </a:t>
            </a:r>
            <a:r>
              <a:rPr spc="-5" dirty="0">
                <a:solidFill>
                  <a:srgbClr val="FF0000"/>
                </a:solidFill>
                <a:latin typeface="Arial" panose="020B0604020202020204"/>
                <a:cs typeface="Arial" panose="020B0604020202020204"/>
                <a:sym typeface="+mn-ea"/>
              </a:rPr>
              <a:t>statement</a:t>
            </a:r>
            <a:endParaRPr spc="-5" dirty="0">
              <a:solidFill>
                <a:srgbClr val="FF0000"/>
              </a:solidFill>
              <a:latin typeface="Arial" panose="020B0604020202020204"/>
              <a:cs typeface="Arial" panose="020B0604020202020204"/>
              <a:sym typeface="+mn-ea"/>
            </a:endParaRPr>
          </a:p>
          <a:p>
            <a:pPr marL="133985" indent="-121285">
              <a:lnSpc>
                <a:spcPct val="100000"/>
              </a:lnSpc>
              <a:spcBef>
                <a:spcPts val="290"/>
              </a:spcBef>
              <a:buClr>
                <a:srgbClr val="0000FF"/>
              </a:buClr>
              <a:buSzPct val="90000"/>
              <a:buFont typeface="Lucida Sans Unicode" panose="020B0602030504020204"/>
              <a:buChar char="•"/>
              <a:tabLst>
                <a:tab pos="134620" algn="l"/>
              </a:tabLst>
            </a:pPr>
            <a:endParaRPr spc="-5" dirty="0">
              <a:solidFill>
                <a:srgbClr val="FF0000"/>
              </a:solidFill>
              <a:latin typeface="Arial" panose="020B0604020202020204"/>
              <a:cs typeface="Arial" panose="020B0604020202020204"/>
              <a:sym typeface="+mn-ea"/>
            </a:endParaRPr>
          </a:p>
          <a:p>
            <a:pPr marL="133985" indent="-121285">
              <a:lnSpc>
                <a:spcPct val="100000"/>
              </a:lnSpc>
              <a:spcBef>
                <a:spcPts val="290"/>
              </a:spcBef>
              <a:buClr>
                <a:srgbClr val="0000FF"/>
              </a:buClr>
              <a:buSzPct val="90000"/>
              <a:buFont typeface="Lucida Sans Unicode" panose="020B0602030504020204"/>
              <a:buChar char="•"/>
              <a:tabLst>
                <a:tab pos="134620" algn="l"/>
              </a:tabLst>
            </a:pPr>
            <a:endParaRPr spc="-5" dirty="0">
              <a:solidFill>
                <a:srgbClr val="FF0000"/>
              </a:solidFill>
              <a:latin typeface="Arial" panose="020B0604020202020204"/>
              <a:cs typeface="Arial" panose="020B0604020202020204"/>
              <a:sym typeface="+mn-ea"/>
            </a:endParaRPr>
          </a:p>
          <a:p>
            <a:pPr marL="133985" indent="-121285">
              <a:lnSpc>
                <a:spcPct val="100000"/>
              </a:lnSpc>
              <a:spcBef>
                <a:spcPts val="290"/>
              </a:spcBef>
              <a:buClr>
                <a:srgbClr val="0000FF"/>
              </a:buClr>
              <a:buSzPct val="90000"/>
              <a:buFont typeface="Lucida Sans Unicode" panose="020B0602030504020204"/>
              <a:buChar char="•"/>
              <a:tabLst>
                <a:tab pos="134620" algn="l"/>
              </a:tabLst>
            </a:pPr>
            <a:endParaRPr spc="-5" dirty="0">
              <a:solidFill>
                <a:srgbClr val="FF0000"/>
              </a:solidFill>
              <a:latin typeface="Arial" panose="020B0604020202020204"/>
              <a:cs typeface="Arial" panose="020B0604020202020204"/>
              <a:sym typeface="+mn-ea"/>
            </a:endParaRPr>
          </a:p>
          <a:p>
            <a:pPr marL="133985" indent="-121285">
              <a:lnSpc>
                <a:spcPct val="100000"/>
              </a:lnSpc>
              <a:spcBef>
                <a:spcPts val="290"/>
              </a:spcBef>
              <a:buClr>
                <a:srgbClr val="0000FF"/>
              </a:buClr>
              <a:buSzPct val="90000"/>
              <a:buFont typeface="Lucida Sans Unicode" panose="020B0602030504020204"/>
              <a:buChar char="•"/>
              <a:tabLst>
                <a:tab pos="134620" algn="l"/>
              </a:tabLst>
            </a:pPr>
            <a:endParaRPr lang="en-US" spc="-5" dirty="0">
              <a:solidFill>
                <a:srgbClr val="FF0000"/>
              </a:solidFill>
              <a:latin typeface="Arial" panose="020B0604020202020204"/>
              <a:cs typeface="Arial" panose="020B0604020202020204"/>
              <a:sym typeface="+mn-ea"/>
            </a:endParaRPr>
          </a:p>
          <a:p>
            <a:pPr marL="133985" indent="-121285">
              <a:lnSpc>
                <a:spcPct val="100000"/>
              </a:lnSpc>
              <a:spcBef>
                <a:spcPts val="290"/>
              </a:spcBef>
              <a:buClr>
                <a:srgbClr val="0000FF"/>
              </a:buClr>
              <a:buSzPct val="90000"/>
              <a:buFont typeface="Lucida Sans Unicode" panose="020B0602030504020204"/>
              <a:buChar char="•"/>
              <a:tabLst>
                <a:tab pos="134620" algn="l"/>
              </a:tabLst>
            </a:pPr>
            <a:endParaRPr lang="en-US" spc="-5" dirty="0">
              <a:solidFill>
                <a:srgbClr val="FF0000"/>
              </a:solidFill>
              <a:latin typeface="Arial" panose="020B0604020202020204"/>
              <a:cs typeface="Arial" panose="020B0604020202020204"/>
              <a:sym typeface="+mn-ea"/>
            </a:endParaRPr>
          </a:p>
          <a:p>
            <a:pPr marL="133985" indent="-121285">
              <a:lnSpc>
                <a:spcPct val="100000"/>
              </a:lnSpc>
              <a:spcBef>
                <a:spcPts val="290"/>
              </a:spcBef>
              <a:buClr>
                <a:srgbClr val="0000FF"/>
              </a:buClr>
              <a:buSzPct val="90000"/>
              <a:buFont typeface="Lucida Sans Unicode" panose="020B0602030504020204"/>
              <a:buChar char="•"/>
              <a:tabLst>
                <a:tab pos="134620" algn="l"/>
              </a:tabLst>
            </a:pPr>
            <a:endParaRPr lang="en-US" spc="-5" dirty="0">
              <a:solidFill>
                <a:srgbClr val="FF0000"/>
              </a:solidFill>
              <a:latin typeface="Arial" panose="020B0604020202020204"/>
              <a:cs typeface="Arial" panose="020B0604020202020204"/>
              <a:sym typeface="+mn-ea"/>
            </a:endParaRPr>
          </a:p>
          <a:p>
            <a:pPr marL="133985" indent="-121285">
              <a:lnSpc>
                <a:spcPct val="100000"/>
              </a:lnSpc>
              <a:spcBef>
                <a:spcPts val="290"/>
              </a:spcBef>
              <a:buClr>
                <a:srgbClr val="0000FF"/>
              </a:buClr>
              <a:buSzPct val="90000"/>
              <a:buFont typeface="Lucida Sans Unicode" panose="020B0602030504020204"/>
              <a:buChar char="•"/>
              <a:tabLst>
                <a:tab pos="134620" algn="l"/>
              </a:tabLst>
            </a:pPr>
            <a:r>
              <a:rPr lang="en-US" spc="-5" dirty="0">
                <a:solidFill>
                  <a:srgbClr val="FF0000"/>
                </a:solidFill>
                <a:latin typeface="Arial" panose="020B0604020202020204"/>
                <a:cs typeface="Arial" panose="020B0604020202020204"/>
                <a:sym typeface="+mn-ea"/>
              </a:rPr>
              <a:t>How to run an infinte for loop ?</a:t>
            </a:r>
            <a:endParaRPr spc="-5" dirty="0">
              <a:solidFill>
                <a:srgbClr val="FF0000"/>
              </a:solidFill>
              <a:latin typeface="Arial" panose="020B0604020202020204"/>
              <a:cs typeface="Arial" panose="020B0604020202020204"/>
              <a:sym typeface="+mn-ea"/>
            </a:endParaRPr>
          </a:p>
          <a:p>
            <a:pPr marL="12700">
              <a:lnSpc>
                <a:spcPct val="100000"/>
              </a:lnSpc>
              <a:spcBef>
                <a:spcPts val="290"/>
              </a:spcBef>
              <a:buClr>
                <a:srgbClr val="0000FF"/>
              </a:buClr>
              <a:buSzPct val="90000"/>
              <a:buFont typeface="Lucida Sans Unicode" panose="020B0602030504020204"/>
              <a:tabLst>
                <a:tab pos="134620" algn="l"/>
              </a:tabLst>
            </a:pPr>
            <a:endParaRPr spc="-5" dirty="0">
              <a:solidFill>
                <a:srgbClr val="FF0000"/>
              </a:solidFill>
              <a:latin typeface="Arial" panose="020B0604020202020204"/>
              <a:cs typeface="Arial" panose="020B0604020202020204"/>
              <a:sym typeface="+mn-ea"/>
            </a:endParaRPr>
          </a:p>
          <a:p>
            <a:pPr marL="133985" indent="-121285">
              <a:lnSpc>
                <a:spcPct val="100000"/>
              </a:lnSpc>
              <a:spcBef>
                <a:spcPts val="290"/>
              </a:spcBef>
              <a:buClr>
                <a:srgbClr val="0000FF"/>
              </a:buClr>
              <a:buSzPct val="90000"/>
              <a:buFont typeface="Lucida Sans Unicode" panose="020B0602030504020204"/>
              <a:buChar char="•"/>
              <a:tabLst>
                <a:tab pos="134620" algn="l"/>
              </a:tabLst>
            </a:pPr>
            <a:endParaRPr spc="-5" dirty="0">
              <a:solidFill>
                <a:srgbClr val="FF0000"/>
              </a:solidFill>
              <a:latin typeface="Arial" panose="020B0604020202020204"/>
              <a:cs typeface="Arial" panose="020B0604020202020204"/>
              <a:sym typeface="+mn-ea"/>
            </a:endParaRPr>
          </a:p>
          <a:p>
            <a:pPr marL="133985" indent="-121285">
              <a:lnSpc>
                <a:spcPct val="100000"/>
              </a:lnSpc>
              <a:spcBef>
                <a:spcPts val="290"/>
              </a:spcBef>
              <a:buClr>
                <a:srgbClr val="0000FF"/>
              </a:buClr>
              <a:buSzPct val="90000"/>
              <a:buFont typeface="Lucida Sans Unicode" panose="020B0602030504020204"/>
              <a:buChar char="•"/>
              <a:tabLst>
                <a:tab pos="134620" algn="l"/>
              </a:tabLst>
            </a:pPr>
            <a:endParaRPr spc="-5" dirty="0">
              <a:solidFill>
                <a:srgbClr val="FF0000"/>
              </a:solidFill>
              <a:latin typeface="Arial" panose="020B0604020202020204"/>
              <a:cs typeface="Arial" panose="020B0604020202020204"/>
              <a:sym typeface="+mn-ea"/>
            </a:endParaRPr>
          </a:p>
          <a:p>
            <a:pPr marL="133985" indent="-121285">
              <a:lnSpc>
                <a:spcPct val="100000"/>
              </a:lnSpc>
              <a:spcBef>
                <a:spcPts val="290"/>
              </a:spcBef>
              <a:buClr>
                <a:srgbClr val="0000FF"/>
              </a:buClr>
              <a:buSzPct val="90000"/>
              <a:buFont typeface="Lucida Sans Unicode" panose="020B0602030504020204"/>
              <a:buChar char="•"/>
              <a:tabLst>
                <a:tab pos="134620" algn="l"/>
              </a:tabLst>
            </a:pPr>
            <a:endParaRPr>
              <a:latin typeface="Arial" panose="020B0604020202020204"/>
              <a:cs typeface="Arial" panose="020B0604020202020204"/>
            </a:endParaRPr>
          </a:p>
          <a:p>
            <a:pPr marL="12700">
              <a:lnSpc>
                <a:spcPct val="100000"/>
              </a:lnSpc>
              <a:spcBef>
                <a:spcPts val="290"/>
              </a:spcBef>
              <a:buClr>
                <a:srgbClr val="0000FF"/>
              </a:buClr>
              <a:buSzPct val="90000"/>
              <a:buFont typeface="Lucida Sans Unicode" panose="020B0602030504020204"/>
              <a:tabLst>
                <a:tab pos="134620" algn="l"/>
              </a:tabLst>
            </a:pPr>
            <a:endParaRPr>
              <a:latin typeface="Arial" panose="020B0604020202020204"/>
              <a:cs typeface="Arial" panose="020B0604020202020204"/>
            </a:endParaRPr>
          </a:p>
          <a:p>
            <a:pPr marL="133985" indent="-121285">
              <a:lnSpc>
                <a:spcPct val="100000"/>
              </a:lnSpc>
              <a:spcBef>
                <a:spcPts val="290"/>
              </a:spcBef>
              <a:buClr>
                <a:srgbClr val="0000FF"/>
              </a:buClr>
              <a:buSzPct val="90000"/>
              <a:buFont typeface="Lucida Sans Unicode" panose="020B0602030504020204"/>
              <a:buChar char="•"/>
              <a:tabLst>
                <a:tab pos="134620" algn="l"/>
              </a:tabLst>
            </a:pPr>
            <a:endParaRPr>
              <a:latin typeface="Arial" panose="020B0604020202020204"/>
              <a:cs typeface="Arial" panose="020B0604020202020204"/>
            </a:endParaRPr>
          </a:p>
          <a:p>
            <a:pPr marL="133985" indent="-121285">
              <a:lnSpc>
                <a:spcPct val="100000"/>
              </a:lnSpc>
              <a:spcBef>
                <a:spcPts val="95"/>
              </a:spcBef>
              <a:buClr>
                <a:srgbClr val="0000FF"/>
              </a:buClr>
              <a:buSzPct val="90000"/>
              <a:buFont typeface="Lucida Sans Unicode" panose="020B0602030504020204"/>
              <a:buChar char="•"/>
              <a:tabLst>
                <a:tab pos="134620" algn="l"/>
              </a:tabLst>
            </a:pPr>
            <a:endParaRPr lang="en-US" b="1">
              <a:solidFill>
                <a:srgbClr val="993300"/>
              </a:solidFill>
            </a:endParaRPr>
          </a:p>
        </p:txBody>
      </p:sp>
      <p:sp>
        <p:nvSpPr>
          <p:cNvPr id="17" name="object 17"/>
          <p:cNvSpPr/>
          <p:nvPr/>
        </p:nvSpPr>
        <p:spPr>
          <a:xfrm>
            <a:off x="2333625" y="2445385"/>
            <a:ext cx="4705350" cy="1304290"/>
          </a:xfrm>
          <a:prstGeom prst="rect">
            <a:avLst/>
          </a:prstGeom>
          <a:blipFill>
            <a:blip r:embed="rId1" cstate="print"/>
            <a:stretch>
              <a:fillRect/>
            </a:stretch>
          </a:blipFill>
        </p:spPr>
        <p:txBody>
          <a:bodyPr wrap="square" lIns="0" tIns="0" rIns="0" bIns="0" rtlCol="0"/>
          <a:lstStyle/>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Labeled For Loop</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153670" y="1270635"/>
            <a:ext cx="8484235" cy="5420360"/>
          </a:xfrm>
          <a:prstGeom prst="rect">
            <a:avLst/>
          </a:prstGeom>
          <a:noFill/>
        </p:spPr>
        <p:txBody>
          <a:bodyPr wrap="square" rtlCol="0" anchor="t">
            <a:spAutoFit/>
          </a:bodyPr>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    public class LabeledForExample {  </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    public static void main(String[] args) {  </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        aa:  </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            for(int i=1;i&lt;=3;i++){  </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                bb:  </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                    for(int j=1;j&lt;=3;j++){  </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                        if(i==2&amp;&amp;j==2){  </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                            break aa;  </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                        }  </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                        System.out.println(i+" "+j);  </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                    }  </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            }  </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    }  </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    }  </a:t>
            </a:r>
            <a:endParaRPr lang="en-US" b="1" spc="-10" dirty="0">
              <a:solidFill>
                <a:srgbClr val="FF0000"/>
              </a:solidFill>
              <a:latin typeface="Arial" panose="020B0604020202020204"/>
              <a:cs typeface="Arial" panose="020B0604020202020204"/>
              <a:sym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Labeled For Loop</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153670" y="1270635"/>
            <a:ext cx="8484235" cy="2367915"/>
          </a:xfrm>
          <a:prstGeom prst="rect">
            <a:avLst/>
          </a:prstGeom>
          <a:noFill/>
        </p:spPr>
        <p:txBody>
          <a:bodyPr wrap="square" rtlCol="0" anchor="t">
            <a:spAutoFit/>
          </a:bodyPr>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Output:</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1 1</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1 2</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1 3</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2 1</a:t>
            </a:r>
            <a:endParaRPr lang="en-US" b="1" spc="-10" dirty="0">
              <a:solidFill>
                <a:srgbClr val="FF0000"/>
              </a:solidFill>
              <a:latin typeface="Arial" panose="020B0604020202020204"/>
              <a:cs typeface="Arial" panose="020B0604020202020204"/>
              <a:sym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Labeled For Loop</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153670" y="1270635"/>
            <a:ext cx="8484235" cy="5420360"/>
          </a:xfrm>
          <a:prstGeom prst="rect">
            <a:avLst/>
          </a:prstGeom>
          <a:noFill/>
        </p:spPr>
        <p:txBody>
          <a:bodyPr wrap="square" rtlCol="0" anchor="t">
            <a:spAutoFit/>
          </a:bodyPr>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    public class LabeledForExample2 {  </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    public static void main(String[] args) {  </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        aa:  </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            for(int i=1;i&lt;=3;i++){  </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                bb:  </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                    for(int j=1;j&lt;=3;j++){  </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                        if(i==2&amp;&amp;j==2){  </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                            break bb;  </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                        }  </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                        System.out.println(i+" "+j);  </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                    }  </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            }  </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    }  </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    }  </a:t>
            </a:r>
            <a:endParaRPr lang="en-US" b="1" spc="-10" dirty="0">
              <a:solidFill>
                <a:srgbClr val="FF0000"/>
              </a:solidFill>
              <a:latin typeface="Arial" panose="020B0604020202020204"/>
              <a:cs typeface="Arial" panose="020B0604020202020204"/>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Labeled For Loop</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153670" y="1270635"/>
            <a:ext cx="8484235" cy="3512820"/>
          </a:xfrm>
          <a:prstGeom prst="rect">
            <a:avLst/>
          </a:prstGeom>
          <a:noFill/>
        </p:spPr>
        <p:txBody>
          <a:bodyPr wrap="square" rtlCol="0" anchor="t">
            <a:spAutoFit/>
          </a:bodyPr>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Output:</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1 1</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1 2</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1 3</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2 1</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3 1</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3 2</a:t>
            </a:r>
            <a:endParaRPr lang="en-US" b="1" spc="-10" dirty="0">
              <a:solidFill>
                <a:srgbClr val="FF0000"/>
              </a:solidFill>
              <a:latin typeface="Arial" panose="020B0604020202020204"/>
              <a:cs typeface="Arial" panose="020B0604020202020204"/>
              <a:sym typeface="+mn-ea"/>
            </a:endParaRPr>
          </a:p>
          <a:p>
            <a:pPr marL="133985" marR="5080">
              <a:lnSpc>
                <a:spcPct val="100000"/>
              </a:lnSpc>
              <a:spcBef>
                <a:spcPts val="95"/>
              </a:spcBef>
            </a:pPr>
            <a:r>
              <a:rPr lang="en-US" b="1" spc="-10" dirty="0">
                <a:solidFill>
                  <a:srgbClr val="FF0000"/>
                </a:solidFill>
                <a:latin typeface="Arial" panose="020B0604020202020204"/>
                <a:cs typeface="Arial" panose="020B0604020202020204"/>
                <a:sym typeface="+mn-ea"/>
              </a:rPr>
              <a:t>3 3</a:t>
            </a:r>
            <a:endParaRPr lang="en-US" b="1" spc="-10" dirty="0">
              <a:solidFill>
                <a:srgbClr val="FF0000"/>
              </a:solidFill>
              <a:latin typeface="Arial" panose="020B0604020202020204"/>
              <a:cs typeface="Arial" panose="020B0604020202020204"/>
              <a:sym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Jump Statement</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153670" y="1270635"/>
            <a:ext cx="8484235" cy="5736590"/>
          </a:xfrm>
          <a:prstGeom prst="rect">
            <a:avLst/>
          </a:prstGeom>
          <a:noFill/>
        </p:spPr>
        <p:txBody>
          <a:bodyPr wrap="square" rtlCol="0" anchor="t">
            <a:spAutoFit/>
          </a:bodyPr>
          <a:p>
            <a:pPr marL="133985">
              <a:lnSpc>
                <a:spcPct val="100000"/>
              </a:lnSpc>
              <a:spcBef>
                <a:spcPts val="295"/>
              </a:spcBef>
            </a:pPr>
            <a:r>
              <a:rPr spc="-20" dirty="0">
                <a:latin typeface="Arial" panose="020B0604020202020204"/>
                <a:cs typeface="Arial" panose="020B0604020202020204"/>
                <a:sym typeface="+mn-ea"/>
              </a:rPr>
              <a:t>Java </a:t>
            </a:r>
            <a:r>
              <a:rPr spc="-5" dirty="0">
                <a:latin typeface="Arial" panose="020B0604020202020204"/>
                <a:cs typeface="Arial" panose="020B0604020202020204"/>
                <a:sym typeface="+mn-ea"/>
              </a:rPr>
              <a:t>jump statements </a:t>
            </a:r>
            <a:r>
              <a:rPr spc="-10" dirty="0">
                <a:latin typeface="Arial" panose="020B0604020202020204"/>
                <a:cs typeface="Arial" panose="020B0604020202020204"/>
                <a:sym typeface="+mn-ea"/>
              </a:rPr>
              <a:t>enable transfer </a:t>
            </a:r>
            <a:r>
              <a:rPr spc="-5" dirty="0">
                <a:latin typeface="Arial" panose="020B0604020202020204"/>
                <a:cs typeface="Arial" panose="020B0604020202020204"/>
                <a:sym typeface="+mn-ea"/>
              </a:rPr>
              <a:t>of control to</a:t>
            </a:r>
            <a:r>
              <a:rPr spc="70" dirty="0">
                <a:latin typeface="Arial" panose="020B0604020202020204"/>
                <a:cs typeface="Arial" panose="020B0604020202020204"/>
                <a:sym typeface="+mn-ea"/>
              </a:rPr>
              <a:t> </a:t>
            </a:r>
            <a:r>
              <a:rPr spc="-5" dirty="0">
                <a:latin typeface="Arial" panose="020B0604020202020204"/>
                <a:cs typeface="Arial" panose="020B0604020202020204"/>
                <a:sym typeface="+mn-ea"/>
              </a:rPr>
              <a:t>other </a:t>
            </a:r>
            <a:r>
              <a:rPr spc="5" dirty="0">
                <a:latin typeface="Arial" panose="020B0604020202020204"/>
                <a:cs typeface="Arial" panose="020B0604020202020204"/>
                <a:sym typeface="+mn-ea"/>
              </a:rPr>
              <a:t>parts </a:t>
            </a:r>
            <a:r>
              <a:rPr spc="-5" dirty="0">
                <a:latin typeface="Arial" panose="020B0604020202020204"/>
                <a:cs typeface="Arial" panose="020B0604020202020204"/>
                <a:sym typeface="+mn-ea"/>
              </a:rPr>
              <a:t>of</a:t>
            </a:r>
            <a:r>
              <a:rPr spc="-90" dirty="0">
                <a:latin typeface="Arial" panose="020B0604020202020204"/>
                <a:cs typeface="Arial" panose="020B0604020202020204"/>
                <a:sym typeface="+mn-ea"/>
              </a:rPr>
              <a:t> </a:t>
            </a:r>
            <a:r>
              <a:rPr spc="-5" dirty="0">
                <a:latin typeface="Arial" panose="020B0604020202020204"/>
                <a:cs typeface="Arial" panose="020B0604020202020204"/>
                <a:sym typeface="+mn-ea"/>
              </a:rPr>
              <a:t>program</a:t>
            </a:r>
            <a:endParaRPr spc="-5" dirty="0">
              <a:latin typeface="Arial" panose="020B0604020202020204"/>
              <a:cs typeface="Arial" panose="020B0604020202020204"/>
              <a:sym typeface="+mn-ea"/>
            </a:endParaRPr>
          </a:p>
          <a:p>
            <a:pPr marL="133985">
              <a:lnSpc>
                <a:spcPct val="100000"/>
              </a:lnSpc>
              <a:spcBef>
                <a:spcPts val="295"/>
              </a:spcBef>
            </a:pPr>
            <a:endParaRPr>
              <a:latin typeface="Arial" panose="020B0604020202020204"/>
              <a:cs typeface="Arial" panose="020B0604020202020204"/>
            </a:endParaRPr>
          </a:p>
          <a:p>
            <a:pPr marL="133985" indent="-121285">
              <a:lnSpc>
                <a:spcPct val="100000"/>
              </a:lnSpc>
              <a:spcBef>
                <a:spcPts val="195"/>
              </a:spcBef>
              <a:buClr>
                <a:srgbClr val="0000FF"/>
              </a:buClr>
              <a:buSzPct val="90000"/>
              <a:buFont typeface="Lucida Sans Unicode" panose="020B0602030504020204"/>
              <a:buChar char="•"/>
              <a:tabLst>
                <a:tab pos="134620" algn="l"/>
              </a:tabLst>
            </a:pPr>
            <a:r>
              <a:rPr spc="-5" dirty="0">
                <a:solidFill>
                  <a:srgbClr val="FF0000"/>
                </a:solidFill>
                <a:latin typeface="Arial" panose="020B0604020202020204"/>
                <a:cs typeface="Arial" panose="020B0604020202020204"/>
                <a:sym typeface="+mn-ea"/>
              </a:rPr>
              <a:t>break</a:t>
            </a:r>
            <a:r>
              <a:rPr spc="-65" dirty="0">
                <a:solidFill>
                  <a:srgbClr val="FF0000"/>
                </a:solidFill>
                <a:latin typeface="Arial" panose="020B0604020202020204"/>
                <a:cs typeface="Arial" panose="020B0604020202020204"/>
                <a:sym typeface="+mn-ea"/>
              </a:rPr>
              <a:t> </a:t>
            </a:r>
            <a:r>
              <a:rPr spc="-5" dirty="0">
                <a:solidFill>
                  <a:srgbClr val="FF0000"/>
                </a:solidFill>
                <a:latin typeface="Arial" panose="020B0604020202020204"/>
                <a:cs typeface="Arial" panose="020B0604020202020204"/>
                <a:sym typeface="+mn-ea"/>
              </a:rPr>
              <a:t>statement</a:t>
            </a:r>
            <a:endParaRPr>
              <a:latin typeface="Arial" panose="020B0604020202020204"/>
              <a:cs typeface="Arial" panose="020B0604020202020204"/>
            </a:endParaRPr>
          </a:p>
          <a:p>
            <a:pPr marL="387350" lvl="1" indent="-117475">
              <a:lnSpc>
                <a:spcPct val="100000"/>
              </a:lnSpc>
              <a:spcBef>
                <a:spcPts val="195"/>
              </a:spcBef>
              <a:buClr>
                <a:srgbClr val="0000FF"/>
              </a:buClr>
              <a:buSzPct val="89000"/>
              <a:buChar char="•"/>
              <a:tabLst>
                <a:tab pos="387985" algn="l"/>
              </a:tabLst>
            </a:pPr>
            <a:r>
              <a:rPr i="1" spc="-5" dirty="0">
                <a:latin typeface="Arial" panose="020B0604020202020204"/>
                <a:cs typeface="Arial" panose="020B0604020202020204"/>
                <a:sym typeface="+mn-ea"/>
              </a:rPr>
              <a:t>break;</a:t>
            </a:r>
            <a:endParaRPr i="1" spc="-5" dirty="0">
              <a:latin typeface="Arial" panose="020B0604020202020204"/>
              <a:cs typeface="Arial" panose="020B0604020202020204"/>
              <a:sym typeface="+mn-ea"/>
            </a:endParaRPr>
          </a:p>
          <a:p>
            <a:pPr marL="387350" lvl="1" indent="-117475">
              <a:lnSpc>
                <a:spcPct val="100000"/>
              </a:lnSpc>
              <a:spcBef>
                <a:spcPts val="195"/>
              </a:spcBef>
              <a:buClr>
                <a:srgbClr val="0000FF"/>
              </a:buClr>
              <a:buSzPct val="89000"/>
              <a:buChar char="•"/>
              <a:tabLst>
                <a:tab pos="387985" algn="l"/>
              </a:tabLst>
            </a:pPr>
            <a:r>
              <a:rPr spc="-20" dirty="0">
                <a:latin typeface="Arial" panose="020B0604020202020204"/>
                <a:cs typeface="Arial" panose="020B0604020202020204"/>
                <a:sym typeface="+mn-ea"/>
              </a:rPr>
              <a:t>Java </a:t>
            </a:r>
            <a:r>
              <a:rPr spc="-5" dirty="0">
                <a:latin typeface="Arial" panose="020B0604020202020204"/>
                <a:cs typeface="Arial" panose="020B0604020202020204"/>
                <a:sym typeface="+mn-ea"/>
              </a:rPr>
              <a:t>does not </a:t>
            </a:r>
            <a:r>
              <a:rPr spc="-15" dirty="0">
                <a:latin typeface="Arial" panose="020B0604020202020204"/>
                <a:cs typeface="Arial" panose="020B0604020202020204"/>
                <a:sym typeface="+mn-ea"/>
              </a:rPr>
              <a:t>have </a:t>
            </a:r>
            <a:r>
              <a:rPr spc="-5" dirty="0">
                <a:solidFill>
                  <a:srgbClr val="FF0000"/>
                </a:solidFill>
                <a:latin typeface="Arial" panose="020B0604020202020204"/>
                <a:cs typeface="Arial" panose="020B0604020202020204"/>
                <a:sym typeface="+mn-ea"/>
              </a:rPr>
              <a:t>goto</a:t>
            </a:r>
            <a:r>
              <a:rPr dirty="0">
                <a:solidFill>
                  <a:srgbClr val="FF0000"/>
                </a:solidFill>
                <a:latin typeface="Arial" panose="020B0604020202020204"/>
                <a:cs typeface="Arial" panose="020B0604020202020204"/>
                <a:sym typeface="+mn-ea"/>
              </a:rPr>
              <a:t> </a:t>
            </a:r>
            <a:r>
              <a:rPr spc="-5" dirty="0">
                <a:latin typeface="Arial" panose="020B0604020202020204"/>
                <a:cs typeface="Arial" panose="020B0604020202020204"/>
                <a:sym typeface="+mn-ea"/>
              </a:rPr>
              <a:t>statement</a:t>
            </a:r>
            <a:endParaRPr>
              <a:latin typeface="Arial" panose="020B0604020202020204"/>
              <a:cs typeface="Arial" panose="020B0604020202020204"/>
            </a:endParaRPr>
          </a:p>
          <a:p>
            <a:pPr marL="387350" indent="-117475">
              <a:lnSpc>
                <a:spcPct val="100000"/>
              </a:lnSpc>
              <a:spcBef>
                <a:spcPts val="95"/>
              </a:spcBef>
              <a:buClr>
                <a:srgbClr val="0000FF"/>
              </a:buClr>
              <a:buSzPct val="89000"/>
              <a:buChar char="•"/>
              <a:tabLst>
                <a:tab pos="387985" algn="l"/>
              </a:tabLst>
            </a:pPr>
            <a:r>
              <a:rPr i="1" spc="-5" dirty="0">
                <a:latin typeface="Arial" panose="020B0604020202020204"/>
                <a:cs typeface="Arial" panose="020B0604020202020204"/>
                <a:sym typeface="+mn-ea"/>
              </a:rPr>
              <a:t>break</a:t>
            </a:r>
            <a:r>
              <a:rPr i="1" spc="-15" dirty="0">
                <a:latin typeface="Arial" panose="020B0604020202020204"/>
                <a:cs typeface="Arial" panose="020B0604020202020204"/>
                <a:sym typeface="+mn-ea"/>
              </a:rPr>
              <a:t> </a:t>
            </a:r>
            <a:r>
              <a:rPr i="1" spc="-5" dirty="0">
                <a:latin typeface="Arial" panose="020B0604020202020204"/>
                <a:cs typeface="Arial" panose="020B0604020202020204"/>
                <a:sym typeface="+mn-ea"/>
              </a:rPr>
              <a:t>label;</a:t>
            </a:r>
            <a:endParaRPr>
              <a:latin typeface="Arial" panose="020B0604020202020204"/>
              <a:cs typeface="Arial" panose="020B0604020202020204"/>
            </a:endParaRPr>
          </a:p>
          <a:p>
            <a:pPr marL="387350" indent="-117475">
              <a:lnSpc>
                <a:spcPct val="100000"/>
              </a:lnSpc>
              <a:spcBef>
                <a:spcPts val="1110"/>
              </a:spcBef>
              <a:buClr>
                <a:srgbClr val="0000FF"/>
              </a:buClr>
              <a:buSzPct val="89000"/>
              <a:buChar char="•"/>
              <a:tabLst>
                <a:tab pos="387985" algn="l"/>
              </a:tabLst>
            </a:pPr>
            <a:r>
              <a:rPr i="1" spc="-5" dirty="0">
                <a:latin typeface="Arial" panose="020B0604020202020204"/>
                <a:cs typeface="Arial" panose="020B0604020202020204"/>
                <a:sym typeface="+mn-ea"/>
              </a:rPr>
              <a:t>label: { ...</a:t>
            </a:r>
            <a:r>
              <a:rPr i="1" spc="-20" dirty="0">
                <a:latin typeface="Arial" panose="020B0604020202020204"/>
                <a:cs typeface="Arial" panose="020B0604020202020204"/>
                <a:sym typeface="+mn-ea"/>
              </a:rPr>
              <a:t> </a:t>
            </a:r>
            <a:r>
              <a:rPr i="1" spc="-5" dirty="0">
                <a:latin typeface="Arial" panose="020B0604020202020204"/>
                <a:cs typeface="Arial" panose="020B0604020202020204"/>
                <a:sym typeface="+mn-ea"/>
              </a:rPr>
              <a:t>}</a:t>
            </a:r>
            <a:endParaRPr i="1" spc="-5" dirty="0">
              <a:latin typeface="Arial" panose="020B0604020202020204"/>
              <a:cs typeface="Arial" panose="020B0604020202020204"/>
              <a:sym typeface="+mn-ea"/>
            </a:endParaRPr>
          </a:p>
          <a:p>
            <a:pPr marL="269875">
              <a:lnSpc>
                <a:spcPct val="100000"/>
              </a:lnSpc>
              <a:spcBef>
                <a:spcPts val="1110"/>
              </a:spcBef>
              <a:buClr>
                <a:srgbClr val="0000FF"/>
              </a:buClr>
              <a:buSzPct val="89000"/>
              <a:tabLst>
                <a:tab pos="387985" algn="l"/>
              </a:tabLst>
            </a:pPr>
            <a:endParaRPr>
              <a:latin typeface="Arial" panose="020B0604020202020204"/>
              <a:cs typeface="Arial" panose="020B0604020202020204"/>
            </a:endParaRPr>
          </a:p>
          <a:p>
            <a:pPr marL="133985" indent="-121285">
              <a:lnSpc>
                <a:spcPct val="100000"/>
              </a:lnSpc>
              <a:spcBef>
                <a:spcPts val="215"/>
              </a:spcBef>
              <a:buClr>
                <a:srgbClr val="0000FF"/>
              </a:buClr>
              <a:buSzPct val="90000"/>
              <a:buFont typeface="Lucida Sans Unicode" panose="020B0602030504020204"/>
              <a:buChar char="•"/>
              <a:tabLst>
                <a:tab pos="134620" algn="l"/>
              </a:tabLst>
            </a:pPr>
            <a:r>
              <a:rPr spc="-5" dirty="0">
                <a:solidFill>
                  <a:srgbClr val="FF0000"/>
                </a:solidFill>
                <a:latin typeface="Arial" panose="020B0604020202020204"/>
                <a:cs typeface="Arial" panose="020B0604020202020204"/>
                <a:sym typeface="+mn-ea"/>
              </a:rPr>
              <a:t>continue</a:t>
            </a:r>
            <a:r>
              <a:rPr spc="-45" dirty="0">
                <a:solidFill>
                  <a:srgbClr val="FF0000"/>
                </a:solidFill>
                <a:latin typeface="Arial" panose="020B0604020202020204"/>
                <a:cs typeface="Arial" panose="020B0604020202020204"/>
                <a:sym typeface="+mn-ea"/>
              </a:rPr>
              <a:t> </a:t>
            </a:r>
            <a:r>
              <a:rPr spc="-5" dirty="0">
                <a:solidFill>
                  <a:srgbClr val="FF0000"/>
                </a:solidFill>
                <a:latin typeface="Arial" panose="020B0604020202020204"/>
                <a:cs typeface="Arial" panose="020B0604020202020204"/>
                <a:sym typeface="+mn-ea"/>
              </a:rPr>
              <a:t>statement</a:t>
            </a:r>
            <a:endParaRPr>
              <a:latin typeface="Arial" panose="020B0604020202020204"/>
              <a:cs typeface="Arial" panose="020B0604020202020204"/>
            </a:endParaRPr>
          </a:p>
          <a:p>
            <a:pPr marL="387350" lvl="1" indent="-117475">
              <a:lnSpc>
                <a:spcPct val="100000"/>
              </a:lnSpc>
              <a:spcBef>
                <a:spcPts val="195"/>
              </a:spcBef>
              <a:buClr>
                <a:srgbClr val="0000FF"/>
              </a:buClr>
              <a:buSzPct val="89000"/>
              <a:buChar char="•"/>
              <a:tabLst>
                <a:tab pos="387985" algn="l"/>
              </a:tabLst>
            </a:pPr>
            <a:r>
              <a:rPr spc="-5" dirty="0">
                <a:latin typeface="Arial" panose="020B0604020202020204"/>
                <a:cs typeface="Arial" panose="020B0604020202020204"/>
                <a:sym typeface="+mn-ea"/>
              </a:rPr>
              <a:t>The </a:t>
            </a:r>
            <a:r>
              <a:rPr spc="-5" dirty="0">
                <a:solidFill>
                  <a:srgbClr val="FF0000"/>
                </a:solidFill>
                <a:latin typeface="Arial" panose="020B0604020202020204"/>
                <a:cs typeface="Arial" panose="020B0604020202020204"/>
                <a:sym typeface="+mn-ea"/>
              </a:rPr>
              <a:t>break </a:t>
            </a:r>
            <a:r>
              <a:rPr spc="-5" dirty="0">
                <a:latin typeface="Arial" panose="020B0604020202020204"/>
                <a:cs typeface="Arial" panose="020B0604020202020204"/>
                <a:sym typeface="+mn-ea"/>
              </a:rPr>
              <a:t>statement </a:t>
            </a:r>
            <a:r>
              <a:rPr dirty="0">
                <a:latin typeface="Arial" panose="020B0604020202020204"/>
                <a:cs typeface="Arial" panose="020B0604020202020204"/>
                <a:sym typeface="+mn-ea"/>
              </a:rPr>
              <a:t>terminates </a:t>
            </a:r>
            <a:r>
              <a:rPr spc="-5" dirty="0">
                <a:latin typeface="Arial" panose="020B0604020202020204"/>
                <a:cs typeface="Arial" panose="020B0604020202020204"/>
                <a:sym typeface="+mn-ea"/>
              </a:rPr>
              <a:t>the </a:t>
            </a:r>
            <a:r>
              <a:rPr spc="-10" dirty="0">
                <a:latin typeface="Arial" panose="020B0604020202020204"/>
                <a:cs typeface="Arial" panose="020B0604020202020204"/>
                <a:sym typeface="+mn-ea"/>
              </a:rPr>
              <a:t>block </a:t>
            </a:r>
            <a:r>
              <a:rPr spc="-5" dirty="0">
                <a:latin typeface="Arial" panose="020B0604020202020204"/>
                <a:cs typeface="Arial" panose="020B0604020202020204"/>
                <a:sym typeface="+mn-ea"/>
              </a:rPr>
              <a:t>of code, in  </a:t>
            </a:r>
            <a:r>
              <a:rPr dirty="0">
                <a:latin typeface="Arial" panose="020B0604020202020204"/>
                <a:cs typeface="Arial" panose="020B0604020202020204"/>
                <a:sym typeface="+mn-ea"/>
              </a:rPr>
              <a:t>particular </a:t>
            </a:r>
            <a:r>
              <a:rPr spc="-5" dirty="0">
                <a:latin typeface="Arial" panose="020B0604020202020204"/>
                <a:cs typeface="Arial" panose="020B0604020202020204"/>
                <a:sym typeface="+mn-ea"/>
              </a:rPr>
              <a:t>it </a:t>
            </a:r>
            <a:r>
              <a:rPr dirty="0">
                <a:latin typeface="Arial" panose="020B0604020202020204"/>
                <a:cs typeface="Arial" panose="020B0604020202020204"/>
                <a:sym typeface="+mn-ea"/>
              </a:rPr>
              <a:t>terminates </a:t>
            </a:r>
            <a:r>
              <a:rPr spc="-5" dirty="0">
                <a:latin typeface="Arial" panose="020B0604020202020204"/>
                <a:cs typeface="Arial" panose="020B0604020202020204"/>
                <a:sym typeface="+mn-ea"/>
              </a:rPr>
              <a:t>the </a:t>
            </a:r>
            <a:r>
              <a:rPr spc="-10" dirty="0">
                <a:latin typeface="Arial" panose="020B0604020202020204"/>
                <a:cs typeface="Arial" panose="020B0604020202020204"/>
                <a:sym typeface="+mn-ea"/>
              </a:rPr>
              <a:t>execution </a:t>
            </a:r>
            <a:r>
              <a:rPr spc="-5" dirty="0">
                <a:latin typeface="Arial" panose="020B0604020202020204"/>
                <a:cs typeface="Arial" panose="020B0604020202020204"/>
                <a:sym typeface="+mn-ea"/>
              </a:rPr>
              <a:t>of an </a:t>
            </a:r>
            <a:r>
              <a:rPr spc="-10" dirty="0">
                <a:latin typeface="Arial" panose="020B0604020202020204"/>
                <a:cs typeface="Arial" panose="020B0604020202020204"/>
                <a:sym typeface="+mn-ea"/>
              </a:rPr>
              <a:t>iterative  </a:t>
            </a:r>
            <a:r>
              <a:rPr spc="-5" dirty="0">
                <a:latin typeface="Arial" panose="020B0604020202020204"/>
                <a:cs typeface="Arial" panose="020B0604020202020204"/>
                <a:sym typeface="+mn-ea"/>
              </a:rPr>
              <a:t>statement</a:t>
            </a:r>
            <a:endParaRPr>
              <a:latin typeface="Arial" panose="020B0604020202020204"/>
              <a:cs typeface="Arial" panose="020B0604020202020204"/>
            </a:endParaRPr>
          </a:p>
          <a:p>
            <a:pPr marL="133985" indent="-121285">
              <a:lnSpc>
                <a:spcPct val="100000"/>
              </a:lnSpc>
              <a:spcBef>
                <a:spcPts val="95"/>
              </a:spcBef>
              <a:buClr>
                <a:srgbClr val="0000FF"/>
              </a:buClr>
              <a:buSzPct val="90000"/>
              <a:buFont typeface="Lucida Sans Unicode" panose="020B0602030504020204"/>
              <a:buChar char="•"/>
              <a:tabLst>
                <a:tab pos="134620" algn="l"/>
              </a:tabLst>
            </a:pPr>
            <a:endParaRPr lang="en-US" b="1">
              <a:solidFill>
                <a:srgbClr val="9933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Jump Statement</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153670" y="1270635"/>
            <a:ext cx="8484235" cy="2464435"/>
          </a:xfrm>
          <a:prstGeom prst="rect">
            <a:avLst/>
          </a:prstGeom>
          <a:noFill/>
        </p:spPr>
        <p:txBody>
          <a:bodyPr wrap="square" rtlCol="0" anchor="t">
            <a:spAutoFit/>
          </a:bodyPr>
          <a:p>
            <a:pPr marL="129540" marR="5080" indent="-116840">
              <a:lnSpc>
                <a:spcPct val="101000"/>
              </a:lnSpc>
              <a:buClr>
                <a:srgbClr val="0000FF"/>
              </a:buClr>
              <a:buSzPct val="89000"/>
              <a:buFont typeface="Arial" panose="020B0604020202020204"/>
              <a:buChar char="•"/>
              <a:tabLst>
                <a:tab pos="130175" algn="l"/>
              </a:tabLst>
            </a:pPr>
            <a:endParaRPr spc="-5" dirty="0">
              <a:latin typeface="Arial" panose="020B0604020202020204"/>
              <a:cs typeface="Arial" panose="020B0604020202020204"/>
              <a:sym typeface="+mn-ea"/>
            </a:endParaRPr>
          </a:p>
          <a:p>
            <a:pPr marL="129540" marR="5080" indent="-116840">
              <a:lnSpc>
                <a:spcPct val="101000"/>
              </a:lnSpc>
              <a:buClr>
                <a:srgbClr val="0000FF"/>
              </a:buClr>
              <a:buSzPct val="89000"/>
              <a:buFont typeface="Arial" panose="020B0604020202020204"/>
              <a:buChar char="•"/>
              <a:tabLst>
                <a:tab pos="130175" algn="l"/>
              </a:tabLst>
            </a:pPr>
            <a:r>
              <a:rPr spc="-5" dirty="0">
                <a:latin typeface="Arial" panose="020B0604020202020204"/>
                <a:cs typeface="Arial" panose="020B0604020202020204"/>
                <a:sym typeface="+mn-ea"/>
              </a:rPr>
              <a:t>The </a:t>
            </a:r>
            <a:r>
              <a:rPr spc="-5" dirty="0">
                <a:solidFill>
                  <a:srgbClr val="FF0000"/>
                </a:solidFill>
                <a:latin typeface="Arial" panose="020B0604020202020204"/>
                <a:cs typeface="Arial" panose="020B0604020202020204"/>
                <a:sym typeface="+mn-ea"/>
              </a:rPr>
              <a:t>continue </a:t>
            </a:r>
            <a:r>
              <a:rPr spc="-5" dirty="0">
                <a:latin typeface="Arial" panose="020B0604020202020204"/>
                <a:cs typeface="Arial" panose="020B0604020202020204"/>
                <a:sym typeface="+mn-ea"/>
              </a:rPr>
              <a:t>statement </a:t>
            </a:r>
            <a:r>
              <a:rPr spc="-10" dirty="0">
                <a:latin typeface="Arial" panose="020B0604020202020204"/>
                <a:cs typeface="Arial" panose="020B0604020202020204"/>
                <a:sym typeface="+mn-ea"/>
              </a:rPr>
              <a:t>forces </a:t>
            </a:r>
            <a:r>
              <a:rPr spc="-5" dirty="0">
                <a:latin typeface="Arial" panose="020B0604020202020204"/>
                <a:cs typeface="Arial" panose="020B0604020202020204"/>
                <a:sym typeface="+mn-ea"/>
              </a:rPr>
              <a:t>the </a:t>
            </a:r>
            <a:r>
              <a:rPr dirty="0">
                <a:latin typeface="Arial" panose="020B0604020202020204"/>
                <a:cs typeface="Arial" panose="020B0604020202020204"/>
                <a:sym typeface="+mn-ea"/>
              </a:rPr>
              <a:t>early termination </a:t>
            </a:r>
            <a:r>
              <a:rPr spc="-5" dirty="0">
                <a:latin typeface="Arial" panose="020B0604020202020204"/>
                <a:cs typeface="Arial" panose="020B0604020202020204"/>
                <a:sym typeface="+mn-ea"/>
              </a:rPr>
              <a:t>of the  current iteration to begin immediately the </a:t>
            </a:r>
            <a:r>
              <a:rPr spc="-10" dirty="0">
                <a:latin typeface="Arial" panose="020B0604020202020204"/>
                <a:cs typeface="Arial" panose="020B0604020202020204"/>
                <a:sym typeface="+mn-ea"/>
              </a:rPr>
              <a:t>next</a:t>
            </a:r>
            <a:r>
              <a:rPr spc="15" dirty="0">
                <a:latin typeface="Arial" panose="020B0604020202020204"/>
                <a:cs typeface="Arial" panose="020B0604020202020204"/>
                <a:sym typeface="+mn-ea"/>
              </a:rPr>
              <a:t> </a:t>
            </a:r>
            <a:r>
              <a:rPr spc="-5" dirty="0">
                <a:latin typeface="Arial" panose="020B0604020202020204"/>
                <a:cs typeface="Arial" panose="020B0604020202020204"/>
                <a:sym typeface="+mn-ea"/>
              </a:rPr>
              <a:t>iteration</a:t>
            </a:r>
            <a:endParaRPr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endParaRPr>
              <a:latin typeface="Arial" panose="020B0604020202020204"/>
              <a:cs typeface="Arial" panose="020B0604020202020204"/>
            </a:endParaRPr>
          </a:p>
          <a:p>
            <a:pPr marL="129540" indent="-116840">
              <a:lnSpc>
                <a:spcPct val="100000"/>
              </a:lnSpc>
              <a:spcBef>
                <a:spcPts val="15"/>
              </a:spcBef>
              <a:buClr>
                <a:srgbClr val="0000FF"/>
              </a:buClr>
              <a:buSzPct val="89000"/>
              <a:buChar char="•"/>
              <a:tabLst>
                <a:tab pos="130175" algn="l"/>
              </a:tabLst>
            </a:pPr>
            <a:r>
              <a:rPr i="1" spc="-5" dirty="0">
                <a:latin typeface="Arial" panose="020B0604020202020204"/>
                <a:cs typeface="Arial" panose="020B0604020202020204"/>
                <a:sym typeface="+mn-ea"/>
              </a:rPr>
              <a:t>continue;</a:t>
            </a:r>
            <a:endParaRPr>
              <a:latin typeface="Arial" panose="020B0604020202020204"/>
              <a:cs typeface="Arial" panose="020B0604020202020204"/>
            </a:endParaRPr>
          </a:p>
          <a:p>
            <a:pPr marL="129540" indent="-116840">
              <a:lnSpc>
                <a:spcPct val="100000"/>
              </a:lnSpc>
              <a:spcBef>
                <a:spcPts val="1110"/>
              </a:spcBef>
              <a:buClr>
                <a:srgbClr val="0000FF"/>
              </a:buClr>
              <a:buSzPct val="89000"/>
              <a:buChar char="•"/>
              <a:tabLst>
                <a:tab pos="130175" algn="l"/>
              </a:tabLst>
            </a:pPr>
            <a:r>
              <a:rPr i="1" spc="-5" dirty="0">
                <a:latin typeface="Arial" panose="020B0604020202020204"/>
                <a:cs typeface="Arial" panose="020B0604020202020204"/>
                <a:sym typeface="+mn-ea"/>
              </a:rPr>
              <a:t>continue</a:t>
            </a:r>
            <a:r>
              <a:rPr i="1" spc="-10" dirty="0">
                <a:latin typeface="Arial" panose="020B0604020202020204"/>
                <a:cs typeface="Arial" panose="020B0604020202020204"/>
                <a:sym typeface="+mn-ea"/>
              </a:rPr>
              <a:t> </a:t>
            </a:r>
            <a:r>
              <a:rPr i="1" spc="-5" dirty="0">
                <a:latin typeface="Arial" panose="020B0604020202020204"/>
                <a:cs typeface="Arial" panose="020B0604020202020204"/>
                <a:sym typeface="+mn-ea"/>
              </a:rPr>
              <a:t>label;</a:t>
            </a:r>
            <a:endParaRPr lang="en-US" b="1">
              <a:solidFill>
                <a:srgbClr val="9933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Break Statement with Loop</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153670" y="1270635"/>
            <a:ext cx="8484235" cy="3816350"/>
          </a:xfrm>
          <a:prstGeom prst="rect">
            <a:avLst/>
          </a:prstGeom>
          <a:noFill/>
        </p:spPr>
        <p:txBody>
          <a:bodyPr wrap="square" rtlCol="0" anchor="t">
            <a:spAutoFit/>
          </a:bodyPr>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public class BreakExample {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public static void main(String[] args) {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for(int i=1;i&lt;=10;i++){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if(i==5){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break;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System.out.println(i);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  </a:t>
            </a:r>
            <a:endParaRPr b="1" spc="-5" dirty="0">
              <a:latin typeface="Arial" panose="020B0604020202020204"/>
              <a:cs typeface="Arial" panose="020B0604020202020204"/>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Break Statement with Loop</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153670" y="1270635"/>
            <a:ext cx="8484235" cy="2326640"/>
          </a:xfrm>
          <a:prstGeom prst="rect">
            <a:avLst/>
          </a:prstGeom>
          <a:noFill/>
        </p:spPr>
        <p:txBody>
          <a:bodyPr wrap="square" rtlCol="0" anchor="t">
            <a:spAutoFit/>
          </a:bodyPr>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Output:</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1</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2</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3</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4</a:t>
            </a:r>
            <a:endParaRPr b="1" spc="-5" dirty="0">
              <a:latin typeface="Arial" panose="020B0604020202020204"/>
              <a:cs typeface="Arial" panose="020B0604020202020204"/>
              <a:sym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Break Statement with Inner Loop</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153670" y="1270635"/>
            <a:ext cx="8484235" cy="4561840"/>
          </a:xfrm>
          <a:prstGeom prst="rect">
            <a:avLst/>
          </a:prstGeom>
          <a:noFill/>
        </p:spPr>
        <p:txBody>
          <a:bodyPr wrap="square" rtlCol="0" anchor="t">
            <a:spAutoFit/>
          </a:bodyPr>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public class BreakExample2 {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public static void main(String[] args) {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for(int i=1;i&lt;=3;i++){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for(int j=1;j&lt;=3;j++){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if(i==2&amp;&amp;j==2){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break;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System.out.println(i+" "+j);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  </a:t>
            </a:r>
            <a:endParaRPr b="1" spc="-5" dirty="0">
              <a:latin typeface="Arial" panose="020B0604020202020204"/>
              <a:cs typeface="Arial" panose="020B0604020202020204"/>
              <a:sym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Break Statement with Inner Loop</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153670" y="1270635"/>
            <a:ext cx="8484235" cy="3444240"/>
          </a:xfrm>
          <a:prstGeom prst="rect">
            <a:avLst/>
          </a:prstGeom>
          <a:noFill/>
        </p:spPr>
        <p:txBody>
          <a:bodyPr wrap="square" rtlCol="0" anchor="t">
            <a:spAutoFit/>
          </a:bodyPr>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Output:</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1 1</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1 2</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1 3</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2 1</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3 1</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3 2</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3 3</a:t>
            </a:r>
            <a:endParaRPr b="1" spc="-5" dirty="0">
              <a:latin typeface="Arial" panose="020B0604020202020204"/>
              <a:cs typeface="Arial" panose="020B0604020202020204"/>
              <a:sym typeface="+mn-e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Continue Statement Example</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153670" y="1270635"/>
            <a:ext cx="8484235" cy="3816350"/>
          </a:xfrm>
          <a:prstGeom prst="rect">
            <a:avLst/>
          </a:prstGeom>
          <a:noFill/>
        </p:spPr>
        <p:txBody>
          <a:bodyPr wrap="square" rtlCol="0" anchor="t">
            <a:spAutoFit/>
          </a:bodyPr>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public class ContinueExample {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public static void main(String[] args) {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for(int i=1;i&lt;=10;i++){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if(i==5){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continue;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System.out.println(i);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  </a:t>
            </a:r>
            <a:endParaRPr b="1" spc="-5" dirty="0">
              <a:latin typeface="Arial" panose="020B0604020202020204"/>
              <a:cs typeface="Arial" panose="020B0604020202020204"/>
              <a:sym typeface="+mn-e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Continue Statement Example</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153670" y="1270635"/>
            <a:ext cx="8484235" cy="4189095"/>
          </a:xfrm>
          <a:prstGeom prst="rect">
            <a:avLst/>
          </a:prstGeom>
          <a:noFill/>
        </p:spPr>
        <p:txBody>
          <a:bodyPr wrap="square" rtlCol="0" anchor="t">
            <a:spAutoFit/>
          </a:bodyPr>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Output:</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1</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2</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3</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4</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6</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7</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8</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9</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10</a:t>
            </a:r>
            <a:endParaRPr b="1" spc="-5" dirty="0">
              <a:latin typeface="Arial" panose="020B0604020202020204"/>
              <a:cs typeface="Arial" panose="020B0604020202020204"/>
              <a:sym typeface="+mn-e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Continue Statement with Inner Loop</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153670" y="1270635"/>
            <a:ext cx="8484235" cy="4561840"/>
          </a:xfrm>
          <a:prstGeom prst="rect">
            <a:avLst/>
          </a:prstGeom>
          <a:noFill/>
        </p:spPr>
        <p:txBody>
          <a:bodyPr wrap="square" rtlCol="0" anchor="t">
            <a:spAutoFit/>
          </a:bodyPr>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public class ContinueExample2 {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public static void main(String[] args) {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for(int i=1;i&lt;=3;i++){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for(int j=1;j&lt;=3;j++){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if(i==2&amp;&amp;j==2){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continue;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System.out.println(i+" "+j);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  </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    }  </a:t>
            </a:r>
            <a:endParaRPr b="1" spc="-5" dirty="0">
              <a:latin typeface="Arial" panose="020B0604020202020204"/>
              <a:cs typeface="Arial" panose="020B0604020202020204"/>
              <a:sym typeface="+mn-e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Continue Statement with Inner Loop</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153670" y="1270635"/>
            <a:ext cx="8484235" cy="3816350"/>
          </a:xfrm>
          <a:prstGeom prst="rect">
            <a:avLst/>
          </a:prstGeom>
          <a:noFill/>
        </p:spPr>
        <p:txBody>
          <a:bodyPr wrap="square" rtlCol="0" anchor="t">
            <a:spAutoFit/>
          </a:bodyPr>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Output:</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1 1</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1 2</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1 3</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2 1</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2 3</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3 1</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3 2</a:t>
            </a:r>
            <a:endParaRPr b="1" spc="-5" dirty="0">
              <a:latin typeface="Arial" panose="020B0604020202020204"/>
              <a:cs typeface="Arial" panose="020B0604020202020204"/>
              <a:sym typeface="+mn-ea"/>
            </a:endParaRPr>
          </a:p>
          <a:p>
            <a:pPr marL="12700" marR="5080">
              <a:lnSpc>
                <a:spcPct val="101000"/>
              </a:lnSpc>
              <a:buClr>
                <a:srgbClr val="0000FF"/>
              </a:buClr>
              <a:buSzPct val="89000"/>
              <a:buFont typeface="Arial" panose="020B0604020202020204"/>
              <a:tabLst>
                <a:tab pos="130175" algn="l"/>
              </a:tabLst>
            </a:pPr>
            <a:r>
              <a:rPr b="1" spc="-5" dirty="0">
                <a:latin typeface="Arial" panose="020B0604020202020204"/>
                <a:cs typeface="Arial" panose="020B0604020202020204"/>
                <a:sym typeface="+mn-ea"/>
              </a:rPr>
              <a:t>3 3</a:t>
            </a:r>
            <a:endParaRPr b="1" spc="-5" dirty="0">
              <a:latin typeface="Arial" panose="020B0604020202020204"/>
              <a:cs typeface="Arial" panose="020B0604020202020204"/>
              <a:sym typeface="+mn-ea"/>
            </a:endParaRPr>
          </a:p>
        </p:txBody>
      </p:sp>
    </p:spTree>
  </p:cSld>
  <p:clrMapOvr>
    <a:masterClrMapping/>
  </p:clrMapOvr>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C:\WINNT\Profiles\Administrator\Application Data\Microsoft\Templates\LiquidGold.pot</Template>
  <TotalTime>0</TotalTime>
  <Words>13231</Words>
  <Application>WPS Presentation</Application>
  <PresentationFormat/>
  <Paragraphs>741</Paragraphs>
  <Slides>53</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53</vt:i4>
      </vt:variant>
    </vt:vector>
  </HeadingPairs>
  <TitlesOfParts>
    <vt:vector size="65" baseType="lpstr">
      <vt:lpstr>Arial</vt:lpstr>
      <vt:lpstr>SimSun</vt:lpstr>
      <vt:lpstr>Wingdings</vt:lpstr>
      <vt:lpstr>Times New Roman</vt:lpstr>
      <vt:lpstr>Impact</vt:lpstr>
      <vt:lpstr>Microsoft YaHei</vt:lpstr>
      <vt:lpstr>Arial Unicode MS</vt:lpstr>
      <vt:lpstr>Calibri</vt:lpstr>
      <vt:lpstr>Wingdings</vt:lpstr>
      <vt:lpstr>Arial</vt:lpstr>
      <vt:lpstr>Lucida Sans Unicode</vt:lpstr>
      <vt:lpstr>Blue Waves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comp1</dc:creator>
  <cp:lastModifiedBy>nEW u</cp:lastModifiedBy>
  <cp:revision>372</cp:revision>
  <dcterms:created xsi:type="dcterms:W3CDTF">2001-06-04T11:43:00Z</dcterms:created>
  <dcterms:modified xsi:type="dcterms:W3CDTF">2022-02-09T02:35:12Z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1033-11.2.0.10463</vt:lpwstr>
  </property>
  <property fmtid="{D5CDD505-2E9C-101B-9397-08002B2CF9AE}" pid="3" name="ICV">
    <vt:lpwstr>258C201BB8344AA7996CEB1B5DA2BAD1</vt:lpwstr>
  </property>
</Properties>
</file>