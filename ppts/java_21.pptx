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12"/>
  </p:handoutMasterIdLst>
  <p:sldIdLst>
    <p:sldId id="260" r:id="rId3"/>
    <p:sldId id="534" r:id="rId4"/>
    <p:sldId id="535" r:id="rId5"/>
    <p:sldId id="536" r:id="rId6"/>
    <p:sldId id="532" r:id="rId7"/>
    <p:sldId id="533" r:id="rId8"/>
    <p:sldId id="537" r:id="rId9"/>
    <p:sldId id="538" r:id="rId10"/>
    <p:sldId id="539" r:id="rId11"/>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80" userDrawn="1">
          <p15:clr>
            <a:srgbClr val="A4A3A4"/>
          </p15:clr>
        </p15:guide>
        <p15:guide id="2" pos="28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850"/>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handoutMaster" Target="handoutMasters/handout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Swing </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Swing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70840" y="2031365"/>
            <a:ext cx="840867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Java Swing is a part of Java Foundation Classes (JFC) that is used to create window-based applications. It is built on the top of AWT (Abstract Windowing Toolkit) API and entirely written in java.</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Unlike AWT, Java Swing provides platform-independent and lightweight components.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 javax.swing package provides classes for java swing API such as JButton, JTextField, JTextArea, JRadioButton, JCheckbox, JMenu, JColorChooser etc.</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Swing </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Swing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124460" y="2031365"/>
            <a:ext cx="8803005" cy="4892675"/>
          </a:xfrm>
          <a:prstGeom prst="rect">
            <a:avLst/>
          </a:prstGeom>
          <a:noFill/>
        </p:spPr>
        <p:txBody>
          <a:bodyPr wrap="square" rtlCol="0" anchor="t">
            <a:spAutoFit/>
          </a:bodyPr>
          <a:p>
            <a:r>
              <a:rPr lang="en-US" altLang="en-US" b="1">
                <a:latin typeface="Times New Roman" panose="02020603050405020304" pitchFamily="18" charset="0"/>
                <a:cs typeface="Times New Roman" panose="02020603050405020304" pitchFamily="18" charset="0"/>
              </a:rPr>
              <a:t>Java Swing, a graphical user interface (GUI) toolkit, has been a cornerstone of Java development for decades. Since its inception, Swing has provided Java developers with a robust framework for creating interactive, platform-independent applications. In this article, we'll delve into the fundamentals of Java Swing, explore its key features, and discuss its relevance in modern application development.</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Java Swing was introduced as part of the Java Foundation Classes (JFC) in the late 1990s, aiming to address the limitations of the earlier Abstract Window Toolkit (AWT). Unlike AWT, that relies on the native platform's components for rendering, Swing is entirely written in Java, offering a consistent look and feel across different operating systems.</a:t>
            </a:r>
            <a:endParaRPr lang="en-US" alt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Swing </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pPr marR="0" defTabSz="914400">
              <a:spcBef>
                <a:spcPct val="50000"/>
              </a:spcBef>
              <a:buClrTx/>
              <a:buSzTx/>
              <a:buFontTx/>
              <a:buNone/>
              <a:defRPr/>
            </a:pPr>
            <a:r>
              <a:rPr lang="en-US" altLang="en-US" sz="3200" noProof="0">
                <a:solidFill>
                  <a:srgbClr val="993300"/>
                </a:solidFill>
                <a:latin typeface="Impact" panose="020B0806030902050204" pitchFamily="34" charset="0"/>
                <a:sym typeface="+mn-ea"/>
              </a:rPr>
              <a:t>Key Features of Java Swing</a:t>
            </a:r>
            <a:r>
              <a:rPr lang="en-US" sz="3200" noProof="0">
                <a:solidFill>
                  <a:srgbClr val="993300"/>
                </a:solidFill>
                <a:latin typeface="Impact" panose="020B0806030902050204" pitchFamily="34" charset="0"/>
                <a:sym typeface="+mn-ea"/>
              </a:rPr>
              <a:t>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641985" y="2031365"/>
            <a:ext cx="8285480" cy="3415030"/>
          </a:xfrm>
          <a:prstGeom prst="rect">
            <a:avLst/>
          </a:prstGeom>
          <a:noFill/>
        </p:spPr>
        <p:txBody>
          <a:bodyPr wrap="square" rtlCol="0" anchor="t">
            <a:spAutoFit/>
          </a:bodyPr>
          <a:p>
            <a:r>
              <a:rPr lang="en-US" altLang="en-US" b="1">
                <a:latin typeface="Times New Roman" panose="02020603050405020304" pitchFamily="18" charset="0"/>
                <a:cs typeface="Times New Roman" panose="02020603050405020304" pitchFamily="18" charset="0"/>
              </a:rPr>
              <a:t>1. Platform Independence</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2. Rich Set of Components</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3. Customizability</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4. Event Handling</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5. Layout Managers</a:t>
            </a:r>
            <a:endParaRPr lang="en-US" alt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Swing </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pPr marR="0" defTabSz="914400">
              <a:spcBef>
                <a:spcPct val="50000"/>
              </a:spcBef>
              <a:buClrTx/>
              <a:buSzTx/>
              <a:buFontTx/>
              <a:buNone/>
              <a:defRPr/>
            </a:pPr>
            <a:r>
              <a:rPr lang="en-US" altLang="en-US" sz="3200" noProof="0">
                <a:solidFill>
                  <a:srgbClr val="993300"/>
                </a:solidFill>
                <a:latin typeface="Impact" panose="020B0806030902050204" pitchFamily="34" charset="0"/>
                <a:sym typeface="+mn-ea"/>
              </a:rPr>
              <a:t>Modern Applications of Java Swing</a:t>
            </a:r>
            <a:r>
              <a:rPr lang="en-US" sz="3200" noProof="0">
                <a:solidFill>
                  <a:srgbClr val="993300"/>
                </a:solidFill>
                <a:latin typeface="Impact" panose="020B0806030902050204" pitchFamily="34" charset="0"/>
                <a:sym typeface="+mn-ea"/>
              </a:rPr>
              <a:t>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641985" y="2031365"/>
            <a:ext cx="8285480" cy="3784600"/>
          </a:xfrm>
          <a:prstGeom prst="rect">
            <a:avLst/>
          </a:prstGeom>
          <a:noFill/>
        </p:spPr>
        <p:txBody>
          <a:bodyPr wrap="square" rtlCol="0" anchor="t">
            <a:spAutoFit/>
          </a:bodyPr>
          <a:p>
            <a:r>
              <a:rPr lang="en-US" altLang="en-US" b="1">
                <a:latin typeface="Times New Roman" panose="02020603050405020304" pitchFamily="18" charset="0"/>
                <a:cs typeface="Times New Roman" panose="02020603050405020304" pitchFamily="18" charset="0"/>
              </a:rPr>
              <a:t>While newer GUI frameworks such as JavaFX and web technologies like React and Angular have gained popularity in recent years, Java Swing remains a viable choice for certain types of applications:</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1. Desktop Applications</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2. Legacy Systems</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3. Educational Purposes</a:t>
            </a:r>
            <a:endParaRPr lang="en-US" alt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Swing </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Difference between AWT and Swing</a:t>
            </a:r>
            <a:endParaRPr lang="en-US" sz="3200" noProof="0">
              <a:solidFill>
                <a:srgbClr val="993300"/>
              </a:solidFill>
              <a:latin typeface="Impact" panose="020B0806030902050204" pitchFamily="34" charset="0"/>
              <a:sym typeface="+mn-ea"/>
            </a:endParaRPr>
          </a:p>
        </p:txBody>
      </p:sp>
      <p:graphicFrame>
        <p:nvGraphicFramePr>
          <p:cNvPr id="4" name="Table 3"/>
          <p:cNvGraphicFramePr/>
          <p:nvPr/>
        </p:nvGraphicFramePr>
        <p:xfrm>
          <a:off x="130810" y="2057400"/>
          <a:ext cx="8204835" cy="5760720"/>
        </p:xfrm>
        <a:graphic>
          <a:graphicData uri="http://schemas.openxmlformats.org/drawingml/2006/table">
            <a:tbl>
              <a:tblPr firstRow="1" bandRow="1">
                <a:tableStyleId>{5C22544A-7EE6-4342-B048-85BDC9FD1C3A}</a:tableStyleId>
              </a:tblPr>
              <a:tblGrid>
                <a:gridCol w="1245235"/>
                <a:gridCol w="3797723"/>
                <a:gridCol w="3161665"/>
              </a:tblGrid>
              <a:tr h="396240">
                <a:tc>
                  <a:txBody>
                    <a:bodyPr/>
                    <a:p>
                      <a:pPr>
                        <a:buNone/>
                      </a:pPr>
                      <a:endParaRPr lang="en-US"/>
                    </a:p>
                  </a:txBody>
                  <a:tcPr/>
                </a:tc>
                <a:tc>
                  <a:txBody>
                    <a:bodyPr/>
                    <a:p>
                      <a:pPr>
                        <a:buNone/>
                      </a:pPr>
                      <a:r>
                        <a:rPr lang="en-US" sz="1800">
                          <a:sym typeface="+mn-ea"/>
                        </a:rPr>
                        <a:t>Java AWT</a:t>
                      </a:r>
                      <a:endParaRPr lang="en-US" sz="1800"/>
                    </a:p>
                    <a:p>
                      <a:pPr>
                        <a:buNone/>
                      </a:pPr>
                      <a:endParaRPr lang="en-US"/>
                    </a:p>
                  </a:txBody>
                  <a:tcPr/>
                </a:tc>
                <a:tc>
                  <a:txBody>
                    <a:bodyPr/>
                    <a:p>
                      <a:pPr>
                        <a:buNone/>
                      </a:pPr>
                      <a:r>
                        <a:rPr lang="en-US" sz="1800">
                          <a:sym typeface="+mn-ea"/>
                        </a:rPr>
                        <a:t>Java Swing</a:t>
                      </a:r>
                      <a:endParaRPr lang="en-US" sz="1800"/>
                    </a:p>
                    <a:p>
                      <a:pPr>
                        <a:buNone/>
                      </a:pPr>
                      <a:endParaRPr lang="en-US"/>
                    </a:p>
                  </a:txBody>
                  <a:tcPr/>
                </a:tc>
              </a:tr>
              <a:tr h="381000">
                <a:tc>
                  <a:txBody>
                    <a:bodyPr/>
                    <a:p>
                      <a:pPr>
                        <a:buNone/>
                      </a:pPr>
                      <a:r>
                        <a:rPr lang="en-US"/>
                        <a:t>1)</a:t>
                      </a:r>
                      <a:endParaRPr lang="en-US"/>
                    </a:p>
                  </a:txBody>
                  <a:tcPr/>
                </a:tc>
                <a:tc>
                  <a:txBody>
                    <a:bodyPr/>
                    <a:p>
                      <a:pPr>
                        <a:buNone/>
                      </a:pPr>
                      <a:r>
                        <a:rPr lang="en-US"/>
                        <a:t>AWT components are platform-dependent.</a:t>
                      </a:r>
                      <a:endParaRPr lang="en-US"/>
                    </a:p>
                  </a:txBody>
                  <a:tcPr/>
                </a:tc>
                <a:tc>
                  <a:txBody>
                    <a:bodyPr/>
                    <a:p>
                      <a:pPr>
                        <a:buNone/>
                      </a:pPr>
                      <a:r>
                        <a:rPr lang="en-US"/>
                        <a:t>Java swing components are platform-independent.</a:t>
                      </a:r>
                      <a:endParaRPr lang="en-US"/>
                    </a:p>
                  </a:txBody>
                  <a:tcPr/>
                </a:tc>
              </a:tr>
              <a:tr h="381000">
                <a:tc>
                  <a:txBody>
                    <a:bodyPr/>
                    <a:p>
                      <a:pPr>
                        <a:buNone/>
                      </a:pPr>
                      <a:r>
                        <a:rPr lang="en-US"/>
                        <a:t>2)</a:t>
                      </a:r>
                      <a:endParaRPr lang="en-US"/>
                    </a:p>
                  </a:txBody>
                  <a:tcPr/>
                </a:tc>
                <a:tc>
                  <a:txBody>
                    <a:bodyPr/>
                    <a:p>
                      <a:pPr>
                        <a:buNone/>
                      </a:pPr>
                      <a:r>
                        <a:rPr lang="en-US"/>
                        <a:t>AWT components are heavyweight.</a:t>
                      </a:r>
                      <a:endParaRPr lang="en-US"/>
                    </a:p>
                  </a:txBody>
                  <a:tcPr/>
                </a:tc>
                <a:tc>
                  <a:txBody>
                    <a:bodyPr/>
                    <a:p>
                      <a:pPr>
                        <a:buNone/>
                      </a:pPr>
                      <a:r>
                        <a:rPr lang="en-US"/>
                        <a:t>Swing components are lightweight.</a:t>
                      </a:r>
                      <a:endParaRPr lang="en-US"/>
                    </a:p>
                  </a:txBody>
                  <a:tcPr/>
                </a:tc>
              </a:tr>
              <a:tr h="381000">
                <a:tc>
                  <a:txBody>
                    <a:bodyPr/>
                    <a:p>
                      <a:pPr>
                        <a:buNone/>
                      </a:pPr>
                      <a:r>
                        <a:rPr lang="en-US"/>
                        <a:t>3)</a:t>
                      </a:r>
                      <a:endParaRPr lang="en-US"/>
                    </a:p>
                  </a:txBody>
                  <a:tcPr/>
                </a:tc>
                <a:tc>
                  <a:txBody>
                    <a:bodyPr/>
                    <a:p>
                      <a:pPr>
                        <a:buNone/>
                      </a:pPr>
                      <a:r>
                        <a:rPr lang="en-US"/>
                        <a:t>AWT doesn't support pluggable look and feel.</a:t>
                      </a:r>
                      <a:endParaRPr lang="en-US"/>
                    </a:p>
                  </a:txBody>
                  <a:tcPr/>
                </a:tc>
                <a:tc>
                  <a:txBody>
                    <a:bodyPr/>
                    <a:p>
                      <a:pPr>
                        <a:buNone/>
                      </a:pPr>
                      <a:r>
                        <a:rPr lang="en-US"/>
                        <a:t>Swing supports pluggable look and feel.</a:t>
                      </a:r>
                      <a:endParaRPr lang="en-US"/>
                    </a:p>
                  </a:txBody>
                  <a:tcPr/>
                </a:tc>
              </a:tr>
              <a:tr h="381000">
                <a:tc>
                  <a:txBody>
                    <a:bodyPr/>
                    <a:p>
                      <a:pPr>
                        <a:buNone/>
                      </a:pPr>
                      <a:r>
                        <a:rPr lang="en-US"/>
                        <a:t>4)</a:t>
                      </a:r>
                      <a:endParaRPr lang="en-US"/>
                    </a:p>
                  </a:txBody>
                  <a:tcPr/>
                </a:tc>
                <a:tc>
                  <a:txBody>
                    <a:bodyPr/>
                    <a:p>
                      <a:pPr>
                        <a:buNone/>
                      </a:pPr>
                      <a:r>
                        <a:rPr lang="en-US"/>
                        <a:t>AWT provides less components than Swing.</a:t>
                      </a:r>
                      <a:endParaRPr lang="en-US"/>
                    </a:p>
                  </a:txBody>
                  <a:tcPr/>
                </a:tc>
                <a:tc>
                  <a:txBody>
                    <a:bodyPr/>
                    <a:p>
                      <a:pPr>
                        <a:buNone/>
                      </a:pPr>
                      <a:r>
                        <a:rPr lang="en-US"/>
                        <a:t>Swing provides more powerful components such as tables, lists, scrollpanes, colorchooser, tabbedpane etc.</a:t>
                      </a:r>
                      <a:endParaRPr lang="en-US"/>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Swing </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Difference between AWT and Swing</a:t>
            </a:r>
            <a:endParaRPr lang="en-US" sz="3200" noProof="0">
              <a:solidFill>
                <a:srgbClr val="993300"/>
              </a:solidFill>
              <a:latin typeface="Impact" panose="020B0806030902050204" pitchFamily="34" charset="0"/>
              <a:sym typeface="+mn-ea"/>
            </a:endParaRPr>
          </a:p>
        </p:txBody>
      </p:sp>
      <p:graphicFrame>
        <p:nvGraphicFramePr>
          <p:cNvPr id="4" name="Table 3"/>
          <p:cNvGraphicFramePr/>
          <p:nvPr/>
        </p:nvGraphicFramePr>
        <p:xfrm>
          <a:off x="685800" y="2296795"/>
          <a:ext cx="7428230" cy="5760720"/>
        </p:xfrm>
        <a:graphic>
          <a:graphicData uri="http://schemas.openxmlformats.org/drawingml/2006/table">
            <a:tbl>
              <a:tblPr firstRow="1" bandRow="1">
                <a:tableStyleId>{5C22544A-7EE6-4342-B048-85BDC9FD1C3A}</a:tableStyleId>
              </a:tblPr>
              <a:tblGrid>
                <a:gridCol w="468630"/>
                <a:gridCol w="3797723"/>
                <a:gridCol w="3161665"/>
              </a:tblGrid>
              <a:tr h="396240">
                <a:tc>
                  <a:txBody>
                    <a:bodyPr/>
                    <a:p>
                      <a:pPr>
                        <a:buNone/>
                      </a:pPr>
                      <a:endParaRPr lang="en-US"/>
                    </a:p>
                  </a:txBody>
                  <a:tcPr/>
                </a:tc>
                <a:tc>
                  <a:txBody>
                    <a:bodyPr/>
                    <a:p>
                      <a:pPr>
                        <a:buNone/>
                      </a:pPr>
                      <a:r>
                        <a:rPr lang="en-US" sz="1800">
                          <a:sym typeface="+mn-ea"/>
                        </a:rPr>
                        <a:t>Java AWT</a:t>
                      </a:r>
                      <a:endParaRPr lang="en-US" sz="1800"/>
                    </a:p>
                    <a:p>
                      <a:pPr>
                        <a:buNone/>
                      </a:pPr>
                      <a:endParaRPr lang="en-US"/>
                    </a:p>
                  </a:txBody>
                  <a:tcPr/>
                </a:tc>
                <a:tc>
                  <a:txBody>
                    <a:bodyPr/>
                    <a:p>
                      <a:pPr>
                        <a:buNone/>
                      </a:pPr>
                      <a:r>
                        <a:rPr lang="en-US" sz="1800">
                          <a:sym typeface="+mn-ea"/>
                        </a:rPr>
                        <a:t>Java Swing</a:t>
                      </a:r>
                      <a:endParaRPr lang="en-US" sz="1800"/>
                    </a:p>
                    <a:p>
                      <a:pPr>
                        <a:buNone/>
                      </a:pPr>
                      <a:endParaRPr lang="en-US"/>
                    </a:p>
                  </a:txBody>
                  <a:tcPr/>
                </a:tc>
              </a:tr>
              <a:tr h="381000">
                <a:tc>
                  <a:txBody>
                    <a:bodyPr/>
                    <a:p>
                      <a:pPr>
                        <a:buNone/>
                      </a:pPr>
                      <a:r>
                        <a:rPr lang="en-US"/>
                        <a:t>5)</a:t>
                      </a:r>
                      <a:endParaRPr lang="en-US"/>
                    </a:p>
                  </a:txBody>
                  <a:tcPr/>
                </a:tc>
                <a:tc>
                  <a:txBody>
                    <a:bodyPr/>
                    <a:p>
                      <a:pPr>
                        <a:buNone/>
                      </a:pPr>
                      <a:r>
                        <a:rPr lang="en-US"/>
                        <a:t>AWT doesn't follows MVC(Model View Controller) where model represents data, view represents presentation and controller acts as an interface between model and view.</a:t>
                      </a:r>
                      <a:endParaRPr lang="en-US"/>
                    </a:p>
                  </a:txBody>
                  <a:tcPr/>
                </a:tc>
                <a:tc>
                  <a:txBody>
                    <a:bodyPr/>
                    <a:p>
                      <a:pPr>
                        <a:buNone/>
                      </a:pPr>
                      <a:r>
                        <a:rPr lang="en-US"/>
                        <a:t>Swing follows MV</a:t>
                      </a:r>
                      <a:endParaRPr lang="en-US"/>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Swing </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pPr marR="0" defTabSz="914400">
              <a:spcBef>
                <a:spcPct val="50000"/>
              </a:spcBef>
              <a:buClrTx/>
              <a:buSzTx/>
              <a:buFontTx/>
              <a:buNone/>
              <a:defRPr/>
            </a:pPr>
            <a:r>
              <a:rPr lang="en-US" altLang="en-US" sz="3200" noProof="0">
                <a:solidFill>
                  <a:srgbClr val="993300"/>
                </a:solidFill>
                <a:latin typeface="Impact" panose="020B0806030902050204" pitchFamily="34" charset="0"/>
                <a:sym typeface="+mn-ea"/>
              </a:rPr>
              <a:t>What is JFC</a:t>
            </a:r>
            <a:r>
              <a:rPr lang="en-US" sz="3200" noProof="0">
                <a:solidFill>
                  <a:srgbClr val="993300"/>
                </a:solidFill>
                <a:latin typeface="Impact" panose="020B0806030902050204" pitchFamily="34" charset="0"/>
                <a:sym typeface="+mn-ea"/>
              </a:rPr>
              <a:t>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641985" y="2031365"/>
            <a:ext cx="8285480" cy="4892675"/>
          </a:xfrm>
          <a:prstGeom prst="rect">
            <a:avLst/>
          </a:prstGeom>
          <a:noFill/>
        </p:spPr>
        <p:txBody>
          <a:bodyPr wrap="square" rtlCol="0" anchor="t">
            <a:spAutoFit/>
          </a:bodyPr>
          <a:p>
            <a:r>
              <a:rPr lang="en-US" altLang="en-US" b="1">
                <a:latin typeface="Times New Roman" panose="02020603050405020304" pitchFamily="18" charset="0"/>
                <a:cs typeface="Times New Roman" panose="02020603050405020304" pitchFamily="18" charset="0"/>
              </a:rPr>
              <a:t>The Java Foundation Classes (JFC) are a set of GUI components which simplify the development of desktop applications.</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Java Swing Examples :</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There are two ways to create a frame:</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1. By creating the object of Frame class (association)</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2. By extending Frame class (inheritance)</a:t>
            </a:r>
            <a:endParaRPr lang="en-US" altLang="en-US" b="1">
              <a:latin typeface="Times New Roman" panose="02020603050405020304" pitchFamily="18" charset="0"/>
              <a:cs typeface="Times New Roman" panose="02020603050405020304" pitchFamily="18" charset="0"/>
            </a:endParaRPr>
          </a:p>
          <a:p>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We can write the code of swing inside the main(), constructor or any other method.</a:t>
            </a:r>
            <a:endParaRPr lang="en-US" alt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Swing </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04800" y="1268730"/>
            <a:ext cx="7857490" cy="583565"/>
          </a:xfrm>
          <a:prstGeom prst="rect">
            <a:avLst/>
          </a:prstGeom>
          <a:noFill/>
        </p:spPr>
        <p:txBody>
          <a:bodyPr wrap="square" rtlCol="0" anchor="t">
            <a:spAutoFit/>
          </a:bodyPr>
          <a:p>
            <a:pPr marR="0" defTabSz="914400">
              <a:spcBef>
                <a:spcPct val="50000"/>
              </a:spcBef>
              <a:buClrTx/>
              <a:buSzTx/>
              <a:buFontTx/>
              <a:buNone/>
              <a:defRPr/>
            </a:pPr>
            <a:r>
              <a:rPr lang="en-US" altLang="en-US" sz="3200" noProof="0">
                <a:solidFill>
                  <a:srgbClr val="993300"/>
                </a:solidFill>
                <a:latin typeface="Impact" panose="020B0806030902050204" pitchFamily="34" charset="0"/>
                <a:sym typeface="+mn-ea"/>
              </a:rPr>
              <a:t>Hierarchy of Java Swing classes :</a:t>
            </a:r>
            <a:endParaRPr lang="en-US" sz="3200" b="1">
              <a:solidFill>
                <a:srgbClr val="C00000"/>
              </a:solidFill>
              <a:latin typeface="Times New Roman" panose="02020603050405020304" pitchFamily="18" charset="0"/>
              <a:cs typeface="Times New Roman" panose="02020603050405020304" pitchFamily="18" charset="0"/>
            </a:endParaRPr>
          </a:p>
        </p:txBody>
      </p:sp>
      <p:pic>
        <p:nvPicPr>
          <p:cNvPr id="4" name="Picture 3" descr="swinghierarchy"/>
          <p:cNvPicPr>
            <a:picLocks noChangeAspect="1"/>
          </p:cNvPicPr>
          <p:nvPr/>
        </p:nvPicPr>
        <p:blipFill>
          <a:blip r:embed="rId1"/>
          <a:stretch>
            <a:fillRect/>
          </a:stretch>
        </p:blipFill>
        <p:spPr>
          <a:xfrm>
            <a:off x="304800" y="2120900"/>
            <a:ext cx="8347075" cy="43865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Swing </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66700" y="1402080"/>
            <a:ext cx="8660765" cy="5608955"/>
          </a:xfrm>
          <a:prstGeom prst="rect">
            <a:avLst/>
          </a:prstGeom>
          <a:noFill/>
        </p:spPr>
        <p:txBody>
          <a:bodyPr wrap="square" rtlCol="0" anchor="t">
            <a:noAutofit/>
          </a:bodyPr>
          <a:p>
            <a:r>
              <a:rPr lang="en-US" altLang="en-US" b="1">
                <a:latin typeface="Times New Roman" panose="02020603050405020304" pitchFamily="18" charset="0"/>
                <a:cs typeface="Times New Roman" panose="02020603050405020304" pitchFamily="18" charset="0"/>
              </a:rPr>
              <a:t>    import javax.swing.*;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public class FirstSwingExample {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public static void main(String[] args) {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JFrame f=new JFrame();//creating instance of JFrame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JButton b=new JButton("click");//creating instance of JButton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b.setBounds(130,100,100, 40);//x axis, y axis, width, height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f.add(b);//adding button in JFrame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f.setSize(400,500);//400 width and 500 height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f.setLayout(null);//using no layout managers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f.setVisible(true);//making the frame visible  </a:t>
            </a:r>
            <a:endParaRPr lang="en-US" altLang="en-US" b="1">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    }}  </a:t>
            </a:r>
            <a:endParaRPr lang="en-US" altLang="en-US" b="1">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3328</Words>
  <Application>WPS Presentation</Application>
  <PresentationFormat/>
  <Paragraphs>128</Paragraphs>
  <Slides>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SimSun</vt:lpstr>
      <vt:lpstr>Wingdings</vt:lpstr>
      <vt:lpstr>Impact</vt:lpstr>
      <vt:lpstr>Times New Roman</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Sujoy Datta</cp:lastModifiedBy>
  <cp:revision>386</cp:revision>
  <dcterms:created xsi:type="dcterms:W3CDTF">2001-06-04T11:43:00Z</dcterms:created>
  <dcterms:modified xsi:type="dcterms:W3CDTF">2025-03-22T06:37:48Z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1033-12.2.0.20326</vt:lpwstr>
  </property>
  <property fmtid="{D5CDD505-2E9C-101B-9397-08002B2CF9AE}" pid="3" name="ICV">
    <vt:lpwstr>6BBEEA17CF294E998274E60291DFD6C6_12</vt:lpwstr>
  </property>
</Properties>
</file>