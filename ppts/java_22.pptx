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0"/>
  </p:handoutMasterIdLst>
  <p:sldIdLst>
    <p:sldId id="256" r:id="rId3"/>
    <p:sldId id="351" r:id="rId5"/>
    <p:sldId id="429" r:id="rId6"/>
    <p:sldId id="395" r:id="rId7"/>
    <p:sldId id="396" r:id="rId8"/>
    <p:sldId id="397" r:id="rId9"/>
    <p:sldId id="398" r:id="rId10"/>
    <p:sldId id="399" r:id="rId11"/>
    <p:sldId id="368" r:id="rId12"/>
    <p:sldId id="370" r:id="rId13"/>
    <p:sldId id="372" r:id="rId14"/>
    <p:sldId id="381" r:id="rId15"/>
    <p:sldId id="400" r:id="rId16"/>
    <p:sldId id="401" r:id="rId17"/>
    <p:sldId id="402" r:id="rId18"/>
    <p:sldId id="403" r:id="rId19"/>
    <p:sldId id="404" r:id="rId20"/>
    <p:sldId id="405" r:id="rId21"/>
    <p:sldId id="406" r:id="rId22"/>
    <p:sldId id="407" r:id="rId23"/>
    <p:sldId id="408" r:id="rId24"/>
    <p:sldId id="410" r:id="rId25"/>
    <p:sldId id="411" r:id="rId26"/>
    <p:sldId id="384" r:id="rId27"/>
    <p:sldId id="367" r:id="rId28"/>
    <p:sldId id="373" r:id="rId29"/>
    <p:sldId id="388" r:id="rId30"/>
    <p:sldId id="375" r:id="rId31"/>
    <p:sldId id="374" r:id="rId32"/>
    <p:sldId id="376" r:id="rId33"/>
    <p:sldId id="382" r:id="rId34"/>
    <p:sldId id="377" r:id="rId35"/>
    <p:sldId id="378" r:id="rId36"/>
    <p:sldId id="412" r:id="rId37"/>
    <p:sldId id="383" r:id="rId38"/>
    <p:sldId id="379" r:id="rId39"/>
    <p:sldId id="391" r:id="rId40"/>
    <p:sldId id="439" r:id="rId41"/>
    <p:sldId id="414" r:id="rId42"/>
    <p:sldId id="415" r:id="rId43"/>
    <p:sldId id="416" r:id="rId44"/>
    <p:sldId id="421" r:id="rId45"/>
    <p:sldId id="422" r:id="rId46"/>
    <p:sldId id="423" r:id="rId47"/>
    <p:sldId id="428" r:id="rId48"/>
    <p:sldId id="437" r:id="rId49"/>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CC9900"/>
    <a:srgbClr val="996600"/>
    <a:srgbClr val="FF9900"/>
    <a:srgbClr val="EAEAEA"/>
    <a:srgbClr val="C72105"/>
    <a:srgbClr val="FFFFCC"/>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7032"/>
    <p:restoredTop sz="94713"/>
  </p:normalViewPr>
  <p:slideViewPr>
    <p:cSldViewPr showGuides="1">
      <p:cViewPr varScale="1">
        <p:scale>
          <a:sx n="110" d="100"/>
          <a:sy n="110" d="100"/>
        </p:scale>
        <p:origin x="-59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81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48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smtClean="0">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481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482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smtClean="0">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482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smtClean="0">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741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5540"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
        <p:nvSpPr>
          <p:cNvPr id="1741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smtClean="0">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66563" name="Rectangle 2"/>
          <p:cNvSpPr>
            <a:spLocks noTextEdit="1"/>
          </p:cNvSpPr>
          <p:nvPr>
            <p:ph type="sldImg"/>
          </p:nvPr>
        </p:nvSpPr>
        <p:spPr>
          <a:ln/>
        </p:spPr>
      </p:sp>
      <p:sp>
        <p:nvSpPr>
          <p:cNvPr id="66564"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67587" name="Rectangle 2"/>
          <p:cNvSpPr>
            <a:spLocks noTextEdit="1"/>
          </p:cNvSpPr>
          <p:nvPr>
            <p:ph type="sldImg"/>
          </p:nvPr>
        </p:nvSpPr>
        <p:spPr>
          <a:ln/>
        </p:spPr>
      </p:sp>
      <p:sp>
        <p:nvSpPr>
          <p:cNvPr id="67588"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68611" name="Rectangle 2"/>
          <p:cNvSpPr>
            <a:spLocks noTextEdit="1"/>
          </p:cNvSpPr>
          <p:nvPr>
            <p:ph type="sldImg"/>
          </p:nvPr>
        </p:nvSpPr>
        <p:spPr>
          <a:ln/>
        </p:spPr>
      </p:sp>
      <p:sp>
        <p:nvSpPr>
          <p:cNvPr id="68612"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69635" name="Rectangle 2"/>
          <p:cNvSpPr>
            <a:spLocks noTextEdit="1"/>
          </p:cNvSpPr>
          <p:nvPr>
            <p:ph type="sldImg"/>
          </p:nvPr>
        </p:nvSpPr>
        <p:spPr>
          <a:ln/>
        </p:spPr>
      </p:sp>
      <p:sp>
        <p:nvSpPr>
          <p:cNvPr id="69636"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70659" name="Rectangle 2"/>
          <p:cNvSpPr>
            <a:spLocks noTextEdit="1"/>
          </p:cNvSpPr>
          <p:nvPr>
            <p:ph type="sldImg"/>
          </p:nvPr>
        </p:nvSpPr>
        <p:spPr>
          <a:ln/>
        </p:spPr>
      </p:sp>
      <p:sp>
        <p:nvSpPr>
          <p:cNvPr id="70660"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71683" name="Rectangle 2"/>
          <p:cNvSpPr>
            <a:spLocks noTextEdit="1"/>
          </p:cNvSpPr>
          <p:nvPr>
            <p:ph type="sldImg"/>
          </p:nvPr>
        </p:nvSpPr>
        <p:spPr>
          <a:ln/>
        </p:spPr>
      </p:sp>
      <p:sp>
        <p:nvSpPr>
          <p:cNvPr id="71684"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72707" name="Rectangle 2"/>
          <p:cNvSpPr>
            <a:spLocks noTextEdit="1"/>
          </p:cNvSpPr>
          <p:nvPr>
            <p:ph type="sldImg"/>
          </p:nvPr>
        </p:nvSpPr>
        <p:spPr>
          <a:ln/>
        </p:spPr>
      </p:sp>
      <p:sp>
        <p:nvSpPr>
          <p:cNvPr id="72708"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73731" name="Rectangle 2"/>
          <p:cNvSpPr>
            <a:spLocks noTextEdit="1"/>
          </p:cNvSpPr>
          <p:nvPr>
            <p:ph type="sldImg"/>
          </p:nvPr>
        </p:nvSpPr>
        <p:spPr>
          <a:ln/>
        </p:spPr>
      </p:sp>
      <p:sp>
        <p:nvSpPr>
          <p:cNvPr id="73732"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74755" name="Rectangle 2"/>
          <p:cNvSpPr>
            <a:spLocks noTextEdit="1"/>
          </p:cNvSpPr>
          <p:nvPr>
            <p:ph type="sldImg"/>
          </p:nvPr>
        </p:nvSpPr>
        <p:spPr>
          <a:ln/>
        </p:spPr>
      </p:sp>
      <p:sp>
        <p:nvSpPr>
          <p:cNvPr id="74756"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75779" name="Rectangle 2"/>
          <p:cNvSpPr>
            <a:spLocks noTextEdit="1"/>
          </p:cNvSpPr>
          <p:nvPr>
            <p:ph type="sldImg"/>
          </p:nvPr>
        </p:nvSpPr>
        <p:spPr>
          <a:ln/>
        </p:spPr>
      </p:sp>
      <p:sp>
        <p:nvSpPr>
          <p:cNvPr id="75780"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76803" name="Rectangle 2"/>
          <p:cNvSpPr>
            <a:spLocks noTextEdit="1"/>
          </p:cNvSpPr>
          <p:nvPr>
            <p:ph type="sldImg"/>
          </p:nvPr>
        </p:nvSpPr>
        <p:spPr>
          <a:ln/>
        </p:spPr>
      </p:sp>
      <p:sp>
        <p:nvSpPr>
          <p:cNvPr id="76804"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77827" name="Rectangle 2"/>
          <p:cNvSpPr>
            <a:spLocks noTextEdit="1"/>
          </p:cNvSpPr>
          <p:nvPr>
            <p:ph type="sldImg"/>
          </p:nvPr>
        </p:nvSpPr>
        <p:spPr>
          <a:ln/>
        </p:spPr>
      </p:sp>
      <p:sp>
        <p:nvSpPr>
          <p:cNvPr id="77828"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78851" name="Rectangle 2"/>
          <p:cNvSpPr>
            <a:spLocks noTextEdit="1"/>
          </p:cNvSpPr>
          <p:nvPr>
            <p:ph type="sldImg"/>
          </p:nvPr>
        </p:nvSpPr>
        <p:spPr>
          <a:ln/>
        </p:spPr>
      </p:sp>
      <p:sp>
        <p:nvSpPr>
          <p:cNvPr id="78852"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79875" name="Rectangle 2"/>
          <p:cNvSpPr>
            <a:spLocks noTextEdit="1"/>
          </p:cNvSpPr>
          <p:nvPr>
            <p:ph type="sldImg"/>
          </p:nvPr>
        </p:nvSpPr>
        <p:spPr>
          <a:ln/>
        </p:spPr>
      </p:sp>
      <p:sp>
        <p:nvSpPr>
          <p:cNvPr id="79876"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80899" name="Rectangle 2"/>
          <p:cNvSpPr>
            <a:spLocks noTextEdit="1"/>
          </p:cNvSpPr>
          <p:nvPr>
            <p:ph type="sldImg"/>
          </p:nvPr>
        </p:nvSpPr>
        <p:spPr>
          <a:ln/>
        </p:spPr>
      </p:sp>
      <p:sp>
        <p:nvSpPr>
          <p:cNvPr id="80900"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81923" name="Rectangle 2"/>
          <p:cNvSpPr>
            <a:spLocks noTextEdit="1"/>
          </p:cNvSpPr>
          <p:nvPr>
            <p:ph type="sldImg"/>
          </p:nvPr>
        </p:nvSpPr>
        <p:spPr>
          <a:ln/>
        </p:spPr>
      </p:sp>
      <p:sp>
        <p:nvSpPr>
          <p:cNvPr id="81924"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82947" name="Rectangle 2"/>
          <p:cNvSpPr>
            <a:spLocks noTextEdit="1"/>
          </p:cNvSpPr>
          <p:nvPr>
            <p:ph type="sldImg"/>
          </p:nvPr>
        </p:nvSpPr>
        <p:spPr>
          <a:ln/>
        </p:spPr>
      </p:sp>
      <p:sp>
        <p:nvSpPr>
          <p:cNvPr id="82948"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83971" name="Rectangle 2"/>
          <p:cNvSpPr>
            <a:spLocks noTextEdit="1"/>
          </p:cNvSpPr>
          <p:nvPr>
            <p:ph type="sldImg"/>
          </p:nvPr>
        </p:nvSpPr>
        <p:spPr>
          <a:ln/>
        </p:spPr>
      </p:sp>
      <p:sp>
        <p:nvSpPr>
          <p:cNvPr id="83972"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84995" name="Rectangle 2"/>
          <p:cNvSpPr>
            <a:spLocks noTextEdit="1"/>
          </p:cNvSpPr>
          <p:nvPr>
            <p:ph type="sldImg"/>
          </p:nvPr>
        </p:nvSpPr>
        <p:spPr>
          <a:ln/>
        </p:spPr>
      </p:sp>
      <p:sp>
        <p:nvSpPr>
          <p:cNvPr id="84996"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86019" name="Rectangle 2"/>
          <p:cNvSpPr>
            <a:spLocks noTextEdit="1"/>
          </p:cNvSpPr>
          <p:nvPr>
            <p:ph type="sldImg"/>
          </p:nvPr>
        </p:nvSpPr>
        <p:spPr>
          <a:ln/>
        </p:spPr>
      </p:sp>
      <p:sp>
        <p:nvSpPr>
          <p:cNvPr id="86020"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87043" name="Rectangle 2"/>
          <p:cNvSpPr>
            <a:spLocks noTextEdit="1"/>
          </p:cNvSpPr>
          <p:nvPr>
            <p:ph type="sldImg"/>
          </p:nvPr>
        </p:nvSpPr>
        <p:spPr>
          <a:ln/>
        </p:spPr>
      </p:sp>
      <p:sp>
        <p:nvSpPr>
          <p:cNvPr id="87044"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88067" name="Rectangle 2"/>
          <p:cNvSpPr>
            <a:spLocks noTextEdit="1"/>
          </p:cNvSpPr>
          <p:nvPr>
            <p:ph type="sldImg"/>
          </p:nvPr>
        </p:nvSpPr>
        <p:spPr>
          <a:ln/>
        </p:spPr>
      </p:sp>
      <p:sp>
        <p:nvSpPr>
          <p:cNvPr id="88068"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89091" name="Rectangle 2"/>
          <p:cNvSpPr>
            <a:spLocks noTextEdit="1"/>
          </p:cNvSpPr>
          <p:nvPr>
            <p:ph type="sldImg"/>
          </p:nvPr>
        </p:nvSpPr>
        <p:spPr>
          <a:ln/>
        </p:spPr>
      </p:sp>
      <p:sp>
        <p:nvSpPr>
          <p:cNvPr id="89092"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90115" name="Rectangle 2"/>
          <p:cNvSpPr>
            <a:spLocks noTextEdit="1"/>
          </p:cNvSpPr>
          <p:nvPr>
            <p:ph type="sldImg"/>
          </p:nvPr>
        </p:nvSpPr>
        <p:spPr>
          <a:ln/>
        </p:spPr>
      </p:sp>
      <p:sp>
        <p:nvSpPr>
          <p:cNvPr id="90116"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91139" name="Rectangle 2"/>
          <p:cNvSpPr>
            <a:spLocks noTextEdit="1"/>
          </p:cNvSpPr>
          <p:nvPr>
            <p:ph type="sldImg"/>
          </p:nvPr>
        </p:nvSpPr>
        <p:spPr>
          <a:ln/>
        </p:spPr>
      </p:sp>
      <p:sp>
        <p:nvSpPr>
          <p:cNvPr id="91140"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92163" name="Rectangle 2"/>
          <p:cNvSpPr>
            <a:spLocks noTextEdit="1"/>
          </p:cNvSpPr>
          <p:nvPr>
            <p:ph type="sldImg"/>
          </p:nvPr>
        </p:nvSpPr>
        <p:spPr>
          <a:ln/>
        </p:spPr>
      </p:sp>
      <p:sp>
        <p:nvSpPr>
          <p:cNvPr id="92164"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93187" name="Rectangle 2"/>
          <p:cNvSpPr>
            <a:spLocks noTextEdit="1"/>
          </p:cNvSpPr>
          <p:nvPr>
            <p:ph type="sldImg"/>
          </p:nvPr>
        </p:nvSpPr>
        <p:spPr>
          <a:ln/>
        </p:spPr>
      </p:sp>
      <p:sp>
        <p:nvSpPr>
          <p:cNvPr id="93188"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94211" name="Rectangle 2"/>
          <p:cNvSpPr>
            <a:spLocks noTextEdit="1"/>
          </p:cNvSpPr>
          <p:nvPr>
            <p:ph type="sldImg"/>
          </p:nvPr>
        </p:nvSpPr>
        <p:spPr>
          <a:ln/>
        </p:spPr>
      </p:sp>
      <p:sp>
        <p:nvSpPr>
          <p:cNvPr id="94212"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95235" name="Rectangle 2"/>
          <p:cNvSpPr>
            <a:spLocks noTextEdit="1"/>
          </p:cNvSpPr>
          <p:nvPr>
            <p:ph type="sldImg"/>
          </p:nvPr>
        </p:nvSpPr>
        <p:spPr>
          <a:ln/>
        </p:spPr>
      </p:sp>
      <p:sp>
        <p:nvSpPr>
          <p:cNvPr id="95236"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96259" name="Rectangle 2"/>
          <p:cNvSpPr>
            <a:spLocks noTextEdit="1"/>
          </p:cNvSpPr>
          <p:nvPr>
            <p:ph type="sldImg"/>
          </p:nvPr>
        </p:nvSpPr>
        <p:spPr>
          <a:ln/>
        </p:spPr>
      </p:sp>
      <p:sp>
        <p:nvSpPr>
          <p:cNvPr id="96260"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97283" name="Rectangle 2"/>
          <p:cNvSpPr>
            <a:spLocks noTextEdit="1"/>
          </p:cNvSpPr>
          <p:nvPr>
            <p:ph type="sldImg"/>
          </p:nvPr>
        </p:nvSpPr>
        <p:spPr>
          <a:ln/>
        </p:spPr>
      </p:sp>
      <p:sp>
        <p:nvSpPr>
          <p:cNvPr id="97284"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98307" name="Rectangle 2"/>
          <p:cNvSpPr>
            <a:spLocks noTextEdit="1"/>
          </p:cNvSpPr>
          <p:nvPr>
            <p:ph type="sldImg"/>
          </p:nvPr>
        </p:nvSpPr>
        <p:spPr>
          <a:ln/>
        </p:spPr>
      </p:sp>
      <p:sp>
        <p:nvSpPr>
          <p:cNvPr id="98308"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99331" name="Rectangle 2"/>
          <p:cNvSpPr>
            <a:spLocks noTextEdit="1"/>
          </p:cNvSpPr>
          <p:nvPr>
            <p:ph type="sldImg"/>
          </p:nvPr>
        </p:nvSpPr>
        <p:spPr>
          <a:ln/>
        </p:spPr>
      </p:sp>
      <p:sp>
        <p:nvSpPr>
          <p:cNvPr id="99332"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00355" name="Rectangle 2"/>
          <p:cNvSpPr>
            <a:spLocks noTextEdit="1"/>
          </p:cNvSpPr>
          <p:nvPr>
            <p:ph type="sldImg"/>
          </p:nvPr>
        </p:nvSpPr>
        <p:spPr>
          <a:ln/>
        </p:spPr>
      </p:sp>
      <p:sp>
        <p:nvSpPr>
          <p:cNvPr id="100356"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01379" name="Rectangle 2"/>
          <p:cNvSpPr>
            <a:spLocks noTextEdit="1"/>
          </p:cNvSpPr>
          <p:nvPr>
            <p:ph type="sldImg"/>
          </p:nvPr>
        </p:nvSpPr>
        <p:spPr>
          <a:ln/>
        </p:spPr>
      </p:sp>
      <p:sp>
        <p:nvSpPr>
          <p:cNvPr id="101380"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02403" name="Rectangle 2"/>
          <p:cNvSpPr>
            <a:spLocks noTextEdit="1"/>
          </p:cNvSpPr>
          <p:nvPr>
            <p:ph type="sldImg"/>
          </p:nvPr>
        </p:nvSpPr>
        <p:spPr>
          <a:ln/>
        </p:spPr>
      </p:sp>
      <p:sp>
        <p:nvSpPr>
          <p:cNvPr id="102404"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03427" name="Rectangle 2"/>
          <p:cNvSpPr>
            <a:spLocks noTextEdit="1"/>
          </p:cNvSpPr>
          <p:nvPr>
            <p:ph type="sldImg"/>
          </p:nvPr>
        </p:nvSpPr>
        <p:spPr>
          <a:ln/>
        </p:spPr>
      </p:sp>
      <p:sp>
        <p:nvSpPr>
          <p:cNvPr id="103428"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04451" name="Rectangle 2"/>
          <p:cNvSpPr>
            <a:spLocks noTextEdit="1"/>
          </p:cNvSpPr>
          <p:nvPr>
            <p:ph type="sldImg"/>
          </p:nvPr>
        </p:nvSpPr>
        <p:spPr>
          <a:ln/>
        </p:spPr>
      </p:sp>
      <p:sp>
        <p:nvSpPr>
          <p:cNvPr id="104452"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05475" name="Rectangle 2"/>
          <p:cNvSpPr>
            <a:spLocks noTextEdit="1"/>
          </p:cNvSpPr>
          <p:nvPr>
            <p:ph type="sldImg"/>
          </p:nvPr>
        </p:nvSpPr>
        <p:spPr>
          <a:ln/>
        </p:spPr>
      </p:sp>
      <p:sp>
        <p:nvSpPr>
          <p:cNvPr id="105476"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06499" name="Rectangle 2"/>
          <p:cNvSpPr>
            <a:spLocks noTextEdit="1"/>
          </p:cNvSpPr>
          <p:nvPr>
            <p:ph type="sldImg"/>
          </p:nvPr>
        </p:nvSpPr>
        <p:spPr>
          <a:ln/>
        </p:spPr>
      </p:sp>
      <p:sp>
        <p:nvSpPr>
          <p:cNvPr id="106500"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07523" name="Rectangle 2"/>
          <p:cNvSpPr>
            <a:spLocks noTextEdit="1"/>
          </p:cNvSpPr>
          <p:nvPr>
            <p:ph type="sldImg"/>
          </p:nvPr>
        </p:nvSpPr>
        <p:spPr>
          <a:ln/>
        </p:spPr>
      </p:sp>
      <p:sp>
        <p:nvSpPr>
          <p:cNvPr id="107524"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08547" name="Rectangle 2"/>
          <p:cNvSpPr>
            <a:spLocks noTextEdit="1"/>
          </p:cNvSpPr>
          <p:nvPr>
            <p:ph type="sldImg"/>
          </p:nvPr>
        </p:nvSpPr>
        <p:spPr>
          <a:ln/>
        </p:spPr>
      </p:sp>
      <p:sp>
        <p:nvSpPr>
          <p:cNvPr id="108548"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09571" name="Rectangle 2"/>
          <p:cNvSpPr>
            <a:spLocks noTextEdit="1"/>
          </p:cNvSpPr>
          <p:nvPr>
            <p:ph type="sldImg"/>
          </p:nvPr>
        </p:nvSpPr>
        <p:spPr>
          <a:ln/>
        </p:spPr>
      </p:sp>
      <p:sp>
        <p:nvSpPr>
          <p:cNvPr id="109572"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10595" name="Rectangle 2"/>
          <p:cNvSpPr>
            <a:spLocks noTextEdit="1"/>
          </p:cNvSpPr>
          <p:nvPr>
            <p:ph type="sldImg"/>
          </p:nvPr>
        </p:nvSpPr>
        <p:spPr>
          <a:ln/>
        </p:spPr>
      </p:sp>
      <p:sp>
        <p:nvSpPr>
          <p:cNvPr id="110596"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15715" name="Rectangle 2"/>
          <p:cNvSpPr>
            <a:spLocks noTextEdit="1"/>
          </p:cNvSpPr>
          <p:nvPr>
            <p:ph type="sldImg"/>
          </p:nvPr>
        </p:nvSpPr>
        <p:spPr>
          <a:ln/>
        </p:spPr>
      </p:sp>
      <p:sp>
        <p:nvSpPr>
          <p:cNvPr id="115716"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16739" name="Rectangle 2"/>
          <p:cNvSpPr>
            <a:spLocks noTextEdit="1"/>
          </p:cNvSpPr>
          <p:nvPr>
            <p:ph type="sldImg"/>
          </p:nvPr>
        </p:nvSpPr>
        <p:spPr>
          <a:ln/>
        </p:spPr>
      </p:sp>
      <p:sp>
        <p:nvSpPr>
          <p:cNvPr id="116740" name="Rectangle 3"/>
          <p:cNvSpPr>
            <a:spLocks noGrp="1"/>
          </p:cNvSpPr>
          <p:nvPr>
            <p:ph type="body" idx="1"/>
          </p:nvPr>
        </p:nvSpPr>
        <p:spPr>
          <a:ln/>
        </p:spPr>
        <p:txBody>
          <a:bodyPr wrap="square" lIns="91440" tIns="45720" rIns="91440" bIns="45720" anchor="t" anchorCtr="0"/>
          <a:p>
            <a:pPr lvl="0" eaLnBrk="1" hangingPunct="1"/>
            <a:endParaRPr lang="bg-BG" altLang="x-none"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grpSp>
          <p:nvGrpSpPr>
            <p:cNvPr id="2058"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grpSp>
      </p:grpSp>
      <p:sp>
        <p:nvSpPr>
          <p:cNvPr id="23451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bg-BG"/>
              <a:t>Click to edit Master title style</a:t>
            </a:r>
            <a:endParaRPr lang="bg-BG"/>
          </a:p>
        </p:txBody>
      </p:sp>
      <p:sp>
        <p:nvSpPr>
          <p:cNvPr id="23451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bg-BG"/>
              <a:t>Click to edit Master subtitle style</a:t>
            </a:r>
            <a:endParaRPr lang="bg-BG"/>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p>
            <a:pPr algn="r">
              <a:buNone/>
            </a:pPr>
            <a:fld id="{9A0DB2DC-4C9A-4742-B13C-FB6460FD3503}" type="slidenum">
              <a:rPr lang="bg-BG" altLang="x-none" dirty="0">
                <a:latin typeface="Arial Black" panose="020B0A04020102020204" pitchFamily="34" charset="0"/>
              </a:rPr>
            </a:fld>
            <a:endParaRPr lang="bg-BG" altLang="x-none" dirty="0">
              <a:latin typeface="Arial Black" panose="020B0A040201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Footer Placeholder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1"/>
          </p:nvPr>
        </p:nvSpPr>
        <p:spPr/>
        <p:txBody>
          <a:bodyPr/>
          <a:p>
            <a:pPr lvl="0" eaLnBrk="1" hangingPunct="1">
              <a:buNone/>
            </a:pPr>
            <a:fld id="{9A0DB2DC-4C9A-4742-B13C-FB6460FD3503}" type="slidenum">
              <a:rPr lang="bg-BG" altLang="x-none" dirty="0"/>
            </a:fld>
            <a:endParaRPr lang="bg-BG" altLang="x-none" dirty="0">
              <a:latin typeface="Arial" panose="020B0604020202020204" pitchFamily="34" charset="0"/>
            </a:endParaRPr>
          </a:p>
        </p:txBody>
      </p:sp>
      <p:sp>
        <p:nvSpPr>
          <p:cNvPr id="6" name="Date Placeholder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Footer Placeholder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1"/>
          </p:nvPr>
        </p:nvSpPr>
        <p:spPr/>
        <p:txBody>
          <a:bodyPr/>
          <a:p>
            <a:pPr lvl="0" eaLnBrk="1" hangingPunct="1">
              <a:buNone/>
            </a:pPr>
            <a:fld id="{9A0DB2DC-4C9A-4742-B13C-FB6460FD3503}" type="slidenum">
              <a:rPr lang="bg-BG" altLang="x-none" dirty="0"/>
            </a:fld>
            <a:endParaRPr lang="bg-BG" altLang="x-none" dirty="0">
              <a:latin typeface="Arial" panose="020B0604020202020204" pitchFamily="34" charset="0"/>
            </a:endParaRPr>
          </a:p>
        </p:txBody>
      </p:sp>
      <p:sp>
        <p:nvSpPr>
          <p:cNvPr id="6" name="Date Placeholder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Footer Placeholder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1"/>
          </p:nvPr>
        </p:nvSpPr>
        <p:spPr/>
        <p:txBody>
          <a:bodyPr/>
          <a:p>
            <a:pPr lvl="0" eaLnBrk="1" hangingPunct="1">
              <a:buNone/>
            </a:pPr>
            <a:fld id="{9A0DB2DC-4C9A-4742-B13C-FB6460FD3503}" type="slidenum">
              <a:rPr lang="bg-BG" altLang="x-none" dirty="0"/>
            </a:fld>
            <a:endParaRPr lang="bg-BG" altLang="x-none" dirty="0">
              <a:latin typeface="Arial" panose="020B0604020202020204" pitchFamily="34" charset="0"/>
            </a:endParaRPr>
          </a:p>
        </p:txBody>
      </p:sp>
      <p:sp>
        <p:nvSpPr>
          <p:cNvPr id="7" name="Date Placeholder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Footer Placeholder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Slide Number Placeholder 7"/>
          <p:cNvSpPr>
            <a:spLocks noGrp="1"/>
          </p:cNvSpPr>
          <p:nvPr>
            <p:ph type="sldNum" sz="quarter" idx="11"/>
          </p:nvPr>
        </p:nvSpPr>
        <p:spPr/>
        <p:txBody>
          <a:bodyPr/>
          <a:p>
            <a:pPr lvl="0" eaLnBrk="1" hangingPunct="1">
              <a:buNone/>
            </a:pPr>
            <a:fld id="{9A0DB2DC-4C9A-4742-B13C-FB6460FD3503}" type="slidenum">
              <a:rPr lang="bg-BG" altLang="x-none" dirty="0"/>
            </a:fld>
            <a:endParaRPr lang="bg-BG" altLang="x-none" dirty="0">
              <a:latin typeface="Arial" panose="020B0604020202020204" pitchFamily="34" charset="0"/>
            </a:endParaRPr>
          </a:p>
        </p:txBody>
      </p:sp>
      <p:sp>
        <p:nvSpPr>
          <p:cNvPr id="9" name="Date Placeholder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1"/>
          </p:nvPr>
        </p:nvSpPr>
        <p:spPr/>
        <p:txBody>
          <a:bodyPr/>
          <a:p>
            <a:pPr lvl="0" eaLnBrk="1" hangingPunct="1">
              <a:buNone/>
            </a:pPr>
            <a:fld id="{9A0DB2DC-4C9A-4742-B13C-FB6460FD3503}" type="slidenum">
              <a:rPr lang="bg-BG" altLang="x-none" dirty="0"/>
            </a:fld>
            <a:endParaRPr lang="bg-BG" altLang="x-none" dirty="0">
              <a:latin typeface="Arial" panose="020B0604020202020204" pitchFamily="34" charset="0"/>
            </a:endParaRPr>
          </a:p>
        </p:txBody>
      </p:sp>
      <p:sp>
        <p:nvSpPr>
          <p:cNvPr id="5" name="Date Placeholder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Slide Number Placeholder 2"/>
          <p:cNvSpPr>
            <a:spLocks noGrp="1"/>
          </p:cNvSpPr>
          <p:nvPr>
            <p:ph type="sldNum" sz="quarter" idx="11"/>
          </p:nvPr>
        </p:nvSpPr>
        <p:spPr/>
        <p:txBody>
          <a:bodyPr/>
          <a:p>
            <a:pPr lvl="0" eaLnBrk="1" hangingPunct="1">
              <a:buNone/>
            </a:pPr>
            <a:fld id="{9A0DB2DC-4C9A-4742-B13C-FB6460FD3503}" type="slidenum">
              <a:rPr lang="bg-BG" altLang="x-none" dirty="0"/>
            </a:fld>
            <a:endParaRPr lang="bg-BG" altLang="x-none" dirty="0">
              <a:latin typeface="Arial" panose="020B0604020202020204" pitchFamily="34" charset="0"/>
            </a:endParaRPr>
          </a:p>
        </p:txBody>
      </p:sp>
      <p:sp>
        <p:nvSpPr>
          <p:cNvPr id="4" name="Date Placeholder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Footer Placeholder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1"/>
          </p:nvPr>
        </p:nvSpPr>
        <p:spPr/>
        <p:txBody>
          <a:bodyPr/>
          <a:p>
            <a:pPr lvl="0" eaLnBrk="1" hangingPunct="1">
              <a:buNone/>
            </a:pPr>
            <a:fld id="{9A0DB2DC-4C9A-4742-B13C-FB6460FD3503}" type="slidenum">
              <a:rPr lang="bg-BG" altLang="x-none" dirty="0"/>
            </a:fld>
            <a:endParaRPr lang="bg-BG" altLang="x-none" dirty="0">
              <a:latin typeface="Arial" panose="020B0604020202020204" pitchFamily="34" charset="0"/>
            </a:endParaRPr>
          </a:p>
        </p:txBody>
      </p:sp>
      <p:sp>
        <p:nvSpPr>
          <p:cNvPr id="7" name="Date Placeholder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Footer Placeholder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1"/>
          </p:nvPr>
        </p:nvSpPr>
        <p:spPr/>
        <p:txBody>
          <a:bodyPr/>
          <a:p>
            <a:pPr lvl="0" eaLnBrk="1" hangingPunct="1">
              <a:buNone/>
            </a:pPr>
            <a:fld id="{9A0DB2DC-4C9A-4742-B13C-FB6460FD3503}" type="slidenum">
              <a:rPr lang="bg-BG" altLang="x-none" dirty="0"/>
            </a:fld>
            <a:endParaRPr lang="bg-BG" altLang="x-none" dirty="0">
              <a:latin typeface="Arial" panose="020B0604020202020204" pitchFamily="34" charset="0"/>
            </a:endParaRPr>
          </a:p>
        </p:txBody>
      </p:sp>
      <p:sp>
        <p:nvSpPr>
          <p:cNvPr id="7" name="Date Placeholder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Footer Placeholder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1"/>
          </p:nvPr>
        </p:nvSpPr>
        <p:spPr/>
        <p:txBody>
          <a:bodyPr/>
          <a:p>
            <a:pPr lvl="0" eaLnBrk="1" hangingPunct="1">
              <a:buNone/>
            </a:pPr>
            <a:fld id="{9A0DB2DC-4C9A-4742-B13C-FB6460FD3503}" type="slidenum">
              <a:rPr lang="bg-BG" altLang="x-none" dirty="0"/>
            </a:fld>
            <a:endParaRPr lang="bg-BG" altLang="x-none" dirty="0">
              <a:latin typeface="Arial" panose="020B0604020202020204" pitchFamily="34" charset="0"/>
            </a:endParaRPr>
          </a:p>
        </p:txBody>
      </p:sp>
      <p:sp>
        <p:nvSpPr>
          <p:cNvPr id="6" name="Date Placeholder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Footer Placeholder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1"/>
          </p:nvPr>
        </p:nvSpPr>
        <p:spPr/>
        <p:txBody>
          <a:bodyPr/>
          <a:p>
            <a:pPr lvl="0" eaLnBrk="1" hangingPunct="1">
              <a:buNone/>
            </a:pPr>
            <a:fld id="{9A0DB2DC-4C9A-4742-B13C-FB6460FD3503}" type="slidenum">
              <a:rPr lang="bg-BG" altLang="x-none" dirty="0"/>
            </a:fld>
            <a:endParaRPr lang="bg-BG" altLang="x-none" dirty="0">
              <a:latin typeface="Arial" panose="020B0604020202020204" pitchFamily="34" charset="0"/>
            </a:endParaRPr>
          </a:p>
        </p:txBody>
      </p:sp>
      <p:sp>
        <p:nvSpPr>
          <p:cNvPr id="6" name="Date Placeholder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347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200" smtClean="0"/>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Multithreading</a:t>
            </a: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3347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bg-BG" altLang="x-none" dirty="0"/>
            </a:fld>
            <a:endParaRPr lang="bg-BG" altLang="x-none" dirty="0">
              <a:latin typeface="Arial" panose="020B0604020202020204" pitchFamily="34" charset="0"/>
            </a:endParaRPr>
          </a:p>
        </p:txBody>
      </p:sp>
      <p:grpSp>
        <p:nvGrpSpPr>
          <p:cNvPr id="1028" name="Group 4"/>
          <p:cNvGrpSpPr/>
          <p:nvPr/>
        </p:nvGrpSpPr>
        <p:grpSpPr>
          <a:xfrm>
            <a:off x="0" y="0"/>
            <a:ext cx="9144000" cy="546100"/>
            <a:chOff x="0" y="0"/>
            <a:chExt cx="5760" cy="344"/>
          </a:xfrm>
        </p:grpSpPr>
        <p:sp>
          <p:nvSpPr>
            <p:cNvPr id="233477"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3478"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3479"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800" b="0" i="0" u="none" strike="noStrike" kern="1200" cap="none" spc="0" normalizeH="0" baseline="0" noProof="0">
                <a:ln>
                  <a:noFill/>
                </a:ln>
                <a:solidFill>
                  <a:schemeClr val="hlink"/>
                </a:solidFill>
                <a:effectLst/>
                <a:uLnTx/>
                <a:uFillTx/>
                <a:latin typeface="Arial" panose="020B0604020202020204" pitchFamily="34" charset="0"/>
                <a:ea typeface="+mn-ea"/>
                <a:cs typeface="+mn-cs"/>
              </a:endParaRPr>
            </a:p>
          </p:txBody>
        </p:sp>
        <p:sp>
          <p:nvSpPr>
            <p:cNvPr id="233480"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800" b="0" i="0" u="none" strike="noStrike" kern="1200" cap="none" spc="0" normalizeH="0" baseline="0" noProof="0">
                <a:ln>
                  <a:noFill/>
                </a:ln>
                <a:solidFill>
                  <a:schemeClr val="hlink"/>
                </a:solidFill>
                <a:effectLst/>
                <a:uLnTx/>
                <a:uFillTx/>
                <a:latin typeface="Arial" panose="020B0604020202020204" pitchFamily="34" charset="0"/>
                <a:ea typeface="+mn-ea"/>
                <a:cs typeface="+mn-cs"/>
              </a:endParaRPr>
            </a:p>
          </p:txBody>
        </p:sp>
        <p:sp>
          <p:nvSpPr>
            <p:cNvPr id="233481"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800" b="0" i="0" u="none" strike="noStrike" kern="1200" cap="none" spc="0" normalizeH="0" baseline="0" noProof="0">
                <a:ln>
                  <a:noFill/>
                </a:ln>
                <a:solidFill>
                  <a:schemeClr val="accent2"/>
                </a:solidFill>
                <a:effectLst/>
                <a:uLnTx/>
                <a:uFillTx/>
                <a:latin typeface="Arial" panose="020B0604020202020204" pitchFamily="34" charset="0"/>
                <a:ea typeface="+mn-ea"/>
                <a:cs typeface="+mn-cs"/>
              </a:endParaRPr>
            </a:p>
          </p:txBody>
        </p:sp>
        <p:sp>
          <p:nvSpPr>
            <p:cNvPr id="233482"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800" b="0" i="0" u="none" strike="noStrike" kern="1200" cap="none" spc="0" normalizeH="0" baseline="0" noProof="0">
                <a:ln>
                  <a:noFill/>
                </a:ln>
                <a:solidFill>
                  <a:schemeClr val="hlink"/>
                </a:solidFill>
                <a:effectLst/>
                <a:uLnTx/>
                <a:uFillTx/>
                <a:latin typeface="Arial" panose="020B0604020202020204" pitchFamily="34" charset="0"/>
                <a:ea typeface="+mn-ea"/>
                <a:cs typeface="+mn-cs"/>
              </a:endParaRPr>
            </a:p>
          </p:txBody>
        </p:sp>
        <p:sp>
          <p:nvSpPr>
            <p:cNvPr id="233483"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3484"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800" b="0" i="0" u="none" strike="noStrike" kern="1200" cap="none" spc="0" normalizeH="0" baseline="0" noProof="0">
                <a:ln>
                  <a:noFill/>
                </a:ln>
                <a:solidFill>
                  <a:schemeClr val="accent2"/>
                </a:solidFill>
                <a:effectLst/>
                <a:uLnTx/>
                <a:uFillTx/>
                <a:latin typeface="Arial" panose="020B0604020202020204" pitchFamily="34" charset="0"/>
                <a:ea typeface="+mn-ea"/>
                <a:cs typeface="+mn-cs"/>
              </a:endParaRPr>
            </a:p>
          </p:txBody>
        </p:sp>
        <p:sp>
          <p:nvSpPr>
            <p:cNvPr id="233485"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800" b="0" i="0" u="none" strike="noStrike" kern="1200" cap="none" spc="0" normalizeH="0" baseline="0" noProof="0">
                <a:ln>
                  <a:noFill/>
                </a:ln>
                <a:solidFill>
                  <a:schemeClr val="accent2"/>
                </a:solidFill>
                <a:effectLst/>
                <a:uLnTx/>
                <a:uFillTx/>
                <a:latin typeface="Arial" panose="020B0604020202020204" pitchFamily="34" charset="0"/>
                <a:ea typeface="+mn-ea"/>
                <a:cs typeface="+mn-cs"/>
              </a:endParaRPr>
            </a:p>
          </p:txBody>
        </p:sp>
      </p:grpSp>
      <p:sp>
        <p:nvSpPr>
          <p:cNvPr id="1029"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bg-BG" altLang="x-none" dirty="0"/>
              <a:t>Click to edit Master title style</a:t>
            </a:r>
            <a:endParaRPr lang="bg-BG" altLang="x-none" dirty="0"/>
          </a:p>
        </p:txBody>
      </p:sp>
      <p:sp>
        <p:nvSpPr>
          <p:cNvPr id="1030" name="Rectangle 15"/>
          <p:cNvSpPr>
            <a:spLocks noGrp="1"/>
          </p:cNvSpPr>
          <p:nvPr>
            <p:ph type="body" idx="1"/>
          </p:nvPr>
        </p:nvSpPr>
        <p:spPr>
          <a:xfrm>
            <a:off x="457200" y="1981200"/>
            <a:ext cx="8229600" cy="3886200"/>
          </a:xfrm>
          <a:prstGeom prst="rect">
            <a:avLst/>
          </a:prstGeom>
          <a:noFill/>
          <a:ln w="9525">
            <a:noFill/>
          </a:ln>
        </p:spPr>
        <p:txBody>
          <a:bodyPr/>
          <a:p>
            <a:pPr lvl="0"/>
            <a:r>
              <a:rPr lang="bg-BG" altLang="x-none" dirty="0"/>
              <a:t>Click to edit Master text styles</a:t>
            </a:r>
            <a:endParaRPr lang="bg-BG" altLang="x-none" dirty="0"/>
          </a:p>
          <a:p>
            <a:pPr lvl="1"/>
            <a:r>
              <a:rPr lang="bg-BG" altLang="x-none" dirty="0"/>
              <a:t>Second level</a:t>
            </a:r>
            <a:endParaRPr lang="bg-BG" altLang="x-none" dirty="0"/>
          </a:p>
          <a:p>
            <a:pPr lvl="2"/>
            <a:r>
              <a:rPr lang="bg-BG" altLang="x-none" dirty="0"/>
              <a:t>Third level</a:t>
            </a:r>
            <a:endParaRPr lang="bg-BG" altLang="x-none" dirty="0"/>
          </a:p>
          <a:p>
            <a:pPr lvl="3"/>
            <a:r>
              <a:rPr lang="bg-BG" altLang="x-none" dirty="0"/>
              <a:t>Fourth level</a:t>
            </a:r>
            <a:endParaRPr lang="bg-BG" altLang="x-none" dirty="0"/>
          </a:p>
          <a:p>
            <a:pPr lvl="4"/>
            <a:r>
              <a:rPr lang="bg-BG" altLang="x-none" dirty="0"/>
              <a:t>Fifth level</a:t>
            </a:r>
            <a:endParaRPr lang="bg-BG" altLang="x-none" dirty="0"/>
          </a:p>
        </p:txBody>
      </p:sp>
      <p:sp>
        <p:nvSpPr>
          <p:cNvPr id="23348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bg-BG"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defRPr>
      </a:lvl2pPr>
      <a:lvl3pPr algn="l" rtl="0" eaLnBrk="0" fontAlgn="base" hangingPunct="0">
        <a:spcBef>
          <a:spcPct val="0"/>
        </a:spcBef>
        <a:spcAft>
          <a:spcPct val="0"/>
        </a:spcAft>
        <a:defRPr sz="4400">
          <a:solidFill>
            <a:schemeClr val="tx1"/>
          </a:solidFill>
          <a:latin typeface="Arial" panose="020B0604020202020204" pitchFamily="34" charset="0"/>
        </a:defRPr>
      </a:lvl3pPr>
      <a:lvl4pPr algn="l" rtl="0" eaLnBrk="0" fontAlgn="base" hangingPunct="0">
        <a:spcBef>
          <a:spcPct val="0"/>
        </a:spcBef>
        <a:spcAft>
          <a:spcPct val="0"/>
        </a:spcAft>
        <a:defRPr sz="4400">
          <a:solidFill>
            <a:schemeClr val="tx1"/>
          </a:solidFill>
          <a:latin typeface="Arial" panose="020B0604020202020204" pitchFamily="34" charset="0"/>
        </a:defRPr>
      </a:lvl4pPr>
      <a:lvl5pPr algn="l" rtl="0" eaLnBrk="0" fontAlgn="base" hangingPunct="0">
        <a:spcBef>
          <a:spcPct val="0"/>
        </a:spcBef>
        <a:spcAft>
          <a:spcPct val="0"/>
        </a:spcAft>
        <a:defRPr sz="4400">
          <a:solidFill>
            <a:schemeClr val="tx1"/>
          </a:solidFill>
          <a:latin typeface="Arial" panose="020B0604020202020204" pitchFamily="34" charset="0"/>
        </a:defRPr>
      </a:lvl5pPr>
      <a:lvl6pPr marL="457200" algn="l" rtl="0" fontAlgn="base">
        <a:spcBef>
          <a:spcPct val="0"/>
        </a:spcBef>
        <a:spcAft>
          <a:spcPct val="0"/>
        </a:spcAft>
        <a:defRPr sz="4400">
          <a:solidFill>
            <a:schemeClr val="tx1"/>
          </a:solidFill>
          <a:latin typeface="Arial" panose="020B0604020202020204" pitchFamily="34" charset="0"/>
        </a:defRPr>
      </a:lvl6pPr>
      <a:lvl7pPr marL="914400" algn="l" rtl="0" fontAlgn="base">
        <a:spcBef>
          <a:spcPct val="0"/>
        </a:spcBef>
        <a:spcAft>
          <a:spcPct val="0"/>
        </a:spcAft>
        <a:defRPr sz="4400">
          <a:solidFill>
            <a:schemeClr val="tx1"/>
          </a:solidFill>
          <a:latin typeface="Arial" panose="020B0604020202020204" pitchFamily="34" charset="0"/>
        </a:defRPr>
      </a:lvl7pPr>
      <a:lvl8pPr marL="1371600" algn="l" rtl="0" fontAlgn="base">
        <a:spcBef>
          <a:spcPct val="0"/>
        </a:spcBef>
        <a:spcAft>
          <a:spcPct val="0"/>
        </a:spcAft>
        <a:defRPr sz="4400">
          <a:solidFill>
            <a:schemeClr val="tx1"/>
          </a:solidFill>
          <a:latin typeface="Arial" panose="020B0604020202020204" pitchFamily="34" charset="0"/>
        </a:defRPr>
      </a:lvl8pPr>
      <a:lvl9pPr marL="1828800" algn="l" rtl="0" fontAlgn="base">
        <a:spcBef>
          <a:spcPct val="0"/>
        </a:spcBef>
        <a:spcAft>
          <a:spcPct val="0"/>
        </a:spcAft>
        <a:defRPr sz="4400">
          <a:solidFill>
            <a:schemeClr val="tx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3075"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2051" name="Rectangle 3"/>
          <p:cNvSpPr>
            <a:spLocks noChangeArrowheads="1"/>
          </p:cNvSpPr>
          <p:nvPr/>
        </p:nvSpPr>
        <p:spPr bwMode="auto">
          <a:xfrm>
            <a:off x="685800" y="2743200"/>
            <a:ext cx="7696200" cy="1322070"/>
          </a:xfrm>
          <a:prstGeom prst="rect">
            <a:avLst/>
          </a:prstGeom>
          <a:noFill/>
          <a:ln w="9525">
            <a:noFill/>
            <a:miter lim="800000"/>
          </a:ln>
          <a:effectLst/>
        </p:spPr>
        <p:txBody>
          <a:bodyPr>
            <a:spAutoFit/>
          </a:bodyPr>
          <a:lstStyle/>
          <a:p>
            <a:pPr marL="457200" marR="0" lvl="0" indent="-457200" algn="ctr"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0" normalizeH="0" baseline="0" noProof="0">
                <a:ln>
                  <a:noFill/>
                </a:ln>
                <a:solidFill>
                  <a:schemeClr val="bg2"/>
                </a:solidFill>
                <a:effectLst>
                  <a:outerShdw blurRad="38100" dist="38100" dir="2700000" algn="tl">
                    <a:srgbClr val="C0C0C0"/>
                  </a:outerShdw>
                </a:effectLst>
                <a:uLnTx/>
                <a:uFillTx/>
                <a:latin typeface="Tahoma" panose="020B0604030504040204" pitchFamily="34" charset="0"/>
                <a:ea typeface="+mn-ea"/>
                <a:cs typeface="+mn-cs"/>
              </a:rPr>
              <a:t>Multithreading in JAVA</a:t>
            </a:r>
            <a:endParaRPr kumimoji="0" lang="en-US" sz="4000" b="0" i="0" u="none" strike="noStrike" kern="1200" cap="none" spc="0" normalizeH="0" baseline="0" noProof="0">
              <a:ln>
                <a:noFill/>
              </a:ln>
              <a:solidFill>
                <a:schemeClr val="bg2"/>
              </a:solidFill>
              <a:effectLst>
                <a:outerShdw blurRad="38100" dist="38100" dir="2700000" algn="tl">
                  <a:srgbClr val="C0C0C0"/>
                </a:outerShdw>
              </a:effectLst>
              <a:uLnTx/>
              <a:uFillTx/>
              <a:latin typeface="Tahoma" panose="020B0604030504040204" pitchFamily="34" charset="0"/>
              <a:ea typeface="+mn-ea"/>
              <a:cs typeface="+mn-cs"/>
            </a:endParaRPr>
          </a:p>
          <a:p>
            <a:pPr marL="457200" marR="0" lvl="0" indent="-457200" algn="ctr" defTabSz="914400" rtl="0" eaLnBrk="1" fontAlgn="base" latinLnBrk="0" hangingPunct="1">
              <a:lnSpc>
                <a:spcPct val="100000"/>
              </a:lnSpc>
              <a:spcBef>
                <a:spcPct val="0"/>
              </a:spcBef>
              <a:spcAft>
                <a:spcPct val="0"/>
              </a:spcAft>
              <a:buClrTx/>
              <a:buSzTx/>
              <a:buFontTx/>
              <a:buNone/>
              <a:defRPr/>
            </a:pPr>
            <a:endParaRPr kumimoji="0" lang="en-US" sz="4000" b="0" i="0" u="none" strike="noStrike" kern="1200" cap="none" spc="0" normalizeH="0" baseline="0" noProof="0">
              <a:ln>
                <a:noFill/>
              </a:ln>
              <a:solidFill>
                <a:schemeClr val="bg2"/>
              </a:solidFill>
              <a:effectLst>
                <a:outerShdw blurRad="38100" dist="38100" dir="2700000" algn="tl">
                  <a:srgbClr val="C0C0C0"/>
                </a:outerShdw>
              </a:effectLst>
              <a:uLnTx/>
              <a:uFillTx/>
              <a:latin typeface="Tahoma" panose="020B0604030504040204" pitchFamily="34" charset="0"/>
              <a:ea typeface="+mn-ea"/>
              <a:cs typeface="+mn-cs"/>
            </a:endParaRPr>
          </a:p>
        </p:txBody>
      </p:sp>
      <p:sp>
        <p:nvSpPr>
          <p:cNvPr id="2058" name="Rectangle 10" descr="70%"/>
          <p:cNvSpPr>
            <a:spLocks noChangeArrowheads="1"/>
          </p:cNvSpPr>
          <p:nvPr/>
        </p:nvSpPr>
        <p:spPr bwMode="auto">
          <a:xfrm>
            <a:off x="381000" y="5715000"/>
            <a:ext cx="4191000" cy="304800"/>
          </a:xfrm>
          <a:prstGeom prst="rect">
            <a:avLst/>
          </a:prstGeom>
          <a:noFill/>
          <a:ln w="9525">
            <a:noFill/>
            <a:miter lim="800000"/>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bg2"/>
              </a:solidFill>
              <a:effectLst>
                <a:outerShdw blurRad="38100" dist="38100" dir="2700000" algn="tl">
                  <a:srgbClr val="C0C0C0"/>
                </a:outerShdw>
              </a:effectLst>
              <a:uLnTx/>
              <a:uFillTx/>
              <a:latin typeface="Tahoma" panose="020B0604030504040204" pitchFamily="34" charset="0"/>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4099"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4100" name="Rectangle 2"/>
          <p:cNvSpPr>
            <a:spLocks noGrp="1"/>
          </p:cNvSpPr>
          <p:nvPr>
            <p:ph type="title" idx="4294967295"/>
          </p:nvPr>
        </p:nvSpPr>
        <p:spPr>
          <a:xfrm>
            <a:off x="685800" y="76200"/>
            <a:ext cx="7772400" cy="3810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Outline</a:t>
            </a:r>
            <a:endParaRPr lang="en-CA" altLang="x-none" sz="2800" dirty="0">
              <a:solidFill>
                <a:srgbClr val="FF9900"/>
              </a:solidFill>
              <a:ea typeface="Times New Roman" panose="02020603050405020304" pitchFamily="18" charset="0"/>
            </a:endParaRPr>
          </a:p>
        </p:txBody>
      </p:sp>
      <p:sp>
        <p:nvSpPr>
          <p:cNvPr id="257027" name="Rectangle 3"/>
          <p:cNvSpPr>
            <a:spLocks noChangeArrowheads="1"/>
          </p:cNvSpPr>
          <p:nvPr/>
        </p:nvSpPr>
        <p:spPr bwMode="auto">
          <a:xfrm>
            <a:off x="304800" y="685800"/>
            <a:ext cx="8534400" cy="5334000"/>
          </a:xfrm>
          <a:prstGeom prst="rect">
            <a:avLst/>
          </a:prstGeom>
          <a:noFill/>
          <a:ln w="9525">
            <a:noFill/>
            <a:miter lim="800000"/>
          </a:ln>
          <a:effectLst/>
        </p:spPr>
        <p:txBody>
          <a:bodyPr/>
          <a:lstStyle/>
          <a:p>
            <a:pPr marL="342900" marR="0" lvl="0" indent="-3429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endParaRPr kumimoji="0" 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endParaRPr kumimoji="0" 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R="0" lvl="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defRPr/>
            </a:pPr>
            <a:endParaRPr kumimoji="0" 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a:pPr>
            <a:r>
              <a:rPr kumimoji="0" 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Process versus Thread</a:t>
            </a:r>
            <a:endParaRPr kumimoji="0" 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a:pPr>
            <a:endParaRPr kumimoji="0" 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a:pPr>
            <a:r>
              <a:rPr kumimoji="0" 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Synchronization</a:t>
            </a:r>
            <a:endParaRPr kumimoji="0" 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a:pPr>
            <a:endParaRPr kumimoji="0" 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a:pPr>
            <a:r>
              <a:rPr kumimoji="0" lang="en-CA" sz="28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Multithreading with Java</a:t>
            </a:r>
            <a:endParaRPr kumimoji="0" lang="en-CA" sz="28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a:pPr>
            <a:endParaRPr kumimoji="0" 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R="0" lvl="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defRPr/>
            </a:pPr>
            <a:endParaRPr kumimoji="0" 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5123"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5124" name="Rectangle 2"/>
          <p:cNvSpPr>
            <a:spLocks noGrp="1"/>
          </p:cNvSpPr>
          <p:nvPr>
            <p:ph type="title" idx="4294967295"/>
          </p:nvPr>
        </p:nvSpPr>
        <p:spPr>
          <a:xfrm>
            <a:off x="685800" y="76200"/>
            <a:ext cx="7772400" cy="381000"/>
          </a:xfrm>
          <a:ln/>
        </p:spPr>
        <p:txBody>
          <a:bodyPr vert="horz" wrap="square" lIns="91440" tIns="45720" rIns="91440" bIns="45720" anchor="ctr" anchorCtr="0"/>
          <a:p>
            <a:pPr eaLnBrk="1" hangingPunct="1"/>
            <a:r>
              <a:rPr sz="2800" dirty="0">
                <a:solidFill>
                  <a:srgbClr val="FF9900"/>
                </a:solidFill>
              </a:rPr>
              <a:t>Topic</a:t>
            </a:r>
            <a:r>
              <a:rPr lang="bg-BG" altLang="x-none" sz="2800" dirty="0">
                <a:solidFill>
                  <a:srgbClr val="FF9900"/>
                </a:solidFill>
              </a:rPr>
              <a:t> </a:t>
            </a:r>
            <a:endParaRPr lang="en-CA" altLang="x-none" sz="2800" dirty="0">
              <a:solidFill>
                <a:srgbClr val="FF9900"/>
              </a:solidFill>
            </a:endParaRPr>
          </a:p>
        </p:txBody>
      </p:sp>
      <p:sp>
        <p:nvSpPr>
          <p:cNvPr id="429059" name="Rectangle 3"/>
          <p:cNvSpPr>
            <a:spLocks noChangeArrowheads="1"/>
          </p:cNvSpPr>
          <p:nvPr/>
        </p:nvSpPr>
        <p:spPr bwMode="auto">
          <a:xfrm>
            <a:off x="304800" y="685800"/>
            <a:ext cx="8534400" cy="5486400"/>
          </a:xfrm>
          <a:prstGeom prst="rect">
            <a:avLst/>
          </a:prstGeom>
          <a:noFill/>
          <a:ln w="9525">
            <a:noFill/>
            <a:miter lim="800000"/>
          </a:ln>
          <a:effectLst/>
        </p:spPr>
        <p:txBody>
          <a:bodyPr/>
          <a:lstStyle/>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sz="36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Process versus Thread.</a:t>
            </a:r>
            <a:endParaRPr kumimoji="0" lang="en-US" sz="36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sz="36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Synchronization</a:t>
            </a:r>
            <a:endParaRPr kumimoji="0" lang="en-US" sz="36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6147"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6148" name="Rectangle 2"/>
          <p:cNvSpPr>
            <a:spLocks noGrp="1"/>
          </p:cNvSpPr>
          <p:nvPr>
            <p:ph type="title" idx="4294967295"/>
          </p:nvPr>
        </p:nvSpPr>
        <p:spPr>
          <a:xfrm>
            <a:off x="685800" y="76200"/>
            <a:ext cx="7772400" cy="3810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Process Model</a:t>
            </a:r>
            <a:endParaRPr lang="en-CA" altLang="x-none" sz="2800" dirty="0">
              <a:solidFill>
                <a:srgbClr val="FF9900"/>
              </a:solidFill>
              <a:ea typeface="Times New Roman" panose="02020603050405020304" pitchFamily="18" charset="0"/>
            </a:endParaRPr>
          </a:p>
        </p:txBody>
      </p:sp>
      <p:sp>
        <p:nvSpPr>
          <p:cNvPr id="6149" name="Rectangle 3"/>
          <p:cNvSpPr/>
          <p:nvPr/>
        </p:nvSpPr>
        <p:spPr>
          <a:xfrm>
            <a:off x="304800" y="685800"/>
            <a:ext cx="8534400" cy="3581400"/>
          </a:xfrm>
          <a:prstGeom prst="rect">
            <a:avLst/>
          </a:prstGeom>
          <a:noFill/>
          <a:ln w="9525">
            <a:noFill/>
          </a:ln>
        </p:spPr>
        <p:txBody>
          <a:bodyPr/>
          <a:p>
            <a:pPr marL="342900" indent="-342900"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A</a:t>
            </a:r>
            <a:r>
              <a:rPr sz="2000" b="1" dirty="0">
                <a:latin typeface="Times New Roman" panose="02020603050405020304" pitchFamily="18" charset="0"/>
              </a:rPr>
              <a:t> process</a:t>
            </a:r>
            <a:r>
              <a:rPr sz="2000" dirty="0">
                <a:latin typeface="Times New Roman" panose="02020603050405020304" pitchFamily="18" charset="0"/>
              </a:rPr>
              <a:t> is a sequential program in execution.</a:t>
            </a:r>
            <a:endParaRPr sz="2000" dirty="0">
              <a:latin typeface="Times New Roman" panose="02020603050405020304" pitchFamily="18" charset="0"/>
            </a:endParaRPr>
          </a:p>
          <a:p>
            <a:pPr marL="342900" indent="-342900"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A </a:t>
            </a:r>
            <a:r>
              <a:rPr sz="2000" b="1" dirty="0">
                <a:latin typeface="Times New Roman" panose="02020603050405020304" pitchFamily="18" charset="0"/>
              </a:rPr>
              <a:t>process</a:t>
            </a:r>
            <a:r>
              <a:rPr sz="2000" dirty="0">
                <a:latin typeface="Times New Roman" panose="02020603050405020304" pitchFamily="18" charset="0"/>
              </a:rPr>
              <a:t> is a unit of computation.</a:t>
            </a:r>
            <a:endParaRPr sz="2000" dirty="0">
              <a:latin typeface="Times New Roman" panose="02020603050405020304" pitchFamily="18" charset="0"/>
            </a:endParaRPr>
          </a:p>
          <a:p>
            <a:pPr marL="342900" indent="-342900" algn="just">
              <a:spcBef>
                <a:spcPct val="20000"/>
              </a:spcBef>
              <a:buClr>
                <a:schemeClr val="bg2"/>
              </a:buClr>
              <a:buSzPct val="75000"/>
              <a:buFont typeface="Wingdings" panose="05000000000000000000" pitchFamily="2" charset="2"/>
              <a:buChar char="§"/>
            </a:pPr>
            <a:r>
              <a:rPr sz="2000" b="1" dirty="0">
                <a:latin typeface="Times New Roman" panose="02020603050405020304" pitchFamily="18" charset="0"/>
              </a:rPr>
              <a:t>Process components:</a:t>
            </a:r>
            <a:endParaRPr sz="2000" dirty="0">
              <a:latin typeface="Times New Roman" panose="02020603050405020304" pitchFamily="18" charset="0"/>
            </a:endParaRPr>
          </a:p>
          <a:p>
            <a:pPr marL="742950" lvl="1" indent="-285750" algn="just" eaLnBrk="1" hangingPunct="1">
              <a:spcBef>
                <a:spcPct val="20000"/>
              </a:spcBef>
              <a:buClr>
                <a:srgbClr val="B43218"/>
              </a:buClr>
              <a:buSzPct val="80000"/>
              <a:buFont typeface="Wingdings" panose="05000000000000000000" pitchFamily="2" charset="2"/>
              <a:buChar char="§"/>
            </a:pPr>
            <a:r>
              <a:rPr sz="2000" dirty="0">
                <a:latin typeface="Times New Roman" panose="02020603050405020304" pitchFamily="18" charset="0"/>
              </a:rPr>
              <a:t>The program (code) to be executed.</a:t>
            </a:r>
            <a:endParaRPr sz="2000" dirty="0">
              <a:latin typeface="Times New Roman" panose="02020603050405020304" pitchFamily="18" charset="0"/>
            </a:endParaRPr>
          </a:p>
          <a:p>
            <a:pPr marL="742950" lvl="1" indent="-285750" algn="just" eaLnBrk="1" hangingPunct="1">
              <a:spcBef>
                <a:spcPct val="20000"/>
              </a:spcBef>
              <a:buClr>
                <a:srgbClr val="B43218"/>
              </a:buClr>
              <a:buSzPct val="80000"/>
              <a:buFont typeface="Wingdings" panose="05000000000000000000" pitchFamily="2" charset="2"/>
              <a:buChar char="§"/>
            </a:pPr>
            <a:r>
              <a:rPr sz="2000" dirty="0">
                <a:latin typeface="Times New Roman" panose="02020603050405020304" pitchFamily="18" charset="0"/>
              </a:rPr>
              <a:t>The data on which the program will execute.</a:t>
            </a:r>
            <a:endParaRPr sz="2000" dirty="0">
              <a:latin typeface="Times New Roman" panose="02020603050405020304" pitchFamily="18" charset="0"/>
            </a:endParaRPr>
          </a:p>
          <a:p>
            <a:pPr marL="742950" lvl="1" indent="-285750" algn="just" eaLnBrk="1" hangingPunct="1">
              <a:spcBef>
                <a:spcPct val="20000"/>
              </a:spcBef>
              <a:buClr>
                <a:srgbClr val="B43218"/>
              </a:buClr>
              <a:buSzPct val="80000"/>
              <a:buFont typeface="Wingdings" panose="05000000000000000000" pitchFamily="2" charset="2"/>
              <a:buChar char="§"/>
            </a:pPr>
            <a:r>
              <a:rPr sz="2000" dirty="0">
                <a:latin typeface="Times New Roman" panose="02020603050405020304" pitchFamily="18" charset="0"/>
              </a:rPr>
              <a:t>Resources required by the program.</a:t>
            </a:r>
            <a:endParaRPr sz="2000" dirty="0">
              <a:latin typeface="Times New Roman" panose="02020603050405020304" pitchFamily="18" charset="0"/>
            </a:endParaRPr>
          </a:p>
          <a:p>
            <a:pPr marL="742950" lvl="1" indent="-285750" algn="just" eaLnBrk="1" hangingPunct="1">
              <a:spcBef>
                <a:spcPct val="20000"/>
              </a:spcBef>
              <a:buClr>
                <a:srgbClr val="B43218"/>
              </a:buClr>
              <a:buSzPct val="80000"/>
              <a:buFont typeface="Wingdings" panose="05000000000000000000" pitchFamily="2" charset="2"/>
              <a:buChar char="§"/>
            </a:pPr>
            <a:r>
              <a:rPr sz="2000" dirty="0">
                <a:latin typeface="Times New Roman" panose="02020603050405020304" pitchFamily="18" charset="0"/>
              </a:rPr>
              <a:t>The status of the process execution.</a:t>
            </a:r>
            <a:endParaRPr dirty="0">
              <a:latin typeface="Times New Roman" panose="02020603050405020304" pitchFamily="18" charset="0"/>
            </a:endParaRPr>
          </a:p>
          <a:p>
            <a:pPr marL="342900" indent="-342900" algn="just">
              <a:spcBef>
                <a:spcPct val="20000"/>
              </a:spcBef>
              <a:buClr>
                <a:schemeClr val="bg2"/>
              </a:buClr>
              <a:buSzPct val="75000"/>
              <a:buFont typeface="Wingdings" panose="05000000000000000000" pitchFamily="2" charset="2"/>
              <a:buChar char="§"/>
            </a:pPr>
            <a:r>
              <a:rPr sz="2000" b="1" dirty="0">
                <a:latin typeface="Times New Roman" panose="02020603050405020304" pitchFamily="18" charset="0"/>
              </a:rPr>
              <a:t>A process runs in an abstract machine environment (could be OS) that manages the sharing and isolation of resources among the community of processes. </a:t>
            </a:r>
            <a:endParaRPr sz="2000" b="1" dirty="0">
              <a:latin typeface="Times New Roman" panose="02020603050405020304" pitchFamily="18" charset="0"/>
            </a:endParaRPr>
          </a:p>
        </p:txBody>
      </p:sp>
      <p:grpSp>
        <p:nvGrpSpPr>
          <p:cNvPr id="6150" name="Group 4"/>
          <p:cNvGrpSpPr/>
          <p:nvPr/>
        </p:nvGrpSpPr>
        <p:grpSpPr>
          <a:xfrm>
            <a:off x="2133600" y="4114800"/>
            <a:ext cx="4800600" cy="2286000"/>
            <a:chOff x="480" y="2544"/>
            <a:chExt cx="3024" cy="1440"/>
          </a:xfrm>
        </p:grpSpPr>
        <p:grpSp>
          <p:nvGrpSpPr>
            <p:cNvPr id="6151" name="Group 5"/>
            <p:cNvGrpSpPr/>
            <p:nvPr/>
          </p:nvGrpSpPr>
          <p:grpSpPr>
            <a:xfrm>
              <a:off x="480" y="2544"/>
              <a:ext cx="1296" cy="624"/>
              <a:chOff x="384" y="2928"/>
              <a:chExt cx="1296" cy="624"/>
            </a:xfrm>
          </p:grpSpPr>
          <p:sp>
            <p:nvSpPr>
              <p:cNvPr id="6166" name="AutoShape 6"/>
              <p:cNvSpPr/>
              <p:nvPr/>
            </p:nvSpPr>
            <p:spPr>
              <a:xfrm>
                <a:off x="480" y="3024"/>
                <a:ext cx="1200" cy="528"/>
              </a:xfrm>
              <a:prstGeom prst="roundRect">
                <a:avLst>
                  <a:gd name="adj" fmla="val 16667"/>
                </a:avLst>
              </a:prstGeom>
              <a:solidFill>
                <a:srgbClr val="C0C0C0">
                  <a:alpha val="50195"/>
                </a:srgbClr>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sp>
            <p:nvSpPr>
              <p:cNvPr id="6167" name="AutoShape 7"/>
              <p:cNvSpPr/>
              <p:nvPr/>
            </p:nvSpPr>
            <p:spPr>
              <a:xfrm>
                <a:off x="432" y="2976"/>
                <a:ext cx="1200" cy="528"/>
              </a:xfrm>
              <a:prstGeom prst="roundRect">
                <a:avLst>
                  <a:gd name="adj" fmla="val 16667"/>
                </a:avLst>
              </a:prstGeom>
              <a:solidFill>
                <a:srgbClr val="C0C0C0">
                  <a:alpha val="50195"/>
                </a:srgbClr>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grpSp>
            <p:nvGrpSpPr>
              <p:cNvPr id="6168" name="Group 8"/>
              <p:cNvGrpSpPr/>
              <p:nvPr/>
            </p:nvGrpSpPr>
            <p:grpSpPr>
              <a:xfrm>
                <a:off x="384" y="2928"/>
                <a:ext cx="1200" cy="528"/>
                <a:chOff x="384" y="2928"/>
                <a:chExt cx="1200" cy="528"/>
              </a:xfrm>
            </p:grpSpPr>
            <p:sp>
              <p:nvSpPr>
                <p:cNvPr id="6169" name="AutoShape 9"/>
                <p:cNvSpPr/>
                <p:nvPr/>
              </p:nvSpPr>
              <p:spPr>
                <a:xfrm>
                  <a:off x="384" y="2928"/>
                  <a:ext cx="1200" cy="528"/>
                </a:xfrm>
                <a:prstGeom prst="roundRect">
                  <a:avLst>
                    <a:gd name="adj" fmla="val 16667"/>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sp>
              <p:nvSpPr>
                <p:cNvPr id="6170" name="Rectangle 10"/>
                <p:cNvSpPr/>
                <p:nvPr/>
              </p:nvSpPr>
              <p:spPr>
                <a:xfrm>
                  <a:off x="480" y="3024"/>
                  <a:ext cx="432"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sz="1400" dirty="0">
                      <a:latin typeface="Arial" panose="020B0604020202020204" pitchFamily="34" charset="0"/>
                    </a:rPr>
                    <a:t>Code</a:t>
                  </a:r>
                  <a:endParaRPr sz="1400" dirty="0">
                    <a:latin typeface="Arial" panose="020B0604020202020204" pitchFamily="34" charset="0"/>
                  </a:endParaRPr>
                </a:p>
              </p:txBody>
            </p:sp>
            <p:sp>
              <p:nvSpPr>
                <p:cNvPr id="6171" name="Rectangle 11"/>
                <p:cNvSpPr/>
                <p:nvPr/>
              </p:nvSpPr>
              <p:spPr>
                <a:xfrm>
                  <a:off x="1056" y="3024"/>
                  <a:ext cx="432"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sz="1400" dirty="0">
                      <a:latin typeface="Arial" panose="020B0604020202020204" pitchFamily="34" charset="0"/>
                    </a:rPr>
                    <a:t>Data</a:t>
                  </a:r>
                  <a:endParaRPr sz="1400" dirty="0">
                    <a:latin typeface="Arial" panose="020B0604020202020204" pitchFamily="34" charset="0"/>
                  </a:endParaRPr>
                </a:p>
              </p:txBody>
            </p:sp>
            <p:sp>
              <p:nvSpPr>
                <p:cNvPr id="6172" name="Rectangle 12"/>
                <p:cNvSpPr/>
                <p:nvPr/>
              </p:nvSpPr>
              <p:spPr>
                <a:xfrm>
                  <a:off x="480" y="3216"/>
                  <a:ext cx="1008"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sz="1400" dirty="0">
                      <a:latin typeface="Arial" panose="020B0604020202020204" pitchFamily="34" charset="0"/>
                    </a:rPr>
                    <a:t>Process Status</a:t>
                  </a:r>
                  <a:endParaRPr sz="1400" dirty="0">
                    <a:latin typeface="Arial" panose="020B0604020202020204" pitchFamily="34" charset="0"/>
                  </a:endParaRPr>
                </a:p>
              </p:txBody>
            </p:sp>
          </p:grpSp>
        </p:grpSp>
        <p:grpSp>
          <p:nvGrpSpPr>
            <p:cNvPr id="6152" name="Group 13"/>
            <p:cNvGrpSpPr/>
            <p:nvPr/>
          </p:nvGrpSpPr>
          <p:grpSpPr>
            <a:xfrm>
              <a:off x="2304" y="2736"/>
              <a:ext cx="1200" cy="432"/>
              <a:chOff x="2256" y="2640"/>
              <a:chExt cx="1200" cy="432"/>
            </a:xfrm>
          </p:grpSpPr>
          <p:sp>
            <p:nvSpPr>
              <p:cNvPr id="6161" name="AutoShape 14"/>
              <p:cNvSpPr/>
              <p:nvPr/>
            </p:nvSpPr>
            <p:spPr>
              <a:xfrm>
                <a:off x="2256" y="2640"/>
                <a:ext cx="1104" cy="336"/>
              </a:xfrm>
              <a:prstGeom prst="roundRect">
                <a:avLst>
                  <a:gd name="adj" fmla="val 16667"/>
                </a:avLst>
              </a:prstGeom>
              <a:solidFill>
                <a:srgbClr val="C0C0C0">
                  <a:alpha val="50195"/>
                </a:srgbClr>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sp>
            <p:nvSpPr>
              <p:cNvPr id="6162" name="AutoShape 15"/>
              <p:cNvSpPr/>
              <p:nvPr/>
            </p:nvSpPr>
            <p:spPr>
              <a:xfrm>
                <a:off x="2304" y="2688"/>
                <a:ext cx="1104" cy="336"/>
              </a:xfrm>
              <a:prstGeom prst="roundRect">
                <a:avLst>
                  <a:gd name="adj" fmla="val 16667"/>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grpSp>
            <p:nvGrpSpPr>
              <p:cNvPr id="6163" name="Group 16"/>
              <p:cNvGrpSpPr/>
              <p:nvPr/>
            </p:nvGrpSpPr>
            <p:grpSpPr>
              <a:xfrm>
                <a:off x="2352" y="2736"/>
                <a:ext cx="1104" cy="336"/>
                <a:chOff x="2352" y="2736"/>
                <a:chExt cx="1104" cy="336"/>
              </a:xfrm>
            </p:grpSpPr>
            <p:sp>
              <p:nvSpPr>
                <p:cNvPr id="6164" name="AutoShape 17"/>
                <p:cNvSpPr/>
                <p:nvPr/>
              </p:nvSpPr>
              <p:spPr>
                <a:xfrm>
                  <a:off x="2352" y="2736"/>
                  <a:ext cx="1104" cy="336"/>
                </a:xfrm>
                <a:prstGeom prst="roundRect">
                  <a:avLst>
                    <a:gd name="adj" fmla="val 16667"/>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sp>
              <p:nvSpPr>
                <p:cNvPr id="6165" name="Rectangle 18"/>
                <p:cNvSpPr/>
                <p:nvPr/>
              </p:nvSpPr>
              <p:spPr>
                <a:xfrm>
                  <a:off x="2448" y="2832"/>
                  <a:ext cx="960"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sz="1400" dirty="0">
                      <a:latin typeface="Arial" panose="020B0604020202020204" pitchFamily="34" charset="0"/>
                    </a:rPr>
                    <a:t>Resource</a:t>
                  </a:r>
                  <a:endParaRPr sz="1400" dirty="0">
                    <a:latin typeface="Arial" panose="020B0604020202020204" pitchFamily="34" charset="0"/>
                  </a:endParaRPr>
                </a:p>
              </p:txBody>
            </p:sp>
          </p:grpSp>
        </p:grpSp>
        <p:sp>
          <p:nvSpPr>
            <p:cNvPr id="6153" name="AutoShape 19"/>
            <p:cNvSpPr/>
            <p:nvPr/>
          </p:nvSpPr>
          <p:spPr>
            <a:xfrm>
              <a:off x="1824" y="2880"/>
              <a:ext cx="432" cy="96"/>
            </a:xfrm>
            <a:prstGeom prst="leftRightArrow">
              <a:avLst>
                <a:gd name="adj1" fmla="val 50000"/>
                <a:gd name="adj2" fmla="val 90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dirty="0">
                <a:latin typeface="Arial" panose="020B0604020202020204" pitchFamily="34" charset="0"/>
              </a:endParaRPr>
            </a:p>
          </p:txBody>
        </p:sp>
        <p:sp>
          <p:nvSpPr>
            <p:cNvPr id="6154" name="AutoShape 20"/>
            <p:cNvSpPr/>
            <p:nvPr/>
          </p:nvSpPr>
          <p:spPr>
            <a:xfrm>
              <a:off x="1008" y="3552"/>
              <a:ext cx="1872" cy="336"/>
            </a:xfrm>
            <a:prstGeom prst="roundRect">
              <a:avLst>
                <a:gd name="adj" fmla="val 16667"/>
              </a:avLst>
            </a:prstGeom>
            <a:solidFill>
              <a:srgbClr val="C0C0C0">
                <a:alpha val="50195"/>
              </a:srgbClr>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sp>
          <p:nvSpPr>
            <p:cNvPr id="6155" name="AutoShape 21"/>
            <p:cNvSpPr/>
            <p:nvPr/>
          </p:nvSpPr>
          <p:spPr>
            <a:xfrm>
              <a:off x="1056" y="3600"/>
              <a:ext cx="1920" cy="336"/>
            </a:xfrm>
            <a:prstGeom prst="roundRect">
              <a:avLst>
                <a:gd name="adj" fmla="val 16667"/>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grpSp>
          <p:nvGrpSpPr>
            <p:cNvPr id="6156" name="Group 22"/>
            <p:cNvGrpSpPr/>
            <p:nvPr/>
          </p:nvGrpSpPr>
          <p:grpSpPr>
            <a:xfrm>
              <a:off x="1104" y="3648"/>
              <a:ext cx="1920" cy="336"/>
              <a:chOff x="2352" y="2736"/>
              <a:chExt cx="1104" cy="336"/>
            </a:xfrm>
          </p:grpSpPr>
          <p:sp>
            <p:nvSpPr>
              <p:cNvPr id="6159" name="AutoShape 23"/>
              <p:cNvSpPr/>
              <p:nvPr/>
            </p:nvSpPr>
            <p:spPr>
              <a:xfrm>
                <a:off x="2352" y="2736"/>
                <a:ext cx="1104" cy="336"/>
              </a:xfrm>
              <a:prstGeom prst="roundRect">
                <a:avLst>
                  <a:gd name="adj" fmla="val 16667"/>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sp>
            <p:nvSpPr>
              <p:cNvPr id="6160" name="Rectangle 24"/>
              <p:cNvSpPr/>
              <p:nvPr/>
            </p:nvSpPr>
            <p:spPr>
              <a:xfrm>
                <a:off x="2448" y="2832"/>
                <a:ext cx="960"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sz="1400" dirty="0">
                    <a:latin typeface="Arial" panose="020B0604020202020204" pitchFamily="34" charset="0"/>
                  </a:rPr>
                  <a:t>Abstract Machine Environment</a:t>
                </a:r>
                <a:endParaRPr sz="1400" dirty="0">
                  <a:latin typeface="Arial" panose="020B0604020202020204" pitchFamily="34" charset="0"/>
                </a:endParaRPr>
              </a:p>
            </p:txBody>
          </p:sp>
        </p:grpSp>
        <p:sp>
          <p:nvSpPr>
            <p:cNvPr id="6157" name="AutoShape 25"/>
            <p:cNvSpPr/>
            <p:nvPr/>
          </p:nvSpPr>
          <p:spPr>
            <a:xfrm rot="5400000">
              <a:off x="994" y="3312"/>
              <a:ext cx="316" cy="96"/>
            </a:xfrm>
            <a:prstGeom prst="leftRightArrow">
              <a:avLst>
                <a:gd name="adj1" fmla="val 50000"/>
                <a:gd name="adj2" fmla="val 65833"/>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dirty="0">
                <a:latin typeface="Arial" panose="020B0604020202020204" pitchFamily="34" charset="0"/>
              </a:endParaRPr>
            </a:p>
          </p:txBody>
        </p:sp>
        <p:sp>
          <p:nvSpPr>
            <p:cNvPr id="6158" name="AutoShape 26"/>
            <p:cNvSpPr/>
            <p:nvPr/>
          </p:nvSpPr>
          <p:spPr>
            <a:xfrm rot="5400000">
              <a:off x="2578" y="3326"/>
              <a:ext cx="316" cy="96"/>
            </a:xfrm>
            <a:prstGeom prst="leftRightArrow">
              <a:avLst>
                <a:gd name="adj1" fmla="val 50000"/>
                <a:gd name="adj2" fmla="val 65833"/>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dirty="0">
                <a:latin typeface="Arial" panose="020B0604020202020204" pitchFamily="34" charset="0"/>
              </a:endParaRPr>
            </a:p>
          </p:txBody>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7171"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7172" name="Rectangle 2"/>
          <p:cNvSpPr>
            <a:spLocks noGrp="1"/>
          </p:cNvSpPr>
          <p:nvPr>
            <p:ph type="title" idx="4294967295"/>
          </p:nvPr>
        </p:nvSpPr>
        <p:spPr>
          <a:xfrm>
            <a:off x="685800" y="76200"/>
            <a:ext cx="7772400" cy="3810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Program and Process</a:t>
            </a:r>
            <a:endParaRPr lang="en-CA" altLang="x-none" sz="2800" dirty="0">
              <a:solidFill>
                <a:srgbClr val="FF9900"/>
              </a:solidFill>
              <a:ea typeface="Times New Roman" panose="02020603050405020304" pitchFamily="18" charset="0"/>
            </a:endParaRPr>
          </a:p>
        </p:txBody>
      </p:sp>
      <p:sp>
        <p:nvSpPr>
          <p:cNvPr id="7173" name="Rectangle 3"/>
          <p:cNvSpPr/>
          <p:nvPr/>
        </p:nvSpPr>
        <p:spPr>
          <a:xfrm>
            <a:off x="304800" y="685800"/>
            <a:ext cx="8534400" cy="3962400"/>
          </a:xfrm>
          <a:prstGeom prst="rect">
            <a:avLst/>
          </a:prstGeom>
          <a:noFill/>
          <a:ln w="9525">
            <a:noFill/>
          </a:ln>
        </p:spPr>
        <p:txBody>
          <a:bodyPr/>
          <a:p>
            <a:pPr marL="342900" indent="-342900" algn="just">
              <a:spcBef>
                <a:spcPct val="20000"/>
              </a:spcBef>
              <a:buClr>
                <a:schemeClr val="bg2"/>
              </a:buClr>
              <a:buSzPct val="75000"/>
              <a:buFont typeface="Wingdings" panose="05000000000000000000" pitchFamily="2" charset="2"/>
            </a:pPr>
            <a:r>
              <a:rPr sz="2400" dirty="0">
                <a:latin typeface="Times New Roman" panose="02020603050405020304" pitchFamily="18" charset="0"/>
              </a:rPr>
              <a:t>Program and process – distinction?</a:t>
            </a:r>
            <a:endParaRPr sz="2400" dirty="0">
              <a:latin typeface="Times New Roman" panose="02020603050405020304" pitchFamily="18" charset="0"/>
            </a:endParaRPr>
          </a:p>
          <a:p>
            <a:pPr marL="342900" indent="-342900" algn="just">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A program is a </a:t>
            </a:r>
            <a:r>
              <a:rPr sz="2400" b="1" dirty="0">
                <a:latin typeface="Times New Roman" panose="02020603050405020304" pitchFamily="18" charset="0"/>
              </a:rPr>
              <a:t>static entity</a:t>
            </a:r>
            <a:r>
              <a:rPr sz="2400" dirty="0">
                <a:latin typeface="Times New Roman" panose="02020603050405020304" pitchFamily="18" charset="0"/>
              </a:rPr>
              <a:t> made up of program statements. The latter define the run-time behavior.</a:t>
            </a:r>
            <a:endParaRPr sz="2400" dirty="0">
              <a:latin typeface="Times New Roman" panose="02020603050405020304" pitchFamily="18" charset="0"/>
            </a:endParaRPr>
          </a:p>
          <a:p>
            <a:pPr marL="342900" indent="-342900" algn="just">
              <a:spcBef>
                <a:spcPct val="20000"/>
              </a:spcBef>
              <a:buClr>
                <a:schemeClr val="bg2"/>
              </a:buClr>
              <a:buSzPct val="75000"/>
              <a:buFont typeface="Wingdings" panose="05000000000000000000" pitchFamily="2" charset="2"/>
              <a:buChar char="§"/>
            </a:pPr>
            <a:endParaRPr sz="2400" dirty="0">
              <a:latin typeface="Times New Roman" panose="02020603050405020304" pitchFamily="18" charset="0"/>
            </a:endParaRPr>
          </a:p>
          <a:p>
            <a:pPr marL="342900" indent="-342900" algn="just">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A process is a </a:t>
            </a:r>
            <a:r>
              <a:rPr sz="2400" b="1" dirty="0">
                <a:latin typeface="Times New Roman" panose="02020603050405020304" pitchFamily="18" charset="0"/>
              </a:rPr>
              <a:t>dynamic entity</a:t>
            </a:r>
            <a:r>
              <a:rPr sz="2400" dirty="0">
                <a:latin typeface="Times New Roman" panose="02020603050405020304" pitchFamily="18" charset="0"/>
              </a:rPr>
              <a:t> that executes a program on a particular set of data.</a:t>
            </a:r>
            <a:endParaRPr sz="2400" dirty="0">
              <a:latin typeface="Times New Roman" panose="02020603050405020304" pitchFamily="18" charset="0"/>
            </a:endParaRPr>
          </a:p>
          <a:p>
            <a:pPr marL="342900" indent="-342900" algn="just">
              <a:spcBef>
                <a:spcPct val="20000"/>
              </a:spcBef>
              <a:buClr>
                <a:schemeClr val="bg2"/>
              </a:buClr>
              <a:buSzPct val="75000"/>
              <a:buFont typeface="Wingdings" panose="05000000000000000000" pitchFamily="2" charset="2"/>
              <a:buChar char="§"/>
            </a:pPr>
            <a:endParaRPr sz="2400" dirty="0">
              <a:latin typeface="Times New Roman" panose="02020603050405020304" pitchFamily="18" charset="0"/>
            </a:endParaRPr>
          </a:p>
          <a:p>
            <a:pPr marL="342900" indent="-342900" algn="just">
              <a:spcBef>
                <a:spcPct val="20000"/>
              </a:spcBef>
              <a:buClr>
                <a:schemeClr val="bg2"/>
              </a:buClr>
              <a:buSzPct val="75000"/>
              <a:buFont typeface="Wingdings" panose="05000000000000000000" pitchFamily="2" charset="2"/>
              <a:buChar char="§"/>
            </a:pPr>
            <a:r>
              <a:rPr sz="2400" b="1" dirty="0">
                <a:latin typeface="Times New Roman" panose="02020603050405020304" pitchFamily="18" charset="0"/>
              </a:rPr>
              <a:t>Two or more processes could execute the same program</a:t>
            </a:r>
            <a:r>
              <a:rPr sz="2400" dirty="0">
                <a:latin typeface="Times New Roman" panose="02020603050405020304" pitchFamily="18" charset="0"/>
              </a:rPr>
              <a:t>, each using their own data and resources.</a:t>
            </a:r>
            <a:endParaRPr sz="2400" dirty="0">
              <a:latin typeface="Times New Roman" panose="02020603050405020304"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8195"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8196" name="Rectangle 2"/>
          <p:cNvSpPr>
            <a:spLocks noGrp="1"/>
          </p:cNvSpPr>
          <p:nvPr>
            <p:ph type="title" idx="4294967295"/>
          </p:nvPr>
        </p:nvSpPr>
        <p:spPr>
          <a:xfrm>
            <a:off x="685800" y="76200"/>
            <a:ext cx="7772400" cy="3810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Thread Model</a:t>
            </a:r>
            <a:endParaRPr lang="en-CA" altLang="x-none" sz="2800" dirty="0">
              <a:solidFill>
                <a:srgbClr val="FF9900"/>
              </a:solidFill>
              <a:ea typeface="Times New Roman" panose="02020603050405020304" pitchFamily="18" charset="0"/>
            </a:endParaRPr>
          </a:p>
        </p:txBody>
      </p:sp>
      <p:sp>
        <p:nvSpPr>
          <p:cNvPr id="8197" name="Rectangle 3"/>
          <p:cNvSpPr/>
          <p:nvPr/>
        </p:nvSpPr>
        <p:spPr>
          <a:xfrm>
            <a:off x="304800" y="685800"/>
            <a:ext cx="8534400" cy="3581400"/>
          </a:xfrm>
          <a:prstGeom prst="rect">
            <a:avLst/>
          </a:prstGeom>
          <a:noFill/>
          <a:ln w="9525">
            <a:noFill/>
          </a:ln>
        </p:spPr>
        <p:txBody>
          <a:bodyPr/>
          <a:p>
            <a:pPr marL="342900" indent="-342900" algn="just">
              <a:spcBef>
                <a:spcPct val="20000"/>
              </a:spcBef>
              <a:buClr>
                <a:schemeClr val="bg2"/>
              </a:buClr>
              <a:buSzPct val="75000"/>
              <a:buFont typeface="Wingdings" panose="05000000000000000000" pitchFamily="2" charset="2"/>
              <a:buChar char="§"/>
            </a:pPr>
            <a:r>
              <a:rPr sz="2000" b="1" dirty="0">
                <a:latin typeface="Times New Roman" panose="02020603050405020304" pitchFamily="18" charset="0"/>
              </a:rPr>
              <a:t>A thread </a:t>
            </a:r>
            <a:r>
              <a:rPr sz="2000" dirty="0">
                <a:latin typeface="Times New Roman" panose="02020603050405020304" pitchFamily="18" charset="0"/>
              </a:rPr>
              <a:t>is an alternative form (to the process) of schedulable unit of computation.</a:t>
            </a:r>
            <a:endParaRPr sz="2000" dirty="0">
              <a:latin typeface="Times New Roman" panose="02020603050405020304" pitchFamily="18" charset="0"/>
            </a:endParaRPr>
          </a:p>
          <a:p>
            <a:pPr marL="342900" indent="-342900"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In the</a:t>
            </a:r>
            <a:r>
              <a:rPr sz="2000" b="1" dirty="0">
                <a:latin typeface="Times New Roman" panose="02020603050405020304" pitchFamily="18" charset="0"/>
              </a:rPr>
              <a:t> thread model:</a:t>
            </a:r>
            <a:endParaRPr sz="2000" b="1" dirty="0">
              <a:latin typeface="Times New Roman" panose="02020603050405020304" pitchFamily="18" charset="0"/>
            </a:endParaRPr>
          </a:p>
          <a:p>
            <a:pPr marL="742950" lvl="1" indent="-285750" algn="just" eaLnBrk="1" hangingPunct="1">
              <a:spcBef>
                <a:spcPct val="20000"/>
              </a:spcBef>
              <a:buClr>
                <a:srgbClr val="B43218"/>
              </a:buClr>
              <a:buSzPct val="80000"/>
              <a:buFont typeface="Wingdings" panose="05000000000000000000" pitchFamily="2" charset="2"/>
              <a:buChar char="§"/>
            </a:pPr>
            <a:r>
              <a:rPr sz="2000" dirty="0">
                <a:latin typeface="Times New Roman" panose="02020603050405020304" pitchFamily="18" charset="0"/>
              </a:rPr>
              <a:t>Each thread is associated with a process. </a:t>
            </a:r>
            <a:endParaRPr sz="2000" dirty="0">
              <a:latin typeface="Times New Roman" panose="02020603050405020304" pitchFamily="18" charset="0"/>
            </a:endParaRPr>
          </a:p>
          <a:p>
            <a:pPr marL="742950" lvl="1" indent="-285750" algn="just" eaLnBrk="1" hangingPunct="1">
              <a:spcBef>
                <a:spcPct val="20000"/>
              </a:spcBef>
              <a:buClr>
                <a:srgbClr val="B43218"/>
              </a:buClr>
              <a:buSzPct val="80000"/>
              <a:buFont typeface="Wingdings" panose="05000000000000000000" pitchFamily="2" charset="2"/>
              <a:buChar char="§"/>
            </a:pPr>
            <a:r>
              <a:rPr sz="2000" dirty="0">
                <a:latin typeface="Times New Roman" panose="02020603050405020304" pitchFamily="18" charset="0"/>
              </a:rPr>
              <a:t>A thread is an entity that executes by </a:t>
            </a:r>
            <a:r>
              <a:rPr sz="2000" b="1" dirty="0">
                <a:latin typeface="Times New Roman" panose="02020603050405020304" pitchFamily="18" charset="0"/>
              </a:rPr>
              <a:t>relying on the code and resources, holding by the associated process</a:t>
            </a:r>
            <a:r>
              <a:rPr sz="2000" dirty="0">
                <a:latin typeface="Times New Roman" panose="02020603050405020304" pitchFamily="18" charset="0"/>
              </a:rPr>
              <a:t>.</a:t>
            </a:r>
            <a:endParaRPr sz="2000" dirty="0">
              <a:latin typeface="Times New Roman" panose="02020603050405020304" pitchFamily="18" charset="0"/>
            </a:endParaRPr>
          </a:p>
          <a:p>
            <a:pPr marL="742950" lvl="1" indent="-285750" algn="just" eaLnBrk="1" hangingPunct="1">
              <a:spcBef>
                <a:spcPct val="20000"/>
              </a:spcBef>
              <a:buClr>
                <a:srgbClr val="B43218"/>
              </a:buClr>
              <a:buSzPct val="80000"/>
              <a:buFont typeface="Wingdings" panose="05000000000000000000" pitchFamily="2" charset="2"/>
              <a:buChar char="§"/>
            </a:pPr>
            <a:r>
              <a:rPr sz="2000" dirty="0">
                <a:latin typeface="Times New Roman" panose="02020603050405020304" pitchFamily="18" charset="0"/>
              </a:rPr>
              <a:t>Several threads could be associated with a single process. Those threads share the code and resources of the process.</a:t>
            </a:r>
            <a:endParaRPr sz="2000" dirty="0">
              <a:latin typeface="Times New Roman" panose="02020603050405020304" pitchFamily="18" charset="0"/>
            </a:endParaRPr>
          </a:p>
          <a:p>
            <a:pPr marL="742950" lvl="1" indent="-285750" algn="just" eaLnBrk="1" hangingPunct="1">
              <a:spcBef>
                <a:spcPct val="20000"/>
              </a:spcBef>
              <a:buClr>
                <a:srgbClr val="B43218"/>
              </a:buClr>
              <a:buSzPct val="80000"/>
              <a:buFont typeface="Wingdings" panose="05000000000000000000" pitchFamily="2" charset="2"/>
              <a:buChar char="§"/>
            </a:pPr>
            <a:r>
              <a:rPr sz="2000" dirty="0">
                <a:latin typeface="Times New Roman" panose="02020603050405020304" pitchFamily="18" charset="0"/>
              </a:rPr>
              <a:t>A thread allocates part of the process’s resources for its needs.</a:t>
            </a:r>
            <a:endParaRPr sz="2000" dirty="0">
              <a:latin typeface="Times New Roman" panose="02020603050405020304" pitchFamily="18" charset="0"/>
            </a:endParaRPr>
          </a:p>
          <a:p>
            <a:pPr marL="742950" lvl="1" indent="-285750" algn="just" eaLnBrk="1" hangingPunct="1">
              <a:spcBef>
                <a:spcPct val="20000"/>
              </a:spcBef>
              <a:buClr>
                <a:srgbClr val="B43218"/>
              </a:buClr>
              <a:buSzPct val="80000"/>
              <a:buFont typeface="Wingdings" panose="05000000000000000000" pitchFamily="2" charset="2"/>
              <a:buChar char="§"/>
            </a:pPr>
            <a:r>
              <a:rPr sz="2000" dirty="0">
                <a:latin typeface="Times New Roman" panose="02020603050405020304" pitchFamily="18" charset="0"/>
              </a:rPr>
              <a:t>A thread has its own data and status.</a:t>
            </a:r>
            <a:endParaRPr sz="2000" b="1" dirty="0">
              <a:latin typeface="Times New Roman" panose="02020603050405020304" pitchFamily="18" charset="0"/>
            </a:endParaRPr>
          </a:p>
        </p:txBody>
      </p:sp>
      <p:grpSp>
        <p:nvGrpSpPr>
          <p:cNvPr id="8198" name="Group 4"/>
          <p:cNvGrpSpPr/>
          <p:nvPr/>
        </p:nvGrpSpPr>
        <p:grpSpPr>
          <a:xfrm>
            <a:off x="1371600" y="4495800"/>
            <a:ext cx="6019800" cy="1905000"/>
            <a:chOff x="864" y="2784"/>
            <a:chExt cx="3792" cy="1200"/>
          </a:xfrm>
        </p:grpSpPr>
        <p:grpSp>
          <p:nvGrpSpPr>
            <p:cNvPr id="8199" name="Group 5"/>
            <p:cNvGrpSpPr/>
            <p:nvPr/>
          </p:nvGrpSpPr>
          <p:grpSpPr>
            <a:xfrm>
              <a:off x="3456" y="3312"/>
              <a:ext cx="1200" cy="672"/>
              <a:chOff x="528" y="3168"/>
              <a:chExt cx="1200" cy="672"/>
            </a:xfrm>
          </p:grpSpPr>
          <p:sp>
            <p:nvSpPr>
              <p:cNvPr id="8214" name="AutoShape 6"/>
              <p:cNvSpPr/>
              <p:nvPr/>
            </p:nvSpPr>
            <p:spPr>
              <a:xfrm>
                <a:off x="528" y="3168"/>
                <a:ext cx="1200" cy="672"/>
              </a:xfrm>
              <a:prstGeom prst="roundRect">
                <a:avLst>
                  <a:gd name="adj" fmla="val 16667"/>
                </a:avLst>
              </a:prstGeom>
              <a:solidFill>
                <a:srgbClr val="C0C0C0"/>
              </a:solidFill>
              <a:ln w="9525" cap="flat" cmpd="sng">
                <a:solidFill>
                  <a:schemeClr val="tx1"/>
                </a:solidFill>
                <a:prstDash val="solid"/>
                <a:headEnd type="none" w="med" len="med"/>
                <a:tailEnd type="none" w="med" len="med"/>
              </a:ln>
            </p:spPr>
            <p:txBody>
              <a:bodyPr wrap="none"/>
              <a:p>
                <a:r>
                  <a:rPr sz="1200" b="1" dirty="0">
                    <a:latin typeface="Arial" panose="020B0604020202020204" pitchFamily="34" charset="0"/>
                  </a:rPr>
                  <a:t>Thread</a:t>
                </a:r>
                <a:endParaRPr sz="1200" b="1" dirty="0">
                  <a:latin typeface="Arial" panose="020B0604020202020204" pitchFamily="34" charset="0"/>
                </a:endParaRPr>
              </a:p>
            </p:txBody>
          </p:sp>
          <p:sp>
            <p:nvSpPr>
              <p:cNvPr id="8215" name="Rectangle 7"/>
              <p:cNvSpPr/>
              <p:nvPr/>
            </p:nvSpPr>
            <p:spPr>
              <a:xfrm>
                <a:off x="624" y="3408"/>
                <a:ext cx="432" cy="1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p>
                <a:pPr algn="ctr"/>
                <a:endParaRPr sz="1400" dirty="0">
                  <a:latin typeface="Arial" panose="020B0604020202020204" pitchFamily="34" charset="0"/>
                </a:endParaRPr>
              </a:p>
            </p:txBody>
          </p:sp>
          <p:sp>
            <p:nvSpPr>
              <p:cNvPr id="8216" name="Rectangle 8"/>
              <p:cNvSpPr/>
              <p:nvPr/>
            </p:nvSpPr>
            <p:spPr>
              <a:xfrm>
                <a:off x="1200" y="3408"/>
                <a:ext cx="432"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sz="1400" dirty="0">
                    <a:latin typeface="Arial" panose="020B0604020202020204" pitchFamily="34" charset="0"/>
                  </a:rPr>
                  <a:t>Data</a:t>
                </a:r>
                <a:endParaRPr sz="1400" dirty="0">
                  <a:latin typeface="Arial" panose="020B0604020202020204" pitchFamily="34" charset="0"/>
                </a:endParaRPr>
              </a:p>
            </p:txBody>
          </p:sp>
          <p:sp>
            <p:nvSpPr>
              <p:cNvPr id="8217" name="Rectangle 9"/>
              <p:cNvSpPr/>
              <p:nvPr/>
            </p:nvSpPr>
            <p:spPr>
              <a:xfrm>
                <a:off x="624" y="3600"/>
                <a:ext cx="1008"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sz="1400" dirty="0">
                    <a:latin typeface="Arial" panose="020B0604020202020204" pitchFamily="34" charset="0"/>
                  </a:rPr>
                  <a:t>Thread Status</a:t>
                </a:r>
                <a:endParaRPr sz="1400" dirty="0">
                  <a:latin typeface="Arial" panose="020B0604020202020204" pitchFamily="34" charset="0"/>
                </a:endParaRPr>
              </a:p>
            </p:txBody>
          </p:sp>
        </p:grpSp>
        <p:grpSp>
          <p:nvGrpSpPr>
            <p:cNvPr id="8200" name="Group 10"/>
            <p:cNvGrpSpPr/>
            <p:nvPr/>
          </p:nvGrpSpPr>
          <p:grpSpPr>
            <a:xfrm>
              <a:off x="2160" y="2784"/>
              <a:ext cx="1200" cy="432"/>
              <a:chOff x="2256" y="2640"/>
              <a:chExt cx="1200" cy="432"/>
            </a:xfrm>
          </p:grpSpPr>
          <p:sp>
            <p:nvSpPr>
              <p:cNvPr id="8209" name="AutoShape 11"/>
              <p:cNvSpPr/>
              <p:nvPr/>
            </p:nvSpPr>
            <p:spPr>
              <a:xfrm>
                <a:off x="2256" y="2640"/>
                <a:ext cx="1104" cy="336"/>
              </a:xfrm>
              <a:prstGeom prst="roundRect">
                <a:avLst>
                  <a:gd name="adj" fmla="val 16667"/>
                </a:avLst>
              </a:prstGeom>
              <a:solidFill>
                <a:srgbClr val="C0C0C0">
                  <a:alpha val="50195"/>
                </a:srgbClr>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sp>
            <p:nvSpPr>
              <p:cNvPr id="8210" name="AutoShape 12"/>
              <p:cNvSpPr/>
              <p:nvPr/>
            </p:nvSpPr>
            <p:spPr>
              <a:xfrm>
                <a:off x="2304" y="2688"/>
                <a:ext cx="1104" cy="336"/>
              </a:xfrm>
              <a:prstGeom prst="roundRect">
                <a:avLst>
                  <a:gd name="adj" fmla="val 16667"/>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grpSp>
            <p:nvGrpSpPr>
              <p:cNvPr id="8211" name="Group 13"/>
              <p:cNvGrpSpPr/>
              <p:nvPr/>
            </p:nvGrpSpPr>
            <p:grpSpPr>
              <a:xfrm>
                <a:off x="2352" y="2736"/>
                <a:ext cx="1104" cy="336"/>
                <a:chOff x="2352" y="2736"/>
                <a:chExt cx="1104" cy="336"/>
              </a:xfrm>
            </p:grpSpPr>
            <p:sp>
              <p:nvSpPr>
                <p:cNvPr id="8212" name="AutoShape 14"/>
                <p:cNvSpPr/>
                <p:nvPr/>
              </p:nvSpPr>
              <p:spPr>
                <a:xfrm>
                  <a:off x="2352" y="2736"/>
                  <a:ext cx="1104" cy="336"/>
                </a:xfrm>
                <a:prstGeom prst="roundRect">
                  <a:avLst>
                    <a:gd name="adj" fmla="val 16667"/>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Arial" panose="020B0604020202020204" pitchFamily="34" charset="0"/>
                  </a:endParaRPr>
                </a:p>
              </p:txBody>
            </p:sp>
            <p:sp>
              <p:nvSpPr>
                <p:cNvPr id="8213" name="Rectangle 15"/>
                <p:cNvSpPr/>
                <p:nvPr/>
              </p:nvSpPr>
              <p:spPr>
                <a:xfrm>
                  <a:off x="2448" y="2832"/>
                  <a:ext cx="960"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sz="1400" dirty="0">
                      <a:latin typeface="Arial" panose="020B0604020202020204" pitchFamily="34" charset="0"/>
                    </a:rPr>
                    <a:t>Resource</a:t>
                  </a:r>
                  <a:endParaRPr sz="1400" dirty="0">
                    <a:latin typeface="Arial" panose="020B0604020202020204" pitchFamily="34" charset="0"/>
                  </a:endParaRPr>
                </a:p>
              </p:txBody>
            </p:sp>
          </p:grpSp>
        </p:grpSp>
        <p:sp>
          <p:nvSpPr>
            <p:cNvPr id="8201" name="AutoShape 16"/>
            <p:cNvSpPr/>
            <p:nvPr/>
          </p:nvSpPr>
          <p:spPr>
            <a:xfrm rot="8514673">
              <a:off x="1824" y="3120"/>
              <a:ext cx="316" cy="96"/>
            </a:xfrm>
            <a:prstGeom prst="leftRightArrow">
              <a:avLst>
                <a:gd name="adj1" fmla="val 50000"/>
                <a:gd name="adj2" fmla="val 65833"/>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dirty="0">
                <a:latin typeface="Arial" panose="020B0604020202020204" pitchFamily="34" charset="0"/>
              </a:endParaRPr>
            </a:p>
          </p:txBody>
        </p:sp>
        <p:grpSp>
          <p:nvGrpSpPr>
            <p:cNvPr id="8202" name="Group 17"/>
            <p:cNvGrpSpPr/>
            <p:nvPr/>
          </p:nvGrpSpPr>
          <p:grpSpPr>
            <a:xfrm>
              <a:off x="864" y="3312"/>
              <a:ext cx="1200" cy="672"/>
              <a:chOff x="528" y="3168"/>
              <a:chExt cx="1200" cy="672"/>
            </a:xfrm>
          </p:grpSpPr>
          <p:sp>
            <p:nvSpPr>
              <p:cNvPr id="8205" name="AutoShape 18"/>
              <p:cNvSpPr/>
              <p:nvPr/>
            </p:nvSpPr>
            <p:spPr>
              <a:xfrm>
                <a:off x="528" y="3168"/>
                <a:ext cx="1200" cy="672"/>
              </a:xfrm>
              <a:prstGeom prst="roundRect">
                <a:avLst>
                  <a:gd name="adj" fmla="val 16667"/>
                </a:avLst>
              </a:prstGeom>
              <a:solidFill>
                <a:srgbClr val="C0C0C0"/>
              </a:solidFill>
              <a:ln w="9525" cap="flat" cmpd="sng">
                <a:solidFill>
                  <a:schemeClr val="tx1"/>
                </a:solidFill>
                <a:prstDash val="solid"/>
                <a:headEnd type="none" w="med" len="med"/>
                <a:tailEnd type="none" w="med" len="med"/>
              </a:ln>
            </p:spPr>
            <p:txBody>
              <a:bodyPr wrap="none"/>
              <a:p>
                <a:r>
                  <a:rPr sz="1200" b="1" dirty="0">
                    <a:latin typeface="Arial" panose="020B0604020202020204" pitchFamily="34" charset="0"/>
                  </a:rPr>
                  <a:t>Process</a:t>
                </a:r>
                <a:endParaRPr sz="1200" b="1" dirty="0">
                  <a:latin typeface="Arial" panose="020B0604020202020204" pitchFamily="34" charset="0"/>
                </a:endParaRPr>
              </a:p>
            </p:txBody>
          </p:sp>
          <p:sp>
            <p:nvSpPr>
              <p:cNvPr id="8206" name="Rectangle 19"/>
              <p:cNvSpPr/>
              <p:nvPr/>
            </p:nvSpPr>
            <p:spPr>
              <a:xfrm>
                <a:off x="624" y="3408"/>
                <a:ext cx="432"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sz="1400" dirty="0">
                    <a:latin typeface="Arial" panose="020B0604020202020204" pitchFamily="34" charset="0"/>
                  </a:rPr>
                  <a:t>Data</a:t>
                </a:r>
                <a:endParaRPr sz="1400" dirty="0">
                  <a:latin typeface="Arial" panose="020B0604020202020204" pitchFamily="34" charset="0"/>
                </a:endParaRPr>
              </a:p>
            </p:txBody>
          </p:sp>
          <p:sp>
            <p:nvSpPr>
              <p:cNvPr id="8207" name="Rectangle 20"/>
              <p:cNvSpPr/>
              <p:nvPr/>
            </p:nvSpPr>
            <p:spPr>
              <a:xfrm>
                <a:off x="1200" y="3408"/>
                <a:ext cx="432"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sz="1400" dirty="0">
                    <a:latin typeface="Arial" panose="020B0604020202020204" pitchFamily="34" charset="0"/>
                  </a:rPr>
                  <a:t>Code</a:t>
                </a:r>
                <a:endParaRPr sz="1400" dirty="0">
                  <a:latin typeface="Arial" panose="020B0604020202020204" pitchFamily="34" charset="0"/>
                </a:endParaRPr>
              </a:p>
            </p:txBody>
          </p:sp>
          <p:sp>
            <p:nvSpPr>
              <p:cNvPr id="8208" name="Rectangle 21"/>
              <p:cNvSpPr/>
              <p:nvPr/>
            </p:nvSpPr>
            <p:spPr>
              <a:xfrm>
                <a:off x="624" y="3600"/>
                <a:ext cx="1008"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a:r>
                  <a:rPr sz="1400" dirty="0">
                    <a:latin typeface="Arial" panose="020B0604020202020204" pitchFamily="34" charset="0"/>
                  </a:rPr>
                  <a:t>Process Status</a:t>
                </a:r>
                <a:endParaRPr sz="1400" dirty="0">
                  <a:latin typeface="Arial" panose="020B0604020202020204" pitchFamily="34" charset="0"/>
                </a:endParaRPr>
              </a:p>
            </p:txBody>
          </p:sp>
        </p:grpSp>
        <p:sp>
          <p:nvSpPr>
            <p:cNvPr id="8203" name="AutoShape 22"/>
            <p:cNvSpPr/>
            <p:nvPr/>
          </p:nvSpPr>
          <p:spPr>
            <a:xfrm rot="2678173">
              <a:off x="3360" y="3120"/>
              <a:ext cx="316" cy="96"/>
            </a:xfrm>
            <a:prstGeom prst="leftRightArrow">
              <a:avLst>
                <a:gd name="adj1" fmla="val 50000"/>
                <a:gd name="adj2" fmla="val 65833"/>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dirty="0">
                <a:latin typeface="Arial" panose="020B0604020202020204" pitchFamily="34" charset="0"/>
              </a:endParaRPr>
            </a:p>
          </p:txBody>
        </p:sp>
        <p:sp>
          <p:nvSpPr>
            <p:cNvPr id="8204" name="AutoShape 23"/>
            <p:cNvSpPr/>
            <p:nvPr/>
          </p:nvSpPr>
          <p:spPr>
            <a:xfrm>
              <a:off x="1982" y="3586"/>
              <a:ext cx="1536" cy="96"/>
            </a:xfrm>
            <a:prstGeom prst="leftArrow">
              <a:avLst>
                <a:gd name="adj1" fmla="val 50000"/>
                <a:gd name="adj2" fmla="val 400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dirty="0">
                <a:latin typeface="Arial" panose="020B0604020202020204" pitchFamily="34" charset="0"/>
              </a:endParaRPr>
            </a:p>
          </p:txBody>
        </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9219"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9220"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Thread Model</a:t>
            </a:r>
            <a:endParaRPr lang="en-CA" altLang="x-none" sz="2800" dirty="0">
              <a:solidFill>
                <a:srgbClr val="FF9900"/>
              </a:solidFill>
              <a:ea typeface="Times New Roman" panose="02020603050405020304" pitchFamily="18" charset="0"/>
            </a:endParaRPr>
          </a:p>
        </p:txBody>
      </p:sp>
      <p:sp>
        <p:nvSpPr>
          <p:cNvPr id="9221" name="Rectangle 3" descr="Rectangle: Click to edit Master text styles&#13;&#10;Second level&#13;&#10;Third level&#13;&#10;Fourth level&#13;&#10;Fifth level"/>
          <p:cNvSpPr/>
          <p:nvPr/>
        </p:nvSpPr>
        <p:spPr>
          <a:xfrm>
            <a:off x="304800" y="685800"/>
            <a:ext cx="8534400" cy="5638800"/>
          </a:xfrm>
          <a:prstGeom prst="rect">
            <a:avLst/>
          </a:prstGeom>
          <a:noFill/>
          <a:ln w="9525">
            <a:noFill/>
          </a:ln>
        </p:spPr>
        <p:txBody>
          <a:bodyPr/>
          <a:p>
            <a:pPr marL="339725" indent="-339725" algn="just">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Control in a normal program usually follows a </a:t>
            </a:r>
            <a:r>
              <a:rPr sz="2400" b="1" i="1" dirty="0">
                <a:latin typeface="Times New Roman" panose="02020603050405020304" pitchFamily="18" charset="0"/>
              </a:rPr>
              <a:t>single thread of execution</a:t>
            </a:r>
            <a:r>
              <a:rPr sz="2400" dirty="0">
                <a:latin typeface="Times New Roman" panose="02020603050405020304" pitchFamily="18" charset="0"/>
              </a:rPr>
              <a:t>. </a:t>
            </a: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What differentiates threads from normal processes is the </a:t>
            </a:r>
            <a:r>
              <a:rPr sz="2400" b="1" dirty="0">
                <a:latin typeface="Times New Roman" panose="02020603050405020304" pitchFamily="18" charset="0"/>
              </a:rPr>
              <a:t>shared memory</a:t>
            </a:r>
            <a:r>
              <a:rPr sz="2400" dirty="0">
                <a:latin typeface="Times New Roman" panose="02020603050405020304" pitchFamily="18" charset="0"/>
              </a:rPr>
              <a:t> (objects), which is </a:t>
            </a:r>
            <a:r>
              <a:rPr sz="2400" b="1" dirty="0">
                <a:latin typeface="Times New Roman" panose="02020603050405020304" pitchFamily="18" charset="0"/>
              </a:rPr>
              <a:t>visible</a:t>
            </a:r>
            <a:r>
              <a:rPr sz="2400" dirty="0">
                <a:latin typeface="Times New Roman" panose="02020603050405020304" pitchFamily="18" charset="0"/>
              </a:rPr>
              <a:t> to all threads in a multi-threaded program. </a:t>
            </a: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A thread </a:t>
            </a:r>
            <a:r>
              <a:rPr sz="2400" b="1" dirty="0">
                <a:latin typeface="Times New Roman" panose="02020603050405020304" pitchFamily="18" charset="0"/>
              </a:rPr>
              <a:t>has much less overhead</a:t>
            </a:r>
            <a:r>
              <a:rPr sz="2400" dirty="0">
                <a:latin typeface="Times New Roman" panose="02020603050405020304" pitchFamily="18" charset="0"/>
              </a:rPr>
              <a:t> than a process so is sometimes called as </a:t>
            </a:r>
            <a:r>
              <a:rPr sz="2400" b="1" i="1" dirty="0">
                <a:latin typeface="Times New Roman" panose="02020603050405020304" pitchFamily="18" charset="0"/>
              </a:rPr>
              <a:t>light-weight process</a:t>
            </a:r>
            <a:r>
              <a:rPr sz="2400" dirty="0">
                <a:latin typeface="Times New Roman" panose="02020603050405020304" pitchFamily="18" charset="0"/>
              </a:rPr>
              <a:t>. </a:t>
            </a: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sz="2400" b="1" u="sng" dirty="0">
                <a:latin typeface="Times New Roman" panose="02020603050405020304" pitchFamily="18" charset="0"/>
              </a:rPr>
              <a:t>Multithreading</a:t>
            </a:r>
            <a:r>
              <a:rPr sz="2400" dirty="0">
                <a:latin typeface="Times New Roman" panose="02020603050405020304" pitchFamily="18" charset="0"/>
              </a:rPr>
              <a:t> allows </a:t>
            </a:r>
            <a:r>
              <a:rPr sz="2400" b="1" dirty="0">
                <a:latin typeface="Times New Roman" panose="02020603050405020304" pitchFamily="18" charset="0"/>
              </a:rPr>
              <a:t>an application to have</a:t>
            </a:r>
            <a:r>
              <a:rPr sz="2400" dirty="0">
                <a:latin typeface="Times New Roman" panose="02020603050405020304" pitchFamily="18" charset="0"/>
              </a:rPr>
              <a:t> </a:t>
            </a:r>
            <a:r>
              <a:rPr sz="2400" b="1" dirty="0">
                <a:latin typeface="Times New Roman" panose="02020603050405020304" pitchFamily="18" charset="0"/>
              </a:rPr>
              <a:t>multiple</a:t>
            </a:r>
            <a:r>
              <a:rPr sz="2400" dirty="0">
                <a:latin typeface="Times New Roman" panose="02020603050405020304" pitchFamily="18" charset="0"/>
              </a:rPr>
              <a:t> threads of execution running </a:t>
            </a:r>
            <a:r>
              <a:rPr sz="2400" b="1" dirty="0">
                <a:latin typeface="Times New Roman" panose="02020603050405020304" pitchFamily="18" charset="0"/>
              </a:rPr>
              <a:t>concurrently</a:t>
            </a:r>
            <a:r>
              <a:rPr sz="2400" dirty="0">
                <a:latin typeface="Times New Roman" panose="02020603050405020304" pitchFamily="18" charset="0"/>
              </a:rPr>
              <a:t>. </a:t>
            </a:r>
            <a:endParaRPr sz="2400" dirty="0">
              <a:latin typeface="Times New Roman" panose="02020603050405020304" pitchFamily="18"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10243"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10244"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Concurrency and Parallelism</a:t>
            </a:r>
            <a:endParaRPr lang="en-CA" altLang="x-none" sz="2800" dirty="0">
              <a:solidFill>
                <a:srgbClr val="FF9900"/>
              </a:solidFill>
              <a:ea typeface="Times New Roman" panose="02020603050405020304" pitchFamily="18" charset="0"/>
            </a:endParaRPr>
          </a:p>
        </p:txBody>
      </p:sp>
      <p:sp>
        <p:nvSpPr>
          <p:cNvPr id="10245" name="Rectangle 3" descr="Rectangle: Click to edit Master text styles&#13;&#10;Second level&#13;&#10;Third level&#13;&#10;Fourth level&#13;&#10;Fifth level"/>
          <p:cNvSpPr/>
          <p:nvPr/>
        </p:nvSpPr>
        <p:spPr>
          <a:xfrm>
            <a:off x="304800" y="685800"/>
            <a:ext cx="8534400" cy="2590800"/>
          </a:xfrm>
          <a:prstGeom prst="rect">
            <a:avLst/>
          </a:prstGeom>
          <a:noFill/>
          <a:ln w="9525">
            <a:noFill/>
          </a:ln>
        </p:spPr>
        <p:txBody>
          <a:bodyPr/>
          <a:p>
            <a:pPr marL="513080" lvl="1" indent="-285750" algn="just" eaLnBrk="1" hangingPunct="1">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rPr>
              <a:t>Concurrent multithreading systems </a:t>
            </a:r>
            <a:r>
              <a:rPr sz="2400" b="1" dirty="0">
                <a:latin typeface="Times New Roman" panose="02020603050405020304" pitchFamily="18" charset="0"/>
              </a:rPr>
              <a:t>give the appearance of several tasks executing at once</a:t>
            </a:r>
            <a:r>
              <a:rPr sz="2400" dirty="0">
                <a:latin typeface="Times New Roman" panose="02020603050405020304" pitchFamily="18" charset="0"/>
              </a:rPr>
              <a:t>, but these tasks are actually split up into chunks that share the processor with chunks from other tasks. </a:t>
            </a:r>
            <a:endParaRPr sz="2400" dirty="0">
              <a:latin typeface="Times New Roman" panose="02020603050405020304" pitchFamily="18" charset="0"/>
            </a:endParaRPr>
          </a:p>
          <a:p>
            <a:pPr marL="513080" lvl="1" indent="-285750" algn="just" eaLnBrk="1" hangingPunct="1">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rPr>
              <a:t>In parallel systems, two tasks are actually performed simultaneously. </a:t>
            </a:r>
            <a:r>
              <a:rPr sz="2400" b="1" dirty="0">
                <a:latin typeface="Times New Roman" panose="02020603050405020304" pitchFamily="18" charset="0"/>
              </a:rPr>
              <a:t>Parallelism requires a multi-CPU system.</a:t>
            </a:r>
            <a:endParaRPr sz="2400" b="1" dirty="0">
              <a:latin typeface="Times New Roman" panose="02020603050405020304" pitchFamily="18" charset="0"/>
            </a:endParaRPr>
          </a:p>
        </p:txBody>
      </p:sp>
      <p:pic>
        <p:nvPicPr>
          <p:cNvPr id="10246" name="Picture 4"/>
          <p:cNvPicPr>
            <a:picLocks noChangeAspect="1"/>
          </p:cNvPicPr>
          <p:nvPr/>
        </p:nvPicPr>
        <p:blipFill>
          <a:blip r:embed="rId1"/>
          <a:stretch>
            <a:fillRect/>
          </a:stretch>
        </p:blipFill>
        <p:spPr>
          <a:xfrm>
            <a:off x="1905000" y="3276600"/>
            <a:ext cx="1676400" cy="2867025"/>
          </a:xfrm>
          <a:prstGeom prst="rect">
            <a:avLst/>
          </a:prstGeom>
          <a:noFill/>
          <a:ln w="9525">
            <a:noFill/>
          </a:ln>
        </p:spPr>
      </p:pic>
      <p:pic>
        <p:nvPicPr>
          <p:cNvPr id="10247" name="Picture 5"/>
          <p:cNvPicPr>
            <a:picLocks noChangeAspect="1"/>
          </p:cNvPicPr>
          <p:nvPr/>
        </p:nvPicPr>
        <p:blipFill>
          <a:blip r:embed="rId2"/>
          <a:stretch>
            <a:fillRect/>
          </a:stretch>
        </p:blipFill>
        <p:spPr>
          <a:xfrm>
            <a:off x="5029200" y="3352800"/>
            <a:ext cx="2047875" cy="2781300"/>
          </a:xfrm>
          <a:prstGeom prst="rect">
            <a:avLst/>
          </a:prstGeom>
          <a:noFill/>
          <a:ln w="9525">
            <a:noFill/>
          </a:ln>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11267"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11268"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Multitasking</a:t>
            </a:r>
            <a:endParaRPr lang="en-CA" altLang="x-none" sz="2800" dirty="0">
              <a:solidFill>
                <a:srgbClr val="FF9900"/>
              </a:solidFill>
              <a:ea typeface="Times New Roman" panose="02020603050405020304" pitchFamily="18" charset="0"/>
            </a:endParaRPr>
          </a:p>
        </p:txBody>
      </p:sp>
      <p:sp>
        <p:nvSpPr>
          <p:cNvPr id="11269" name="Rectangle 3" descr="Rectangle: Click to edit Master text styles&#13;&#10;Second level&#13;&#10;Third level&#13;&#10;Fourth level&#13;&#10;Fifth level"/>
          <p:cNvSpPr/>
          <p:nvPr/>
        </p:nvSpPr>
        <p:spPr>
          <a:xfrm>
            <a:off x="304800" y="685800"/>
            <a:ext cx="8534400" cy="3048000"/>
          </a:xfrm>
          <a:prstGeom prst="rect">
            <a:avLst/>
          </a:prstGeom>
          <a:noFill/>
          <a:ln w="9525">
            <a:noFill/>
          </a:ln>
        </p:spPr>
        <p:txBody>
          <a:bodyPr/>
          <a:p>
            <a:pPr algn="just" defTabSz="914400">
              <a:spcBef>
                <a:spcPct val="20000"/>
              </a:spcBef>
              <a:buClr>
                <a:schemeClr val="bg2"/>
              </a:buClr>
              <a:buSzPct val="75000"/>
              <a:buFont typeface="Wingdings" panose="05000000000000000000" pitchFamily="2" charset="2"/>
              <a:tabLst>
                <a:tab pos="354330" algn="l"/>
              </a:tabLst>
            </a:pPr>
            <a:r>
              <a:rPr sz="2000" b="1" dirty="0">
                <a:latin typeface="Times New Roman" panose="02020603050405020304" pitchFamily="18" charset="0"/>
              </a:rPr>
              <a:t>M</a:t>
            </a:r>
            <a:r>
              <a:rPr lang="bg-BG" altLang="x-none" sz="2000" b="1" dirty="0">
                <a:latin typeface="Times New Roman" panose="02020603050405020304" pitchFamily="18" charset="0"/>
              </a:rPr>
              <a:t>ultitasking</a:t>
            </a:r>
            <a:r>
              <a:rPr lang="bg-BG" altLang="x-none" sz="2000" dirty="0">
                <a:latin typeface="Times New Roman" panose="02020603050405020304" pitchFamily="18" charset="0"/>
              </a:rPr>
              <a:t> operating systems </a:t>
            </a:r>
            <a:r>
              <a:rPr lang="bg-BG" altLang="x-none" sz="2000" b="1" dirty="0">
                <a:latin typeface="Times New Roman" panose="02020603050405020304" pitchFamily="18" charset="0"/>
              </a:rPr>
              <a:t>run multiple programs simultaneously</a:t>
            </a:r>
            <a:r>
              <a:rPr sz="2000" dirty="0">
                <a:latin typeface="Times New Roman" panose="02020603050405020304" pitchFamily="18" charset="0"/>
              </a:rPr>
              <a:t>.</a:t>
            </a:r>
            <a:endParaRPr sz="2000" dirty="0">
              <a:latin typeface="Times New Roman" panose="02020603050405020304" pitchFamily="18" charset="0"/>
            </a:endParaRPr>
          </a:p>
          <a:p>
            <a:pPr algn="just" defTabSz="914400">
              <a:spcBef>
                <a:spcPct val="20000"/>
              </a:spcBef>
              <a:buClr>
                <a:schemeClr val="bg2"/>
              </a:buClr>
              <a:buSzPct val="75000"/>
              <a:buFont typeface="Wingdings" panose="05000000000000000000" pitchFamily="2" charset="2"/>
              <a:tabLst>
                <a:tab pos="354330" algn="l"/>
              </a:tabLst>
            </a:pPr>
            <a:r>
              <a:rPr lang="bg-BG" altLang="x-none" sz="2000" dirty="0">
                <a:latin typeface="Times New Roman" panose="02020603050405020304" pitchFamily="18" charset="0"/>
              </a:rPr>
              <a:t>Each of these programs has at least one thread within it</a:t>
            </a:r>
            <a:r>
              <a:rPr sz="2000" dirty="0">
                <a:latin typeface="Times New Roman" panose="02020603050405020304" pitchFamily="18" charset="0"/>
              </a:rPr>
              <a:t> - </a:t>
            </a:r>
            <a:r>
              <a:rPr lang="bg-BG" altLang="x-none" sz="2000" b="1" dirty="0">
                <a:latin typeface="Times New Roman" panose="02020603050405020304" pitchFamily="18" charset="0"/>
              </a:rPr>
              <a:t>single-threaded</a:t>
            </a:r>
            <a:r>
              <a:rPr lang="bg-BG" altLang="x-none" sz="2000" dirty="0">
                <a:latin typeface="Times New Roman" panose="02020603050405020304" pitchFamily="18" charset="0"/>
              </a:rPr>
              <a:t> process</a:t>
            </a:r>
            <a:r>
              <a:rPr sz="2000" dirty="0">
                <a:latin typeface="Times New Roman" panose="02020603050405020304" pitchFamily="18" charset="0"/>
              </a:rPr>
              <a:t>:</a:t>
            </a:r>
            <a:r>
              <a:rPr lang="bg-BG" altLang="x-none" sz="2000" dirty="0">
                <a:latin typeface="Times New Roman" panose="02020603050405020304" pitchFamily="18" charset="0"/>
              </a:rPr>
              <a:t> </a:t>
            </a:r>
            <a:endParaRPr sz="2000" dirty="0">
              <a:latin typeface="Times New Roman" panose="02020603050405020304" pitchFamily="18" charset="0"/>
            </a:endParaRPr>
          </a:p>
          <a:p>
            <a:pPr marL="354330" lvl="1" indent="-174625" algn="just" defTabSz="914400" eaLnBrk="1" hangingPunct="1">
              <a:spcBef>
                <a:spcPct val="20000"/>
              </a:spcBef>
              <a:buClr>
                <a:schemeClr val="accent2"/>
              </a:buClr>
              <a:buSzPct val="80000"/>
              <a:buFont typeface="Wingdings" panose="05000000000000000000" pitchFamily="2" charset="2"/>
              <a:buChar char="§"/>
              <a:tabLst>
                <a:tab pos="354330" algn="l"/>
              </a:tabLst>
            </a:pPr>
            <a:r>
              <a:rPr lang="bg-BG" altLang="x-none" sz="2000" b="1" dirty="0">
                <a:latin typeface="Times New Roman" panose="02020603050405020304" pitchFamily="18" charset="0"/>
              </a:rPr>
              <a:t>The process begins execution</a:t>
            </a:r>
            <a:r>
              <a:rPr lang="bg-BG" altLang="x-none" sz="2000" dirty="0">
                <a:latin typeface="Times New Roman" panose="02020603050405020304" pitchFamily="18" charset="0"/>
              </a:rPr>
              <a:t> at a </a:t>
            </a:r>
            <a:r>
              <a:rPr lang="bg-BG" altLang="x-none" sz="2000" b="1" dirty="0">
                <a:latin typeface="Times New Roman" panose="02020603050405020304" pitchFamily="18" charset="0"/>
              </a:rPr>
              <a:t>well-known</a:t>
            </a:r>
            <a:r>
              <a:rPr lang="bg-BG" altLang="x-none" sz="2000" dirty="0">
                <a:latin typeface="Times New Roman" panose="02020603050405020304" pitchFamily="18" charset="0"/>
              </a:rPr>
              <a:t> point. In Java</a:t>
            </a:r>
            <a:r>
              <a:rPr sz="2000" dirty="0">
                <a:latin typeface="Times New Roman" panose="02020603050405020304" pitchFamily="18" charset="0"/>
              </a:rPr>
              <a:t>, C# or C++,</a:t>
            </a:r>
            <a:r>
              <a:rPr lang="bg-BG" altLang="x-none" sz="2000" dirty="0">
                <a:latin typeface="Times New Roman" panose="02020603050405020304" pitchFamily="18" charset="0"/>
              </a:rPr>
              <a:t> the </a:t>
            </a:r>
            <a:r>
              <a:rPr sz="2000" dirty="0">
                <a:latin typeface="Times New Roman" panose="02020603050405020304" pitchFamily="18" charset="0"/>
              </a:rPr>
              <a:t>process</a:t>
            </a:r>
            <a:r>
              <a:rPr lang="bg-BG" altLang="x-none" sz="2000" dirty="0">
                <a:latin typeface="Times New Roman" panose="02020603050405020304" pitchFamily="18" charset="0"/>
              </a:rPr>
              <a:t> begins execution at the first statement of the function called </a:t>
            </a:r>
            <a:r>
              <a:rPr lang="bg-BG" altLang="x-none" sz="2000" b="1" i="1" dirty="0">
                <a:latin typeface="Times New Roman" panose="02020603050405020304" pitchFamily="18" charset="0"/>
              </a:rPr>
              <a:t>main()</a:t>
            </a:r>
            <a:r>
              <a:rPr lang="bg-BG" altLang="x-none" sz="2000" dirty="0">
                <a:latin typeface="Times New Roman" panose="02020603050405020304" pitchFamily="18" charset="0"/>
              </a:rPr>
              <a:t>. </a:t>
            </a:r>
            <a:endParaRPr lang="bg-BG" altLang="x-none" sz="2000" dirty="0">
              <a:latin typeface="Times New Roman" panose="02020603050405020304" pitchFamily="18" charset="0"/>
            </a:endParaRPr>
          </a:p>
          <a:p>
            <a:pPr marL="354330" lvl="1" indent="-174625" algn="just" defTabSz="914400" eaLnBrk="1" hangingPunct="1">
              <a:spcBef>
                <a:spcPct val="20000"/>
              </a:spcBef>
              <a:buClr>
                <a:schemeClr val="accent2"/>
              </a:buClr>
              <a:buSzPct val="80000"/>
              <a:buFont typeface="Wingdings" panose="05000000000000000000" pitchFamily="2" charset="2"/>
              <a:buChar char="§"/>
              <a:tabLst>
                <a:tab pos="354330" algn="l"/>
              </a:tabLst>
            </a:pPr>
            <a:r>
              <a:rPr lang="bg-BG" altLang="x-none" sz="2000" b="1" dirty="0">
                <a:latin typeface="Times New Roman" panose="02020603050405020304" pitchFamily="18" charset="0"/>
              </a:rPr>
              <a:t>Execution of the statements</a:t>
            </a:r>
            <a:r>
              <a:rPr lang="bg-BG" altLang="x-none" sz="2000" dirty="0">
                <a:latin typeface="Times New Roman" panose="02020603050405020304" pitchFamily="18" charset="0"/>
              </a:rPr>
              <a:t> follows in a completely </a:t>
            </a:r>
            <a:r>
              <a:rPr lang="bg-BG" altLang="x-none" sz="2000" b="1" dirty="0">
                <a:latin typeface="Times New Roman" panose="02020603050405020304" pitchFamily="18" charset="0"/>
              </a:rPr>
              <a:t>ordered, predefined sequence</a:t>
            </a:r>
            <a:r>
              <a:rPr lang="bg-BG" altLang="x-none" sz="2000" dirty="0">
                <a:latin typeface="Times New Roman" panose="02020603050405020304" pitchFamily="18" charset="0"/>
              </a:rPr>
              <a:t> for a given set of inputs. </a:t>
            </a:r>
            <a:endParaRPr sz="2000" dirty="0">
              <a:latin typeface="Times New Roman" panose="02020603050405020304" pitchFamily="18" charset="0"/>
            </a:endParaRPr>
          </a:p>
          <a:p>
            <a:pPr marL="354330" lvl="1" indent="-174625" algn="just" defTabSz="914400" eaLnBrk="1" hangingPunct="1">
              <a:spcBef>
                <a:spcPct val="20000"/>
              </a:spcBef>
              <a:buClr>
                <a:schemeClr val="accent2"/>
              </a:buClr>
              <a:buSzPct val="80000"/>
              <a:buFont typeface="Wingdings" panose="05000000000000000000" pitchFamily="2" charset="2"/>
              <a:buChar char="§"/>
              <a:tabLst>
                <a:tab pos="354330" algn="l"/>
              </a:tabLst>
            </a:pPr>
            <a:r>
              <a:rPr lang="bg-BG" altLang="x-none" sz="2000" dirty="0">
                <a:latin typeface="Times New Roman" panose="02020603050405020304" pitchFamily="18" charset="0"/>
              </a:rPr>
              <a:t>While executing, the process has access to certain data</a:t>
            </a:r>
            <a:r>
              <a:rPr sz="2000" dirty="0">
                <a:latin typeface="Times New Roman" panose="02020603050405020304" pitchFamily="18" charset="0"/>
              </a:rPr>
              <a:t> – local, global, static etc.</a:t>
            </a:r>
            <a:r>
              <a:rPr lang="bg-BG" altLang="x-none" sz="2000" dirty="0">
                <a:latin typeface="Times New Roman" panose="02020603050405020304" pitchFamily="18" charset="0"/>
              </a:rPr>
              <a:t> </a:t>
            </a:r>
            <a:endParaRPr sz="2000" dirty="0">
              <a:latin typeface="Times New Roman" panose="02020603050405020304" pitchFamily="18" charset="0"/>
            </a:endParaRPr>
          </a:p>
        </p:txBody>
      </p:sp>
      <p:pic>
        <p:nvPicPr>
          <p:cNvPr id="11270" name="Picture 4" descr="jth2"/>
          <p:cNvPicPr>
            <a:picLocks noChangeAspect="1"/>
          </p:cNvPicPr>
          <p:nvPr/>
        </p:nvPicPr>
        <p:blipFill>
          <a:blip r:embed="rId1"/>
          <a:stretch>
            <a:fillRect/>
          </a:stretch>
        </p:blipFill>
        <p:spPr>
          <a:xfrm>
            <a:off x="1524000" y="3941763"/>
            <a:ext cx="6172200" cy="2306637"/>
          </a:xfrm>
          <a:prstGeom prst="rect">
            <a:avLst/>
          </a:prstGeom>
          <a:noFill/>
          <a:ln w="9525">
            <a:noFill/>
          </a:ln>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12291"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12292"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Multithreading</a:t>
            </a:r>
            <a:endParaRPr lang="en-CA" altLang="x-none" sz="2800" dirty="0">
              <a:solidFill>
                <a:srgbClr val="FF9900"/>
              </a:solidFill>
              <a:ea typeface="Times New Roman" panose="02020603050405020304" pitchFamily="18" charset="0"/>
            </a:endParaRPr>
          </a:p>
        </p:txBody>
      </p:sp>
      <p:sp>
        <p:nvSpPr>
          <p:cNvPr id="12293" name="Rectangle 3" descr="Rectangle: Click to edit Master text styles&#13;&#10;Second level&#13;&#10;Third level&#13;&#10;Fourth level&#13;&#10;Fifth level"/>
          <p:cNvSpPr/>
          <p:nvPr/>
        </p:nvSpPr>
        <p:spPr>
          <a:xfrm>
            <a:off x="304800" y="685800"/>
            <a:ext cx="8534400" cy="3505200"/>
          </a:xfrm>
          <a:prstGeom prst="rect">
            <a:avLst/>
          </a:prstGeom>
          <a:noFill/>
          <a:ln w="9525">
            <a:noFill/>
          </a:ln>
        </p:spPr>
        <p:txBody>
          <a:bodyPr/>
          <a:p>
            <a:pPr marL="227330" indent="-227330" algn="just">
              <a:spcBef>
                <a:spcPct val="20000"/>
              </a:spcBef>
              <a:buClr>
                <a:schemeClr val="bg2"/>
              </a:buClr>
              <a:buSzPct val="75000"/>
              <a:buFont typeface="Wingdings" panose="05000000000000000000" pitchFamily="2" charset="2"/>
              <a:buChar char="§"/>
            </a:pPr>
            <a:r>
              <a:rPr sz="2000" b="1" dirty="0">
                <a:latin typeface="Times New Roman" panose="02020603050405020304" pitchFamily="18" charset="0"/>
              </a:rPr>
              <a:t>A p</a:t>
            </a:r>
            <a:r>
              <a:rPr lang="bg-BG" altLang="x-none" sz="2000" b="1" dirty="0">
                <a:latin typeface="Times New Roman" panose="02020603050405020304" pitchFamily="18" charset="0"/>
              </a:rPr>
              <a:t>rogram with multiple threads</a:t>
            </a:r>
            <a:r>
              <a:rPr lang="bg-BG" altLang="x-none" sz="2000" dirty="0">
                <a:latin typeface="Times New Roman" panose="02020603050405020304" pitchFamily="18" charset="0"/>
              </a:rPr>
              <a:t> running within a single instance </a:t>
            </a:r>
            <a:r>
              <a:rPr sz="2000" b="1" dirty="0">
                <a:latin typeface="Times New Roman" panose="02020603050405020304" pitchFamily="18" charset="0"/>
              </a:rPr>
              <a:t>could be considered</a:t>
            </a:r>
            <a:r>
              <a:rPr sz="2000" dirty="0">
                <a:latin typeface="Times New Roman" panose="02020603050405020304" pitchFamily="18" charset="0"/>
              </a:rPr>
              <a:t> as a multitasking  system </a:t>
            </a:r>
            <a:r>
              <a:rPr lang="bg-BG" altLang="x-none" sz="2000" dirty="0">
                <a:latin typeface="Times New Roman" panose="02020603050405020304" pitchFamily="18" charset="0"/>
              </a:rPr>
              <a:t>within an </a:t>
            </a:r>
            <a:r>
              <a:rPr sz="2000" dirty="0">
                <a:latin typeface="Times New Roman" panose="02020603050405020304" pitchFamily="18" charset="0"/>
              </a:rPr>
              <a:t>OS.</a:t>
            </a:r>
            <a:endParaRPr sz="2000" dirty="0">
              <a:latin typeface="Times New Roman" panose="02020603050405020304" pitchFamily="18" charset="0"/>
            </a:endParaRPr>
          </a:p>
          <a:p>
            <a:pPr marL="227330" indent="-227330"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In </a:t>
            </a:r>
            <a:r>
              <a:rPr lang="bg-BG" altLang="x-none" sz="2000" dirty="0">
                <a:latin typeface="Times New Roman" panose="02020603050405020304" pitchFamily="18" charset="0"/>
              </a:rPr>
              <a:t>a </a:t>
            </a:r>
            <a:r>
              <a:rPr sz="2000" dirty="0">
                <a:latin typeface="Times New Roman" panose="02020603050405020304" pitchFamily="18" charset="0"/>
              </a:rPr>
              <a:t>multithreading </a:t>
            </a:r>
            <a:r>
              <a:rPr lang="bg-BG" altLang="x-none" sz="2000" dirty="0">
                <a:latin typeface="Times New Roman" panose="02020603050405020304" pitchFamily="18" charset="0"/>
              </a:rPr>
              <a:t>program, threads have </a:t>
            </a:r>
            <a:r>
              <a:rPr sz="2000" dirty="0">
                <a:latin typeface="Times New Roman" panose="02020603050405020304" pitchFamily="18" charset="0"/>
              </a:rPr>
              <a:t>the following</a:t>
            </a:r>
            <a:r>
              <a:rPr lang="bg-BG" altLang="x-none" sz="2000" dirty="0">
                <a:latin typeface="Times New Roman" panose="02020603050405020304" pitchFamily="18" charset="0"/>
              </a:rPr>
              <a:t> properties:  </a:t>
            </a:r>
            <a:endParaRPr sz="2000" dirty="0">
              <a:latin typeface="Times New Roman" panose="02020603050405020304" pitchFamily="18" charset="0"/>
            </a:endParaRPr>
          </a:p>
          <a:p>
            <a:pPr marL="506730" lvl="1" indent="-158750" algn="just" eaLnBrk="1" hangingPunct="1">
              <a:spcBef>
                <a:spcPct val="20000"/>
              </a:spcBef>
              <a:buClr>
                <a:schemeClr val="accent2"/>
              </a:buClr>
              <a:buSzPct val="80000"/>
              <a:buFont typeface="Wingdings" panose="05000000000000000000" pitchFamily="2" charset="2"/>
              <a:buChar char="§"/>
            </a:pPr>
            <a:r>
              <a:rPr sz="2000" dirty="0">
                <a:latin typeface="Times New Roman" panose="02020603050405020304" pitchFamily="18" charset="0"/>
              </a:rPr>
              <a:t>A thread b</a:t>
            </a:r>
            <a:r>
              <a:rPr lang="bg-BG" altLang="x-none" sz="2000" dirty="0">
                <a:latin typeface="Times New Roman" panose="02020603050405020304" pitchFamily="18" charset="0"/>
              </a:rPr>
              <a:t>egin execution at a predefined, well-known location. For one of the threads in the program, that location is the </a:t>
            </a:r>
            <a:r>
              <a:rPr lang="bg-BG" altLang="x-none" sz="2000" b="1" i="1" dirty="0">
                <a:latin typeface="Times New Roman" panose="02020603050405020304" pitchFamily="18" charset="0"/>
              </a:rPr>
              <a:t>main()</a:t>
            </a:r>
            <a:r>
              <a:rPr lang="bg-BG" altLang="x-none" sz="2000" dirty="0">
                <a:latin typeface="Times New Roman" panose="02020603050405020304" pitchFamily="18" charset="0"/>
              </a:rPr>
              <a:t> method; for the rest of the threads, it is a </a:t>
            </a:r>
            <a:r>
              <a:rPr lang="bg-BG" altLang="x-none" sz="2000" b="1" u="sng" dirty="0">
                <a:latin typeface="Times New Roman" panose="02020603050405020304" pitchFamily="18" charset="0"/>
              </a:rPr>
              <a:t>particular location</a:t>
            </a:r>
            <a:r>
              <a:rPr lang="bg-BG" altLang="x-none" sz="2000" dirty="0">
                <a:latin typeface="Times New Roman" panose="02020603050405020304" pitchFamily="18" charset="0"/>
              </a:rPr>
              <a:t> the programmer decides on when the code is written. </a:t>
            </a:r>
            <a:endParaRPr sz="2000" dirty="0">
              <a:latin typeface="Times New Roman" panose="02020603050405020304" pitchFamily="18" charset="0"/>
            </a:endParaRPr>
          </a:p>
          <a:p>
            <a:pPr marL="506730" lvl="1" indent="-158750" algn="just" eaLnBrk="1" hangingPunct="1">
              <a:spcBef>
                <a:spcPct val="20000"/>
              </a:spcBef>
              <a:buClr>
                <a:schemeClr val="accent2"/>
              </a:buClr>
              <a:buSzPct val="80000"/>
              <a:buFont typeface="Wingdings" panose="05000000000000000000" pitchFamily="2" charset="2"/>
              <a:buChar char="§"/>
            </a:pPr>
            <a:r>
              <a:rPr sz="2000" dirty="0">
                <a:latin typeface="Times New Roman" panose="02020603050405020304" pitchFamily="18" charset="0"/>
              </a:rPr>
              <a:t>A thread e</a:t>
            </a:r>
            <a:r>
              <a:rPr lang="bg-BG" altLang="x-none" sz="2000" dirty="0">
                <a:latin typeface="Times New Roman" panose="02020603050405020304" pitchFamily="18" charset="0"/>
              </a:rPr>
              <a:t>xecute</a:t>
            </a:r>
            <a:r>
              <a:rPr sz="2000" dirty="0">
                <a:latin typeface="Times New Roman" panose="02020603050405020304" pitchFamily="18" charset="0"/>
              </a:rPr>
              <a:t>s</a:t>
            </a:r>
            <a:r>
              <a:rPr lang="bg-BG" altLang="x-none" sz="2000" dirty="0">
                <a:latin typeface="Times New Roman" panose="02020603050405020304" pitchFamily="18" charset="0"/>
              </a:rPr>
              <a:t> code in an </a:t>
            </a:r>
            <a:r>
              <a:rPr lang="bg-BG" altLang="x-none" sz="2000" b="1" dirty="0">
                <a:latin typeface="Times New Roman" panose="02020603050405020304" pitchFamily="18" charset="0"/>
              </a:rPr>
              <a:t>ordered, predefined sequence</a:t>
            </a:r>
            <a:r>
              <a:rPr lang="bg-BG" altLang="x-none" sz="2000" dirty="0">
                <a:latin typeface="Times New Roman" panose="02020603050405020304" pitchFamily="18" charset="0"/>
              </a:rPr>
              <a:t>. </a:t>
            </a:r>
            <a:endParaRPr lang="bg-BG" altLang="x-none" sz="2000" dirty="0">
              <a:latin typeface="Times New Roman" panose="02020603050405020304" pitchFamily="18" charset="0"/>
            </a:endParaRPr>
          </a:p>
          <a:p>
            <a:pPr marL="506730" lvl="1" indent="-158750" algn="just" eaLnBrk="1" hangingPunct="1">
              <a:spcBef>
                <a:spcPct val="20000"/>
              </a:spcBef>
              <a:buClr>
                <a:schemeClr val="accent2"/>
              </a:buClr>
              <a:buSzPct val="80000"/>
              <a:buFont typeface="Wingdings" panose="05000000000000000000" pitchFamily="2" charset="2"/>
              <a:buChar char="§"/>
            </a:pPr>
            <a:r>
              <a:rPr sz="2000" dirty="0">
                <a:latin typeface="Times New Roman" panose="02020603050405020304" pitchFamily="18" charset="0"/>
              </a:rPr>
              <a:t>A </a:t>
            </a:r>
            <a:r>
              <a:rPr lang="bg-BG" altLang="x-none" sz="2000" dirty="0">
                <a:latin typeface="Times New Roman" panose="02020603050405020304" pitchFamily="18" charset="0"/>
              </a:rPr>
              <a:t>thread executes its code </a:t>
            </a:r>
            <a:r>
              <a:rPr lang="bg-BG" altLang="x-none" sz="2000" b="1" u="sng" dirty="0">
                <a:latin typeface="Times New Roman" panose="02020603050405020304" pitchFamily="18" charset="0"/>
              </a:rPr>
              <a:t>independently</a:t>
            </a:r>
            <a:r>
              <a:rPr lang="bg-BG" altLang="x-none" sz="2000" dirty="0">
                <a:latin typeface="Times New Roman" panose="02020603050405020304" pitchFamily="18" charset="0"/>
              </a:rPr>
              <a:t> of the other threads</a:t>
            </a:r>
            <a:r>
              <a:rPr sz="2000" dirty="0">
                <a:latin typeface="Times New Roman" panose="02020603050405020304" pitchFamily="18" charset="0"/>
              </a:rPr>
              <a:t>.</a:t>
            </a:r>
            <a:r>
              <a:rPr lang="bg-BG" altLang="x-none" sz="2000" dirty="0">
                <a:latin typeface="Times New Roman" panose="02020603050405020304" pitchFamily="18" charset="0"/>
              </a:rPr>
              <a:t> </a:t>
            </a:r>
            <a:endParaRPr sz="2000" dirty="0">
              <a:latin typeface="Times New Roman" panose="02020603050405020304" pitchFamily="18" charset="0"/>
            </a:endParaRPr>
          </a:p>
          <a:p>
            <a:pPr marL="506730" lvl="1" indent="-158750" algn="just" eaLnBrk="1" hangingPunct="1">
              <a:spcBef>
                <a:spcPct val="20000"/>
              </a:spcBef>
              <a:buClr>
                <a:schemeClr val="accent2"/>
              </a:buClr>
              <a:buSzPct val="80000"/>
              <a:buFont typeface="Wingdings" panose="05000000000000000000" pitchFamily="2" charset="2"/>
              <a:buChar char="§"/>
            </a:pPr>
            <a:r>
              <a:rPr lang="bg-BG" altLang="x-none" sz="2000" dirty="0">
                <a:latin typeface="Times New Roman" panose="02020603050405020304" pitchFamily="18" charset="0"/>
              </a:rPr>
              <a:t>The threads appear to have a </a:t>
            </a:r>
            <a:r>
              <a:rPr lang="bg-BG" altLang="x-none" sz="2000" b="1" u="sng" dirty="0">
                <a:latin typeface="Times New Roman" panose="02020603050405020304" pitchFamily="18" charset="0"/>
              </a:rPr>
              <a:t>certain degree of simultaneous execution</a:t>
            </a:r>
            <a:r>
              <a:rPr lang="bg-BG" altLang="x-none" sz="2000" dirty="0">
                <a:latin typeface="Times New Roman" panose="02020603050405020304" pitchFamily="18" charset="0"/>
              </a:rPr>
              <a:t>. </a:t>
            </a:r>
            <a:endParaRPr sz="2000" dirty="0">
              <a:latin typeface="Times New Roman" panose="02020603050405020304" pitchFamily="18" charset="0"/>
            </a:endParaRPr>
          </a:p>
        </p:txBody>
      </p:sp>
      <p:pic>
        <p:nvPicPr>
          <p:cNvPr id="12294" name="Picture 5" descr="jth2"/>
          <p:cNvPicPr>
            <a:picLocks noChangeAspect="1"/>
          </p:cNvPicPr>
          <p:nvPr/>
        </p:nvPicPr>
        <p:blipFill>
          <a:blip r:embed="rId1"/>
          <a:stretch>
            <a:fillRect/>
          </a:stretch>
        </p:blipFill>
        <p:spPr>
          <a:xfrm>
            <a:off x="1828800" y="4167188"/>
            <a:ext cx="5562600" cy="2632075"/>
          </a:xfrm>
          <a:prstGeom prst="rect">
            <a:avLst/>
          </a:prstGeom>
          <a:noFill/>
          <a:ln w="9525">
            <a:noFill/>
          </a:ln>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13315"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13316"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Threading Models</a:t>
            </a:r>
            <a:endParaRPr lang="en-CA" altLang="x-none" sz="2800" dirty="0">
              <a:solidFill>
                <a:srgbClr val="FF9900"/>
              </a:solidFill>
              <a:ea typeface="Times New Roman" panose="02020603050405020304" pitchFamily="18" charset="0"/>
            </a:endParaRPr>
          </a:p>
        </p:txBody>
      </p:sp>
      <p:sp>
        <p:nvSpPr>
          <p:cNvPr id="13317" name="Rectangle 3" descr="Rectangle: Click to edit Master text styles&#13;&#10;Second level&#13;&#10;Third level&#13;&#10;Fourth level&#13;&#10;Fifth level"/>
          <p:cNvSpPr/>
          <p:nvPr/>
        </p:nvSpPr>
        <p:spPr>
          <a:xfrm>
            <a:off x="304800" y="762000"/>
            <a:ext cx="8610600" cy="5486400"/>
          </a:xfrm>
          <a:prstGeom prst="rect">
            <a:avLst/>
          </a:prstGeom>
          <a:noFill/>
          <a:ln w="9525">
            <a:noFill/>
          </a:ln>
        </p:spPr>
        <p:txBody>
          <a:bodyPr/>
          <a:p>
            <a:pPr marL="177800" indent="-177800" algn="just" defTabSz="914400">
              <a:spcBef>
                <a:spcPct val="20000"/>
              </a:spcBef>
              <a:buClr>
                <a:schemeClr val="bg2"/>
              </a:buClr>
              <a:buSzPct val="75000"/>
              <a:buFont typeface="Wingdings" panose="05000000000000000000" pitchFamily="2" charset="2"/>
              <a:tabLst>
                <a:tab pos="113030" algn="l"/>
              </a:tabLst>
            </a:pPr>
            <a:r>
              <a:rPr sz="2400" dirty="0">
                <a:latin typeface="Times New Roman" panose="02020603050405020304" pitchFamily="18" charset="0"/>
              </a:rPr>
              <a:t>There are typically two threading models supported by OS:</a:t>
            </a:r>
            <a:endParaRPr sz="2400" dirty="0">
              <a:latin typeface="Times New Roman" panose="02020603050405020304" pitchFamily="18" charset="0"/>
            </a:endParaRPr>
          </a:p>
          <a:p>
            <a:pPr marL="177800" indent="-177800" algn="just" defTabSz="914400">
              <a:spcBef>
                <a:spcPct val="20000"/>
              </a:spcBef>
              <a:buClr>
                <a:schemeClr val="bg2"/>
              </a:buClr>
              <a:buSzPct val="75000"/>
              <a:buFont typeface="Wingdings" panose="05000000000000000000" pitchFamily="2" charset="2"/>
              <a:buChar char="§"/>
              <a:tabLst>
                <a:tab pos="113030" algn="l"/>
              </a:tabLst>
            </a:pPr>
            <a:r>
              <a:rPr sz="2400" b="1" dirty="0">
                <a:latin typeface="Times New Roman" panose="02020603050405020304" pitchFamily="18" charset="0"/>
              </a:rPr>
              <a:t>Cooperative Threading Model;</a:t>
            </a:r>
            <a:endParaRPr sz="2400" b="1" dirty="0">
              <a:latin typeface="Times New Roman" panose="02020603050405020304" pitchFamily="18" charset="0"/>
            </a:endParaRPr>
          </a:p>
          <a:p>
            <a:pPr marL="177800" indent="-177800" algn="just" defTabSz="914400">
              <a:spcBef>
                <a:spcPct val="20000"/>
              </a:spcBef>
              <a:buClr>
                <a:schemeClr val="bg2"/>
              </a:buClr>
              <a:buSzPct val="75000"/>
              <a:buFont typeface="Wingdings" panose="05000000000000000000" pitchFamily="2" charset="2"/>
              <a:buChar char="§"/>
              <a:tabLst>
                <a:tab pos="113030" algn="l"/>
              </a:tabLst>
            </a:pPr>
            <a:r>
              <a:rPr sz="2400" b="1" dirty="0">
                <a:latin typeface="Times New Roman" panose="02020603050405020304" pitchFamily="18" charset="0"/>
              </a:rPr>
              <a:t>Preemptive Threading Model.</a:t>
            </a:r>
            <a:endParaRPr sz="2400" b="1" dirty="0">
              <a:latin typeface="Times New Roman" panose="02020603050405020304" pitchFamily="18" charset="0"/>
            </a:endParaRPr>
          </a:p>
          <a:p>
            <a:pPr marL="177800" indent="-177800" algn="just" defTabSz="914400">
              <a:spcBef>
                <a:spcPct val="20000"/>
              </a:spcBef>
              <a:buClr>
                <a:schemeClr val="bg2"/>
              </a:buClr>
              <a:buSzPct val="75000"/>
              <a:buFont typeface="Wingdings" panose="05000000000000000000" pitchFamily="2" charset="2"/>
              <a:tabLst>
                <a:tab pos="113030" algn="l"/>
              </a:tabLst>
            </a:pPr>
            <a:endParaRPr sz="2400" b="1" dirty="0">
              <a:latin typeface="Times New Roman" panose="02020603050405020304" pitchFamily="18" charset="0"/>
            </a:endParaRPr>
          </a:p>
          <a:p>
            <a:pPr marL="177800" indent="-177800" algn="just" defTabSz="914400">
              <a:spcBef>
                <a:spcPct val="20000"/>
              </a:spcBef>
              <a:buClr>
                <a:schemeClr val="bg2"/>
              </a:buClr>
              <a:buSzPct val="75000"/>
              <a:buFont typeface="Wingdings" panose="05000000000000000000" pitchFamily="2" charset="2"/>
              <a:tabLst>
                <a:tab pos="113030" algn="l"/>
              </a:tabLst>
            </a:pPr>
            <a:r>
              <a:rPr sz="2400" b="1" dirty="0">
                <a:solidFill>
                  <a:srgbClr val="C72105"/>
                </a:solidFill>
                <a:latin typeface="Times New Roman" panose="02020603050405020304" pitchFamily="18" charset="0"/>
              </a:rPr>
              <a:t>Cooperative Threading Model</a:t>
            </a:r>
            <a:endParaRPr sz="2400" b="1" dirty="0">
              <a:solidFill>
                <a:srgbClr val="C72105"/>
              </a:solidFill>
              <a:latin typeface="Times New Roman" panose="02020603050405020304" pitchFamily="18" charset="0"/>
            </a:endParaRPr>
          </a:p>
          <a:p>
            <a:pPr marL="541655" lvl="1" indent="-184150" algn="just" defTabSz="914400" eaLnBrk="1" hangingPunct="1">
              <a:spcBef>
                <a:spcPct val="20000"/>
              </a:spcBef>
              <a:buClr>
                <a:schemeClr val="bg2"/>
              </a:buClr>
              <a:buSzPct val="75000"/>
              <a:buFont typeface="Wingdings" panose="05000000000000000000" pitchFamily="2" charset="2"/>
              <a:buChar char="§"/>
              <a:tabLst>
                <a:tab pos="113030" algn="l"/>
              </a:tabLst>
            </a:pPr>
            <a:r>
              <a:rPr sz="2400" dirty="0">
                <a:latin typeface="Times New Roman" panose="02020603050405020304" pitchFamily="18" charset="0"/>
              </a:rPr>
              <a:t>In a </a:t>
            </a:r>
            <a:r>
              <a:rPr sz="2400" b="1" dirty="0">
                <a:latin typeface="Times New Roman" panose="02020603050405020304" pitchFamily="18" charset="0"/>
              </a:rPr>
              <a:t>cooperative</a:t>
            </a:r>
            <a:r>
              <a:rPr sz="2400" i="1" dirty="0">
                <a:latin typeface="Times New Roman" panose="02020603050405020304" pitchFamily="18" charset="0"/>
              </a:rPr>
              <a:t> </a:t>
            </a:r>
            <a:r>
              <a:rPr sz="2400" dirty="0">
                <a:latin typeface="Times New Roman" panose="02020603050405020304" pitchFamily="18" charset="0"/>
              </a:rPr>
              <a:t>system, a thread </a:t>
            </a:r>
            <a:r>
              <a:rPr sz="2400" b="1" dirty="0">
                <a:latin typeface="Times New Roman" panose="02020603050405020304" pitchFamily="18" charset="0"/>
              </a:rPr>
              <a:t>retains control</a:t>
            </a:r>
            <a:r>
              <a:rPr sz="2400" dirty="0">
                <a:latin typeface="Times New Roman" panose="02020603050405020304" pitchFamily="18" charset="0"/>
              </a:rPr>
              <a:t> of the processor until it decides to give it up (</a:t>
            </a:r>
            <a:r>
              <a:rPr sz="2400" b="1" dirty="0">
                <a:latin typeface="Times New Roman" panose="02020603050405020304" pitchFamily="18" charset="0"/>
              </a:rPr>
              <a:t>which might be never</a:t>
            </a:r>
            <a:r>
              <a:rPr sz="2400" dirty="0">
                <a:latin typeface="Times New Roman" panose="02020603050405020304" pitchFamily="18" charset="0"/>
              </a:rPr>
              <a:t>).</a:t>
            </a:r>
            <a:endParaRPr sz="2400" dirty="0">
              <a:latin typeface="Times New Roman" panose="02020603050405020304" pitchFamily="18" charset="0"/>
            </a:endParaRPr>
          </a:p>
          <a:p>
            <a:pPr marL="541655" lvl="1" indent="-184150" algn="just" defTabSz="914400" eaLnBrk="1" hangingPunct="1">
              <a:spcBef>
                <a:spcPct val="20000"/>
              </a:spcBef>
              <a:buClr>
                <a:schemeClr val="bg2"/>
              </a:buClr>
              <a:buSzPct val="75000"/>
              <a:buFont typeface="Wingdings" panose="05000000000000000000" pitchFamily="2" charset="2"/>
              <a:buChar char="§"/>
              <a:tabLst>
                <a:tab pos="113030" algn="l"/>
              </a:tabLst>
            </a:pPr>
            <a:r>
              <a:rPr sz="2400" dirty="0">
                <a:latin typeface="Times New Roman" panose="02020603050405020304" pitchFamily="18" charset="0"/>
              </a:rPr>
              <a:t>Supporting OS – Windows 3.x, Solaris, Mac OS. </a:t>
            </a:r>
            <a:endParaRPr sz="2400" dirty="0">
              <a:latin typeface="Times New Roman" panose="02020603050405020304" pitchFamily="18" charset="0"/>
            </a:endParaRPr>
          </a:p>
          <a:p>
            <a:pPr marL="541655" lvl="1" indent="-184150" algn="just" defTabSz="914400" eaLnBrk="1" hangingPunct="1">
              <a:spcBef>
                <a:spcPct val="20000"/>
              </a:spcBef>
              <a:buClr>
                <a:schemeClr val="bg2"/>
              </a:buClr>
              <a:buSzPct val="75000"/>
              <a:buFont typeface="Wingdings" panose="05000000000000000000" pitchFamily="2" charset="2"/>
              <a:buChar char="§"/>
              <a:tabLst>
                <a:tab pos="113030" algn="l"/>
              </a:tabLst>
            </a:pPr>
            <a:r>
              <a:rPr sz="2400" dirty="0">
                <a:latin typeface="Times New Roman" panose="02020603050405020304" pitchFamily="18" charset="0"/>
              </a:rPr>
              <a:t>The various threads </a:t>
            </a:r>
            <a:r>
              <a:rPr sz="2400" b="1" dirty="0">
                <a:latin typeface="Times New Roman" panose="02020603050405020304" pitchFamily="18" charset="0"/>
              </a:rPr>
              <a:t>have to cooperate</a:t>
            </a:r>
            <a:r>
              <a:rPr sz="2400" dirty="0">
                <a:latin typeface="Times New Roman" panose="02020603050405020304" pitchFamily="18" charset="0"/>
              </a:rPr>
              <a:t> with each other. If not, some of them </a:t>
            </a:r>
            <a:r>
              <a:rPr sz="2400" b="1" u="sng" dirty="0">
                <a:latin typeface="Times New Roman" panose="02020603050405020304" pitchFamily="18" charset="0"/>
              </a:rPr>
              <a:t>will be starving</a:t>
            </a:r>
            <a:r>
              <a:rPr sz="2400" i="1" dirty="0">
                <a:latin typeface="Times New Roman" panose="02020603050405020304" pitchFamily="18" charset="0"/>
              </a:rPr>
              <a:t> </a:t>
            </a:r>
            <a:r>
              <a:rPr sz="2400" dirty="0">
                <a:latin typeface="Times New Roman" panose="02020603050405020304" pitchFamily="18" charset="0"/>
              </a:rPr>
              <a:t>(never given a chance to run). </a:t>
            </a:r>
            <a:endParaRPr sz="2400" dirty="0">
              <a:latin typeface="Times New Roman" panose="02020603050405020304" pitchFamily="18" charset="0"/>
            </a:endParaRPr>
          </a:p>
          <a:p>
            <a:pPr marL="541655" lvl="1" indent="-184150" algn="just" defTabSz="914400" eaLnBrk="1" hangingPunct="1">
              <a:spcBef>
                <a:spcPct val="20000"/>
              </a:spcBef>
              <a:buClr>
                <a:schemeClr val="bg2"/>
              </a:buClr>
              <a:buSzPct val="75000"/>
              <a:buFont typeface="Wingdings" panose="05000000000000000000" pitchFamily="2" charset="2"/>
              <a:buChar char="§"/>
              <a:tabLst>
                <a:tab pos="113030" algn="l"/>
              </a:tabLst>
            </a:pPr>
            <a:r>
              <a:rPr sz="2400" dirty="0">
                <a:latin typeface="Times New Roman" panose="02020603050405020304" pitchFamily="18" charset="0"/>
              </a:rPr>
              <a:t>Scheduling in most cooperative systems is done strictly by priority level - when the current thread gives up control, the highest-priority waiting thread gets control.</a:t>
            </a:r>
            <a:endParaRPr sz="2400" dirty="0">
              <a:latin typeface="Times New Roman" panose="02020603050405020304" pitchFamily="18"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14339"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14340"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Threading Models</a:t>
            </a:r>
            <a:endParaRPr lang="en-CA" altLang="x-none" sz="2800" dirty="0">
              <a:solidFill>
                <a:srgbClr val="FF9900"/>
              </a:solidFill>
              <a:ea typeface="Times New Roman" panose="02020603050405020304" pitchFamily="18" charset="0"/>
            </a:endParaRPr>
          </a:p>
        </p:txBody>
      </p:sp>
      <p:sp>
        <p:nvSpPr>
          <p:cNvPr id="14341" name="Rectangle 3" descr="Rectangle: Click to edit Master text styles&#13;&#10;Second level&#13;&#10;Third level&#13;&#10;Fourth level&#13;&#10;Fifth level"/>
          <p:cNvSpPr/>
          <p:nvPr/>
        </p:nvSpPr>
        <p:spPr>
          <a:xfrm>
            <a:off x="304800" y="762000"/>
            <a:ext cx="8610600" cy="5715000"/>
          </a:xfrm>
          <a:prstGeom prst="rect">
            <a:avLst/>
          </a:prstGeom>
          <a:noFill/>
          <a:ln w="9525">
            <a:noFill/>
          </a:ln>
        </p:spPr>
        <p:txBody>
          <a:bodyPr/>
          <a:p>
            <a:pPr algn="just">
              <a:spcBef>
                <a:spcPct val="20000"/>
              </a:spcBef>
              <a:buClr>
                <a:schemeClr val="bg2"/>
              </a:buClr>
              <a:buSzPct val="75000"/>
              <a:buFont typeface="Wingdings" panose="05000000000000000000" pitchFamily="2" charset="2"/>
            </a:pPr>
            <a:r>
              <a:rPr sz="2400" b="1" dirty="0">
                <a:solidFill>
                  <a:srgbClr val="C72105"/>
                </a:solidFill>
                <a:latin typeface="Times New Roman" panose="02020603050405020304" pitchFamily="18" charset="0"/>
              </a:rPr>
              <a:t>Preemptive Threading Model</a:t>
            </a:r>
            <a:endParaRPr sz="2400" b="1" dirty="0">
              <a:solidFill>
                <a:srgbClr val="C72105"/>
              </a:solidFill>
              <a:latin typeface="Times New Roman" panose="02020603050405020304" pitchFamily="18" charset="0"/>
            </a:endParaRPr>
          </a:p>
          <a:p>
            <a:pPr marL="447675" lvl="1" indent="-267970" algn="just" eaLnBrk="1" hangingPunct="1">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In a </a:t>
            </a:r>
            <a:r>
              <a:rPr sz="2400" b="1" dirty="0">
                <a:latin typeface="Times New Roman" panose="02020603050405020304" pitchFamily="18" charset="0"/>
              </a:rPr>
              <a:t>preemptive</a:t>
            </a:r>
            <a:r>
              <a:rPr sz="2400" i="1" dirty="0">
                <a:latin typeface="Times New Roman" panose="02020603050405020304" pitchFamily="18" charset="0"/>
              </a:rPr>
              <a:t> </a:t>
            </a:r>
            <a:r>
              <a:rPr sz="2400" dirty="0">
                <a:latin typeface="Times New Roman" panose="02020603050405020304" pitchFamily="18" charset="0"/>
              </a:rPr>
              <a:t>system, some </a:t>
            </a:r>
            <a:r>
              <a:rPr sz="2400" b="1" dirty="0">
                <a:latin typeface="Times New Roman" panose="02020603050405020304" pitchFamily="18" charset="0"/>
              </a:rPr>
              <a:t>sort of timer</a:t>
            </a:r>
            <a:r>
              <a:rPr sz="2400" dirty="0">
                <a:latin typeface="Times New Roman" panose="02020603050405020304" pitchFamily="18" charset="0"/>
              </a:rPr>
              <a:t> is used by the operating system itself to cause a context swap. </a:t>
            </a:r>
            <a:endParaRPr sz="2400" dirty="0">
              <a:latin typeface="Times New Roman" panose="02020603050405020304" pitchFamily="18" charset="0"/>
            </a:endParaRPr>
          </a:p>
          <a:p>
            <a:pPr marL="447675" lvl="1" indent="-267970" algn="just" eaLnBrk="1" hangingPunct="1">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Supporting OS – Windows 9x, XP, NT (2000), Solaris, Linux.</a:t>
            </a:r>
            <a:endParaRPr sz="2400" dirty="0">
              <a:latin typeface="Times New Roman" panose="02020603050405020304" pitchFamily="18" charset="0"/>
            </a:endParaRPr>
          </a:p>
          <a:p>
            <a:pPr marL="447675" lvl="1" indent="-267970" algn="just" eaLnBrk="1" hangingPunct="1">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When the timer "ticks" the OS can abruptly take control away from the running thread and give control to another thread. </a:t>
            </a:r>
            <a:endParaRPr sz="2400" dirty="0">
              <a:latin typeface="Times New Roman" panose="02020603050405020304" pitchFamily="18" charset="0"/>
            </a:endParaRPr>
          </a:p>
          <a:p>
            <a:pPr marL="447675" lvl="1" indent="-267970" algn="just" eaLnBrk="1" hangingPunct="1">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The interval between timer ticks is called a </a:t>
            </a:r>
            <a:r>
              <a:rPr sz="2400" b="1" dirty="0">
                <a:latin typeface="Times New Roman" panose="02020603050405020304" pitchFamily="18" charset="0"/>
              </a:rPr>
              <a:t>time slice</a:t>
            </a:r>
            <a:r>
              <a:rPr sz="2400" dirty="0">
                <a:latin typeface="Times New Roman" panose="02020603050405020304" pitchFamily="18" charset="0"/>
              </a:rPr>
              <a:t>.</a:t>
            </a:r>
            <a:endParaRPr sz="2400" dirty="0">
              <a:latin typeface="Times New Roman" panose="02020603050405020304" pitchFamily="18" charset="0"/>
            </a:endParaRPr>
          </a:p>
          <a:p>
            <a:pPr marL="447675" lvl="1" indent="-267970" algn="just" eaLnBrk="1" hangingPunct="1">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To get to concurrency, the OS must do the </a:t>
            </a:r>
            <a:r>
              <a:rPr sz="2400" b="1" dirty="0">
                <a:latin typeface="Times New Roman" panose="02020603050405020304" pitchFamily="18" charset="0"/>
              </a:rPr>
              <a:t>thread</a:t>
            </a:r>
            <a:r>
              <a:rPr sz="2400" dirty="0">
                <a:latin typeface="Times New Roman" panose="02020603050405020304" pitchFamily="18" charset="0"/>
              </a:rPr>
              <a:t> </a:t>
            </a:r>
            <a:r>
              <a:rPr sz="2400" b="1" dirty="0">
                <a:latin typeface="Times New Roman" panose="02020603050405020304" pitchFamily="18" charset="0"/>
              </a:rPr>
              <a:t>scheduling</a:t>
            </a:r>
            <a:r>
              <a:rPr sz="2400" dirty="0">
                <a:latin typeface="Times New Roman" panose="02020603050405020304" pitchFamily="18" charset="0"/>
              </a:rPr>
              <a:t>.</a:t>
            </a:r>
            <a:endParaRPr sz="2400" dirty="0">
              <a:latin typeface="Times New Roman" panose="02020603050405020304" pitchFamily="18" charset="0"/>
            </a:endParaRPr>
          </a:p>
          <a:p>
            <a:pPr marL="447675" lvl="1" indent="-267970" algn="just" eaLnBrk="1" hangingPunct="1">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Preemptive systems are </a:t>
            </a:r>
            <a:r>
              <a:rPr sz="2400" b="1" dirty="0">
                <a:latin typeface="Times New Roman" panose="02020603050405020304" pitchFamily="18" charset="0"/>
              </a:rPr>
              <a:t>less efficient</a:t>
            </a:r>
            <a:r>
              <a:rPr sz="2400" dirty="0">
                <a:latin typeface="Times New Roman" panose="02020603050405020304" pitchFamily="18" charset="0"/>
              </a:rPr>
              <a:t> than cooperative ones because the </a:t>
            </a:r>
            <a:r>
              <a:rPr sz="2400" b="1" dirty="0">
                <a:latin typeface="Times New Roman" panose="02020603050405020304" pitchFamily="18" charset="0"/>
              </a:rPr>
              <a:t>thread management must be done by the OS’ kernel</a:t>
            </a:r>
            <a:r>
              <a:rPr sz="2400" dirty="0">
                <a:latin typeface="Times New Roman" panose="02020603050405020304" pitchFamily="18" charset="0"/>
              </a:rPr>
              <a:t>, but they are </a:t>
            </a:r>
            <a:r>
              <a:rPr sz="2400" b="1" dirty="0">
                <a:latin typeface="Times New Roman" panose="02020603050405020304" pitchFamily="18" charset="0"/>
              </a:rPr>
              <a:t>easier to program</a:t>
            </a:r>
            <a:r>
              <a:rPr sz="2400" dirty="0">
                <a:latin typeface="Times New Roman" panose="02020603050405020304" pitchFamily="18" charset="0"/>
              </a:rPr>
              <a:t> (except their synchronization).</a:t>
            </a:r>
            <a:endParaRPr sz="2400" dirty="0">
              <a:latin typeface="Times New Roman" panose="02020603050405020304"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15363"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15364"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Synchronization</a:t>
            </a:r>
            <a:endParaRPr lang="en-CA" altLang="x-none" sz="2800" dirty="0">
              <a:solidFill>
                <a:srgbClr val="FF9900"/>
              </a:solidFill>
              <a:ea typeface="Times New Roman" panose="02020603050405020304" pitchFamily="18" charset="0"/>
            </a:endParaRPr>
          </a:p>
        </p:txBody>
      </p:sp>
      <p:sp>
        <p:nvSpPr>
          <p:cNvPr id="367619" name="Rectangle 3" descr="Rectangle: Click to edit Master text styles&#10;Second level&#10;Third level&#10;Fourth level&#10;Fifth level"/>
          <p:cNvSpPr>
            <a:spLocks noChangeArrowheads="1"/>
          </p:cNvSpPr>
          <p:nvPr/>
        </p:nvSpPr>
        <p:spPr bwMode="auto">
          <a:xfrm>
            <a:off x="304800" y="685800"/>
            <a:ext cx="8534400" cy="5638800"/>
          </a:xfrm>
          <a:prstGeom prst="rect">
            <a:avLst/>
          </a:prstGeom>
          <a:noFill/>
          <a:ln w="9525">
            <a:noFill/>
            <a:miter lim="800000"/>
          </a:ln>
          <a:effectLst/>
        </p:spPr>
        <p:txBody>
          <a:bodyPr/>
          <a:lstStyle/>
          <a:p>
            <a:pPr marL="335280" marR="0" lvl="1" indent="-22098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353695" algn="l"/>
              </a:tabLst>
              <a:defRPr/>
            </a:pPr>
            <a:r>
              <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Background</a:t>
            </a: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335280" marR="0" lvl="1" indent="-22098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353695" algn="l"/>
              </a:tabLst>
              <a:defRPr/>
            </a:pP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a:t>
            </a:r>
            <a:r>
              <a:rPr kumimoji="0" lang="bg-BG"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oncurrent access</a:t>
            </a:r>
            <a:r>
              <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to shared data may result in </a:t>
            </a:r>
            <a:r>
              <a:rPr kumimoji="0" lang="bg-BG"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data inconsistency</a:t>
            </a:r>
            <a:r>
              <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335280" marR="0" lvl="1" indent="-22098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353695" algn="l"/>
              </a:tabLst>
              <a:defRPr/>
            </a:pPr>
            <a:r>
              <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Maintaining data consistency requires mechanisms to ensure the </a:t>
            </a:r>
            <a:br>
              <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br>
            <a:r>
              <a:rPr kumimoji="0" lang="bg-BG"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orderly execution</a:t>
            </a:r>
            <a:r>
              <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of cooperating processes</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(or threads)</a:t>
            </a:r>
            <a:r>
              <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335280" marR="0" lvl="1" indent="-22098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353695" algn="l"/>
              </a:tabLst>
              <a:defRPr/>
            </a:pPr>
            <a:endParaRPr kumimoji="0" lang="en-US" sz="2400" b="0" i="0" u="none" strike="noStrike" kern="1200" cap="none" spc="0" normalizeH="0" baseline="0" noProof="0">
              <a:ln>
                <a:noFill/>
              </a:ln>
              <a:solidFill>
                <a:srgbClr val="FF9900"/>
              </a:solidFill>
              <a:effectLst/>
              <a:uLnTx/>
              <a:uFillTx/>
              <a:latin typeface="Times New Roman" panose="02020603050405020304" pitchFamily="18" charset="0"/>
              <a:ea typeface="+mn-ea"/>
              <a:cs typeface="+mn-cs"/>
            </a:endParaRPr>
          </a:p>
          <a:p>
            <a:pPr marL="335280" marR="0" lvl="1" indent="-22098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353695" algn="l"/>
              </a:tabLst>
              <a:defRPr/>
            </a:pPr>
            <a:r>
              <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When do we need synchronization?</a:t>
            </a: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335280" marR="0" lvl="1" indent="-22098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353695"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When two or more processes (or threads) work on the same data simultaneously.</a:t>
            </a:r>
            <a:endPar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335280" marR="0" lvl="1" indent="-22098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353695" algn="l"/>
              </a:tabLst>
              <a:defRPr/>
            </a:pPr>
            <a:endPar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16387"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16388"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Synchronization</a:t>
            </a:r>
            <a:endParaRPr lang="en-CA" altLang="x-none" sz="2800" dirty="0">
              <a:solidFill>
                <a:srgbClr val="FF9900"/>
              </a:solidFill>
              <a:ea typeface="Times New Roman" panose="02020603050405020304" pitchFamily="18" charset="0"/>
            </a:endParaRPr>
          </a:p>
        </p:txBody>
      </p:sp>
      <p:sp>
        <p:nvSpPr>
          <p:cNvPr id="369667" name="Rectangle 3" descr="Rectangle: Click to edit Master text styles&#10;Second level&#10;Third level&#10;Fourth level&#10;Fifth level"/>
          <p:cNvSpPr>
            <a:spLocks noChangeArrowheads="1"/>
          </p:cNvSpPr>
          <p:nvPr/>
        </p:nvSpPr>
        <p:spPr bwMode="auto">
          <a:xfrm>
            <a:off x="304800" y="685800"/>
            <a:ext cx="8534400" cy="5638800"/>
          </a:xfrm>
          <a:prstGeom prst="rect">
            <a:avLst/>
          </a:prstGeom>
          <a:noFill/>
          <a:ln w="9525">
            <a:noFill/>
            <a:miter lim="800000"/>
          </a:ln>
          <a:effectLst/>
        </p:spPr>
        <p:txBody>
          <a:bodyPr/>
          <a:lstStyle/>
          <a:p>
            <a:pPr marL="179705" marR="0" lvl="1" indent="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177800" algn="l"/>
              </a:tabLst>
              <a:defRPr/>
            </a:pPr>
            <a:r>
              <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Example:</a:t>
            </a: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179705" marR="0" lvl="1" indent="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17780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Two threads are trying to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update</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the same shared variable</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simultaneously:</a:t>
            </a:r>
            <a:endPar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625475" marR="0" lvl="2" indent="-266700" algn="just"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
              <a:tabLst>
                <a:tab pos="17780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The result is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unpredictable</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625475" marR="0" lvl="2" indent="-266700" algn="just"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
              <a:tabLst>
                <a:tab pos="17780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The result depends on which of the two threads was the last one to change the value.</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625475" marR="0" lvl="2" indent="-266700" algn="just"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
              <a:tabLst>
                <a:tab pos="17780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The competition of the threads for the variable is called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race condition.</a:t>
            </a:r>
            <a:endPar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625475" marR="0" lvl="2" indent="-266700" algn="just"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
              <a:tabLst>
                <a:tab pos="17780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The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first</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thread is the one who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wins the race to update</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the variable.</a:t>
            </a: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17411"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17412"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Classical Synchronization Problems</a:t>
            </a:r>
            <a:endParaRPr lang="en-CA" altLang="x-none" sz="2800" dirty="0">
              <a:solidFill>
                <a:srgbClr val="FF9900"/>
              </a:solidFill>
              <a:ea typeface="Times New Roman" panose="02020603050405020304" pitchFamily="18" charset="0"/>
            </a:endParaRPr>
          </a:p>
        </p:txBody>
      </p:sp>
      <p:sp>
        <p:nvSpPr>
          <p:cNvPr id="371715" name="Rectangle 3" descr="Rectangle: Click to edit Master text styles&#10;Second level&#10;Third level&#10;Fourth level&#10;Fifth level"/>
          <p:cNvSpPr>
            <a:spLocks noChangeArrowheads="1"/>
          </p:cNvSpPr>
          <p:nvPr/>
        </p:nvSpPr>
        <p:spPr bwMode="auto">
          <a:xfrm>
            <a:off x="304800" y="685800"/>
            <a:ext cx="8534400" cy="5715000"/>
          </a:xfrm>
          <a:prstGeom prst="rect">
            <a:avLst/>
          </a:prstGeom>
          <a:noFill/>
          <a:ln w="9525">
            <a:noFill/>
            <a:miter lim="800000"/>
          </a:ln>
          <a:effectLst/>
        </p:spPr>
        <p:txBody>
          <a:bodyPr/>
          <a:lstStyle/>
          <a:p>
            <a:pPr marL="287655" marR="0" lvl="1" indent="-17335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r>
              <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Mutual exclusion</a:t>
            </a: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Only one process executes a piece of code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critical section</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any time.</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OS examples:</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access to shared resources, e.g., a printer.</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r>
              <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Sequencing</a:t>
            </a: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 process waits for another process to finish executing some code.</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OS examples: waiting for an event, e.g.,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ls (dir)</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command suspends until there is some data to read from the file system.</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18435"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18436"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Classical Synchronization Problems</a:t>
            </a:r>
            <a:endParaRPr lang="en-CA" altLang="x-none" sz="2800" dirty="0">
              <a:solidFill>
                <a:srgbClr val="FF9900"/>
              </a:solidFill>
              <a:ea typeface="Times New Roman" panose="02020603050405020304" pitchFamily="18" charset="0"/>
            </a:endParaRPr>
          </a:p>
        </p:txBody>
      </p:sp>
      <p:sp>
        <p:nvSpPr>
          <p:cNvPr id="373763" name="Rectangle 3" descr="Rectangle: Click to edit Master text styles&#10;Second level&#10;Third level&#10;Fourth level&#10;Fifth level"/>
          <p:cNvSpPr>
            <a:spLocks noChangeArrowheads="1"/>
          </p:cNvSpPr>
          <p:nvPr/>
        </p:nvSpPr>
        <p:spPr bwMode="auto">
          <a:xfrm>
            <a:off x="304800" y="685800"/>
            <a:ext cx="8534400" cy="5715000"/>
          </a:xfrm>
          <a:prstGeom prst="rect">
            <a:avLst/>
          </a:prstGeom>
          <a:noFill/>
          <a:ln w="9525">
            <a:noFill/>
            <a:miter lim="800000"/>
          </a:ln>
          <a:effectLst/>
        </p:spPr>
        <p:txBody>
          <a:bodyPr/>
          <a:lstStyle/>
          <a:p>
            <a:pPr marL="287655" marR="0" lvl="1" indent="-17335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r>
              <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Bounded-buffer </a:t>
            </a: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r>
              <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(also referred to as the Producer-Consumer problem)</a:t>
            </a: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 pool of n buffers.</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Producer</a:t>
            </a:r>
            <a:r>
              <a:rPr kumimoji="0" lang="en-US" sz="2400" b="0"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processes put items into the pool.</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Consumer</a:t>
            </a:r>
            <a:r>
              <a:rPr kumimoji="0" lang="en-US" sz="2400" b="0"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processes take items out of the pool.</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Issues: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mutual exclusion, empty pool, and full pool.</a:t>
            </a:r>
            <a:endPar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OS examples: buffering for pipes, file caches, etc.</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19459"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19460"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Classical Synchronization Problems</a:t>
            </a:r>
            <a:endParaRPr lang="en-CA" altLang="x-none" sz="2800" dirty="0">
              <a:solidFill>
                <a:srgbClr val="FF9900"/>
              </a:solidFill>
              <a:ea typeface="Times New Roman" panose="02020603050405020304" pitchFamily="18" charset="0"/>
            </a:endParaRPr>
          </a:p>
        </p:txBody>
      </p:sp>
      <p:sp>
        <p:nvSpPr>
          <p:cNvPr id="375811" name="Rectangle 3" descr="Rectangle: Click to edit Master text styles&#10;Second level&#10;Third level&#10;Fourth level&#10;Fifth level"/>
          <p:cNvSpPr>
            <a:spLocks noChangeArrowheads="1"/>
          </p:cNvSpPr>
          <p:nvPr/>
        </p:nvSpPr>
        <p:spPr bwMode="auto">
          <a:xfrm>
            <a:off x="304800" y="685800"/>
            <a:ext cx="8534400" cy="5715000"/>
          </a:xfrm>
          <a:prstGeom prst="rect">
            <a:avLst/>
          </a:prstGeom>
          <a:noFill/>
          <a:ln w="9525">
            <a:noFill/>
            <a:miter lim="800000"/>
          </a:ln>
          <a:effectLst/>
        </p:spPr>
        <p:txBody>
          <a:bodyPr/>
          <a:lstStyle/>
          <a:p>
            <a:pPr marL="287655" marR="0" lvl="1" indent="-17335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r>
              <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Readers-Writers</a:t>
            </a: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Multiple processes access a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shared data object X</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Any number of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readers</a:t>
            </a:r>
            <a:r>
              <a:rPr kumimoji="0" lang="en-US" sz="2400" b="0"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can access X at the same time.</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No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writer</a:t>
            </a:r>
            <a:r>
              <a:rPr kumimoji="0" lang="en-US" sz="2400" b="0"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can access it at the same time as a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reader</a:t>
            </a:r>
            <a:r>
              <a:rPr kumimoji="0" lang="en-US" sz="2400" b="0"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or another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writer</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r>
            <a:endPar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Mutual exclusion is too constraining. </a:t>
            </a:r>
            <a:r>
              <a:rPr kumimoji="0" lang="en-US" sz="2400" b="1" i="0" u="none" strike="noStrike" kern="1200" cap="none" spc="0" normalizeH="0" baseline="0" noProof="0">
                <a:ln>
                  <a:noFill/>
                </a:ln>
                <a:solidFill>
                  <a:srgbClr val="C72105"/>
                </a:solidFill>
                <a:effectLst/>
                <a:uLnTx/>
                <a:uFillTx/>
                <a:latin typeface="Times New Roman" panose="02020603050405020304" pitchFamily="18" charset="0"/>
                <a:ea typeface="+mn-ea"/>
                <a:cs typeface="+mn-cs"/>
              </a:rPr>
              <a:t>Why?</a:t>
            </a:r>
            <a:endParaRPr kumimoji="0" lang="en-US" sz="2400" b="1" i="0" u="none" strike="noStrike" kern="1200" cap="none" spc="0" normalizeH="0" baseline="0" noProof="0">
              <a:ln>
                <a:noFill/>
              </a:ln>
              <a:solidFill>
                <a:srgbClr val="C72105"/>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Variations:</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636905" marR="0" lvl="2" indent="-234950" algn="just"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reader-priority: a reader must not wait for a writer;</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636905" marR="0" lvl="2" indent="-234950" algn="just"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writer-priority: a writer must not wait for a reader,</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OS examples: file locks.</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20483"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20484"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Classical Synchronization Problems</a:t>
            </a:r>
            <a:endParaRPr lang="en-CA" altLang="x-none" sz="2800" dirty="0">
              <a:solidFill>
                <a:srgbClr val="FF9900"/>
              </a:solidFill>
              <a:ea typeface="Times New Roman" panose="02020603050405020304" pitchFamily="18" charset="0"/>
            </a:endParaRPr>
          </a:p>
        </p:txBody>
      </p:sp>
      <p:sp>
        <p:nvSpPr>
          <p:cNvPr id="377859" name="Rectangle 3" descr="Rectangle: Click to edit Master text styles&#10;Second level&#10;Third level&#10;Fourth level&#10;Fifth level"/>
          <p:cNvSpPr>
            <a:spLocks noChangeArrowheads="1"/>
          </p:cNvSpPr>
          <p:nvPr/>
        </p:nvSpPr>
        <p:spPr bwMode="auto">
          <a:xfrm>
            <a:off x="304800" y="685800"/>
            <a:ext cx="8534400" cy="5715000"/>
          </a:xfrm>
          <a:prstGeom prst="rect">
            <a:avLst/>
          </a:prstGeom>
          <a:noFill/>
          <a:ln w="9525">
            <a:noFill/>
            <a:miter lim="800000"/>
          </a:ln>
          <a:effectLst/>
        </p:spPr>
        <p:txBody>
          <a:bodyPr/>
          <a:lstStyle/>
          <a:p>
            <a:pPr marL="287655" marR="0" lvl="1" indent="-173355"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r>
              <a:rPr kumimoji="0" lang="en-US" sz="24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Dining Philosophers</a:t>
            </a:r>
            <a:endParaRPr kumimoji="0" lang="en-US" sz="24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l"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5 philosophers with 5 chopsticks placed between them.</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87655" marR="0" lvl="1" indent="-173355" algn="l"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To eat requires two chopsticks.</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87655" marR="0" lvl="1" indent="-173355" algn="l"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Philosophers alternate between thinking and eating.</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87655" marR="0" lvl="1" indent="-173355" algn="l"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OS examples: simultaneous use of multiple resources.</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87655" marR="0" lvl="1" indent="-173355" algn="l" defTabSz="914400" rtl="0" eaLnBrk="1" fontAlgn="base" latinLnBrk="0" hangingPunct="1">
              <a:lnSpc>
                <a:spcPct val="100000"/>
              </a:lnSpc>
              <a:spcBef>
                <a:spcPct val="20000"/>
              </a:spcBef>
              <a:spcAft>
                <a:spcPct val="0"/>
              </a:spcAft>
              <a:buClr>
                <a:schemeClr val="bg2"/>
              </a:buClr>
              <a:buSzPct val="80000"/>
              <a:buFontTx/>
              <a:buNone/>
              <a:tabLst>
                <a:tab pos="287020" algn="l"/>
              </a:tabLst>
              <a:defRPr/>
            </a:pPr>
            <a:endParaRPr kumimoji="0" lang="en-US" sz="24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l" defTabSz="914400" rtl="0" eaLnBrk="1" fontAlgn="base" latinLnBrk="0" hangingPunct="1">
              <a:lnSpc>
                <a:spcPct val="100000"/>
              </a:lnSpc>
              <a:spcBef>
                <a:spcPct val="20000"/>
              </a:spcBef>
              <a:spcAft>
                <a:spcPct val="0"/>
              </a:spcAft>
              <a:buClr>
                <a:schemeClr val="bg2"/>
              </a:buClr>
              <a:buSzPct val="80000"/>
              <a:buFontTx/>
              <a:buNone/>
              <a:tabLst>
                <a:tab pos="287020" algn="l"/>
              </a:tabLst>
              <a:defRPr/>
            </a:pPr>
            <a:r>
              <a:rPr kumimoji="0" lang="en-CA" sz="24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Many examples, along with Java code</a:t>
            </a:r>
            <a:endParaRPr kumimoji="0" lang="en-CA"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87655" marR="0" lvl="1" indent="-173355" algn="l"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http://www.doc.ic.ac.uk/~jnm/book/book_applets/concurrency.html</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87655" marR="0" lvl="1" indent="-173355" algn="l"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87655" marR="0" lvl="1" indent="-173355"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21507"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21508"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The Critical Section Problem</a:t>
            </a:r>
            <a:endParaRPr lang="en-CA" altLang="x-none" sz="2800" dirty="0">
              <a:solidFill>
                <a:srgbClr val="FF9900"/>
              </a:solidFill>
              <a:ea typeface="Times New Roman" panose="02020603050405020304" pitchFamily="18" charset="0"/>
            </a:endParaRPr>
          </a:p>
        </p:txBody>
      </p:sp>
      <p:sp>
        <p:nvSpPr>
          <p:cNvPr id="379907" name="Rectangle 3" descr="Rectangle: Click to edit Master text styles&#10;Second level&#10;Third level&#10;Fourth level&#10;Fifth level"/>
          <p:cNvSpPr>
            <a:spLocks noChangeArrowheads="1"/>
          </p:cNvSpPr>
          <p:nvPr/>
        </p:nvSpPr>
        <p:spPr bwMode="auto">
          <a:xfrm>
            <a:off x="304800" y="685800"/>
            <a:ext cx="8534400" cy="5715000"/>
          </a:xfrm>
          <a:prstGeom prst="rect">
            <a:avLst/>
          </a:prstGeom>
          <a:noFill/>
          <a:ln w="9525">
            <a:noFill/>
            <a:miter lim="800000"/>
          </a:ln>
          <a:effectLst/>
        </p:spPr>
        <p:txBody>
          <a:bodyPr/>
          <a:lstStyle/>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r>
              <a:rPr kumimoji="0" lang="en-CA" sz="2400" b="1" i="0" u="none" strike="noStrike" kern="1200" cap="none" spc="0" normalizeH="0" baseline="0" noProof="0" dirty="0">
                <a:ln>
                  <a:noFill/>
                </a:ln>
                <a:solidFill>
                  <a:srgbClr val="C72105"/>
                </a:solidFill>
                <a:effectLst/>
                <a:uLnTx/>
                <a:uFillTx/>
                <a:latin typeface="Times New Roman" panose="02020603050405020304" pitchFamily="18" charset="0"/>
                <a:ea typeface="+mn-ea"/>
                <a:cs typeface="+mn-cs"/>
              </a:rPr>
              <a:t>Definition:</a:t>
            </a:r>
            <a:endParaRPr kumimoji="0" lang="en-US" sz="2400" b="1" i="0" u="none" strike="noStrike" kern="1200" cap="none" spc="0" normalizeH="0" baseline="0" noProof="0" dirty="0">
              <a:ln>
                <a:noFill/>
              </a:ln>
              <a:solidFill>
                <a:srgbClr val="C72105"/>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 </a:t>
            </a:r>
            <a:r>
              <a:rPr kumimoji="0" 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critical section</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is a piece of code that accesses a shared resource (data structure or device) that must not be concurrently accessed by more than one thread of execution. </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endParaRPr kumimoji="0" lang="en-CA"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r>
              <a:rPr kumimoji="0" lang="en-US" sz="24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Conditions:</a:t>
            </a:r>
            <a:endParaRPr kumimoji="0" lang="bg-BG" sz="24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bg-BG"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n processes </a:t>
            </a:r>
            <a:r>
              <a:rPr kumimoji="0" lang="en-CA"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(or threads) </a:t>
            </a:r>
            <a:r>
              <a:rPr kumimoji="0" lang="bg-BG"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all competing to use some shared data</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bg-BG"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endParaRPr kumimoji="0" lang="bg-BG"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bg-BG"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Each process has a code segment, called </a:t>
            </a:r>
            <a:r>
              <a:rPr kumimoji="0" lang="bg-BG"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critical section</a:t>
            </a:r>
            <a:r>
              <a:rPr kumimoji="0" lang="bg-BG"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in which the shared</a:t>
            </a:r>
            <a:r>
              <a:rPr kumimoji="0" lang="en-CA"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bg-BG"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data is accessed.</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endParaRPr kumimoji="0" lang="en-US" sz="24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l"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r>
              <a:rPr kumimoji="0" lang="bg-BG" sz="24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Problem: </a:t>
            </a:r>
            <a:br>
              <a:rPr kumimoji="0" lang="bg-BG" sz="24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br>
            <a:r>
              <a:rPr kumimoji="0" 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How to </a:t>
            </a:r>
            <a:r>
              <a:rPr kumimoji="0" lang="bg-BG"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ensure that when one process is executing in its critical section, no other</a:t>
            </a:r>
            <a:r>
              <a:rPr kumimoji="0" lang="en-CA"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p</a:t>
            </a:r>
            <a:r>
              <a:rPr kumimoji="0" lang="bg-BG"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rocess is allowed to execute in its critical section</a:t>
            </a:r>
            <a:r>
              <a:rPr kumimoji="0" 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0" 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22531"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22532"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The Critical Section Problem - Example</a:t>
            </a:r>
            <a:endParaRPr lang="en-CA" altLang="x-none" sz="2800" dirty="0">
              <a:solidFill>
                <a:srgbClr val="FF9900"/>
              </a:solidFill>
              <a:ea typeface="Times New Roman" panose="02020603050405020304" pitchFamily="18" charset="0"/>
            </a:endParaRPr>
          </a:p>
        </p:txBody>
      </p:sp>
      <p:sp>
        <p:nvSpPr>
          <p:cNvPr id="22533" name="Rectangle 3" descr="Rectangle: Click to edit Master text styles&#13;&#10;Second level&#13;&#10;Third level&#13;&#10;Fourth level&#13;&#10;Fifth level"/>
          <p:cNvSpPr/>
          <p:nvPr/>
        </p:nvSpPr>
        <p:spPr>
          <a:xfrm>
            <a:off x="304800" y="685800"/>
            <a:ext cx="8534400" cy="5791200"/>
          </a:xfrm>
          <a:prstGeom prst="rect">
            <a:avLst/>
          </a:prstGeom>
          <a:noFill/>
          <a:ln w="9525">
            <a:noFill/>
          </a:ln>
        </p:spPr>
        <p:txBody>
          <a:bodyPr/>
          <a:p>
            <a:pPr marL="179705" lvl="1" indent="6350" algn="just" defTabSz="914400" eaLnBrk="1" hangingPunct="1">
              <a:spcBef>
                <a:spcPct val="20000"/>
              </a:spcBef>
              <a:buClr>
                <a:schemeClr val="bg2"/>
              </a:buClr>
              <a:buSzPct val="80000"/>
              <a:buFont typeface="Wingdings" panose="05000000000000000000" pitchFamily="2" charset="2"/>
              <a:tabLst>
                <a:tab pos="357505" algn="l"/>
              </a:tabLst>
            </a:pPr>
            <a:r>
              <a:rPr sz="2400" dirty="0">
                <a:latin typeface="Times New Roman" panose="02020603050405020304" pitchFamily="18" charset="0"/>
              </a:rPr>
              <a:t>Suppose that two processes are trying to increment the same variable. They both execute the statement </a:t>
            </a:r>
            <a:endParaRPr sz="2400" dirty="0">
              <a:latin typeface="Times New Roman" panose="02020603050405020304" pitchFamily="18" charset="0"/>
            </a:endParaRPr>
          </a:p>
          <a:p>
            <a:pPr defTabSz="914400">
              <a:spcBef>
                <a:spcPct val="20000"/>
              </a:spcBef>
              <a:buClr>
                <a:schemeClr val="bg2"/>
              </a:buClr>
              <a:buSzPct val="75000"/>
              <a:buFont typeface="Wingdings" panose="05000000000000000000" pitchFamily="2" charset="2"/>
              <a:tabLst>
                <a:tab pos="357505" algn="l"/>
              </a:tabLst>
            </a:pPr>
            <a:r>
              <a:rPr sz="2400" b="1" i="1" dirty="0">
                <a:latin typeface="Times New Roman" panose="02020603050405020304" pitchFamily="18" charset="0"/>
              </a:rPr>
              <a:t>		x := x + 1;</a:t>
            </a:r>
            <a:endParaRPr sz="2400" b="1" i="1" dirty="0">
              <a:latin typeface="Times New Roman" panose="02020603050405020304" pitchFamily="18" charset="0"/>
            </a:endParaRPr>
          </a:p>
          <a:p>
            <a:pPr defTabSz="914400">
              <a:spcBef>
                <a:spcPct val="20000"/>
              </a:spcBef>
              <a:buClr>
                <a:schemeClr val="bg2"/>
              </a:buClr>
              <a:buSzPct val="75000"/>
              <a:buFont typeface="Wingdings" panose="05000000000000000000" pitchFamily="2" charset="2"/>
              <a:tabLst>
                <a:tab pos="357505" algn="l"/>
              </a:tabLst>
            </a:pPr>
            <a:endParaRPr sz="2400" dirty="0">
              <a:latin typeface="Times New Roman" panose="02020603050405020304" pitchFamily="18" charset="0"/>
            </a:endParaRPr>
          </a:p>
          <a:p>
            <a:pPr marL="179705" lvl="1" indent="6350" algn="just" defTabSz="914400" eaLnBrk="1" hangingPunct="1">
              <a:spcBef>
                <a:spcPct val="20000"/>
              </a:spcBef>
              <a:buClr>
                <a:schemeClr val="accent2"/>
              </a:buClr>
              <a:buSzPct val="80000"/>
              <a:buFont typeface="Wingdings" panose="05000000000000000000" pitchFamily="2" charset="2"/>
              <a:tabLst>
                <a:tab pos="357505" algn="l"/>
              </a:tabLst>
            </a:pPr>
            <a:r>
              <a:rPr sz="2400" dirty="0">
                <a:latin typeface="Times New Roman" panose="02020603050405020304" pitchFamily="18" charset="0"/>
              </a:rPr>
              <a:t>To execute this statement each process </a:t>
            </a:r>
            <a:r>
              <a:rPr sz="2400" b="1" dirty="0">
                <a:latin typeface="Times New Roman" panose="02020603050405020304" pitchFamily="18" charset="0"/>
              </a:rPr>
              <a:t>reads the variable x, then adds one to the value, then write it back. </a:t>
            </a:r>
            <a:endParaRPr sz="2400" b="1" dirty="0">
              <a:latin typeface="Times New Roman" panose="02020603050405020304" pitchFamily="18" charset="0"/>
            </a:endParaRPr>
          </a:p>
          <a:p>
            <a:pPr marL="179705" lvl="1" indent="6350" defTabSz="914400" eaLnBrk="1" hangingPunct="1">
              <a:spcBef>
                <a:spcPct val="20000"/>
              </a:spcBef>
              <a:buClr>
                <a:schemeClr val="accent2"/>
              </a:buClr>
              <a:buSzPct val="80000"/>
              <a:buFont typeface="Wingdings" panose="05000000000000000000" pitchFamily="2" charset="2"/>
              <a:tabLst>
                <a:tab pos="357505" algn="l"/>
              </a:tabLst>
            </a:pPr>
            <a:r>
              <a:rPr sz="2400" dirty="0">
                <a:latin typeface="Times New Roman" panose="02020603050405020304" pitchFamily="18" charset="0"/>
              </a:rPr>
              <a:t>Suppose the value of </a:t>
            </a:r>
            <a:r>
              <a:rPr sz="2400" b="1" dirty="0">
                <a:latin typeface="Times New Roman" panose="02020603050405020304" pitchFamily="18" charset="0"/>
              </a:rPr>
              <a:t>x</a:t>
            </a:r>
            <a:r>
              <a:rPr sz="2400" dirty="0">
                <a:latin typeface="Times New Roman" panose="02020603050405020304" pitchFamily="18" charset="0"/>
              </a:rPr>
              <a:t> is 3.</a:t>
            </a:r>
            <a:r>
              <a:rPr sz="2000" dirty="0">
                <a:latin typeface="Times New Roman" panose="02020603050405020304" pitchFamily="18" charset="0"/>
              </a:rPr>
              <a:t> </a:t>
            </a:r>
            <a:endParaRPr sz="2000" dirty="0">
              <a:latin typeface="Times New Roman" panose="02020603050405020304" pitchFamily="18" charset="0"/>
            </a:endParaRPr>
          </a:p>
          <a:p>
            <a:pPr marL="542925" lvl="2" indent="-177800" algn="just" defTabSz="914400" eaLnBrk="1" hangingPunct="1">
              <a:spcBef>
                <a:spcPct val="20000"/>
              </a:spcBef>
              <a:buClr>
                <a:schemeClr val="bg2"/>
              </a:buClr>
              <a:buSzPct val="80000"/>
              <a:buFont typeface="Wingdings" panose="05000000000000000000" pitchFamily="2" charset="2"/>
              <a:buChar char="§"/>
              <a:tabLst>
                <a:tab pos="357505" algn="l"/>
              </a:tabLst>
            </a:pPr>
            <a:r>
              <a:rPr sz="2400" dirty="0">
                <a:latin typeface="Times New Roman" panose="02020603050405020304" pitchFamily="18" charset="0"/>
              </a:rPr>
              <a:t>If both processes read x at the same time then they would get the same value 3. </a:t>
            </a:r>
            <a:endParaRPr sz="2400" dirty="0">
              <a:latin typeface="Times New Roman" panose="02020603050405020304" pitchFamily="18" charset="0"/>
            </a:endParaRPr>
          </a:p>
          <a:p>
            <a:pPr marL="542925" lvl="2" indent="-177800" algn="just" defTabSz="914400" eaLnBrk="1" hangingPunct="1">
              <a:spcBef>
                <a:spcPct val="20000"/>
              </a:spcBef>
              <a:buClr>
                <a:schemeClr val="bg2"/>
              </a:buClr>
              <a:buSzPct val="80000"/>
              <a:buFont typeface="Wingdings" panose="05000000000000000000" pitchFamily="2" charset="2"/>
              <a:buChar char="§"/>
              <a:tabLst>
                <a:tab pos="357505" algn="l"/>
              </a:tabLst>
            </a:pPr>
            <a:r>
              <a:rPr sz="2400" dirty="0">
                <a:latin typeface="Times New Roman" panose="02020603050405020304" pitchFamily="18" charset="0"/>
              </a:rPr>
              <a:t>If they then both added 1 to it then they would both have the value 4. </a:t>
            </a:r>
            <a:endParaRPr sz="2400" dirty="0">
              <a:latin typeface="Times New Roman" panose="02020603050405020304" pitchFamily="18" charset="0"/>
            </a:endParaRPr>
          </a:p>
          <a:p>
            <a:pPr marL="542925" lvl="2" indent="-177800" algn="just" defTabSz="914400" eaLnBrk="1" hangingPunct="1">
              <a:spcBef>
                <a:spcPct val="20000"/>
              </a:spcBef>
              <a:buClr>
                <a:schemeClr val="bg2"/>
              </a:buClr>
              <a:buSzPct val="80000"/>
              <a:buFont typeface="Wingdings" panose="05000000000000000000" pitchFamily="2" charset="2"/>
              <a:buChar char="§"/>
              <a:tabLst>
                <a:tab pos="357505" algn="l"/>
              </a:tabLst>
            </a:pPr>
            <a:r>
              <a:rPr sz="2400" dirty="0">
                <a:latin typeface="Times New Roman" panose="02020603050405020304" pitchFamily="18" charset="0"/>
              </a:rPr>
              <a:t>They would then both write 4 back to x. </a:t>
            </a:r>
            <a:endParaRPr sz="2400" dirty="0">
              <a:latin typeface="Times New Roman" panose="02020603050405020304" pitchFamily="18" charset="0"/>
            </a:endParaRPr>
          </a:p>
          <a:p>
            <a:pPr marL="542925" lvl="2" indent="-177800" algn="just" defTabSz="914400" eaLnBrk="1" hangingPunct="1">
              <a:spcBef>
                <a:spcPct val="20000"/>
              </a:spcBef>
              <a:buClr>
                <a:schemeClr val="bg2"/>
              </a:buClr>
              <a:buSzPct val="80000"/>
              <a:buFont typeface="Wingdings" panose="05000000000000000000" pitchFamily="2" charset="2"/>
              <a:buChar char="§"/>
              <a:tabLst>
                <a:tab pos="357505" algn="l"/>
              </a:tabLst>
            </a:pPr>
            <a:r>
              <a:rPr sz="2400" dirty="0">
                <a:latin typeface="Times New Roman" panose="02020603050405020304" pitchFamily="18" charset="0"/>
              </a:rPr>
              <a:t>The result is that both processes incremented x, but its value is only 4, instead of 5. </a:t>
            </a:r>
            <a:endParaRPr sz="2400" dirty="0">
              <a:latin typeface="Times New Roman" panose="02020603050405020304" pitchFamily="18"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23555"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23556"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The Critical Section Problem</a:t>
            </a:r>
            <a:endParaRPr lang="en-CA" altLang="x-none" sz="2800" dirty="0">
              <a:solidFill>
                <a:srgbClr val="FF9900"/>
              </a:solidFill>
              <a:ea typeface="Times New Roman" panose="02020603050405020304" pitchFamily="18" charset="0"/>
            </a:endParaRPr>
          </a:p>
        </p:txBody>
      </p:sp>
      <p:sp>
        <p:nvSpPr>
          <p:cNvPr id="384003" name="Rectangle 3" descr="Rectangle: Click to edit Master text styles&#10;Second level&#10;Third level&#10;Fourth level&#10;Fifth level"/>
          <p:cNvSpPr>
            <a:spLocks noChangeArrowheads="1"/>
          </p:cNvSpPr>
          <p:nvPr/>
        </p:nvSpPr>
        <p:spPr bwMode="auto">
          <a:xfrm>
            <a:off x="304800" y="685800"/>
            <a:ext cx="8534400" cy="5715000"/>
          </a:xfrm>
          <a:prstGeom prst="rect">
            <a:avLst/>
          </a:prstGeom>
          <a:noFill/>
          <a:ln w="9525">
            <a:noFill/>
            <a:miter lim="800000"/>
          </a:ln>
          <a:effectLst/>
        </p:spPr>
        <p:txBody>
          <a:bodyPr/>
          <a:lstStyle/>
          <a:p>
            <a:pPr marL="287655" marR="0" lvl="1" indent="-17335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tabLst>
                <a:tab pos="287020" algn="l"/>
              </a:tabLst>
              <a:defRPr/>
            </a:pPr>
            <a:r>
              <a:rPr kumimoji="0" lang="bg-BG"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Solution</a:t>
            </a:r>
            <a:r>
              <a:rPr kumimoji="0" lang="en-CA"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 – three requirements</a:t>
            </a:r>
            <a:r>
              <a:rPr kumimoji="0" lang="bg-BG"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bg-BG"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endParaRPr kumimoji="0" 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Only one process is allowed to be in its critical section at a time. Hence, the execution of critical sections is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mutually exclusive</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If there is no process in its critical section, but some processes are waiting to enter their critical sections, only the waiting processes may compete for getting in. Ultimately, there must be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progress</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in the resolution and one process must be allowed to enter. </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287655" marR="0" lvl="1" indent="-1733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Processes waiting to enter their critical sections must be allowed to do so in a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bounded timeframe</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Hence, processes have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bounded waiting</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r>
            <a:endParaRPr kumimoji="0" lang="bg-BG"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24579"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24580"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The Critical Section Problem</a:t>
            </a:r>
            <a:endParaRPr lang="en-CA" altLang="x-none" sz="2800" dirty="0">
              <a:solidFill>
                <a:srgbClr val="FF9900"/>
              </a:solidFill>
              <a:ea typeface="Times New Roman" panose="02020603050405020304" pitchFamily="18" charset="0"/>
            </a:endParaRPr>
          </a:p>
        </p:txBody>
      </p:sp>
      <p:sp>
        <p:nvSpPr>
          <p:cNvPr id="388099" name="Rectangle 3" descr="Rectangle: Click to edit Master text styles&#10;Second level&#10;Third level&#10;Fourth level&#10;Fifth level"/>
          <p:cNvSpPr>
            <a:spLocks noChangeArrowheads="1"/>
          </p:cNvSpPr>
          <p:nvPr/>
        </p:nvSpPr>
        <p:spPr bwMode="auto">
          <a:xfrm>
            <a:off x="304800" y="685800"/>
            <a:ext cx="8534400" cy="5715000"/>
          </a:xfrm>
          <a:prstGeom prst="rect">
            <a:avLst/>
          </a:prstGeom>
          <a:noFill/>
          <a:ln w="9525">
            <a:noFill/>
            <a:miter lim="800000"/>
          </a:ln>
          <a:effectLst/>
        </p:spPr>
        <p:txBody>
          <a:bodyPr/>
          <a:lstStyle/>
          <a:p>
            <a:pPr marL="179705" marR="0" lvl="1" indent="635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Critical sections are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General Framework</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for process (thread) synchronization:</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79705" marR="0" lvl="1" indent="635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endParaRPr kumimoji="0" lang="en-US" sz="2400" b="1" i="0" u="none" strike="noStrike" kern="1200" cap="none" spc="0" normalizeH="0" baseline="0" noProof="0">
              <a:ln>
                <a:noFill/>
              </a:ln>
              <a:solidFill>
                <a:srgbClr val="FF4633"/>
              </a:solidFill>
              <a:effectLst/>
              <a:uLnTx/>
              <a:uFillTx/>
              <a:latin typeface="Times New Roman" panose="02020603050405020304" pitchFamily="18" charset="0"/>
              <a:ea typeface="+mn-ea"/>
              <a:cs typeface="+mn-cs"/>
            </a:endParaRPr>
          </a:p>
          <a:p>
            <a:pPr marL="179705" marR="0" lvl="1" indent="635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r>
              <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ENTRY SECTION</a:t>
            </a: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179705" marR="0" lvl="1" indent="635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r>
              <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CRITICAL SECTION CODE</a:t>
            </a: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179705" marR="0" lvl="1" indent="635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r>
              <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EXIT SECTION</a:t>
            </a:r>
            <a:endParaRPr kumimoji="0" lang="en-US" sz="24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179705" marR="0" lvl="1" indent="635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None/>
              <a:tabLst>
                <a:tab pos="287020" algn="l"/>
              </a:tabLst>
              <a:defRPr/>
            </a:pPr>
            <a:endParaRPr kumimoji="0" lang="en-US" sz="24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679450" marR="0" lvl="2" indent="-23495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The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ENTRY SECTION </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controls access to make sure no more than one process Pi gets to access the critical section at any given time. It acts as a </a:t>
            </a:r>
            <a:r>
              <a:rPr kumimoji="0" lang="en-US" sz="2400" b="0"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guard.</a:t>
            </a:r>
            <a:endParaRPr kumimoji="0" lang="en-US" sz="2400" b="0"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679450" marR="0" lvl="2" indent="-234950"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tabLst>
                <a:tab pos="287020" algn="l"/>
              </a:tabLst>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The </a:t>
            </a: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EXIT SECTION </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does bookkeeping to make sure that other processes that are waiting know that Pi has exited.</a:t>
            </a: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25603"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25604"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Semaphores</a:t>
            </a:r>
            <a:endParaRPr lang="en-CA" altLang="x-none" sz="2800" dirty="0">
              <a:solidFill>
                <a:srgbClr val="FF9900"/>
              </a:solidFill>
              <a:ea typeface="Times New Roman" panose="02020603050405020304" pitchFamily="18" charset="0"/>
            </a:endParaRPr>
          </a:p>
        </p:txBody>
      </p:sp>
      <p:sp>
        <p:nvSpPr>
          <p:cNvPr id="25605" name="Rectangle 3" descr="Rectangle: Click to edit Master text styles&#13;&#10;Second level&#13;&#10;Third level&#13;&#10;Fourth level&#13;&#10;Fifth level"/>
          <p:cNvSpPr/>
          <p:nvPr/>
        </p:nvSpPr>
        <p:spPr>
          <a:xfrm>
            <a:off x="304800" y="685800"/>
            <a:ext cx="8534400" cy="5715000"/>
          </a:xfrm>
          <a:prstGeom prst="rect">
            <a:avLst/>
          </a:prstGeom>
          <a:noFill/>
          <a:ln w="9525">
            <a:noFill/>
          </a:ln>
        </p:spPr>
        <p:txBody>
          <a:bodyPr/>
          <a:p>
            <a:pPr marL="287655" lvl="1" indent="-173355" defTabSz="914400" eaLnBrk="1" hangingPunct="1">
              <a:spcBef>
                <a:spcPct val="20000"/>
              </a:spcBef>
              <a:buClr>
                <a:schemeClr val="bg2"/>
              </a:buClr>
              <a:buSzPct val="80000"/>
              <a:buFont typeface="Wingdings" panose="05000000000000000000" pitchFamily="2" charset="2"/>
              <a:buChar char="§"/>
              <a:tabLst>
                <a:tab pos="287655" algn="l"/>
              </a:tabLst>
            </a:pPr>
            <a:r>
              <a:rPr sz="2000" dirty="0">
                <a:latin typeface="Times New Roman" panose="02020603050405020304" pitchFamily="18" charset="0"/>
              </a:rPr>
              <a:t>The Semaphores are a </a:t>
            </a:r>
            <a:r>
              <a:rPr sz="2000" b="1" dirty="0">
                <a:latin typeface="Times New Roman" panose="02020603050405020304" pitchFamily="18" charset="0"/>
              </a:rPr>
              <a:t>solution</a:t>
            </a:r>
            <a:r>
              <a:rPr sz="2000" dirty="0">
                <a:latin typeface="Times New Roman" panose="02020603050405020304" pitchFamily="18" charset="0"/>
              </a:rPr>
              <a:t> to the Critical Section Problem.</a:t>
            </a:r>
            <a:endParaRPr sz="2000" dirty="0">
              <a:latin typeface="Times New Roman" panose="02020603050405020304" pitchFamily="18" charset="0"/>
            </a:endParaRPr>
          </a:p>
          <a:p>
            <a:pPr marL="287655" lvl="1" indent="-173355" defTabSz="914400" eaLnBrk="1" hangingPunct="1">
              <a:spcBef>
                <a:spcPct val="20000"/>
              </a:spcBef>
              <a:buClr>
                <a:schemeClr val="bg2"/>
              </a:buClr>
              <a:buSzPct val="80000"/>
              <a:buFont typeface="Wingdings" panose="05000000000000000000" pitchFamily="2" charset="2"/>
              <a:buChar char="§"/>
              <a:tabLst>
                <a:tab pos="287655" algn="l"/>
              </a:tabLst>
            </a:pPr>
            <a:r>
              <a:rPr sz="2000" dirty="0">
                <a:latin typeface="Times New Roman" panose="02020603050405020304" pitchFamily="18" charset="0"/>
              </a:rPr>
              <a:t>Help in making the Critical Section </a:t>
            </a:r>
            <a:r>
              <a:rPr sz="2000" b="1" dirty="0">
                <a:latin typeface="Times New Roman" panose="02020603050405020304" pitchFamily="18" charset="0"/>
              </a:rPr>
              <a:t>atomic</a:t>
            </a:r>
            <a:r>
              <a:rPr sz="2000" dirty="0">
                <a:latin typeface="Times New Roman" panose="02020603050405020304" pitchFamily="18" charset="0"/>
              </a:rPr>
              <a:t>.</a:t>
            </a:r>
            <a:endParaRPr sz="2000" dirty="0">
              <a:latin typeface="Times New Roman" panose="02020603050405020304" pitchFamily="18" charset="0"/>
            </a:endParaRPr>
          </a:p>
          <a:p>
            <a:pPr marL="287655" lvl="1" indent="-173355" defTabSz="914400" eaLnBrk="1" hangingPunct="1">
              <a:spcBef>
                <a:spcPct val="20000"/>
              </a:spcBef>
              <a:buClr>
                <a:schemeClr val="accent2"/>
              </a:buClr>
              <a:buSzPct val="80000"/>
              <a:buFont typeface="Wingdings" panose="05000000000000000000" pitchFamily="2" charset="2"/>
              <a:tabLst>
                <a:tab pos="287655" algn="l"/>
              </a:tabLst>
            </a:pPr>
            <a:r>
              <a:rPr sz="2000" b="1" dirty="0">
                <a:latin typeface="Times New Roman" panose="02020603050405020304" pitchFamily="18" charset="0"/>
              </a:rPr>
              <a:t> </a:t>
            </a:r>
            <a:endParaRPr sz="2000" b="1" dirty="0">
              <a:latin typeface="Times New Roman" panose="02020603050405020304" pitchFamily="18" charset="0"/>
            </a:endParaRPr>
          </a:p>
          <a:p>
            <a:pPr marL="287655" lvl="1" indent="-173355" defTabSz="914400" eaLnBrk="1" hangingPunct="1">
              <a:spcBef>
                <a:spcPct val="20000"/>
              </a:spcBef>
              <a:buClr>
                <a:schemeClr val="accent2"/>
              </a:buClr>
              <a:buSzPct val="80000"/>
              <a:buFont typeface="Wingdings" panose="05000000000000000000" pitchFamily="2" charset="2"/>
              <a:tabLst>
                <a:tab pos="287655" algn="l"/>
              </a:tabLst>
            </a:pPr>
            <a:r>
              <a:rPr sz="2000" b="1" dirty="0">
                <a:latin typeface="Times New Roman" panose="02020603050405020304" pitchFamily="18" charset="0"/>
              </a:rPr>
              <a:t>A semaphores is</a:t>
            </a:r>
            <a:r>
              <a:rPr sz="2000" dirty="0">
                <a:latin typeface="Times New Roman" panose="02020603050405020304" pitchFamily="18" charset="0"/>
              </a:rPr>
              <a:t>:</a:t>
            </a:r>
            <a:endParaRPr sz="2000" dirty="0">
              <a:latin typeface="Times New Roman" panose="02020603050405020304" pitchFamily="18" charset="0"/>
            </a:endParaRPr>
          </a:p>
          <a:p>
            <a:pPr marL="287655" lvl="1" indent="-173355" defTabSz="914400" eaLnBrk="1" hangingPunct="1">
              <a:spcBef>
                <a:spcPct val="20000"/>
              </a:spcBef>
              <a:buClr>
                <a:schemeClr val="bg2"/>
              </a:buClr>
              <a:buSzPct val="80000"/>
              <a:buFont typeface="Wingdings" panose="05000000000000000000" pitchFamily="2" charset="2"/>
              <a:buChar char="§"/>
              <a:tabLst>
                <a:tab pos="287655" algn="l"/>
              </a:tabLst>
            </a:pPr>
            <a:r>
              <a:rPr sz="2000" dirty="0">
                <a:latin typeface="Times New Roman" panose="02020603050405020304" pitchFamily="18" charset="0"/>
              </a:rPr>
              <a:t>a single integer variable S;</a:t>
            </a:r>
            <a:endParaRPr sz="2000" dirty="0">
              <a:latin typeface="Times New Roman" panose="02020603050405020304" pitchFamily="18" charset="0"/>
            </a:endParaRPr>
          </a:p>
          <a:p>
            <a:pPr marL="287655" lvl="1" indent="-173355" defTabSz="914400" eaLnBrk="1" hangingPunct="1">
              <a:spcBef>
                <a:spcPct val="20000"/>
              </a:spcBef>
              <a:buClr>
                <a:schemeClr val="bg2"/>
              </a:buClr>
              <a:buSzPct val="80000"/>
              <a:buFont typeface="Wingdings" panose="05000000000000000000" pitchFamily="2" charset="2"/>
              <a:buChar char="§"/>
              <a:tabLst>
                <a:tab pos="287655" algn="l"/>
              </a:tabLst>
            </a:pPr>
            <a:r>
              <a:rPr sz="2000" dirty="0">
                <a:latin typeface="Times New Roman" panose="02020603050405020304" pitchFamily="18" charset="0"/>
              </a:rPr>
              <a:t>accessed via two atomic operations:</a:t>
            </a:r>
            <a:endParaRPr sz="2000" dirty="0">
              <a:latin typeface="Times New Roman" panose="02020603050405020304" pitchFamily="18" charset="0"/>
            </a:endParaRPr>
          </a:p>
          <a:p>
            <a:pPr marL="636905" lvl="2" indent="-174625" defTabSz="914400" eaLnBrk="1" hangingPunct="1">
              <a:spcBef>
                <a:spcPct val="20000"/>
              </a:spcBef>
              <a:buClr>
                <a:schemeClr val="bg2"/>
              </a:buClr>
              <a:buSzPct val="65000"/>
              <a:buFont typeface="Wingdings" panose="05000000000000000000" pitchFamily="2" charset="2"/>
              <a:buChar char="§"/>
              <a:tabLst>
                <a:tab pos="287655" algn="l"/>
              </a:tabLst>
            </a:pPr>
            <a:r>
              <a:rPr sz="2000" b="1" dirty="0">
                <a:latin typeface="Times New Roman" panose="02020603050405020304" pitchFamily="18" charset="0"/>
              </a:rPr>
              <a:t>WAIT</a:t>
            </a:r>
            <a:r>
              <a:rPr sz="2000" dirty="0">
                <a:latin typeface="Times New Roman" panose="02020603050405020304" pitchFamily="18" charset="0"/>
              </a:rPr>
              <a:t> (sometimes denoted by </a:t>
            </a:r>
            <a:r>
              <a:rPr sz="2000" b="1" dirty="0">
                <a:solidFill>
                  <a:srgbClr val="C72105"/>
                </a:solidFill>
                <a:latin typeface="Times New Roman" panose="02020603050405020304" pitchFamily="18" charset="0"/>
              </a:rPr>
              <a:t>P</a:t>
            </a:r>
            <a:r>
              <a:rPr sz="2000" dirty="0">
                <a:latin typeface="Times New Roman" panose="02020603050405020304" pitchFamily="18" charset="0"/>
              </a:rPr>
              <a:t>)</a:t>
            </a:r>
            <a:endParaRPr sz="2000" dirty="0">
              <a:latin typeface="Times New Roman" panose="02020603050405020304" pitchFamily="18" charset="0"/>
            </a:endParaRPr>
          </a:p>
          <a:p>
            <a:pPr marL="636905" lvl="2" indent="-174625" defTabSz="914400" eaLnBrk="1" hangingPunct="1">
              <a:spcBef>
                <a:spcPct val="20000"/>
              </a:spcBef>
              <a:buClr>
                <a:schemeClr val="bg2"/>
              </a:buClr>
              <a:buSzPct val="65000"/>
              <a:buFont typeface="Wingdings" panose="05000000000000000000" pitchFamily="2" charset="2"/>
              <a:tabLst>
                <a:tab pos="287655" algn="l"/>
              </a:tabLst>
            </a:pPr>
            <a:r>
              <a:rPr sz="2000" b="1" i="1" dirty="0">
                <a:latin typeface="Times New Roman" panose="02020603050405020304" pitchFamily="18" charset="0"/>
              </a:rPr>
              <a:t>	while S &lt;= 0 do wait();</a:t>
            </a:r>
            <a:endParaRPr sz="2000" b="1" i="1" dirty="0">
              <a:latin typeface="Times New Roman" panose="02020603050405020304" pitchFamily="18" charset="0"/>
            </a:endParaRPr>
          </a:p>
          <a:p>
            <a:pPr marL="636905" lvl="2" indent="-174625" defTabSz="914400" eaLnBrk="1" hangingPunct="1">
              <a:spcBef>
                <a:spcPct val="20000"/>
              </a:spcBef>
              <a:buClr>
                <a:schemeClr val="bg2"/>
              </a:buClr>
              <a:buSzPct val="65000"/>
              <a:buFont typeface="Wingdings" panose="05000000000000000000" pitchFamily="2" charset="2"/>
              <a:tabLst>
                <a:tab pos="287655" algn="l"/>
              </a:tabLst>
            </a:pPr>
            <a:r>
              <a:rPr sz="2000" b="1" i="1" dirty="0">
                <a:latin typeface="Times New Roman" panose="02020603050405020304" pitchFamily="18" charset="0"/>
              </a:rPr>
              <a:t>	S := S-1;</a:t>
            </a:r>
            <a:endParaRPr sz="2000" b="1" i="1" dirty="0">
              <a:latin typeface="Times New Roman" panose="02020603050405020304" pitchFamily="18" charset="0"/>
            </a:endParaRPr>
          </a:p>
          <a:p>
            <a:pPr marL="636905" lvl="2" indent="-174625" defTabSz="914400" eaLnBrk="1" hangingPunct="1">
              <a:spcBef>
                <a:spcPct val="20000"/>
              </a:spcBef>
              <a:buClr>
                <a:schemeClr val="bg2"/>
              </a:buClr>
              <a:buSzPct val="65000"/>
              <a:buFont typeface="Wingdings" panose="05000000000000000000" pitchFamily="2" charset="2"/>
              <a:buChar char="§"/>
              <a:tabLst>
                <a:tab pos="287655" algn="l"/>
              </a:tabLst>
            </a:pPr>
            <a:r>
              <a:rPr sz="2000" b="1" dirty="0">
                <a:latin typeface="Times New Roman" panose="02020603050405020304" pitchFamily="18" charset="0"/>
              </a:rPr>
              <a:t>SIGNAL</a:t>
            </a:r>
            <a:r>
              <a:rPr sz="2000" dirty="0">
                <a:latin typeface="Times New Roman" panose="02020603050405020304" pitchFamily="18" charset="0"/>
              </a:rPr>
              <a:t> (sometimes denoted by </a:t>
            </a:r>
            <a:r>
              <a:rPr sz="2000" b="1" dirty="0">
                <a:solidFill>
                  <a:srgbClr val="C72105"/>
                </a:solidFill>
                <a:latin typeface="Times New Roman" panose="02020603050405020304" pitchFamily="18" charset="0"/>
              </a:rPr>
              <a:t>V</a:t>
            </a:r>
            <a:r>
              <a:rPr sz="2000" dirty="0">
                <a:latin typeface="Times New Roman" panose="02020603050405020304" pitchFamily="18" charset="0"/>
              </a:rPr>
              <a:t>)</a:t>
            </a:r>
            <a:endParaRPr sz="2000" dirty="0">
              <a:latin typeface="Times New Roman" panose="02020603050405020304" pitchFamily="18" charset="0"/>
            </a:endParaRPr>
          </a:p>
          <a:p>
            <a:pPr marL="636905" lvl="2" indent="-174625" defTabSz="914400" eaLnBrk="1" hangingPunct="1">
              <a:spcBef>
                <a:spcPct val="20000"/>
              </a:spcBef>
              <a:buClr>
                <a:schemeClr val="bg2"/>
              </a:buClr>
              <a:buSzPct val="65000"/>
              <a:buFont typeface="Wingdings" panose="05000000000000000000" pitchFamily="2" charset="2"/>
              <a:tabLst>
                <a:tab pos="287655" algn="l"/>
              </a:tabLst>
            </a:pPr>
            <a:r>
              <a:rPr sz="2000" dirty="0">
                <a:latin typeface="Times New Roman" panose="02020603050405020304" pitchFamily="18" charset="0"/>
              </a:rPr>
              <a:t>	</a:t>
            </a:r>
            <a:r>
              <a:rPr sz="2000" b="1" i="1" dirty="0">
                <a:latin typeface="Times New Roman" panose="02020603050405020304" pitchFamily="18" charset="0"/>
              </a:rPr>
              <a:t>S := S+1;</a:t>
            </a:r>
            <a:endParaRPr sz="2000" b="1" i="1" dirty="0">
              <a:latin typeface="Times New Roman" panose="02020603050405020304" pitchFamily="18" charset="0"/>
            </a:endParaRPr>
          </a:p>
          <a:p>
            <a:pPr marL="636905" lvl="2" indent="-174625" defTabSz="914400" eaLnBrk="1" hangingPunct="1">
              <a:spcBef>
                <a:spcPct val="20000"/>
              </a:spcBef>
              <a:buClr>
                <a:schemeClr val="bg2"/>
              </a:buClr>
              <a:buSzPct val="65000"/>
              <a:buFont typeface="Wingdings" panose="05000000000000000000" pitchFamily="2" charset="2"/>
              <a:buChar char="§"/>
              <a:tabLst>
                <a:tab pos="287655" algn="l"/>
              </a:tabLst>
            </a:pPr>
            <a:r>
              <a:rPr sz="2000" dirty="0">
                <a:latin typeface="Times New Roman" panose="02020603050405020304" pitchFamily="18" charset="0"/>
              </a:rPr>
              <a:t>wake up a waiting process (if any);</a:t>
            </a:r>
            <a:endParaRPr sz="2000" dirty="0">
              <a:latin typeface="Times New Roman" panose="02020603050405020304" pitchFamily="18" charset="0"/>
            </a:endParaRPr>
          </a:p>
          <a:p>
            <a:pPr marL="287655" lvl="1" indent="-173355" defTabSz="914400" eaLnBrk="1" hangingPunct="1">
              <a:spcBef>
                <a:spcPct val="20000"/>
              </a:spcBef>
              <a:buClr>
                <a:schemeClr val="bg2"/>
              </a:buClr>
              <a:buSzPct val="80000"/>
              <a:buFont typeface="Wingdings" panose="05000000000000000000" pitchFamily="2" charset="2"/>
              <a:buChar char="§"/>
              <a:tabLst>
                <a:tab pos="287655" algn="l"/>
              </a:tabLst>
            </a:pPr>
            <a:r>
              <a:rPr sz="2000" dirty="0">
                <a:latin typeface="Times New Roman" panose="02020603050405020304" pitchFamily="18" charset="0"/>
              </a:rPr>
              <a:t>WAITing processes cannot “lock out” a SIGNALing process.</a:t>
            </a:r>
            <a:endParaRPr sz="2000" dirty="0">
              <a:latin typeface="Times New Roman" panose="02020603050405020304" pitchFamily="18" charset="0"/>
            </a:endParaRPr>
          </a:p>
          <a:p>
            <a:pPr marL="287655" lvl="1" indent="-173355" defTabSz="914400" eaLnBrk="1" hangingPunct="1">
              <a:spcBef>
                <a:spcPct val="20000"/>
              </a:spcBef>
              <a:buClr>
                <a:schemeClr val="accent2"/>
              </a:buClr>
              <a:buSzPct val="80000"/>
              <a:buFont typeface="Wingdings" panose="05000000000000000000" pitchFamily="2" charset="2"/>
              <a:tabLst>
                <a:tab pos="287655" algn="l"/>
              </a:tabLst>
            </a:pPr>
            <a:endParaRPr sz="2000" dirty="0">
              <a:latin typeface="Times New Roman" panose="02020603050405020304" pitchFamily="18" charset="0"/>
            </a:endParaRPr>
          </a:p>
          <a:p>
            <a:pPr marL="287655" lvl="1" indent="-173355" defTabSz="914400" eaLnBrk="1" hangingPunct="1">
              <a:spcBef>
                <a:spcPct val="20000"/>
              </a:spcBef>
              <a:buClr>
                <a:schemeClr val="accent2"/>
              </a:buClr>
              <a:buSzPct val="80000"/>
              <a:buFont typeface="Wingdings" panose="05000000000000000000" pitchFamily="2" charset="2"/>
              <a:tabLst>
                <a:tab pos="287655" algn="l"/>
              </a:tabLst>
            </a:pPr>
            <a:r>
              <a:rPr sz="2000" b="1" dirty="0">
                <a:latin typeface="Times New Roman" panose="02020603050405020304" pitchFamily="18" charset="0"/>
              </a:rPr>
              <a:t>Binary semaphores</a:t>
            </a:r>
            <a:r>
              <a:rPr sz="2000" dirty="0">
                <a:latin typeface="Times New Roman" panose="02020603050405020304" pitchFamily="18" charset="0"/>
              </a:rPr>
              <a:t> - S is restricted to take on only the values 0 and 1.</a:t>
            </a:r>
            <a:endParaRPr sz="2000" dirty="0">
              <a:latin typeface="Times New Roman" panose="02020603050405020304" pitchFamily="18" charset="0"/>
            </a:endParaRPr>
          </a:p>
        </p:txBody>
      </p:sp>
      <p:sp>
        <p:nvSpPr>
          <p:cNvPr id="390148" name="Rectangle 4"/>
          <p:cNvSpPr>
            <a:spLocks noChangeArrowheads="1"/>
          </p:cNvSpPr>
          <p:nvPr/>
        </p:nvSpPr>
        <p:spPr bwMode="auto">
          <a:xfrm>
            <a:off x="4953000" y="2362200"/>
            <a:ext cx="3733800" cy="2362200"/>
          </a:xfrm>
          <a:prstGeom prst="rect">
            <a:avLst/>
          </a:prstGeom>
          <a:noFill/>
          <a:ln w="9525">
            <a:solidFill>
              <a:schemeClr val="tx1"/>
            </a:solidFill>
            <a:miter lim="800000"/>
          </a:ln>
          <a:effectLst/>
        </p:spPr>
        <p:txBody>
          <a:bodyPr anchor="ctr"/>
          <a:lstStyle/>
          <a:p>
            <a:pPr marL="457200" marR="0" lvl="1"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Mutual Exclusion Semaphore</a:t>
            </a:r>
            <a:endParaRPr kumimoji="0" lang="en-US" sz="18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457200" marR="0" lvl="1"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C72105"/>
              </a:solidFill>
              <a:effectLst/>
              <a:uLnTx/>
              <a:uFillTx/>
              <a:latin typeface="Times New Roman" panose="02020603050405020304" pitchFamily="18" charset="0"/>
              <a:ea typeface="+mn-ea"/>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CC00"/>
                </a:solidFill>
                <a:effectLst/>
                <a:uLnTx/>
                <a:uFillTx/>
                <a:latin typeface="Times New Roman" panose="02020603050405020304" pitchFamily="18" charset="0"/>
                <a:ea typeface="+mn-ea"/>
                <a:cs typeface="+mn-cs"/>
              </a:rPr>
              <a:t>//**** initially S = 1</a:t>
            </a:r>
            <a:endParaRPr kumimoji="0" lang="en-US" sz="1800" b="1" i="0" u="none" strike="noStrike" kern="1200" cap="none" spc="0" normalizeH="0" baseline="0" noProof="0">
              <a:ln>
                <a:noFill/>
              </a:ln>
              <a:solidFill>
                <a:srgbClr val="00CC00"/>
              </a:solidFill>
              <a:effectLst/>
              <a:uLnTx/>
              <a:uFillTx/>
              <a:latin typeface="Times New Roman" panose="02020603050405020304" pitchFamily="18" charset="0"/>
              <a:ea typeface="+mn-ea"/>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endParaRPr kumimoji="0" lang="en-US" sz="1800" b="1" i="0" u="none" strike="noStrike" kern="1200" cap="none" spc="0" normalizeH="0" baseline="0" noProof="0">
              <a:ln>
                <a:noFill/>
              </a:ln>
              <a:solidFill>
                <a:srgbClr val="00CC00"/>
              </a:solidFill>
              <a:effectLst/>
              <a:uLnTx/>
              <a:uFillTx/>
              <a:latin typeface="Times New Roman" panose="02020603050405020304" pitchFamily="18" charset="0"/>
              <a:ea typeface="+mn-ea"/>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P( S )  </a:t>
            </a:r>
            <a:r>
              <a:rPr kumimoji="0" lang="en-US" sz="1800" b="1" i="0" u="none" strike="noStrike" kern="1200" cap="none" spc="0" normalizeH="0" baseline="0" noProof="0">
                <a:ln>
                  <a:noFill/>
                </a:ln>
                <a:solidFill>
                  <a:srgbClr val="00CC00"/>
                </a:solidFill>
                <a:effectLst/>
                <a:uLnTx/>
                <a:uFillTx/>
                <a:latin typeface="Times New Roman" panose="02020603050405020304" pitchFamily="18" charset="0"/>
                <a:ea typeface="+mn-ea"/>
                <a:cs typeface="+mn-cs"/>
              </a:rPr>
              <a:t>//**** WAIT</a:t>
            </a:r>
            <a:endParaRPr kumimoji="0" lang="en-US" sz="1800" b="1" i="0" u="none" strike="noStrike" kern="1200" cap="none" spc="0" normalizeH="0" baseline="0" noProof="0">
              <a:ln>
                <a:noFill/>
              </a:ln>
              <a:solidFill>
                <a:srgbClr val="00CC00"/>
              </a:solidFill>
              <a:effectLst/>
              <a:uLnTx/>
              <a:uFillTx/>
              <a:latin typeface="Times New Roman" panose="02020603050405020304" pitchFamily="18" charset="0"/>
              <a:ea typeface="+mn-ea"/>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CRITICAL SECTION</a:t>
            </a:r>
            <a:endParaRPr kumimoji="0" lang="en-US" sz="18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V( S )  </a:t>
            </a:r>
            <a:r>
              <a:rPr kumimoji="0" lang="en-US" sz="1800" b="1" i="0" u="none" strike="noStrike" kern="1200" cap="none" spc="0" normalizeH="0" baseline="0" noProof="0">
                <a:ln>
                  <a:noFill/>
                </a:ln>
                <a:solidFill>
                  <a:srgbClr val="00CC00"/>
                </a:solidFill>
                <a:effectLst/>
                <a:uLnTx/>
                <a:uFillTx/>
                <a:latin typeface="Times New Roman" panose="02020603050405020304" pitchFamily="18" charset="0"/>
                <a:ea typeface="+mn-ea"/>
                <a:cs typeface="+mn-cs"/>
              </a:rPr>
              <a:t>//**** SIGNAL</a:t>
            </a:r>
            <a:endParaRPr kumimoji="0" lang="en-US" sz="1800" b="1" i="0" u="none" strike="noStrike" kern="1200" cap="none" spc="0" normalizeH="0" baseline="0" noProof="0">
              <a:ln>
                <a:noFill/>
              </a:ln>
              <a:solidFill>
                <a:srgbClr val="00CC00"/>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bg-BG" sz="18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90148"/>
                                        </p:tgtEl>
                                        <p:attrNameLst>
                                          <p:attrName>style.visibility</p:attrName>
                                        </p:attrNameLst>
                                      </p:cBhvr>
                                      <p:to>
                                        <p:strVal val="visible"/>
                                      </p:to>
                                    </p:set>
                                    <p:anim calcmode="lin" valueType="num">
                                      <p:cBhvr>
                                        <p:cTn id="7" dur="500" fill="hold"/>
                                        <p:tgtEl>
                                          <p:spTgt spid="390148"/>
                                        </p:tgtEl>
                                        <p:attrNameLst>
                                          <p:attrName>ppt_w</p:attrName>
                                        </p:attrNameLst>
                                      </p:cBhvr>
                                      <p:tavLst>
                                        <p:tav tm="0">
                                          <p:val>
                                            <p:fltVal val="0.000000"/>
                                          </p:val>
                                        </p:tav>
                                        <p:tav tm="100000">
                                          <p:val>
                                            <p:strVal val="#ppt_w"/>
                                          </p:val>
                                        </p:tav>
                                      </p:tavLst>
                                    </p:anim>
                                    <p:anim calcmode="lin" valueType="num">
                                      <p:cBhvr>
                                        <p:cTn id="8" dur="500" fill="hold"/>
                                        <p:tgtEl>
                                          <p:spTgt spid="39014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26627"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26628" name="Rectangle 2"/>
          <p:cNvSpPr>
            <a:spLocks noGrp="1"/>
          </p:cNvSpPr>
          <p:nvPr>
            <p:ph type="title" idx="4294967295"/>
          </p:nvPr>
        </p:nvSpPr>
        <p:spPr>
          <a:xfrm>
            <a:off x="685800" y="76200"/>
            <a:ext cx="7772400" cy="381000"/>
          </a:xfrm>
          <a:ln/>
        </p:spPr>
        <p:txBody>
          <a:bodyPr vert="horz" wrap="square" lIns="91440" tIns="45720" rIns="91440" bIns="45720" anchor="ctr" anchorCtr="0"/>
          <a:p>
            <a:pPr eaLnBrk="1" hangingPunct="1"/>
            <a:r>
              <a:rPr sz="2800" dirty="0">
                <a:solidFill>
                  <a:srgbClr val="FF9900"/>
                </a:solidFill>
              </a:rPr>
              <a:t>Topic</a:t>
            </a:r>
            <a:r>
              <a:rPr lang="bg-BG" altLang="x-none" sz="2800" dirty="0">
                <a:solidFill>
                  <a:srgbClr val="FF9900"/>
                </a:solidFill>
              </a:rPr>
              <a:t> </a:t>
            </a:r>
            <a:endParaRPr lang="en-CA" altLang="x-none" sz="2800" dirty="0">
              <a:solidFill>
                <a:srgbClr val="FF9900"/>
              </a:solidFill>
            </a:endParaRPr>
          </a:p>
        </p:txBody>
      </p:sp>
      <p:sp>
        <p:nvSpPr>
          <p:cNvPr id="328707" name="Rectangle 3"/>
          <p:cNvSpPr>
            <a:spLocks noChangeArrowheads="1"/>
          </p:cNvSpPr>
          <p:nvPr/>
        </p:nvSpPr>
        <p:spPr bwMode="auto">
          <a:xfrm>
            <a:off x="304800" y="685800"/>
            <a:ext cx="8534400" cy="5486400"/>
          </a:xfrm>
          <a:prstGeom prst="rect">
            <a:avLst/>
          </a:prstGeom>
          <a:noFill/>
          <a:ln w="9525">
            <a:noFill/>
            <a:miter lim="800000"/>
          </a:ln>
          <a:effectLst/>
        </p:spPr>
        <p:txBody>
          <a:bodyPr/>
          <a:lstStyle/>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sz="36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Multithreading with Java</a:t>
            </a:r>
            <a:endParaRPr kumimoji="0" lang="en-US" sz="36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27651"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27652"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Threads in Java</a:t>
            </a:r>
            <a:endParaRPr lang="en-CA" altLang="x-none" sz="2800" dirty="0">
              <a:solidFill>
                <a:srgbClr val="FF9900"/>
              </a:solidFill>
              <a:ea typeface="Times New Roman" panose="02020603050405020304" pitchFamily="18" charset="0"/>
            </a:endParaRPr>
          </a:p>
        </p:txBody>
      </p:sp>
      <p:sp>
        <p:nvSpPr>
          <p:cNvPr id="27653" name="Rectangle 3" descr="Rectangle: Click to edit Master text styles&#13;&#10;Second level&#13;&#10;Third level&#13;&#10;Fourth level&#13;&#10;Fifth level"/>
          <p:cNvSpPr/>
          <p:nvPr/>
        </p:nvSpPr>
        <p:spPr>
          <a:xfrm>
            <a:off x="304800" y="685800"/>
            <a:ext cx="8534400" cy="5638800"/>
          </a:xfrm>
          <a:prstGeom prst="rect">
            <a:avLst/>
          </a:prstGeom>
          <a:noFill/>
          <a:ln w="9525">
            <a:noFill/>
          </a:ln>
        </p:spPr>
        <p:txBody>
          <a:bodyPr/>
          <a:p>
            <a:pPr marL="339725" indent="-339725"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There are two ways to create a java thread:</a:t>
            </a:r>
            <a:endParaRPr sz="2000" dirty="0">
              <a:latin typeface="Times New Roman" panose="02020603050405020304" pitchFamily="18" charset="0"/>
            </a:endParaRPr>
          </a:p>
          <a:p>
            <a:pPr marL="742950" lvl="1" indent="-285750" algn="just" eaLnBrk="1" hangingPunct="1">
              <a:spcBef>
                <a:spcPct val="20000"/>
              </a:spcBef>
              <a:buClr>
                <a:schemeClr val="accent2"/>
              </a:buClr>
              <a:buSzPct val="80000"/>
              <a:buFont typeface="Wingdings" panose="05000000000000000000" pitchFamily="2" charset="2"/>
              <a:buChar char="§"/>
            </a:pPr>
            <a:r>
              <a:rPr sz="2000" dirty="0">
                <a:latin typeface="Times New Roman" panose="02020603050405020304" pitchFamily="18" charset="0"/>
              </a:rPr>
              <a:t>By extending the </a:t>
            </a:r>
            <a:r>
              <a:rPr sz="2000" b="1" dirty="0">
                <a:latin typeface="Times New Roman" panose="02020603050405020304" pitchFamily="18" charset="0"/>
              </a:rPr>
              <a:t>java.lang.Thread</a:t>
            </a:r>
            <a:r>
              <a:rPr sz="2000" dirty="0">
                <a:latin typeface="Times New Roman" panose="02020603050405020304" pitchFamily="18" charset="0"/>
              </a:rPr>
              <a:t> class.</a:t>
            </a:r>
            <a:endParaRPr sz="2000" dirty="0">
              <a:latin typeface="Times New Roman" panose="02020603050405020304" pitchFamily="18" charset="0"/>
            </a:endParaRPr>
          </a:p>
          <a:p>
            <a:pPr marL="742950" lvl="1" indent="-285750" algn="just" eaLnBrk="1" hangingPunct="1">
              <a:spcBef>
                <a:spcPct val="20000"/>
              </a:spcBef>
              <a:buClr>
                <a:schemeClr val="accent2"/>
              </a:buClr>
              <a:buSzPct val="80000"/>
              <a:buFont typeface="Wingdings" panose="05000000000000000000" pitchFamily="2" charset="2"/>
              <a:buChar char="§"/>
            </a:pPr>
            <a:r>
              <a:rPr sz="2000" dirty="0">
                <a:latin typeface="Times New Roman" panose="02020603050405020304" pitchFamily="18" charset="0"/>
              </a:rPr>
              <a:t>By implementing the </a:t>
            </a:r>
            <a:r>
              <a:rPr sz="2000" b="1" dirty="0">
                <a:latin typeface="Times New Roman" panose="02020603050405020304" pitchFamily="18" charset="0"/>
              </a:rPr>
              <a:t>java.lang.Runnable</a:t>
            </a:r>
            <a:r>
              <a:rPr sz="2000" dirty="0">
                <a:latin typeface="Times New Roman" panose="02020603050405020304" pitchFamily="18" charset="0"/>
              </a:rPr>
              <a:t> interface.</a:t>
            </a:r>
            <a:endParaRPr sz="20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The </a:t>
            </a:r>
            <a:r>
              <a:rPr sz="2000" b="1" i="1" dirty="0">
                <a:latin typeface="Times New Roman" panose="02020603050405020304" pitchFamily="18" charset="0"/>
              </a:rPr>
              <a:t>run()</a:t>
            </a:r>
            <a:r>
              <a:rPr sz="2000" dirty="0">
                <a:latin typeface="Times New Roman" panose="02020603050405020304" pitchFamily="18" charset="0"/>
              </a:rPr>
              <a:t> method is where the action of a thread takes place.</a:t>
            </a:r>
            <a:endParaRPr sz="20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The execution of a thread starts by calling its </a:t>
            </a:r>
            <a:r>
              <a:rPr sz="2000" b="1" i="1" dirty="0">
                <a:latin typeface="Times New Roman" panose="02020603050405020304" pitchFamily="18" charset="0"/>
              </a:rPr>
              <a:t>start()</a:t>
            </a:r>
            <a:r>
              <a:rPr sz="2000" dirty="0">
                <a:latin typeface="Times New Roman" panose="02020603050405020304" pitchFamily="18" charset="0"/>
              </a:rPr>
              <a:t> method.</a:t>
            </a:r>
            <a:endParaRPr sz="20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pPr>
            <a:r>
              <a:rPr b="1" i="1" dirty="0">
                <a:latin typeface="Times New Roman" panose="02020603050405020304" pitchFamily="18" charset="0"/>
              </a:rPr>
              <a:t>class PrimeThread </a:t>
            </a:r>
            <a:r>
              <a:rPr b="1" i="1" dirty="0">
                <a:solidFill>
                  <a:srgbClr val="C72105"/>
                </a:solidFill>
                <a:latin typeface="Times New Roman" panose="02020603050405020304" pitchFamily="18" charset="0"/>
              </a:rPr>
              <a:t>extends</a:t>
            </a:r>
            <a:r>
              <a:rPr b="1" i="1" dirty="0">
                <a:latin typeface="Times New Roman" panose="02020603050405020304" pitchFamily="18" charset="0"/>
              </a:rPr>
              <a:t> Thread { </a:t>
            </a:r>
            <a:endParaRPr b="1" i="1"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pPr>
            <a:r>
              <a:rPr b="1" i="1" dirty="0">
                <a:latin typeface="Times New Roman" panose="02020603050405020304" pitchFamily="18" charset="0"/>
              </a:rPr>
              <a:t>	long minPrime; </a:t>
            </a:r>
            <a:endParaRPr b="1" i="1"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pPr>
            <a:r>
              <a:rPr b="1" i="1" dirty="0">
                <a:latin typeface="Times New Roman" panose="02020603050405020304" pitchFamily="18" charset="0"/>
              </a:rPr>
              <a:t>	PrimeThread(long minPrime) { </a:t>
            </a:r>
            <a:endParaRPr b="1" i="1"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pPr>
            <a:r>
              <a:rPr b="1" i="1" dirty="0">
                <a:latin typeface="Times New Roman" panose="02020603050405020304" pitchFamily="18" charset="0"/>
              </a:rPr>
              <a:t>		this.minPrime = minPrime; } </a:t>
            </a:r>
            <a:endParaRPr b="1" i="1"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pPr>
            <a:r>
              <a:rPr b="1" i="1" dirty="0">
                <a:latin typeface="Times New Roman" panose="02020603050405020304" pitchFamily="18" charset="0"/>
              </a:rPr>
              <a:t>	public void </a:t>
            </a:r>
            <a:r>
              <a:rPr b="1" i="1" dirty="0">
                <a:solidFill>
                  <a:srgbClr val="C72105"/>
                </a:solidFill>
                <a:latin typeface="Times New Roman" panose="02020603050405020304" pitchFamily="18" charset="0"/>
              </a:rPr>
              <a:t>run</a:t>
            </a:r>
            <a:r>
              <a:rPr b="1" i="1" dirty="0">
                <a:latin typeface="Times New Roman" panose="02020603050405020304" pitchFamily="18" charset="0"/>
              </a:rPr>
              <a:t>() { </a:t>
            </a:r>
            <a:endParaRPr b="1" i="1"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pPr>
            <a:r>
              <a:rPr b="1" i="1" dirty="0">
                <a:solidFill>
                  <a:srgbClr val="00CC00"/>
                </a:solidFill>
                <a:latin typeface="Times New Roman" panose="02020603050405020304" pitchFamily="18" charset="0"/>
              </a:rPr>
              <a:t>// compute primes larger than minPrime  . . . </a:t>
            </a:r>
            <a:endParaRPr b="1" i="1" dirty="0">
              <a:solidFill>
                <a:srgbClr val="00CC00"/>
              </a:solidFill>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pPr>
            <a:r>
              <a:rPr b="1" i="1" dirty="0">
                <a:latin typeface="Times New Roman" panose="02020603050405020304" pitchFamily="18" charset="0"/>
              </a:rPr>
              <a:t>	}</a:t>
            </a:r>
            <a:endParaRPr b="1" i="1"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pPr>
            <a:r>
              <a:rPr b="1" i="1" dirty="0">
                <a:latin typeface="Times New Roman" panose="02020603050405020304" pitchFamily="18" charset="0"/>
              </a:rPr>
              <a:t>}</a:t>
            </a:r>
            <a:r>
              <a:rPr sz="2000" dirty="0">
                <a:latin typeface="Times New Roman" panose="02020603050405020304" pitchFamily="18" charset="0"/>
              </a:rPr>
              <a:t> </a:t>
            </a:r>
            <a:endParaRPr sz="2000" dirty="0">
              <a:latin typeface="Times New Roman" panose="02020603050405020304" pitchFamily="18" charset="0"/>
            </a:endParaRPr>
          </a:p>
          <a:p>
            <a:pPr marL="339725" indent="-339725">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The following code would then create a thread and start it running: </a:t>
            </a:r>
            <a:endParaRPr sz="2000" dirty="0">
              <a:latin typeface="Times New Roman" panose="02020603050405020304" pitchFamily="18" charset="0"/>
            </a:endParaRPr>
          </a:p>
          <a:p>
            <a:pPr marL="339725" indent="-339725">
              <a:spcBef>
                <a:spcPct val="20000"/>
              </a:spcBef>
              <a:buClr>
                <a:schemeClr val="bg2"/>
              </a:buClr>
              <a:buSzPct val="75000"/>
              <a:buFont typeface="Wingdings" panose="05000000000000000000" pitchFamily="2" charset="2"/>
            </a:pPr>
            <a:r>
              <a:rPr sz="2000" b="1" i="1" dirty="0">
                <a:latin typeface="Times New Roman" panose="02020603050405020304" pitchFamily="18" charset="0"/>
              </a:rPr>
              <a:t>PrimeThread p = new PrimeThread(143); </a:t>
            </a:r>
            <a:endParaRPr sz="2000" b="1" i="1" dirty="0">
              <a:latin typeface="Times New Roman" panose="02020603050405020304" pitchFamily="18" charset="0"/>
            </a:endParaRPr>
          </a:p>
          <a:p>
            <a:pPr marL="339725" indent="-339725">
              <a:spcBef>
                <a:spcPct val="20000"/>
              </a:spcBef>
              <a:buClr>
                <a:schemeClr val="bg2"/>
              </a:buClr>
              <a:buSzPct val="75000"/>
              <a:buFont typeface="Wingdings" panose="05000000000000000000" pitchFamily="2" charset="2"/>
            </a:pPr>
            <a:r>
              <a:rPr sz="2000" b="1" i="1" dirty="0">
                <a:latin typeface="Times New Roman" panose="02020603050405020304" pitchFamily="18" charset="0"/>
              </a:rPr>
              <a:t>p.start();</a:t>
            </a:r>
            <a:r>
              <a:rPr sz="2000" dirty="0">
                <a:latin typeface="Times New Roman" panose="02020603050405020304" pitchFamily="18" charset="0"/>
              </a:rPr>
              <a:t> </a:t>
            </a:r>
            <a:endParaRPr sz="2000" dirty="0">
              <a:latin typeface="Times New Roman" panose="02020603050405020304" pitchFamily="18"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28675"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28676"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Implementing the Runnable Interface</a:t>
            </a:r>
            <a:endParaRPr lang="en-CA" altLang="x-none" sz="2800" dirty="0">
              <a:solidFill>
                <a:srgbClr val="FF9900"/>
              </a:solidFill>
              <a:ea typeface="Times New Roman" panose="02020603050405020304" pitchFamily="18" charset="0"/>
            </a:endParaRPr>
          </a:p>
        </p:txBody>
      </p:sp>
      <p:sp>
        <p:nvSpPr>
          <p:cNvPr id="28677" name="Rectangle 3" descr="Rectangle: Click to edit Master text styles&#13;&#10;Second level&#13;&#10;Third level&#13;&#10;Fourth level&#13;&#10;Fifth level"/>
          <p:cNvSpPr/>
          <p:nvPr/>
        </p:nvSpPr>
        <p:spPr>
          <a:xfrm>
            <a:off x="304800" y="685800"/>
            <a:ext cx="8534400" cy="2590800"/>
          </a:xfrm>
          <a:prstGeom prst="rect">
            <a:avLst/>
          </a:prstGeom>
          <a:noFill/>
          <a:ln w="9525">
            <a:noFill/>
          </a:ln>
        </p:spPr>
        <p:txBody>
          <a:bodyPr/>
          <a:p>
            <a:pPr marL="339725" indent="-339725"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In order to create a new thread we may also provide a class that implements the </a:t>
            </a:r>
            <a:r>
              <a:rPr sz="2000" b="1" dirty="0">
                <a:latin typeface="Times New Roman" panose="02020603050405020304" pitchFamily="18" charset="0"/>
              </a:rPr>
              <a:t>java.lang.Runnable</a:t>
            </a:r>
            <a:r>
              <a:rPr sz="2000" dirty="0">
                <a:latin typeface="Times New Roman" panose="02020603050405020304" pitchFamily="18" charset="0"/>
              </a:rPr>
              <a:t> interface.</a:t>
            </a:r>
            <a:endParaRPr sz="2000" dirty="0">
              <a:latin typeface="Times New Roman" panose="02020603050405020304" pitchFamily="18" charset="0"/>
            </a:endParaRPr>
          </a:p>
          <a:p>
            <a:pPr marL="339725" indent="-339725">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Preferred way in case our class has to subclass some other class.</a:t>
            </a:r>
            <a:endParaRPr sz="2000" dirty="0">
              <a:latin typeface="Times New Roman" panose="02020603050405020304" pitchFamily="18" charset="0"/>
            </a:endParaRPr>
          </a:p>
          <a:p>
            <a:pPr marL="339725" indent="-339725">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A Runnable object can be wrapped up into a Thread object:</a:t>
            </a:r>
            <a:endParaRPr sz="2000" dirty="0">
              <a:latin typeface="Times New Roman" panose="02020603050405020304" pitchFamily="18" charset="0"/>
            </a:endParaRPr>
          </a:p>
          <a:p>
            <a:pPr marL="742950" lvl="1" indent="-285750" eaLnBrk="1" hangingPunct="1">
              <a:spcBef>
                <a:spcPct val="20000"/>
              </a:spcBef>
              <a:buClr>
                <a:schemeClr val="accent2"/>
              </a:buClr>
              <a:buSzPct val="80000"/>
              <a:buFont typeface="Wingdings" panose="05000000000000000000" pitchFamily="2" charset="2"/>
              <a:buChar char="§"/>
            </a:pPr>
            <a:r>
              <a:rPr b="1" dirty="0">
                <a:latin typeface="Times New Roman" panose="02020603050405020304" pitchFamily="18" charset="0"/>
              </a:rPr>
              <a:t>Thread</a:t>
            </a:r>
            <a:r>
              <a:rPr dirty="0">
                <a:latin typeface="Times New Roman" panose="02020603050405020304" pitchFamily="18" charset="0"/>
              </a:rPr>
              <a:t>(Runnable target)</a:t>
            </a:r>
            <a:endParaRPr dirty="0">
              <a:latin typeface="Times New Roman" panose="02020603050405020304" pitchFamily="18" charset="0"/>
            </a:endParaRPr>
          </a:p>
          <a:p>
            <a:pPr marL="742950" lvl="1" indent="-285750" eaLnBrk="1" hangingPunct="1">
              <a:spcBef>
                <a:spcPct val="20000"/>
              </a:spcBef>
              <a:buClr>
                <a:schemeClr val="accent2"/>
              </a:buClr>
              <a:buSzPct val="80000"/>
              <a:buFont typeface="Wingdings" panose="05000000000000000000" pitchFamily="2" charset="2"/>
              <a:buChar char="§"/>
            </a:pPr>
            <a:r>
              <a:rPr b="1" dirty="0">
                <a:latin typeface="Times New Roman" panose="02020603050405020304" pitchFamily="18" charset="0"/>
              </a:rPr>
              <a:t>Thread</a:t>
            </a:r>
            <a:r>
              <a:rPr dirty="0">
                <a:latin typeface="Times New Roman" panose="02020603050405020304" pitchFamily="18" charset="0"/>
              </a:rPr>
              <a:t>(Runnable target, String name)</a:t>
            </a:r>
            <a:endParaRPr dirty="0">
              <a:latin typeface="Times New Roman" panose="02020603050405020304" pitchFamily="18" charset="0"/>
            </a:endParaRPr>
          </a:p>
          <a:p>
            <a:pPr marL="339725" indent="-339725">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The thread’s logic is included inside the </a:t>
            </a:r>
            <a:r>
              <a:rPr sz="2000" b="1" dirty="0">
                <a:latin typeface="Times New Roman" panose="02020603050405020304" pitchFamily="18" charset="0"/>
              </a:rPr>
              <a:t>run()</a:t>
            </a:r>
            <a:r>
              <a:rPr sz="2000" dirty="0">
                <a:latin typeface="Times New Roman" panose="02020603050405020304" pitchFamily="18" charset="0"/>
              </a:rPr>
              <a:t> method of the </a:t>
            </a:r>
            <a:r>
              <a:rPr sz="2000" b="1" dirty="0">
                <a:latin typeface="Times New Roman" panose="02020603050405020304" pitchFamily="18" charset="0"/>
              </a:rPr>
              <a:t>runnable</a:t>
            </a:r>
            <a:r>
              <a:rPr sz="2000" dirty="0">
                <a:latin typeface="Times New Roman" panose="02020603050405020304" pitchFamily="18" charset="0"/>
              </a:rPr>
              <a:t> object.</a:t>
            </a:r>
            <a:endParaRPr sz="2000" dirty="0">
              <a:latin typeface="Times New Roman" panose="02020603050405020304" pitchFamily="18" charset="0"/>
            </a:endParaRPr>
          </a:p>
        </p:txBody>
      </p:sp>
      <p:sp>
        <p:nvSpPr>
          <p:cNvPr id="28678" name="Rectangle 4"/>
          <p:cNvSpPr/>
          <p:nvPr/>
        </p:nvSpPr>
        <p:spPr>
          <a:xfrm>
            <a:off x="228600" y="3505200"/>
            <a:ext cx="3124200" cy="2546350"/>
          </a:xfrm>
          <a:prstGeom prst="rect">
            <a:avLst/>
          </a:prstGeom>
          <a:noFill/>
          <a:ln w="9525" cap="flat" cmpd="sng">
            <a:solidFill>
              <a:schemeClr val="bg2"/>
            </a:solidFill>
            <a:prstDash val="solid"/>
            <a:miter/>
            <a:headEnd type="none" w="med" len="med"/>
            <a:tailEnd type="none" w="med" len="med"/>
          </a:ln>
        </p:spPr>
        <p:txBody>
          <a:bodyPr>
            <a:spAutoFit/>
          </a:bodyPr>
          <a:p>
            <a:r>
              <a:rPr lang="bg-BG" altLang="x-none" sz="1600" b="1" i="1" dirty="0">
                <a:latin typeface="Times New Roman" panose="02020603050405020304" pitchFamily="18" charset="0"/>
              </a:rPr>
              <a:t>class </a:t>
            </a:r>
            <a:r>
              <a:rPr sz="1600" b="1" i="1" dirty="0">
                <a:latin typeface="Times New Roman" panose="02020603050405020304" pitchFamily="18" charset="0"/>
              </a:rPr>
              <a:t>Ex</a:t>
            </a:r>
            <a:r>
              <a:rPr lang="bg-BG" altLang="x-none" sz="1600" b="1" i="1" dirty="0">
                <a:latin typeface="Times New Roman" panose="02020603050405020304" pitchFamily="18" charset="0"/>
              </a:rPr>
              <a:t>Class </a:t>
            </a:r>
            <a:endParaRPr sz="1600" b="1" i="1" dirty="0">
              <a:latin typeface="Times New Roman" panose="02020603050405020304" pitchFamily="18" charset="0"/>
            </a:endParaRPr>
          </a:p>
          <a:p>
            <a:r>
              <a:rPr sz="1600" b="1" i="1" dirty="0">
                <a:latin typeface="Times New Roman" panose="02020603050405020304" pitchFamily="18" charset="0"/>
              </a:rPr>
              <a:t>  extends ExSupClass </a:t>
            </a:r>
            <a:endParaRPr sz="1600" b="1" i="1" dirty="0">
              <a:latin typeface="Times New Roman" panose="02020603050405020304" pitchFamily="18" charset="0"/>
            </a:endParaRPr>
          </a:p>
          <a:p>
            <a:r>
              <a:rPr sz="1600" b="1" i="1" dirty="0">
                <a:latin typeface="Times New Roman" panose="02020603050405020304" pitchFamily="18" charset="0"/>
              </a:rPr>
              <a:t>  </a:t>
            </a:r>
            <a:r>
              <a:rPr lang="bg-BG" altLang="x-none" sz="1600" b="1" i="1" dirty="0">
                <a:latin typeface="Times New Roman" panose="02020603050405020304" pitchFamily="18" charset="0"/>
              </a:rPr>
              <a:t>implements </a:t>
            </a:r>
            <a:r>
              <a:rPr lang="bg-BG" altLang="x-none" sz="1600" b="1" i="1" dirty="0">
                <a:solidFill>
                  <a:srgbClr val="C72105"/>
                </a:solidFill>
                <a:latin typeface="Times New Roman" panose="02020603050405020304" pitchFamily="18" charset="0"/>
              </a:rPr>
              <a:t>Runnable</a:t>
            </a:r>
            <a:r>
              <a:rPr lang="bg-BG" altLang="x-none" sz="1600" b="1" i="1" dirty="0">
                <a:latin typeface="Times New Roman" panose="02020603050405020304" pitchFamily="18" charset="0"/>
              </a:rPr>
              <a:t> {</a:t>
            </a:r>
            <a:endParaRPr lang="bg-BG" altLang="x-none" sz="1600" b="1" i="1" dirty="0">
              <a:latin typeface="Times New Roman" panose="02020603050405020304" pitchFamily="18" charset="0"/>
            </a:endParaRPr>
          </a:p>
          <a:p>
            <a:pPr marL="228600" lvl="1" indent="0" eaLnBrk="1" hangingPunct="1"/>
            <a:r>
              <a:rPr sz="1600" b="1" i="1" dirty="0">
                <a:latin typeface="Times New Roman" panose="02020603050405020304" pitchFamily="18" charset="0"/>
              </a:rPr>
              <a:t>…</a:t>
            </a:r>
            <a:endParaRPr sz="1600" b="1" i="1" dirty="0">
              <a:latin typeface="Times New Roman" panose="02020603050405020304" pitchFamily="18" charset="0"/>
            </a:endParaRPr>
          </a:p>
          <a:p>
            <a:pPr marL="228600" lvl="1" indent="0" eaLnBrk="1" hangingPunct="1"/>
            <a:r>
              <a:rPr sz="1600" b="1" i="1" dirty="0">
                <a:latin typeface="Times New Roman" panose="02020603050405020304" pitchFamily="18" charset="0"/>
              </a:rPr>
              <a:t>public ExClass (String name) {</a:t>
            </a:r>
            <a:endParaRPr sz="1600" b="1" i="1" dirty="0">
              <a:latin typeface="Times New Roman" panose="02020603050405020304" pitchFamily="18" charset="0"/>
            </a:endParaRPr>
          </a:p>
          <a:p>
            <a:pPr marL="228600" lvl="1" indent="0" eaLnBrk="1" hangingPunct="1"/>
            <a:r>
              <a:rPr sz="1600" b="1" i="1" dirty="0">
                <a:latin typeface="Times New Roman" panose="02020603050405020304" pitchFamily="18" charset="0"/>
              </a:rPr>
              <a:t>}</a:t>
            </a:r>
            <a:endParaRPr sz="1600" b="1" i="1" dirty="0">
              <a:latin typeface="Times New Roman" panose="02020603050405020304" pitchFamily="18" charset="0"/>
            </a:endParaRPr>
          </a:p>
          <a:p>
            <a:pPr marL="228600" lvl="1" indent="0" eaLnBrk="1" hangingPunct="1"/>
            <a:r>
              <a:rPr lang="bg-BG" altLang="x-none" sz="1600" b="1" i="1" dirty="0">
                <a:latin typeface="Times New Roman" panose="02020603050405020304" pitchFamily="18" charset="0"/>
              </a:rPr>
              <a:t>public void </a:t>
            </a:r>
            <a:r>
              <a:rPr lang="bg-BG" altLang="x-none" sz="1600" b="1" i="1" dirty="0">
                <a:solidFill>
                  <a:srgbClr val="C72105"/>
                </a:solidFill>
                <a:latin typeface="Times New Roman" panose="02020603050405020304" pitchFamily="18" charset="0"/>
              </a:rPr>
              <a:t>run()</a:t>
            </a:r>
            <a:r>
              <a:rPr lang="bg-BG" altLang="x-none" sz="1600" b="1" i="1" dirty="0">
                <a:latin typeface="Times New Roman" panose="02020603050405020304" pitchFamily="18" charset="0"/>
              </a:rPr>
              <a:t> {</a:t>
            </a:r>
            <a:endParaRPr lang="bg-BG" altLang="x-none" sz="1600" b="1" i="1" dirty="0">
              <a:latin typeface="Times New Roman" panose="02020603050405020304" pitchFamily="18" charset="0"/>
            </a:endParaRPr>
          </a:p>
          <a:p>
            <a:pPr marL="228600" lvl="1" indent="0" eaLnBrk="1" hangingPunct="1"/>
            <a:r>
              <a:rPr sz="1600" b="1" i="1" dirty="0">
                <a:latin typeface="Times New Roman" panose="02020603050405020304" pitchFamily="18" charset="0"/>
              </a:rPr>
              <a:t>	…</a:t>
            </a:r>
            <a:endParaRPr lang="bg-BG" altLang="x-none" sz="1600" b="1" i="1" dirty="0">
              <a:latin typeface="Times New Roman" panose="02020603050405020304" pitchFamily="18" charset="0"/>
            </a:endParaRPr>
          </a:p>
          <a:p>
            <a:pPr marL="228600" lvl="1" indent="0" eaLnBrk="1" hangingPunct="1"/>
            <a:r>
              <a:rPr lang="bg-BG" altLang="x-none" sz="1600" b="1" i="1" dirty="0">
                <a:latin typeface="Times New Roman" panose="02020603050405020304" pitchFamily="18" charset="0"/>
              </a:rPr>
              <a:t>}</a:t>
            </a:r>
            <a:endParaRPr lang="bg-BG" altLang="x-none" sz="1600" b="1" i="1" dirty="0">
              <a:latin typeface="Times New Roman" panose="02020603050405020304" pitchFamily="18" charset="0"/>
            </a:endParaRPr>
          </a:p>
          <a:p>
            <a:r>
              <a:rPr lang="bg-BG" altLang="x-none" sz="1600" b="1" i="1" dirty="0">
                <a:latin typeface="Times New Roman" panose="02020603050405020304" pitchFamily="18" charset="0"/>
              </a:rPr>
              <a:t>}</a:t>
            </a:r>
            <a:endParaRPr lang="bg-BG" altLang="x-none" sz="1600" b="1" i="1" dirty="0">
              <a:latin typeface="Times New Roman" panose="02020603050405020304" pitchFamily="18" charset="0"/>
            </a:endParaRPr>
          </a:p>
        </p:txBody>
      </p:sp>
      <p:sp>
        <p:nvSpPr>
          <p:cNvPr id="28679" name="Rectangle 5"/>
          <p:cNvSpPr/>
          <p:nvPr/>
        </p:nvSpPr>
        <p:spPr>
          <a:xfrm>
            <a:off x="3505200" y="3505200"/>
            <a:ext cx="5410200" cy="2546350"/>
          </a:xfrm>
          <a:prstGeom prst="rect">
            <a:avLst/>
          </a:prstGeom>
          <a:noFill/>
          <a:ln w="9525" cap="flat" cmpd="sng">
            <a:solidFill>
              <a:schemeClr val="bg2"/>
            </a:solidFill>
            <a:prstDash val="solid"/>
            <a:miter/>
            <a:headEnd type="none" w="med" len="med"/>
            <a:tailEnd type="none" w="med" len="med"/>
          </a:ln>
        </p:spPr>
        <p:txBody>
          <a:bodyPr>
            <a:spAutoFit/>
          </a:bodyPr>
          <a:p>
            <a:r>
              <a:rPr lang="bg-BG" altLang="x-none" sz="1600" b="1" i="1" dirty="0">
                <a:latin typeface="Times New Roman" panose="02020603050405020304" pitchFamily="18" charset="0"/>
              </a:rPr>
              <a:t>class A {</a:t>
            </a:r>
            <a:endParaRPr sz="1600" b="1" i="1" dirty="0">
              <a:latin typeface="Times New Roman" panose="02020603050405020304" pitchFamily="18" charset="0"/>
            </a:endParaRPr>
          </a:p>
          <a:p>
            <a:pPr marL="228600" lvl="1" indent="0" eaLnBrk="1" hangingPunct="1"/>
            <a:r>
              <a:rPr sz="1600" b="1" i="1" dirty="0">
                <a:latin typeface="Times New Roman" panose="02020603050405020304" pitchFamily="18" charset="0"/>
              </a:rPr>
              <a:t>…</a:t>
            </a:r>
            <a:endParaRPr sz="1600" b="1" i="1" dirty="0">
              <a:latin typeface="Times New Roman" panose="02020603050405020304" pitchFamily="18" charset="0"/>
            </a:endParaRPr>
          </a:p>
          <a:p>
            <a:pPr marL="228600" lvl="1" indent="0" eaLnBrk="1" hangingPunct="1"/>
            <a:r>
              <a:rPr lang="bg-BG" altLang="x-none" sz="1600" b="1" i="1" dirty="0">
                <a:latin typeface="Times New Roman" panose="02020603050405020304" pitchFamily="18" charset="0"/>
              </a:rPr>
              <a:t>main(String[] args) {</a:t>
            </a:r>
            <a:endParaRPr lang="bg-BG" altLang="x-none" sz="1600" b="1" i="1" dirty="0">
              <a:latin typeface="Times New Roman" panose="02020603050405020304" pitchFamily="18" charset="0"/>
            </a:endParaRPr>
          </a:p>
          <a:p>
            <a:pPr marL="517525" lvl="2" indent="0" eaLnBrk="1" hangingPunct="1"/>
            <a:r>
              <a:rPr sz="1600" b="1" i="1" dirty="0">
                <a:latin typeface="Times New Roman" panose="02020603050405020304" pitchFamily="18" charset="0"/>
              </a:rPr>
              <a:t>…</a:t>
            </a:r>
            <a:endParaRPr sz="1600" b="1" i="1" dirty="0">
              <a:latin typeface="Times New Roman" panose="02020603050405020304" pitchFamily="18" charset="0"/>
            </a:endParaRPr>
          </a:p>
          <a:p>
            <a:pPr marL="517525" lvl="2" indent="0" eaLnBrk="1" hangingPunct="1"/>
            <a:r>
              <a:rPr lang="bg-BG" altLang="x-none" sz="1600" b="1" i="1" dirty="0">
                <a:solidFill>
                  <a:srgbClr val="C72105"/>
                </a:solidFill>
                <a:latin typeface="Times New Roman" panose="02020603050405020304" pitchFamily="18" charset="0"/>
              </a:rPr>
              <a:t>Thread mt1 =</a:t>
            </a:r>
            <a:r>
              <a:rPr lang="bg-BG" altLang="x-none" sz="1600" b="1" i="1" dirty="0">
                <a:latin typeface="Times New Roman" panose="02020603050405020304" pitchFamily="18" charset="0"/>
              </a:rPr>
              <a:t> </a:t>
            </a:r>
            <a:r>
              <a:rPr lang="bg-BG" altLang="x-none" sz="1600" b="1" i="1" dirty="0">
                <a:solidFill>
                  <a:srgbClr val="C72105"/>
                </a:solidFill>
                <a:latin typeface="Times New Roman" panose="02020603050405020304" pitchFamily="18" charset="0"/>
              </a:rPr>
              <a:t>new Thread(new</a:t>
            </a:r>
            <a:r>
              <a:rPr sz="1600" b="1" i="1" dirty="0">
                <a:solidFill>
                  <a:srgbClr val="C72105"/>
                </a:solidFill>
                <a:latin typeface="Times New Roman" panose="02020603050405020304" pitchFamily="18" charset="0"/>
              </a:rPr>
              <a:t> Ex</a:t>
            </a:r>
            <a:r>
              <a:rPr lang="bg-BG" altLang="x-none" sz="1600" b="1" i="1" dirty="0">
                <a:solidFill>
                  <a:srgbClr val="C72105"/>
                </a:solidFill>
                <a:latin typeface="Times New Roman" panose="02020603050405020304" pitchFamily="18" charset="0"/>
              </a:rPr>
              <a:t>Class("thread1</a:t>
            </a:r>
            <a:r>
              <a:rPr sz="1600" b="1" i="1" dirty="0">
                <a:solidFill>
                  <a:srgbClr val="C72105"/>
                </a:solidFill>
                <a:latin typeface="Times New Roman" panose="02020603050405020304" pitchFamily="18" charset="0"/>
              </a:rPr>
              <a:t>”</a:t>
            </a:r>
            <a:r>
              <a:rPr lang="bg-BG" altLang="x-none" sz="1600" b="1" i="1" dirty="0">
                <a:solidFill>
                  <a:srgbClr val="C72105"/>
                </a:solidFill>
                <a:latin typeface="Times New Roman" panose="02020603050405020304" pitchFamily="18" charset="0"/>
              </a:rPr>
              <a:t>)</a:t>
            </a:r>
            <a:r>
              <a:rPr sz="1600" b="1" i="1" dirty="0">
                <a:solidFill>
                  <a:srgbClr val="C72105"/>
                </a:solidFill>
                <a:latin typeface="Times New Roman" panose="02020603050405020304" pitchFamily="18" charset="0"/>
              </a:rPr>
              <a:t>)</a:t>
            </a:r>
            <a:r>
              <a:rPr lang="bg-BG" altLang="x-none" sz="1600" b="1" i="1" dirty="0">
                <a:solidFill>
                  <a:srgbClr val="C72105"/>
                </a:solidFill>
                <a:latin typeface="Times New Roman" panose="02020603050405020304" pitchFamily="18" charset="0"/>
              </a:rPr>
              <a:t>;</a:t>
            </a:r>
            <a:endParaRPr lang="bg-BG" altLang="x-none" sz="1600" b="1" i="1" dirty="0">
              <a:solidFill>
                <a:srgbClr val="C72105"/>
              </a:solidFill>
              <a:latin typeface="Times New Roman" panose="02020603050405020304" pitchFamily="18" charset="0"/>
            </a:endParaRPr>
          </a:p>
          <a:p>
            <a:pPr marL="517525" lvl="2" indent="0" eaLnBrk="1" hangingPunct="1"/>
            <a:r>
              <a:rPr lang="bg-BG" altLang="x-none" sz="1600" b="1" i="1" dirty="0">
                <a:solidFill>
                  <a:srgbClr val="C72105"/>
                </a:solidFill>
                <a:latin typeface="Times New Roman" panose="02020603050405020304" pitchFamily="18" charset="0"/>
              </a:rPr>
              <a:t>Thread mt2 = new Thread(new</a:t>
            </a:r>
            <a:r>
              <a:rPr sz="1600" b="1" i="1" dirty="0">
                <a:solidFill>
                  <a:srgbClr val="C72105"/>
                </a:solidFill>
                <a:latin typeface="Times New Roman" panose="02020603050405020304" pitchFamily="18" charset="0"/>
              </a:rPr>
              <a:t> Ex</a:t>
            </a:r>
            <a:r>
              <a:rPr lang="bg-BG" altLang="x-none" sz="1600" b="1" i="1" dirty="0">
                <a:solidFill>
                  <a:srgbClr val="C72105"/>
                </a:solidFill>
                <a:latin typeface="Times New Roman" panose="02020603050405020304" pitchFamily="18" charset="0"/>
              </a:rPr>
              <a:t>Class("thread</a:t>
            </a:r>
            <a:r>
              <a:rPr sz="1600" b="1" i="1" dirty="0">
                <a:solidFill>
                  <a:srgbClr val="C72105"/>
                </a:solidFill>
                <a:latin typeface="Times New Roman" panose="02020603050405020304" pitchFamily="18" charset="0"/>
              </a:rPr>
              <a:t>2”</a:t>
            </a:r>
            <a:r>
              <a:rPr lang="bg-BG" altLang="x-none" sz="1600" b="1" i="1" dirty="0">
                <a:solidFill>
                  <a:srgbClr val="C72105"/>
                </a:solidFill>
                <a:latin typeface="Times New Roman" panose="02020603050405020304" pitchFamily="18" charset="0"/>
              </a:rPr>
              <a:t>)</a:t>
            </a:r>
            <a:r>
              <a:rPr sz="1600" b="1" i="1" dirty="0">
                <a:solidFill>
                  <a:srgbClr val="C72105"/>
                </a:solidFill>
                <a:latin typeface="Times New Roman" panose="02020603050405020304" pitchFamily="18" charset="0"/>
              </a:rPr>
              <a:t>)</a:t>
            </a:r>
            <a:r>
              <a:rPr lang="bg-BG" altLang="x-none" sz="1600" b="1" i="1" dirty="0">
                <a:solidFill>
                  <a:srgbClr val="C72105"/>
                </a:solidFill>
                <a:latin typeface="Times New Roman" panose="02020603050405020304" pitchFamily="18" charset="0"/>
              </a:rPr>
              <a:t>;</a:t>
            </a:r>
            <a:endParaRPr lang="bg-BG" altLang="x-none" sz="1600" b="1" i="1" dirty="0">
              <a:solidFill>
                <a:srgbClr val="C72105"/>
              </a:solidFill>
              <a:latin typeface="Times New Roman" panose="02020603050405020304" pitchFamily="18" charset="0"/>
            </a:endParaRPr>
          </a:p>
          <a:p>
            <a:pPr marL="517525" lvl="2" indent="0" eaLnBrk="1" hangingPunct="1"/>
            <a:r>
              <a:rPr lang="bg-BG" altLang="x-none" sz="1600" b="1" i="1" dirty="0">
                <a:solidFill>
                  <a:srgbClr val="C72105"/>
                </a:solidFill>
                <a:latin typeface="Times New Roman" panose="02020603050405020304" pitchFamily="18" charset="0"/>
              </a:rPr>
              <a:t>mt1.start(); </a:t>
            </a:r>
            <a:endParaRPr sz="1600" b="1" i="1" dirty="0">
              <a:solidFill>
                <a:srgbClr val="C72105"/>
              </a:solidFill>
              <a:latin typeface="Times New Roman" panose="02020603050405020304" pitchFamily="18" charset="0"/>
            </a:endParaRPr>
          </a:p>
          <a:p>
            <a:pPr marL="517525" lvl="2" indent="0" eaLnBrk="1" hangingPunct="1"/>
            <a:r>
              <a:rPr lang="bg-BG" altLang="x-none" sz="1600" b="1" i="1" dirty="0">
                <a:solidFill>
                  <a:srgbClr val="C72105"/>
                </a:solidFill>
                <a:latin typeface="Times New Roman" panose="02020603050405020304" pitchFamily="18" charset="0"/>
              </a:rPr>
              <a:t>mt2.start(); </a:t>
            </a:r>
            <a:endParaRPr sz="1600" b="1" i="1" dirty="0">
              <a:solidFill>
                <a:srgbClr val="C72105"/>
              </a:solidFill>
              <a:latin typeface="Times New Roman" panose="02020603050405020304" pitchFamily="18" charset="0"/>
            </a:endParaRPr>
          </a:p>
          <a:p>
            <a:pPr marL="228600" lvl="1" indent="0" eaLnBrk="1" hangingPunct="1"/>
            <a:r>
              <a:rPr lang="bg-BG" altLang="x-none" sz="1600" b="1" i="1" dirty="0">
                <a:latin typeface="Times New Roman" panose="02020603050405020304" pitchFamily="18" charset="0"/>
              </a:rPr>
              <a:t>} </a:t>
            </a:r>
            <a:endParaRPr sz="1600" b="1" i="1" dirty="0">
              <a:latin typeface="Times New Roman" panose="02020603050405020304" pitchFamily="18" charset="0"/>
            </a:endParaRPr>
          </a:p>
          <a:p>
            <a:r>
              <a:rPr lang="bg-BG" altLang="x-none" sz="1600" b="1" i="1" dirty="0">
                <a:latin typeface="Times New Roman" panose="02020603050405020304" pitchFamily="18" charset="0"/>
              </a:rPr>
              <a:t>}</a:t>
            </a:r>
            <a:endParaRPr lang="bg-BG" altLang="x-none" sz="1600" b="1" i="1" dirty="0">
              <a:latin typeface="Times New Roman" panose="02020603050405020304" pitchFamily="18"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29699"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29700"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Implementing the Runnable Interface</a:t>
            </a:r>
            <a:endParaRPr lang="en-CA" altLang="x-none" sz="2800" dirty="0">
              <a:solidFill>
                <a:srgbClr val="FF9900"/>
              </a:solidFill>
              <a:ea typeface="Times New Roman" panose="02020603050405020304" pitchFamily="18" charset="0"/>
            </a:endParaRPr>
          </a:p>
        </p:txBody>
      </p:sp>
      <p:sp>
        <p:nvSpPr>
          <p:cNvPr id="29701" name="Rectangle 3" descr="Rectangle: Click to edit Master text styles&#13;&#10;Second level&#13;&#10;Third level&#13;&#10;Fourth level&#13;&#10;Fifth level"/>
          <p:cNvSpPr/>
          <p:nvPr/>
        </p:nvSpPr>
        <p:spPr>
          <a:xfrm>
            <a:off x="228600" y="685800"/>
            <a:ext cx="8534400" cy="5486400"/>
          </a:xfrm>
          <a:prstGeom prst="rect">
            <a:avLst/>
          </a:prstGeom>
          <a:noFill/>
          <a:ln w="9525">
            <a:noFill/>
          </a:ln>
        </p:spPr>
        <p:txBody>
          <a:bodyPr/>
          <a:p>
            <a:pPr lvl="1" indent="-228600" algn="just" defTabSz="914400" eaLnBrk="1" hangingPunct="1">
              <a:spcBef>
                <a:spcPct val="20000"/>
              </a:spcBef>
              <a:buClr>
                <a:schemeClr val="bg2"/>
              </a:buClr>
              <a:buSzPct val="80000"/>
              <a:buFont typeface="Wingdings" panose="05000000000000000000" pitchFamily="2" charset="2"/>
              <a:buChar char="§"/>
              <a:tabLst>
                <a:tab pos="227330" algn="l"/>
                <a:tab pos="228600" algn="l"/>
              </a:tabLst>
            </a:pPr>
            <a:r>
              <a:rPr lang="bg-BG" altLang="x-none" sz="2000" dirty="0">
                <a:latin typeface="Times New Roman" panose="02020603050405020304" pitchFamily="18" charset="0"/>
              </a:rPr>
              <a:t>Constructs a new thread object associated with the given </a:t>
            </a:r>
            <a:r>
              <a:rPr lang="bg-BG" altLang="x-none" sz="2000" b="1" i="1" dirty="0">
                <a:latin typeface="Times New Roman" panose="02020603050405020304" pitchFamily="18" charset="0"/>
              </a:rPr>
              <a:t>Runnable</a:t>
            </a:r>
            <a:r>
              <a:rPr lang="bg-BG" altLang="x-none" sz="2000" dirty="0">
                <a:latin typeface="Times New Roman" panose="02020603050405020304" pitchFamily="18" charset="0"/>
              </a:rPr>
              <a:t> object.</a:t>
            </a:r>
            <a:endParaRPr lang="bg-BG" altLang="x-none" sz="2000" dirty="0">
              <a:latin typeface="Times New Roman" panose="02020603050405020304" pitchFamily="18" charset="0"/>
            </a:endParaRPr>
          </a:p>
          <a:p>
            <a:pPr lvl="1" indent="-228600" algn="just" defTabSz="914400" eaLnBrk="1" hangingPunct="1">
              <a:spcBef>
                <a:spcPct val="20000"/>
              </a:spcBef>
              <a:buClr>
                <a:schemeClr val="bg2"/>
              </a:buClr>
              <a:buSzPct val="80000"/>
              <a:buFont typeface="Wingdings" panose="05000000000000000000" pitchFamily="2" charset="2"/>
              <a:buChar char="§"/>
              <a:tabLst>
                <a:tab pos="227330" algn="l"/>
                <a:tab pos="228600" algn="l"/>
              </a:tabLst>
            </a:pPr>
            <a:r>
              <a:rPr lang="bg-BG" altLang="x-none" sz="2000" dirty="0">
                <a:latin typeface="Times New Roman" panose="02020603050405020304" pitchFamily="18" charset="0"/>
              </a:rPr>
              <a:t>The new Thread object's </a:t>
            </a:r>
            <a:r>
              <a:rPr lang="bg-BG" altLang="x-none" sz="2000" b="1" i="1" dirty="0">
                <a:latin typeface="Times New Roman" panose="02020603050405020304" pitchFamily="18" charset="0"/>
              </a:rPr>
              <a:t>start()</a:t>
            </a:r>
            <a:r>
              <a:rPr lang="bg-BG" altLang="x-none" sz="2000" dirty="0">
                <a:latin typeface="Times New Roman" panose="02020603050405020304" pitchFamily="18" charset="0"/>
              </a:rPr>
              <a:t> method is called to begin execution of the new thread of control.</a:t>
            </a:r>
            <a:endParaRPr lang="bg-BG" altLang="x-none" sz="2000" dirty="0">
              <a:latin typeface="Times New Roman" panose="02020603050405020304" pitchFamily="18" charset="0"/>
            </a:endParaRPr>
          </a:p>
          <a:p>
            <a:pPr lvl="1" indent="-228600" algn="just" defTabSz="914400" eaLnBrk="1" hangingPunct="1">
              <a:spcBef>
                <a:spcPct val="20000"/>
              </a:spcBef>
              <a:buClr>
                <a:schemeClr val="bg2"/>
              </a:buClr>
              <a:buSzPct val="80000"/>
              <a:buFont typeface="Wingdings" panose="05000000000000000000" pitchFamily="2" charset="2"/>
              <a:buChar char="§"/>
              <a:tabLst>
                <a:tab pos="227330" algn="l"/>
                <a:tab pos="228600" algn="l"/>
              </a:tabLst>
            </a:pPr>
            <a:r>
              <a:rPr lang="bg-BG" altLang="x-none" sz="2000" dirty="0">
                <a:latin typeface="Times New Roman" panose="02020603050405020304" pitchFamily="18" charset="0"/>
              </a:rPr>
              <a:t>The reason we need to pass the runnable object to the thread object's constructor is that the thread</a:t>
            </a:r>
            <a:r>
              <a:rPr sz="2000" dirty="0">
                <a:latin typeface="Times New Roman" panose="02020603050405020304" pitchFamily="18" charset="0"/>
              </a:rPr>
              <a:t> </a:t>
            </a:r>
            <a:r>
              <a:rPr lang="bg-BG" altLang="x-none" sz="2000" dirty="0">
                <a:latin typeface="Times New Roman" panose="02020603050405020304" pitchFamily="18" charset="0"/>
              </a:rPr>
              <a:t>must have some way to get to the </a:t>
            </a:r>
            <a:r>
              <a:rPr lang="bg-BG" altLang="x-none" sz="2000" b="1" i="1" dirty="0">
                <a:latin typeface="Times New Roman" panose="02020603050405020304" pitchFamily="18" charset="0"/>
              </a:rPr>
              <a:t>run() </a:t>
            </a:r>
            <a:r>
              <a:rPr lang="bg-BG" altLang="x-none" sz="2000" dirty="0">
                <a:latin typeface="Times New Roman" panose="02020603050405020304" pitchFamily="18" charset="0"/>
              </a:rPr>
              <a:t>method we want the thread to execute. Since we are no longer</a:t>
            </a:r>
            <a:r>
              <a:rPr sz="2000" dirty="0">
                <a:latin typeface="Times New Roman" panose="02020603050405020304" pitchFamily="18" charset="0"/>
              </a:rPr>
              <a:t> </a:t>
            </a:r>
            <a:r>
              <a:rPr lang="bg-BG" altLang="x-none" sz="2000" dirty="0">
                <a:latin typeface="Times New Roman" panose="02020603050405020304" pitchFamily="18" charset="0"/>
              </a:rPr>
              <a:t>overriding the </a:t>
            </a:r>
            <a:r>
              <a:rPr lang="bg-BG" altLang="x-none" sz="2000" b="1" i="1" dirty="0">
                <a:latin typeface="Times New Roman" panose="02020603050405020304" pitchFamily="18" charset="0"/>
              </a:rPr>
              <a:t>run() </a:t>
            </a:r>
            <a:r>
              <a:rPr lang="bg-BG" altLang="x-none" sz="2000" dirty="0">
                <a:latin typeface="Times New Roman" panose="02020603050405020304" pitchFamily="18" charset="0"/>
              </a:rPr>
              <a:t>method of the</a:t>
            </a:r>
            <a:r>
              <a:rPr lang="bg-BG" altLang="x-none" sz="2000" b="1" i="1" dirty="0">
                <a:latin typeface="Times New Roman" panose="02020603050405020304" pitchFamily="18" charset="0"/>
              </a:rPr>
              <a:t> Thread </a:t>
            </a:r>
            <a:r>
              <a:rPr lang="bg-BG" altLang="x-none" sz="2000" dirty="0">
                <a:latin typeface="Times New Roman" panose="02020603050405020304" pitchFamily="18" charset="0"/>
              </a:rPr>
              <a:t>class, the default </a:t>
            </a:r>
            <a:r>
              <a:rPr lang="bg-BG" altLang="x-none" sz="2000" b="1" i="1" dirty="0">
                <a:latin typeface="Times New Roman" panose="02020603050405020304" pitchFamily="18" charset="0"/>
              </a:rPr>
              <a:t>run()</a:t>
            </a:r>
            <a:r>
              <a:rPr lang="bg-BG" altLang="x-none" sz="2000" dirty="0">
                <a:latin typeface="Times New Roman" panose="02020603050405020304" pitchFamily="18" charset="0"/>
              </a:rPr>
              <a:t> method of the</a:t>
            </a:r>
            <a:r>
              <a:rPr lang="bg-BG" altLang="x-none" sz="2000" b="1" i="1" dirty="0">
                <a:latin typeface="Times New Roman" panose="02020603050405020304" pitchFamily="18" charset="0"/>
              </a:rPr>
              <a:t> Thread </a:t>
            </a:r>
            <a:r>
              <a:rPr lang="bg-BG" altLang="x-none" sz="2000" dirty="0">
                <a:latin typeface="Times New Roman" panose="02020603050405020304" pitchFamily="18" charset="0"/>
              </a:rPr>
              <a:t>class is</a:t>
            </a:r>
            <a:r>
              <a:rPr sz="2000" dirty="0">
                <a:latin typeface="Times New Roman" panose="02020603050405020304" pitchFamily="18" charset="0"/>
              </a:rPr>
              <a:t> </a:t>
            </a:r>
            <a:r>
              <a:rPr lang="bg-BG" altLang="x-none" sz="2000" dirty="0">
                <a:latin typeface="Times New Roman" panose="02020603050405020304" pitchFamily="18" charset="0"/>
              </a:rPr>
              <a:t>executed</a:t>
            </a:r>
            <a:r>
              <a:rPr sz="2000" dirty="0">
                <a:latin typeface="Times New Roman" panose="02020603050405020304" pitchFamily="18" charset="0"/>
              </a:rPr>
              <a:t>:</a:t>
            </a:r>
            <a:endParaRPr sz="2000" dirty="0">
              <a:latin typeface="Times New Roman" panose="02020603050405020304" pitchFamily="18" charset="0"/>
            </a:endParaRPr>
          </a:p>
          <a:p>
            <a:pPr lvl="1" indent="-228600" algn="just" defTabSz="914400" eaLnBrk="1" hangingPunct="1">
              <a:spcBef>
                <a:spcPct val="20000"/>
              </a:spcBef>
              <a:buClr>
                <a:schemeClr val="bg2"/>
              </a:buClr>
              <a:buSzPct val="80000"/>
              <a:buFont typeface="Wingdings" panose="05000000000000000000" pitchFamily="2" charset="2"/>
              <a:tabLst>
                <a:tab pos="227330" algn="l"/>
                <a:tab pos="228600" algn="l"/>
              </a:tabLst>
            </a:pPr>
            <a:r>
              <a:rPr lang="bg-BG" altLang="x-none" sz="2000" b="1" i="1" dirty="0">
                <a:solidFill>
                  <a:srgbClr val="C72105"/>
                </a:solidFill>
                <a:latin typeface="Times New Roman" panose="02020603050405020304" pitchFamily="18" charset="0"/>
              </a:rPr>
              <a:t>public void run() {</a:t>
            </a:r>
            <a:endParaRPr lang="bg-BG" altLang="x-none" sz="2000" b="1" i="1" dirty="0">
              <a:solidFill>
                <a:srgbClr val="C72105"/>
              </a:solidFill>
              <a:latin typeface="Times New Roman" panose="02020603050405020304" pitchFamily="18" charset="0"/>
            </a:endParaRPr>
          </a:p>
          <a:p>
            <a:pPr lvl="1" indent="-228600" defTabSz="914400" eaLnBrk="1" hangingPunct="1">
              <a:spcBef>
                <a:spcPct val="20000"/>
              </a:spcBef>
              <a:buClr>
                <a:schemeClr val="accent2"/>
              </a:buClr>
              <a:buSzPct val="80000"/>
              <a:buFont typeface="Wingdings" panose="05000000000000000000" pitchFamily="2" charset="2"/>
              <a:tabLst>
                <a:tab pos="227330" algn="l"/>
                <a:tab pos="228600" algn="l"/>
              </a:tabLst>
            </a:pPr>
            <a:r>
              <a:rPr sz="2000" b="1" i="1" dirty="0">
                <a:solidFill>
                  <a:srgbClr val="C72105"/>
                </a:solidFill>
                <a:latin typeface="Times New Roman" panose="02020603050405020304" pitchFamily="18" charset="0"/>
              </a:rPr>
              <a:t>		</a:t>
            </a:r>
            <a:r>
              <a:rPr lang="bg-BG" altLang="x-none" sz="2000" b="1" i="1" dirty="0">
                <a:solidFill>
                  <a:srgbClr val="C72105"/>
                </a:solidFill>
                <a:latin typeface="Times New Roman" panose="02020603050405020304" pitchFamily="18" charset="0"/>
              </a:rPr>
              <a:t>if (target != null) {</a:t>
            </a:r>
            <a:endParaRPr lang="bg-BG" altLang="x-none" sz="2000" b="1" i="1" dirty="0">
              <a:solidFill>
                <a:srgbClr val="C72105"/>
              </a:solidFill>
              <a:latin typeface="Times New Roman" panose="02020603050405020304" pitchFamily="18" charset="0"/>
            </a:endParaRPr>
          </a:p>
          <a:p>
            <a:pPr lvl="1" indent="-228600" defTabSz="914400" eaLnBrk="1" hangingPunct="1">
              <a:spcBef>
                <a:spcPct val="20000"/>
              </a:spcBef>
              <a:buClr>
                <a:schemeClr val="accent2"/>
              </a:buClr>
              <a:buSzPct val="80000"/>
              <a:buFont typeface="Wingdings" panose="05000000000000000000" pitchFamily="2" charset="2"/>
              <a:tabLst>
                <a:tab pos="227330" algn="l"/>
                <a:tab pos="228600" algn="l"/>
              </a:tabLst>
            </a:pPr>
            <a:r>
              <a:rPr sz="2000" b="1" i="1" dirty="0">
                <a:solidFill>
                  <a:srgbClr val="C72105"/>
                </a:solidFill>
                <a:latin typeface="Times New Roman" panose="02020603050405020304" pitchFamily="18" charset="0"/>
              </a:rPr>
              <a:t>			</a:t>
            </a:r>
            <a:r>
              <a:rPr lang="bg-BG" altLang="x-none" sz="2000" b="1" i="1" dirty="0">
                <a:solidFill>
                  <a:srgbClr val="C72105"/>
                </a:solidFill>
                <a:latin typeface="Times New Roman" panose="02020603050405020304" pitchFamily="18" charset="0"/>
              </a:rPr>
              <a:t>target.run();</a:t>
            </a:r>
            <a:endParaRPr lang="bg-BG" altLang="x-none" sz="2000" b="1" i="1" dirty="0">
              <a:solidFill>
                <a:srgbClr val="C72105"/>
              </a:solidFill>
              <a:latin typeface="Times New Roman" panose="02020603050405020304" pitchFamily="18" charset="0"/>
            </a:endParaRPr>
          </a:p>
          <a:p>
            <a:pPr lvl="1" indent="-228600" defTabSz="914400" eaLnBrk="1" hangingPunct="1">
              <a:spcBef>
                <a:spcPct val="20000"/>
              </a:spcBef>
              <a:buClr>
                <a:schemeClr val="accent2"/>
              </a:buClr>
              <a:buSzPct val="80000"/>
              <a:buFont typeface="Wingdings" panose="05000000000000000000" pitchFamily="2" charset="2"/>
              <a:tabLst>
                <a:tab pos="227330" algn="l"/>
                <a:tab pos="228600" algn="l"/>
              </a:tabLst>
            </a:pPr>
            <a:r>
              <a:rPr sz="2000" b="1" i="1" dirty="0">
                <a:solidFill>
                  <a:srgbClr val="C72105"/>
                </a:solidFill>
                <a:latin typeface="Times New Roman" panose="02020603050405020304" pitchFamily="18" charset="0"/>
              </a:rPr>
              <a:t>		</a:t>
            </a:r>
            <a:r>
              <a:rPr lang="bg-BG" altLang="x-none" sz="2000" b="1" i="1" dirty="0">
                <a:solidFill>
                  <a:srgbClr val="C72105"/>
                </a:solidFill>
                <a:latin typeface="Times New Roman" panose="02020603050405020304" pitchFamily="18" charset="0"/>
              </a:rPr>
              <a:t>}</a:t>
            </a:r>
            <a:endParaRPr lang="bg-BG" altLang="x-none" sz="2000" b="1" i="1" dirty="0">
              <a:solidFill>
                <a:srgbClr val="C72105"/>
              </a:solidFill>
              <a:latin typeface="Times New Roman" panose="02020603050405020304" pitchFamily="18" charset="0"/>
            </a:endParaRPr>
          </a:p>
          <a:p>
            <a:pPr lvl="1" indent="-228600" defTabSz="914400" eaLnBrk="1" hangingPunct="1">
              <a:spcBef>
                <a:spcPct val="20000"/>
              </a:spcBef>
              <a:buClr>
                <a:schemeClr val="accent2"/>
              </a:buClr>
              <a:buSzPct val="80000"/>
              <a:buFont typeface="Wingdings" panose="05000000000000000000" pitchFamily="2" charset="2"/>
              <a:tabLst>
                <a:tab pos="227330" algn="l"/>
                <a:tab pos="228600" algn="l"/>
              </a:tabLst>
            </a:pPr>
            <a:r>
              <a:rPr lang="bg-BG" altLang="x-none" sz="2000" b="1" i="1" dirty="0">
                <a:solidFill>
                  <a:srgbClr val="C72105"/>
                </a:solidFill>
                <a:latin typeface="Times New Roman" panose="02020603050405020304" pitchFamily="18" charset="0"/>
              </a:rPr>
              <a:t>}</a:t>
            </a:r>
            <a:endParaRPr lang="bg-BG" altLang="x-none" sz="2000" b="1" i="1" dirty="0">
              <a:solidFill>
                <a:srgbClr val="C72105"/>
              </a:solidFill>
              <a:latin typeface="Times New Roman" panose="02020603050405020304" pitchFamily="18" charset="0"/>
            </a:endParaRPr>
          </a:p>
          <a:p>
            <a:pPr lvl="1" indent="-228600" algn="just" defTabSz="914400" eaLnBrk="1" hangingPunct="1">
              <a:spcBef>
                <a:spcPct val="20000"/>
              </a:spcBef>
              <a:buClr>
                <a:schemeClr val="bg2"/>
              </a:buClr>
              <a:buSzPct val="80000"/>
              <a:buFont typeface="Wingdings" panose="05000000000000000000" pitchFamily="2" charset="2"/>
              <a:buChar char="§"/>
              <a:tabLst>
                <a:tab pos="227330" algn="l"/>
                <a:tab pos="228600" algn="l"/>
              </a:tabLst>
            </a:pPr>
            <a:r>
              <a:rPr lang="bg-BG" altLang="x-none" sz="2000" dirty="0">
                <a:latin typeface="Times New Roman" panose="02020603050405020304" pitchFamily="18" charset="0"/>
              </a:rPr>
              <a:t>Here, target is the runnable object we passed to the thread's constructor. So the thread begins</a:t>
            </a:r>
            <a:r>
              <a:rPr sz="2000" dirty="0">
                <a:latin typeface="Times New Roman" panose="02020603050405020304" pitchFamily="18" charset="0"/>
              </a:rPr>
              <a:t> </a:t>
            </a:r>
            <a:r>
              <a:rPr lang="bg-BG" altLang="x-none" sz="2000" dirty="0">
                <a:latin typeface="Times New Roman" panose="02020603050405020304" pitchFamily="18" charset="0"/>
              </a:rPr>
              <a:t>execution with the </a:t>
            </a:r>
            <a:r>
              <a:rPr lang="bg-BG" altLang="x-none" sz="2000" b="1" i="1" dirty="0">
                <a:latin typeface="Times New Roman" panose="02020603050405020304" pitchFamily="18" charset="0"/>
              </a:rPr>
              <a:t>run() </a:t>
            </a:r>
            <a:r>
              <a:rPr lang="bg-BG" altLang="x-none" sz="2000" dirty="0">
                <a:latin typeface="Times New Roman" panose="02020603050405020304" pitchFamily="18" charset="0"/>
              </a:rPr>
              <a:t>method of the </a:t>
            </a:r>
            <a:r>
              <a:rPr lang="bg-BG" altLang="x-none" sz="2000" b="1" i="1" dirty="0">
                <a:latin typeface="Times New Roman" panose="02020603050405020304" pitchFamily="18" charset="0"/>
              </a:rPr>
              <a:t>Thread </a:t>
            </a:r>
            <a:r>
              <a:rPr lang="bg-BG" altLang="x-none" sz="2000" dirty="0">
                <a:latin typeface="Times New Roman" panose="02020603050405020304" pitchFamily="18" charset="0"/>
              </a:rPr>
              <a:t>class, which immediately calls the </a:t>
            </a:r>
            <a:r>
              <a:rPr lang="bg-BG" altLang="x-none" sz="2000" b="1" i="1" dirty="0">
                <a:latin typeface="Times New Roman" panose="02020603050405020304" pitchFamily="18" charset="0"/>
              </a:rPr>
              <a:t>run() </a:t>
            </a:r>
            <a:r>
              <a:rPr lang="bg-BG" altLang="x-none" sz="2000" dirty="0">
                <a:latin typeface="Times New Roman" panose="02020603050405020304" pitchFamily="18" charset="0"/>
              </a:rPr>
              <a:t>method of</a:t>
            </a:r>
            <a:r>
              <a:rPr sz="2000" dirty="0">
                <a:latin typeface="Times New Roman" panose="02020603050405020304" pitchFamily="18" charset="0"/>
              </a:rPr>
              <a:t> </a:t>
            </a:r>
            <a:r>
              <a:rPr lang="bg-BG" altLang="x-none" sz="2000" dirty="0">
                <a:latin typeface="Times New Roman" panose="02020603050405020304" pitchFamily="18" charset="0"/>
              </a:rPr>
              <a:t>our runnable object.</a:t>
            </a:r>
            <a:endParaRPr sz="2000" dirty="0">
              <a:latin typeface="Times New Roman" panose="02020603050405020304" pitchFamily="18"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30723"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30724"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Sleep, Yield, Notify &amp; Wait Thread’s Functions</a:t>
            </a:r>
            <a:endParaRPr lang="en-CA" altLang="x-none" sz="2800" dirty="0">
              <a:solidFill>
                <a:srgbClr val="FF9900"/>
              </a:solidFill>
              <a:ea typeface="Times New Roman" panose="02020603050405020304" pitchFamily="18" charset="0"/>
            </a:endParaRPr>
          </a:p>
        </p:txBody>
      </p:sp>
      <p:sp>
        <p:nvSpPr>
          <p:cNvPr id="30725" name="Rectangle 3" descr="Rectangle: Click to edit Master text styles&#13;&#10;Second level&#13;&#10;Third level&#13;&#10;Fourth level&#13;&#10;Fifth level"/>
          <p:cNvSpPr/>
          <p:nvPr/>
        </p:nvSpPr>
        <p:spPr>
          <a:xfrm>
            <a:off x="304800" y="685800"/>
            <a:ext cx="8534400" cy="5562600"/>
          </a:xfrm>
          <a:prstGeom prst="rect">
            <a:avLst/>
          </a:prstGeom>
          <a:noFill/>
          <a:ln w="9525">
            <a:noFill/>
          </a:ln>
        </p:spPr>
        <p:txBody>
          <a:bodyPr/>
          <a:p>
            <a:pPr marL="339725" indent="-339725" algn="just">
              <a:spcBef>
                <a:spcPct val="20000"/>
              </a:spcBef>
              <a:buClr>
                <a:schemeClr val="bg2"/>
              </a:buClr>
              <a:buSzPct val="75000"/>
              <a:buFont typeface="Wingdings" panose="05000000000000000000" pitchFamily="2" charset="2"/>
              <a:buChar char="§"/>
            </a:pPr>
            <a:r>
              <a:rPr lang="bg-BG" altLang="x-none" sz="2400" b="1" i="1" dirty="0">
                <a:solidFill>
                  <a:srgbClr val="C72105"/>
                </a:solidFill>
                <a:latin typeface="Times New Roman" panose="02020603050405020304" pitchFamily="18" charset="0"/>
              </a:rPr>
              <a:t>sleep(long millis)</a:t>
            </a:r>
            <a:r>
              <a:rPr lang="bg-BG" altLang="x-none" sz="2400" dirty="0">
                <a:latin typeface="Times New Roman" panose="02020603050405020304" pitchFamily="18" charset="0"/>
              </a:rPr>
              <a:t> </a:t>
            </a:r>
            <a:r>
              <a:rPr sz="2400" dirty="0">
                <a:latin typeface="Times New Roman" panose="02020603050405020304" pitchFamily="18" charset="0"/>
              </a:rPr>
              <a:t> - c</a:t>
            </a:r>
            <a:r>
              <a:rPr lang="bg-BG" altLang="x-none" sz="2400" dirty="0">
                <a:latin typeface="Times New Roman" panose="02020603050405020304" pitchFamily="18" charset="0"/>
              </a:rPr>
              <a:t>auses the currently executing thread to sleep (temporarily cease execution) for the specified number of milliseconds.</a:t>
            </a: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lang="bg-BG" altLang="x-none" sz="2400" b="1" i="1" dirty="0">
                <a:solidFill>
                  <a:srgbClr val="C72105"/>
                </a:solidFill>
                <a:latin typeface="Times New Roman" panose="02020603050405020304" pitchFamily="18" charset="0"/>
              </a:rPr>
              <a:t>yield()</a:t>
            </a:r>
            <a:r>
              <a:rPr sz="2400" dirty="0">
                <a:latin typeface="Times New Roman" panose="02020603050405020304" pitchFamily="18" charset="0"/>
              </a:rPr>
              <a:t> - c</a:t>
            </a:r>
            <a:r>
              <a:rPr lang="bg-BG" altLang="x-none" sz="2400" dirty="0">
                <a:latin typeface="Times New Roman" panose="02020603050405020304" pitchFamily="18" charset="0"/>
              </a:rPr>
              <a:t>auses the currently executing thread object to temporarily pause and allow other threads to execute.</a:t>
            </a: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sz="2400" b="1" i="1" dirty="0">
                <a:solidFill>
                  <a:srgbClr val="C72105"/>
                </a:solidFill>
                <a:latin typeface="Times New Roman" panose="02020603050405020304" pitchFamily="18" charset="0"/>
              </a:rPr>
              <a:t>wait()</a:t>
            </a:r>
            <a:r>
              <a:rPr sz="2400" i="1" dirty="0">
                <a:latin typeface="Times New Roman" panose="02020603050405020304" pitchFamily="18" charset="0"/>
              </a:rPr>
              <a:t> - </a:t>
            </a:r>
            <a:r>
              <a:rPr sz="2400" dirty="0">
                <a:latin typeface="Times New Roman" panose="02020603050405020304" pitchFamily="18" charset="0"/>
              </a:rPr>
              <a:t>c</a:t>
            </a:r>
            <a:r>
              <a:rPr lang="bg-BG" altLang="x-none" sz="2400" dirty="0">
                <a:latin typeface="Times New Roman" panose="02020603050405020304" pitchFamily="18" charset="0"/>
              </a:rPr>
              <a:t>auses current thread to </a:t>
            </a:r>
            <a:r>
              <a:rPr sz="2400" dirty="0">
                <a:latin typeface="Times New Roman" panose="02020603050405020304" pitchFamily="18" charset="0"/>
              </a:rPr>
              <a:t>wait for a condition to occur (</a:t>
            </a:r>
            <a:r>
              <a:rPr lang="bg-BG" altLang="x-none" sz="2400" i="1" dirty="0">
                <a:latin typeface="Times New Roman" panose="02020603050405020304" pitchFamily="18" charset="0"/>
              </a:rPr>
              <a:t>another thread invokes the </a:t>
            </a:r>
            <a:r>
              <a:rPr lang="bg-BG" altLang="x-none" sz="2400" b="1" i="1" dirty="0">
                <a:latin typeface="Times New Roman" panose="02020603050405020304" pitchFamily="18" charset="0"/>
              </a:rPr>
              <a:t>notify()</a:t>
            </a:r>
            <a:r>
              <a:rPr lang="bg-BG" altLang="x-none" sz="2400" i="1" dirty="0">
                <a:latin typeface="Times New Roman" panose="02020603050405020304" pitchFamily="18" charset="0"/>
              </a:rPr>
              <a:t> method or the </a:t>
            </a:r>
            <a:r>
              <a:rPr lang="bg-BG" altLang="x-none" sz="2400" b="1" i="1" dirty="0">
                <a:latin typeface="Times New Roman" panose="02020603050405020304" pitchFamily="18" charset="0"/>
              </a:rPr>
              <a:t>notifyAll()</a:t>
            </a:r>
            <a:r>
              <a:rPr lang="bg-BG" altLang="x-none" sz="2400" i="1" dirty="0">
                <a:latin typeface="Times New Roman" panose="02020603050405020304" pitchFamily="18" charset="0"/>
              </a:rPr>
              <a:t> method for this object</a:t>
            </a:r>
            <a:r>
              <a:rPr sz="2400" dirty="0">
                <a:latin typeface="Times New Roman" panose="02020603050405020304" pitchFamily="18" charset="0"/>
              </a:rPr>
              <a:t>). This is a method of the </a:t>
            </a:r>
            <a:r>
              <a:rPr sz="2400" b="1" i="1" dirty="0">
                <a:latin typeface="Times New Roman" panose="02020603050405020304" pitchFamily="18" charset="0"/>
              </a:rPr>
              <a:t>Object</a:t>
            </a:r>
            <a:r>
              <a:rPr sz="2400" dirty="0">
                <a:latin typeface="Times New Roman" panose="02020603050405020304" pitchFamily="18" charset="0"/>
              </a:rPr>
              <a:t> class and must be called from within a </a:t>
            </a:r>
            <a:r>
              <a:rPr sz="2400" b="1" dirty="0">
                <a:latin typeface="Times New Roman" panose="02020603050405020304" pitchFamily="18" charset="0"/>
              </a:rPr>
              <a:t>synchronized </a:t>
            </a:r>
            <a:r>
              <a:rPr sz="2400" dirty="0">
                <a:latin typeface="Times New Roman" panose="02020603050405020304" pitchFamily="18" charset="0"/>
              </a:rPr>
              <a:t>method or block.</a:t>
            </a: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sz="2400" b="1" i="1" dirty="0">
                <a:solidFill>
                  <a:srgbClr val="C72105"/>
                </a:solidFill>
                <a:latin typeface="Times New Roman" panose="02020603050405020304" pitchFamily="18" charset="0"/>
              </a:rPr>
              <a:t>notify()</a:t>
            </a:r>
            <a:r>
              <a:rPr sz="2400" i="1" dirty="0">
                <a:latin typeface="Times New Roman" panose="02020603050405020304" pitchFamily="18" charset="0"/>
              </a:rPr>
              <a:t> - </a:t>
            </a:r>
            <a:r>
              <a:rPr sz="2400" dirty="0">
                <a:latin typeface="Times New Roman" panose="02020603050405020304" pitchFamily="18" charset="0"/>
              </a:rPr>
              <a:t>notifies a thread that is waiting for a condition that the condition has occurred. This is a method of the </a:t>
            </a:r>
            <a:r>
              <a:rPr sz="2400" b="1" i="1" dirty="0">
                <a:latin typeface="Times New Roman" panose="02020603050405020304" pitchFamily="18" charset="0"/>
              </a:rPr>
              <a:t>Object</a:t>
            </a:r>
            <a:r>
              <a:rPr sz="2400" dirty="0">
                <a:latin typeface="Times New Roman" panose="02020603050405020304" pitchFamily="18" charset="0"/>
              </a:rPr>
              <a:t> class and must be called from within a</a:t>
            </a:r>
            <a:r>
              <a:rPr sz="2400" b="1" dirty="0">
                <a:latin typeface="Times New Roman" panose="02020603050405020304" pitchFamily="18" charset="0"/>
              </a:rPr>
              <a:t> synchronized </a:t>
            </a:r>
            <a:r>
              <a:rPr sz="2400" dirty="0">
                <a:latin typeface="Times New Roman" panose="02020603050405020304" pitchFamily="18" charset="0"/>
              </a:rPr>
              <a:t>method or block.</a:t>
            </a: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sz="2400" b="1" i="1" dirty="0">
                <a:solidFill>
                  <a:srgbClr val="C72105"/>
                </a:solidFill>
                <a:latin typeface="Times New Roman" panose="02020603050405020304" pitchFamily="18" charset="0"/>
              </a:rPr>
              <a:t>notifyAll()</a:t>
            </a:r>
            <a:r>
              <a:rPr sz="2400" dirty="0">
                <a:latin typeface="Times New Roman" panose="02020603050405020304" pitchFamily="18" charset="0"/>
              </a:rPr>
              <a:t> – like the </a:t>
            </a:r>
            <a:r>
              <a:rPr sz="2400" b="1" i="1" dirty="0">
                <a:latin typeface="Times New Roman" panose="02020603050405020304" pitchFamily="18" charset="0"/>
              </a:rPr>
              <a:t>notify() </a:t>
            </a:r>
            <a:r>
              <a:rPr sz="2400" dirty="0">
                <a:latin typeface="Times New Roman" panose="02020603050405020304" pitchFamily="18" charset="0"/>
              </a:rPr>
              <a:t>method, but notifies all the threads that are waiting for a condition that the condition has occurred. </a:t>
            </a:r>
            <a:endParaRPr sz="2400" dirty="0">
              <a:latin typeface="Times New Roman" panose="02020603050405020304" pitchFamily="18"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31747"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31748"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The Lifecycle of a Thread </a:t>
            </a:r>
            <a:endParaRPr lang="en-CA" altLang="x-none" sz="2800" dirty="0">
              <a:solidFill>
                <a:srgbClr val="FF9900"/>
              </a:solidFill>
              <a:ea typeface="Times New Roman" panose="02020603050405020304" pitchFamily="18" charset="0"/>
            </a:endParaRPr>
          </a:p>
        </p:txBody>
      </p:sp>
      <p:sp>
        <p:nvSpPr>
          <p:cNvPr id="31749" name="Rectangle 3" descr="Rectangle: Click to edit Master text styles&#13;&#10;Second level&#13;&#10;Third level&#13;&#10;Fourth level&#13;&#10;Fifth level"/>
          <p:cNvSpPr/>
          <p:nvPr/>
        </p:nvSpPr>
        <p:spPr>
          <a:xfrm>
            <a:off x="304800" y="685800"/>
            <a:ext cx="8534400" cy="2590800"/>
          </a:xfrm>
          <a:prstGeom prst="rect">
            <a:avLst/>
          </a:prstGeom>
          <a:noFill/>
          <a:ln w="9525">
            <a:noFill/>
          </a:ln>
        </p:spPr>
        <p:txBody>
          <a:bodyPr/>
          <a:p>
            <a:pPr marL="339725" indent="-339725"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The </a:t>
            </a:r>
            <a:r>
              <a:rPr sz="2000" b="1" i="1" dirty="0">
                <a:latin typeface="Times New Roman" panose="02020603050405020304" pitchFamily="18" charset="0"/>
              </a:rPr>
              <a:t>start()</a:t>
            </a:r>
            <a:r>
              <a:rPr sz="2000" dirty="0">
                <a:latin typeface="Times New Roman" panose="02020603050405020304" pitchFamily="18" charset="0"/>
              </a:rPr>
              <a:t> method creates the system resources necessary to run the thread, schedules the thread to run, and calls the thread's </a:t>
            </a:r>
            <a:r>
              <a:rPr sz="2000" b="1" i="1" dirty="0">
                <a:latin typeface="Times New Roman" panose="02020603050405020304" pitchFamily="18" charset="0"/>
              </a:rPr>
              <a:t>run()</a:t>
            </a:r>
            <a:r>
              <a:rPr sz="2000" dirty="0">
                <a:latin typeface="Times New Roman" panose="02020603050405020304" pitchFamily="18" charset="0"/>
              </a:rPr>
              <a:t> method.</a:t>
            </a:r>
            <a:endParaRPr sz="20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A thread becomes </a:t>
            </a:r>
            <a:r>
              <a:rPr sz="2000" b="1" dirty="0">
                <a:latin typeface="Times New Roman" panose="02020603050405020304" pitchFamily="18" charset="0"/>
              </a:rPr>
              <a:t>Not Runnable</a:t>
            </a:r>
            <a:r>
              <a:rPr sz="2000" dirty="0">
                <a:latin typeface="Times New Roman" panose="02020603050405020304" pitchFamily="18" charset="0"/>
              </a:rPr>
              <a:t> when one of these events occurs:</a:t>
            </a:r>
            <a:endParaRPr sz="2000" dirty="0">
              <a:latin typeface="Times New Roman" panose="02020603050405020304" pitchFamily="18" charset="0"/>
            </a:endParaRPr>
          </a:p>
          <a:p>
            <a:pPr marL="742950" lvl="1" indent="-285750" algn="just" eaLnBrk="1" hangingPunct="1">
              <a:spcBef>
                <a:spcPct val="20000"/>
              </a:spcBef>
              <a:buClr>
                <a:schemeClr val="accent2"/>
              </a:buClr>
              <a:buSzPct val="80000"/>
              <a:buFont typeface="Wingdings" panose="05000000000000000000" pitchFamily="2" charset="2"/>
              <a:buChar char="§"/>
            </a:pPr>
            <a:r>
              <a:rPr sz="2000" dirty="0">
                <a:latin typeface="Times New Roman" panose="02020603050405020304" pitchFamily="18" charset="0"/>
              </a:rPr>
              <a:t>Its </a:t>
            </a:r>
            <a:r>
              <a:rPr sz="2000" b="1" i="1" dirty="0">
                <a:latin typeface="Times New Roman" panose="02020603050405020304" pitchFamily="18" charset="0"/>
              </a:rPr>
              <a:t>sleep()</a:t>
            </a:r>
            <a:r>
              <a:rPr sz="2000" dirty="0">
                <a:latin typeface="Times New Roman" panose="02020603050405020304" pitchFamily="18" charset="0"/>
              </a:rPr>
              <a:t> method is invoked.</a:t>
            </a:r>
            <a:endParaRPr sz="2000" dirty="0">
              <a:latin typeface="Times New Roman" panose="02020603050405020304" pitchFamily="18" charset="0"/>
            </a:endParaRPr>
          </a:p>
          <a:p>
            <a:pPr marL="742950" lvl="1" indent="-285750" algn="just" eaLnBrk="1" hangingPunct="1">
              <a:spcBef>
                <a:spcPct val="20000"/>
              </a:spcBef>
              <a:buClr>
                <a:schemeClr val="accent2"/>
              </a:buClr>
              <a:buSzPct val="80000"/>
              <a:buFont typeface="Wingdings" panose="05000000000000000000" pitchFamily="2" charset="2"/>
              <a:buChar char="§"/>
            </a:pPr>
            <a:r>
              <a:rPr sz="2000" dirty="0">
                <a:latin typeface="Times New Roman" panose="02020603050405020304" pitchFamily="18" charset="0"/>
              </a:rPr>
              <a:t>The thread calls the </a:t>
            </a:r>
            <a:r>
              <a:rPr sz="2000" b="1" i="1" dirty="0">
                <a:latin typeface="Times New Roman" panose="02020603050405020304" pitchFamily="18" charset="0"/>
              </a:rPr>
              <a:t>wait()</a:t>
            </a:r>
            <a:r>
              <a:rPr sz="2000" dirty="0">
                <a:latin typeface="Times New Roman" panose="02020603050405020304" pitchFamily="18" charset="0"/>
              </a:rPr>
              <a:t> method.</a:t>
            </a:r>
            <a:endParaRPr sz="2000" dirty="0">
              <a:latin typeface="Times New Roman" panose="02020603050405020304" pitchFamily="18" charset="0"/>
            </a:endParaRPr>
          </a:p>
          <a:p>
            <a:pPr marL="742950" lvl="1" indent="-285750" algn="just" eaLnBrk="1" hangingPunct="1">
              <a:spcBef>
                <a:spcPct val="20000"/>
              </a:spcBef>
              <a:buClr>
                <a:schemeClr val="accent2"/>
              </a:buClr>
              <a:buSzPct val="80000"/>
              <a:buFont typeface="Wingdings" panose="05000000000000000000" pitchFamily="2" charset="2"/>
              <a:buChar char="§"/>
            </a:pPr>
            <a:r>
              <a:rPr sz="2000" dirty="0">
                <a:latin typeface="Times New Roman" panose="02020603050405020304" pitchFamily="18" charset="0"/>
              </a:rPr>
              <a:t>The thread is blocked on I/O operations.</a:t>
            </a:r>
            <a:endParaRPr sz="20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A thread dies naturally when the </a:t>
            </a:r>
            <a:r>
              <a:rPr sz="2000" b="1" i="1" dirty="0">
                <a:latin typeface="Times New Roman" panose="02020603050405020304" pitchFamily="18" charset="0"/>
              </a:rPr>
              <a:t>run()</a:t>
            </a:r>
            <a:r>
              <a:rPr sz="2000" dirty="0">
                <a:latin typeface="Times New Roman" panose="02020603050405020304" pitchFamily="18" charset="0"/>
              </a:rPr>
              <a:t> method exits.</a:t>
            </a:r>
            <a:endParaRPr sz="2000" dirty="0">
              <a:latin typeface="Times New Roman" panose="02020603050405020304" pitchFamily="18" charset="0"/>
            </a:endParaRPr>
          </a:p>
        </p:txBody>
      </p:sp>
      <p:pic>
        <p:nvPicPr>
          <p:cNvPr id="31750" name="Picture 6"/>
          <p:cNvPicPr>
            <a:picLocks noChangeAspect="1"/>
          </p:cNvPicPr>
          <p:nvPr/>
        </p:nvPicPr>
        <p:blipFill>
          <a:blip r:embed="rId1"/>
          <a:stretch>
            <a:fillRect/>
          </a:stretch>
        </p:blipFill>
        <p:spPr>
          <a:xfrm>
            <a:off x="1257300" y="3810000"/>
            <a:ext cx="6362700" cy="2543175"/>
          </a:xfrm>
          <a:prstGeom prst="rect">
            <a:avLst/>
          </a:prstGeom>
          <a:noFill/>
          <a:ln w="9525">
            <a:noFill/>
          </a:ln>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32771"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32772"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Thread Priority</a:t>
            </a:r>
            <a:endParaRPr lang="en-CA" altLang="x-none" sz="2800" dirty="0">
              <a:solidFill>
                <a:srgbClr val="FF9900"/>
              </a:solidFill>
              <a:ea typeface="Times New Roman" panose="02020603050405020304" pitchFamily="18" charset="0"/>
            </a:endParaRPr>
          </a:p>
        </p:txBody>
      </p:sp>
      <p:sp>
        <p:nvSpPr>
          <p:cNvPr id="32773" name="Rectangle 3" descr="Rectangle: Click to edit Master text styles&#13;&#10;Second level&#13;&#10;Third level&#13;&#10;Fourth level&#13;&#10;Fifth level"/>
          <p:cNvSpPr/>
          <p:nvPr/>
        </p:nvSpPr>
        <p:spPr>
          <a:xfrm>
            <a:off x="304800" y="685800"/>
            <a:ext cx="8534400" cy="5791200"/>
          </a:xfrm>
          <a:prstGeom prst="rect">
            <a:avLst/>
          </a:prstGeom>
          <a:noFill/>
          <a:ln w="9525">
            <a:noFill/>
          </a:ln>
        </p:spPr>
        <p:txBody>
          <a:bodyPr/>
          <a:p>
            <a:pPr marL="339725" indent="-339725" algn="just">
              <a:spcBef>
                <a:spcPct val="20000"/>
              </a:spcBef>
              <a:buClr>
                <a:schemeClr val="bg2"/>
              </a:buClr>
              <a:buSzPct val="75000"/>
              <a:buFont typeface="Wingdings" panose="05000000000000000000" pitchFamily="2" charset="2"/>
              <a:buChar char="§"/>
            </a:pPr>
            <a:r>
              <a:rPr lang="bg-BG" altLang="x-none" sz="2400" dirty="0">
                <a:latin typeface="Times New Roman" panose="02020603050405020304" pitchFamily="18" charset="0"/>
              </a:rPr>
              <a:t>On a single CPU</a:t>
            </a:r>
            <a:r>
              <a:rPr sz="2400" dirty="0">
                <a:latin typeface="Times New Roman" panose="02020603050405020304" pitchFamily="18" charset="0"/>
              </a:rPr>
              <a:t>,</a:t>
            </a:r>
            <a:r>
              <a:rPr lang="bg-BG" altLang="x-none" sz="2400" dirty="0">
                <a:latin typeface="Times New Roman" panose="02020603050405020304" pitchFamily="18" charset="0"/>
              </a:rPr>
              <a:t> threads actually run one at a time in</a:t>
            </a:r>
            <a:r>
              <a:rPr sz="2400" dirty="0">
                <a:latin typeface="Times New Roman" panose="02020603050405020304" pitchFamily="18" charset="0"/>
              </a:rPr>
              <a:t> </a:t>
            </a:r>
            <a:r>
              <a:rPr lang="bg-BG" altLang="x-none" sz="2400" dirty="0">
                <a:latin typeface="Times New Roman" panose="02020603050405020304" pitchFamily="18" charset="0"/>
              </a:rPr>
              <a:t>such a way as to provide an </a:t>
            </a:r>
            <a:r>
              <a:rPr lang="bg-BG" altLang="x-none" sz="2400" b="1" dirty="0">
                <a:latin typeface="Times New Roman" panose="02020603050405020304" pitchFamily="18" charset="0"/>
              </a:rPr>
              <a:t>illusion of concurrency</a:t>
            </a:r>
            <a:r>
              <a:rPr lang="bg-BG" altLang="x-none" sz="2400" dirty="0">
                <a:latin typeface="Times New Roman" panose="02020603050405020304" pitchFamily="18" charset="0"/>
              </a:rPr>
              <a:t>.</a:t>
            </a: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endParaRPr lang="bg-BG" altLang="x-none"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lang="bg-BG" altLang="x-none" sz="2400" dirty="0">
                <a:latin typeface="Times New Roman" panose="02020603050405020304" pitchFamily="18" charset="0"/>
              </a:rPr>
              <a:t>Execution of multiple threads on a single CPU, in some</a:t>
            </a:r>
            <a:r>
              <a:rPr sz="2400" dirty="0">
                <a:latin typeface="Times New Roman" panose="02020603050405020304" pitchFamily="18" charset="0"/>
              </a:rPr>
              <a:t> </a:t>
            </a:r>
            <a:r>
              <a:rPr lang="bg-BG" altLang="x-none" sz="2400" dirty="0">
                <a:latin typeface="Times New Roman" panose="02020603050405020304" pitchFamily="18" charset="0"/>
              </a:rPr>
              <a:t>order, is called</a:t>
            </a:r>
            <a:r>
              <a:rPr sz="2400" dirty="0">
                <a:latin typeface="Times New Roman" panose="02020603050405020304" pitchFamily="18" charset="0"/>
              </a:rPr>
              <a:t> </a:t>
            </a:r>
            <a:r>
              <a:rPr lang="bg-BG" altLang="x-none" sz="2400" b="1" dirty="0">
                <a:latin typeface="Times New Roman" panose="02020603050405020304" pitchFamily="18" charset="0"/>
              </a:rPr>
              <a:t>scheduling</a:t>
            </a:r>
            <a:r>
              <a:rPr lang="bg-BG" altLang="x-none" sz="2400" dirty="0">
                <a:latin typeface="Times New Roman" panose="02020603050405020304" pitchFamily="18" charset="0"/>
              </a:rPr>
              <a:t>.</a:t>
            </a: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endParaRPr lang="bg-BG" altLang="x-none"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lang="bg-BG" altLang="x-none" sz="2400" dirty="0">
                <a:latin typeface="Times New Roman" panose="02020603050405020304" pitchFamily="18" charset="0"/>
              </a:rPr>
              <a:t>The Java runtime supports a very simple </a:t>
            </a:r>
            <a:r>
              <a:rPr lang="bg-BG" altLang="x-none" sz="2400" b="1" dirty="0">
                <a:latin typeface="Times New Roman" panose="02020603050405020304" pitchFamily="18" charset="0"/>
              </a:rPr>
              <a:t>scheduling</a:t>
            </a:r>
            <a:r>
              <a:rPr sz="2400" b="1" dirty="0">
                <a:latin typeface="Times New Roman" panose="02020603050405020304" pitchFamily="18" charset="0"/>
              </a:rPr>
              <a:t> </a:t>
            </a:r>
            <a:r>
              <a:rPr lang="bg-BG" altLang="x-none" sz="2400" b="1" dirty="0">
                <a:latin typeface="Times New Roman" panose="02020603050405020304" pitchFamily="18" charset="0"/>
              </a:rPr>
              <a:t>algorithm</a:t>
            </a:r>
            <a:r>
              <a:rPr lang="bg-BG" altLang="x-none" sz="2400" dirty="0">
                <a:latin typeface="Times New Roman" panose="02020603050405020304" pitchFamily="18" charset="0"/>
              </a:rPr>
              <a:t> (fixed priority scheduling). This algorithm</a:t>
            </a:r>
            <a:r>
              <a:rPr sz="2400" dirty="0">
                <a:latin typeface="Times New Roman" panose="02020603050405020304" pitchFamily="18" charset="0"/>
              </a:rPr>
              <a:t> </a:t>
            </a:r>
            <a:r>
              <a:rPr lang="bg-BG" altLang="x-none" sz="2400" dirty="0">
                <a:latin typeface="Times New Roman" panose="02020603050405020304" pitchFamily="18" charset="0"/>
              </a:rPr>
              <a:t>schedules threads based on their priority relative to</a:t>
            </a:r>
            <a:r>
              <a:rPr sz="2400" dirty="0">
                <a:latin typeface="Times New Roman" panose="02020603050405020304" pitchFamily="18" charset="0"/>
              </a:rPr>
              <a:t> </a:t>
            </a:r>
            <a:r>
              <a:rPr lang="bg-BG" altLang="x-none" sz="2400" dirty="0">
                <a:latin typeface="Times New Roman" panose="02020603050405020304" pitchFamily="18" charset="0"/>
              </a:rPr>
              <a:t>other runnable threads.</a:t>
            </a: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lang="bg-BG" altLang="x-none" sz="2400" dirty="0">
                <a:latin typeface="Times New Roman" panose="02020603050405020304" pitchFamily="18" charset="0"/>
              </a:rPr>
              <a:t>The runtime system chooses the runnable thread</a:t>
            </a:r>
            <a:r>
              <a:rPr sz="2400" dirty="0">
                <a:latin typeface="Times New Roman" panose="02020603050405020304" pitchFamily="18" charset="0"/>
              </a:rPr>
              <a:t> </a:t>
            </a:r>
            <a:r>
              <a:rPr lang="bg-BG" altLang="x-none" sz="2400" dirty="0">
                <a:latin typeface="Times New Roman" panose="02020603050405020304" pitchFamily="18" charset="0"/>
              </a:rPr>
              <a:t>with the </a:t>
            </a:r>
            <a:r>
              <a:rPr lang="bg-BG" altLang="x-none" sz="2400" b="1" dirty="0">
                <a:latin typeface="Times New Roman" panose="02020603050405020304" pitchFamily="18" charset="0"/>
              </a:rPr>
              <a:t>highest</a:t>
            </a:r>
            <a:r>
              <a:rPr lang="bg-BG" altLang="x-none" sz="2400" dirty="0">
                <a:latin typeface="Times New Roman" panose="02020603050405020304" pitchFamily="18" charset="0"/>
              </a:rPr>
              <a:t> priority for execution</a:t>
            </a:r>
            <a:r>
              <a:rPr sz="2400" dirty="0">
                <a:latin typeface="Times New Roman" panose="02020603050405020304" pitchFamily="18" charset="0"/>
              </a:rPr>
              <a:t>.</a:t>
            </a:r>
            <a:endParaRPr lang="bg-BG" altLang="x-none" sz="2400" dirty="0">
              <a:latin typeface="Times New Roman" panose="02020603050405020304" pitchFamily="18"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33795"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33796"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Thread Priority</a:t>
            </a:r>
            <a:endParaRPr lang="en-CA" altLang="x-none" sz="2800" dirty="0">
              <a:solidFill>
                <a:srgbClr val="FF9900"/>
              </a:solidFill>
              <a:ea typeface="Times New Roman" panose="02020603050405020304" pitchFamily="18" charset="0"/>
            </a:endParaRPr>
          </a:p>
        </p:txBody>
      </p:sp>
      <p:sp>
        <p:nvSpPr>
          <p:cNvPr id="33797" name="Rectangle 3" descr="Rectangle: Click to edit Master text styles&#13;&#10;Second level&#13;&#10;Third level&#13;&#10;Fourth level&#13;&#10;Fifth level"/>
          <p:cNvSpPr/>
          <p:nvPr/>
        </p:nvSpPr>
        <p:spPr>
          <a:xfrm>
            <a:off x="304800" y="685800"/>
            <a:ext cx="8534400" cy="5791200"/>
          </a:xfrm>
          <a:prstGeom prst="rect">
            <a:avLst/>
          </a:prstGeom>
          <a:noFill/>
          <a:ln w="9525">
            <a:noFill/>
          </a:ln>
        </p:spPr>
        <p:txBody>
          <a:bodyPr/>
          <a:p>
            <a:pPr marL="339725" indent="-339725" algn="just">
              <a:spcBef>
                <a:spcPct val="20000"/>
              </a:spcBef>
              <a:buClr>
                <a:schemeClr val="bg2"/>
              </a:buClr>
              <a:buSzPct val="75000"/>
              <a:buFont typeface="Wingdings" panose="05000000000000000000" pitchFamily="2" charset="2"/>
              <a:buChar char="§"/>
            </a:pPr>
            <a:r>
              <a:rPr lang="bg-BG" altLang="x-none" sz="2400" dirty="0">
                <a:latin typeface="Times New Roman" panose="02020603050405020304" pitchFamily="18" charset="0"/>
              </a:rPr>
              <a:t>If two threads of the same priority are waiting for the</a:t>
            </a:r>
            <a:r>
              <a:rPr sz="2400" dirty="0">
                <a:latin typeface="Times New Roman" panose="02020603050405020304" pitchFamily="18" charset="0"/>
              </a:rPr>
              <a:t> </a:t>
            </a:r>
            <a:r>
              <a:rPr lang="bg-BG" altLang="x-none" sz="2400" dirty="0">
                <a:latin typeface="Times New Roman" panose="02020603050405020304" pitchFamily="18" charset="0"/>
              </a:rPr>
              <a:t>CPU, the scheduler chooses one of them to run in a</a:t>
            </a:r>
            <a:r>
              <a:rPr sz="2400" dirty="0">
                <a:latin typeface="Times New Roman" panose="02020603050405020304" pitchFamily="18" charset="0"/>
              </a:rPr>
              <a:t> </a:t>
            </a:r>
            <a:r>
              <a:rPr lang="bg-BG" altLang="x-none" sz="2400" b="1" dirty="0">
                <a:latin typeface="Times New Roman" panose="02020603050405020304" pitchFamily="18" charset="0"/>
              </a:rPr>
              <a:t>round-robin fashion</a:t>
            </a:r>
            <a:r>
              <a:rPr sz="2400" dirty="0">
                <a:latin typeface="Times New Roman" panose="02020603050405020304" pitchFamily="18" charset="0"/>
              </a:rPr>
              <a:t> - each process is guaranteed to get its turn at the CPU at every system-specified time interval.</a:t>
            </a: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endParaRPr lang="bg-BG" altLang="x-none"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lang="bg-BG" altLang="x-none" sz="2400" dirty="0">
                <a:latin typeface="Times New Roman" panose="02020603050405020304" pitchFamily="18" charset="0"/>
              </a:rPr>
              <a:t>The chosen thread will run until:</a:t>
            </a:r>
            <a:endParaRPr lang="bg-BG" altLang="x-none" sz="2400" dirty="0">
              <a:latin typeface="Times New Roman" panose="02020603050405020304" pitchFamily="18" charset="0"/>
            </a:endParaRPr>
          </a:p>
          <a:p>
            <a:pPr marL="742950" lvl="1" indent="-285750" algn="just" eaLnBrk="1" hangingPunct="1">
              <a:spcBef>
                <a:spcPct val="20000"/>
              </a:spcBef>
              <a:buClr>
                <a:schemeClr val="accent2"/>
              </a:buClr>
              <a:buSzPct val="80000"/>
              <a:buFont typeface="Wingdings" panose="05000000000000000000" pitchFamily="2" charset="2"/>
              <a:buChar char="§"/>
            </a:pPr>
            <a:r>
              <a:rPr lang="bg-BG" altLang="x-none" sz="2400" dirty="0">
                <a:latin typeface="Times New Roman" panose="02020603050405020304" pitchFamily="18" charset="0"/>
              </a:rPr>
              <a:t>A higher priority thread becomes runnable.</a:t>
            </a:r>
            <a:endParaRPr lang="bg-BG" altLang="x-none" sz="2400" dirty="0">
              <a:latin typeface="Times New Roman" panose="02020603050405020304" pitchFamily="18" charset="0"/>
            </a:endParaRPr>
          </a:p>
          <a:p>
            <a:pPr marL="742950" lvl="1" indent="-285750" algn="just" eaLnBrk="1" hangingPunct="1">
              <a:spcBef>
                <a:spcPct val="20000"/>
              </a:spcBef>
              <a:buClr>
                <a:schemeClr val="accent2"/>
              </a:buClr>
              <a:buSzPct val="80000"/>
              <a:buFont typeface="Wingdings" panose="05000000000000000000" pitchFamily="2" charset="2"/>
              <a:buChar char="§"/>
            </a:pPr>
            <a:r>
              <a:rPr lang="bg-BG" altLang="x-none" sz="2400" dirty="0">
                <a:latin typeface="Times New Roman" panose="02020603050405020304" pitchFamily="18" charset="0"/>
              </a:rPr>
              <a:t>It yields</a:t>
            </a:r>
            <a:r>
              <a:rPr sz="2400" dirty="0">
                <a:latin typeface="Times New Roman" panose="02020603050405020304" pitchFamily="18" charset="0"/>
              </a:rPr>
              <a:t> (calls its </a:t>
            </a:r>
            <a:r>
              <a:rPr sz="2400" b="1" i="1" dirty="0">
                <a:latin typeface="Times New Roman" panose="02020603050405020304" pitchFamily="18" charset="0"/>
              </a:rPr>
              <a:t>yield()</a:t>
            </a:r>
            <a:r>
              <a:rPr sz="2400" dirty="0">
                <a:latin typeface="Times New Roman" panose="02020603050405020304" pitchFamily="18" charset="0"/>
              </a:rPr>
              <a:t> method)</a:t>
            </a:r>
            <a:r>
              <a:rPr lang="bg-BG" altLang="x-none" sz="2400" dirty="0">
                <a:latin typeface="Times New Roman" panose="02020603050405020304" pitchFamily="18" charset="0"/>
              </a:rPr>
              <a:t>, or its </a:t>
            </a:r>
            <a:r>
              <a:rPr lang="bg-BG" altLang="x-none" sz="2400" b="1" i="1" dirty="0">
                <a:latin typeface="Times New Roman" panose="02020603050405020304" pitchFamily="18" charset="0"/>
              </a:rPr>
              <a:t>run</a:t>
            </a:r>
            <a:r>
              <a:rPr sz="2400" b="1" i="1" dirty="0">
                <a:latin typeface="Times New Roman" panose="02020603050405020304" pitchFamily="18" charset="0"/>
              </a:rPr>
              <a:t>()</a:t>
            </a:r>
            <a:r>
              <a:rPr lang="bg-BG" altLang="x-none" sz="2400" dirty="0">
                <a:latin typeface="Times New Roman" panose="02020603050405020304" pitchFamily="18" charset="0"/>
              </a:rPr>
              <a:t> method exits.</a:t>
            </a:r>
            <a:endParaRPr lang="bg-BG" altLang="x-none" sz="2400" dirty="0">
              <a:latin typeface="Times New Roman" panose="02020603050405020304" pitchFamily="18" charset="0"/>
            </a:endParaRPr>
          </a:p>
          <a:p>
            <a:pPr marL="742950" lvl="1" indent="-285750" algn="just" eaLnBrk="1" hangingPunct="1">
              <a:spcBef>
                <a:spcPct val="20000"/>
              </a:spcBef>
              <a:buClr>
                <a:schemeClr val="accent2"/>
              </a:buClr>
              <a:buSzPct val="80000"/>
              <a:buFont typeface="Wingdings" panose="05000000000000000000" pitchFamily="2" charset="2"/>
              <a:buChar char="§"/>
            </a:pPr>
            <a:r>
              <a:rPr lang="bg-BG" altLang="x-none" sz="2400" dirty="0">
                <a:latin typeface="Times New Roman" panose="02020603050405020304" pitchFamily="18" charset="0"/>
              </a:rPr>
              <a:t>On systems that support </a:t>
            </a:r>
            <a:r>
              <a:rPr lang="bg-BG" altLang="x-none" sz="2400" b="1" dirty="0">
                <a:latin typeface="Times New Roman" panose="02020603050405020304" pitchFamily="18" charset="0"/>
              </a:rPr>
              <a:t>time-slicing</a:t>
            </a:r>
            <a:r>
              <a:rPr lang="bg-BG" altLang="x-none" sz="2400" dirty="0">
                <a:latin typeface="Times New Roman" panose="02020603050405020304" pitchFamily="18" charset="0"/>
              </a:rPr>
              <a:t>, its time allotment has</a:t>
            </a:r>
            <a:r>
              <a:rPr sz="2400" dirty="0">
                <a:latin typeface="Times New Roman" panose="02020603050405020304" pitchFamily="18" charset="0"/>
              </a:rPr>
              <a:t> elapsed.</a:t>
            </a:r>
            <a:endParaRPr sz="2400" dirty="0">
              <a:latin typeface="Times New Roman" panose="02020603050405020304" pitchFamily="18" charset="0"/>
            </a:endParaRPr>
          </a:p>
          <a:p>
            <a:pPr marL="742950" lvl="1" indent="-285750" algn="just" eaLnBrk="1" hangingPunct="1">
              <a:spcBef>
                <a:spcPct val="20000"/>
              </a:spcBef>
              <a:buClr>
                <a:schemeClr val="accent2"/>
              </a:buClr>
              <a:buSzPct val="80000"/>
              <a:buFont typeface="Wingdings" panose="05000000000000000000" pitchFamily="2" charset="2"/>
              <a:buChar char="§"/>
            </a:pP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lang="bg-BG" altLang="x-none" sz="2400" dirty="0">
                <a:latin typeface="Times New Roman" panose="02020603050405020304" pitchFamily="18" charset="0"/>
              </a:rPr>
              <a:t>You can modify a thread's priority at any time after its</a:t>
            </a:r>
            <a:r>
              <a:rPr sz="2400" dirty="0">
                <a:latin typeface="Times New Roman" panose="02020603050405020304" pitchFamily="18" charset="0"/>
              </a:rPr>
              <a:t> </a:t>
            </a:r>
            <a:r>
              <a:rPr lang="bg-BG" altLang="x-none" sz="2400" dirty="0">
                <a:latin typeface="Times New Roman" panose="02020603050405020304" pitchFamily="18" charset="0"/>
              </a:rPr>
              <a:t>creation </a:t>
            </a:r>
            <a:r>
              <a:rPr sz="2400" dirty="0">
                <a:latin typeface="Times New Roman" panose="02020603050405020304" pitchFamily="18" charset="0"/>
              </a:rPr>
              <a:t>by </a:t>
            </a:r>
            <a:r>
              <a:rPr lang="bg-BG" altLang="x-none" sz="2400" dirty="0">
                <a:latin typeface="Times New Roman" panose="02020603050405020304" pitchFamily="18" charset="0"/>
              </a:rPr>
              <a:t>using the </a:t>
            </a:r>
            <a:r>
              <a:rPr lang="bg-BG" altLang="x-none" sz="2400" b="1" i="1" dirty="0">
                <a:latin typeface="Times New Roman" panose="02020603050405020304" pitchFamily="18" charset="0"/>
              </a:rPr>
              <a:t>setPriority</a:t>
            </a:r>
            <a:r>
              <a:rPr sz="2400" b="1" i="1" dirty="0">
                <a:latin typeface="Times New Roman" panose="02020603050405020304" pitchFamily="18" charset="0"/>
              </a:rPr>
              <a:t>()</a:t>
            </a:r>
            <a:r>
              <a:rPr lang="bg-BG" altLang="x-none" sz="2400" dirty="0">
                <a:latin typeface="Times New Roman" panose="02020603050405020304" pitchFamily="18" charset="0"/>
              </a:rPr>
              <a:t> method.</a:t>
            </a:r>
            <a:endParaRPr sz="2400" dirty="0">
              <a:latin typeface="Times New Roman" panose="02020603050405020304" pitchFamily="18"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34819"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34820"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Synchronization of Java Threads</a:t>
            </a:r>
            <a:endParaRPr lang="en-CA" altLang="x-none" sz="2800" dirty="0">
              <a:solidFill>
                <a:srgbClr val="FF9900"/>
              </a:solidFill>
              <a:ea typeface="Times New Roman" panose="02020603050405020304" pitchFamily="18" charset="0"/>
            </a:endParaRPr>
          </a:p>
        </p:txBody>
      </p:sp>
      <p:sp>
        <p:nvSpPr>
          <p:cNvPr id="312323" name="Rectangle 3" descr="Rectangle: Click to edit Master text styles&#10;Second level&#10;Third level&#10;Fourth level&#10;Fifth level"/>
          <p:cNvSpPr>
            <a:spLocks noChangeArrowheads="1"/>
          </p:cNvSpPr>
          <p:nvPr/>
        </p:nvSpPr>
        <p:spPr bwMode="auto">
          <a:xfrm>
            <a:off x="304800" y="685800"/>
            <a:ext cx="8534400" cy="5791200"/>
          </a:xfrm>
          <a:prstGeom prst="rect">
            <a:avLst/>
          </a:prstGeom>
          <a:noFill/>
          <a:ln w="9525">
            <a:noFill/>
            <a:miter lim="800000"/>
          </a:ln>
          <a:effectLst/>
        </p:spPr>
        <p:txBody>
          <a:bodyPr/>
          <a:lstStyle/>
          <a:p>
            <a:pPr marL="339725" marR="0" lvl="0" indent="-339725"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a:pP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In many cases </a:t>
            </a:r>
            <a:r>
              <a:rPr kumimoji="0" lang="bg-BG"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concurrently</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running threads share data</a:t>
            </a: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and must consider the state and activities of other</a:t>
            </a: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threads.</a:t>
            </a:r>
            <a:endPar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339725" marR="0" lvl="0" indent="-339725"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a:pP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If two threads can both execute a method that modifies</a:t>
            </a: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the state of an object then the method should be</a:t>
            </a: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declared to be </a:t>
            </a:r>
            <a:r>
              <a:rPr kumimoji="0" lang="bg-BG" sz="20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synchronized</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those </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allowing only one</a:t>
            </a: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thread to execute the method at a time.</a:t>
            </a:r>
            <a:endPar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339725" marR="0" lvl="0" indent="-339725"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a:pP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If a class has at least one </a:t>
            </a:r>
            <a:r>
              <a:rPr kumimoji="0" lang="bg-BG" sz="20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synchronized</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method, each</a:t>
            </a: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instance of it has a </a:t>
            </a:r>
            <a:r>
              <a:rPr kumimoji="0" lang="bg-BG"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monitor</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 monitor is an object that</a:t>
            </a: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can </a:t>
            </a:r>
            <a:r>
              <a:rPr kumimoji="0" lang="bg-BG"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block</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threads and </a:t>
            </a:r>
            <a:r>
              <a:rPr kumimoji="0" lang="bg-BG"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notify</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them when </a:t>
            </a: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the method is </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available.</a:t>
            </a:r>
            <a:endPar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339725" marR="0" lvl="0" indent="-339725"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339725" marR="0" lvl="0" indent="-339725"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bg-BG" sz="20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Example:</a:t>
            </a:r>
            <a:endParaRPr kumimoji="0" lang="bg-BG" sz="20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339725" marR="0" lvl="0" indent="-339725"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bg-BG" sz="20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public </a:t>
            </a:r>
            <a:r>
              <a:rPr kumimoji="0" lang="bg-BG" sz="2000" b="1" i="1" u="none" strike="noStrike" kern="1200" cap="none" spc="0" normalizeH="0" baseline="0" noProof="0">
                <a:ln>
                  <a:noFill/>
                </a:ln>
                <a:solidFill>
                  <a:srgbClr val="C72105"/>
                </a:solidFill>
                <a:effectLst/>
                <a:uLnTx/>
                <a:uFillTx/>
                <a:latin typeface="Times New Roman" panose="02020603050405020304" pitchFamily="18" charset="0"/>
                <a:ea typeface="+mn-ea"/>
                <a:cs typeface="+mn-cs"/>
              </a:rPr>
              <a:t>synchronized</a:t>
            </a:r>
            <a:r>
              <a:rPr kumimoji="0" lang="bg-BG" sz="20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void updateRecord() {</a:t>
            </a:r>
            <a:endParaRPr kumimoji="0" lang="bg-BG" sz="20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339725" marR="0" lvl="0" indent="-339725"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bg-BG" sz="2000" b="1" i="1" u="none" strike="noStrike" kern="1200" cap="none" spc="0" normalizeH="0" baseline="0" noProof="0">
                <a:ln>
                  <a:noFill/>
                </a:ln>
                <a:solidFill>
                  <a:srgbClr val="00CC00"/>
                </a:solidFill>
                <a:effectLst/>
                <a:uLnTx/>
                <a:uFillTx/>
                <a:latin typeface="Times New Roman" panose="02020603050405020304" pitchFamily="18" charset="0"/>
                <a:ea typeface="+mn-ea"/>
                <a:cs typeface="+mn-cs"/>
              </a:rPr>
              <a:t>//</a:t>
            </a:r>
            <a:r>
              <a:rPr kumimoji="0" lang="en-US" sz="2000" b="1" i="1" u="none" strike="noStrike" kern="1200" cap="none" spc="0" normalizeH="0" baseline="0" noProof="0">
                <a:ln>
                  <a:noFill/>
                </a:ln>
                <a:solidFill>
                  <a:srgbClr val="00CC00"/>
                </a:solidFill>
                <a:effectLst/>
                <a:uLnTx/>
                <a:uFillTx/>
                <a:latin typeface="Times New Roman" panose="02020603050405020304" pitchFamily="18" charset="0"/>
                <a:ea typeface="+mn-ea"/>
                <a:cs typeface="+mn-cs"/>
              </a:rPr>
              <a:t>****</a:t>
            </a:r>
            <a:r>
              <a:rPr kumimoji="0" lang="bg-BG" sz="2000" b="1" i="1" u="none" strike="noStrike" kern="1200" cap="none" spc="0" normalizeH="0" baseline="0" noProof="0">
                <a:ln>
                  <a:noFill/>
                </a:ln>
                <a:solidFill>
                  <a:srgbClr val="00CC00"/>
                </a:solidFill>
                <a:effectLst/>
                <a:uLnTx/>
                <a:uFillTx/>
                <a:latin typeface="Times New Roman" panose="02020603050405020304" pitchFamily="18" charset="0"/>
                <a:ea typeface="+mn-ea"/>
                <a:cs typeface="+mn-cs"/>
              </a:rPr>
              <a:t> critical code goes here …</a:t>
            </a:r>
            <a:endParaRPr kumimoji="0" lang="bg-BG" sz="2000" b="1" i="1" u="none" strike="noStrike" kern="1200" cap="none" spc="0" normalizeH="0" baseline="0" noProof="0">
              <a:ln>
                <a:noFill/>
              </a:ln>
              <a:solidFill>
                <a:srgbClr val="00CC00"/>
              </a:solidFill>
              <a:effectLst/>
              <a:uLnTx/>
              <a:uFillTx/>
              <a:latin typeface="Times New Roman" panose="02020603050405020304" pitchFamily="18" charset="0"/>
              <a:ea typeface="+mn-ea"/>
              <a:cs typeface="+mn-cs"/>
            </a:endParaRPr>
          </a:p>
          <a:p>
            <a:pPr marL="339725" marR="0" lvl="0" indent="-339725"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bg-BG" sz="20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r>
            <a:endParaRPr kumimoji="0" lang="bg-BG" sz="20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339725" marR="0" lvl="0" indent="-339725"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a:pP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Only one thread may be inside the body of this function.</a:t>
            </a: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 second call will be blocked until the first call returns or</a:t>
            </a: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20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wait()</a:t>
            </a:r>
            <a:r>
              <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is called inside the synchronized method.</a:t>
            </a:r>
            <a:endParaRPr kumimoji="0" lang="bg-BG"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339725" marR="0" lvl="0" indent="-339725"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a:pPr>
            <a:endPar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35843"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35844"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Synchronization of Java Threads</a:t>
            </a:r>
            <a:endParaRPr lang="en-CA" altLang="x-none" sz="2800" dirty="0">
              <a:solidFill>
                <a:srgbClr val="FF9900"/>
              </a:solidFill>
              <a:ea typeface="Times New Roman" panose="02020603050405020304" pitchFamily="18" charset="0"/>
            </a:endParaRPr>
          </a:p>
        </p:txBody>
      </p:sp>
      <p:sp>
        <p:nvSpPr>
          <p:cNvPr id="35845" name="Rectangle 3" descr="Rectangle: Click to edit Master text styles&#13;&#10;Second level&#13;&#10;Third level&#13;&#10;Fourth level&#13;&#10;Fifth level"/>
          <p:cNvSpPr/>
          <p:nvPr/>
        </p:nvSpPr>
        <p:spPr>
          <a:xfrm>
            <a:off x="304800" y="685800"/>
            <a:ext cx="8534400" cy="5791200"/>
          </a:xfrm>
          <a:prstGeom prst="rect">
            <a:avLst/>
          </a:prstGeom>
          <a:noFill/>
          <a:ln w="9525">
            <a:noFill/>
          </a:ln>
        </p:spPr>
        <p:txBody>
          <a:bodyPr/>
          <a:p>
            <a:pPr marL="228600" indent="-228600" algn="just">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If you don’t need to protect an entire method, you can synchronize on an object:</a:t>
            </a:r>
            <a:endParaRPr sz="2400" dirty="0">
              <a:latin typeface="Times New Roman" panose="02020603050405020304" pitchFamily="18" charset="0"/>
            </a:endParaRPr>
          </a:p>
          <a:p>
            <a:pPr marL="342900" lvl="1" indent="0" algn="just" eaLnBrk="1" hangingPunct="1">
              <a:spcBef>
                <a:spcPct val="20000"/>
              </a:spcBef>
              <a:buClr>
                <a:schemeClr val="accent2"/>
              </a:buClr>
              <a:buSzPct val="80000"/>
              <a:buFont typeface="Wingdings" panose="05000000000000000000" pitchFamily="2" charset="2"/>
            </a:pPr>
            <a:r>
              <a:rPr b="1" i="1" dirty="0">
                <a:latin typeface="Times New Roman" panose="02020603050405020304" pitchFamily="18" charset="0"/>
              </a:rPr>
              <a:t>public void foo() { </a:t>
            </a:r>
            <a:endParaRPr b="1" i="1" dirty="0">
              <a:latin typeface="Times New Roman" panose="02020603050405020304" pitchFamily="18" charset="0"/>
            </a:endParaRPr>
          </a:p>
          <a:p>
            <a:pPr marL="1600200" lvl="3" indent="-228600" algn="just" eaLnBrk="1" hangingPunct="1">
              <a:spcBef>
                <a:spcPct val="20000"/>
              </a:spcBef>
              <a:buClr>
                <a:schemeClr val="accent2"/>
              </a:buClr>
              <a:buSzPct val="70000"/>
              <a:buFont typeface="Wingdings" panose="05000000000000000000" pitchFamily="2" charset="2"/>
            </a:pPr>
            <a:r>
              <a:rPr b="1" i="1" dirty="0">
                <a:solidFill>
                  <a:srgbClr val="C72105"/>
                </a:solidFill>
                <a:latin typeface="Times New Roman" panose="02020603050405020304" pitchFamily="18" charset="0"/>
              </a:rPr>
              <a:t>synchronized (this)</a:t>
            </a:r>
            <a:r>
              <a:rPr b="1" i="1" dirty="0">
                <a:latin typeface="Times New Roman" panose="02020603050405020304" pitchFamily="18" charset="0"/>
              </a:rPr>
              <a:t> { </a:t>
            </a:r>
            <a:endParaRPr b="1" i="1" dirty="0">
              <a:latin typeface="Times New Roman" panose="02020603050405020304" pitchFamily="18" charset="0"/>
            </a:endParaRPr>
          </a:p>
          <a:p>
            <a:pPr marL="1600200" lvl="3" indent="-228600" algn="just" eaLnBrk="1" hangingPunct="1">
              <a:spcBef>
                <a:spcPct val="20000"/>
              </a:spcBef>
              <a:buClr>
                <a:schemeClr val="accent2"/>
              </a:buClr>
              <a:buSzPct val="70000"/>
              <a:buFont typeface="Wingdings" panose="05000000000000000000" pitchFamily="2" charset="2"/>
            </a:pPr>
            <a:r>
              <a:rPr b="1" i="1" dirty="0">
                <a:solidFill>
                  <a:srgbClr val="00CC00"/>
                </a:solidFill>
                <a:latin typeface="Times New Roman" panose="02020603050405020304" pitchFamily="18" charset="0"/>
              </a:rPr>
              <a:t>//critical code goes here …</a:t>
            </a:r>
            <a:endParaRPr b="1" i="1" dirty="0">
              <a:solidFill>
                <a:srgbClr val="00CC00"/>
              </a:solidFill>
              <a:latin typeface="Times New Roman" panose="02020603050405020304" pitchFamily="18" charset="0"/>
            </a:endParaRPr>
          </a:p>
          <a:p>
            <a:pPr marL="1600200" lvl="3" indent="-228600" algn="just" eaLnBrk="1" hangingPunct="1">
              <a:spcBef>
                <a:spcPct val="20000"/>
              </a:spcBef>
              <a:buClr>
                <a:schemeClr val="accent2"/>
              </a:buClr>
              <a:buSzPct val="70000"/>
              <a:buFont typeface="Wingdings" panose="05000000000000000000" pitchFamily="2" charset="2"/>
            </a:pPr>
            <a:r>
              <a:rPr b="1" i="1" dirty="0">
                <a:latin typeface="Times New Roman" panose="02020603050405020304" pitchFamily="18" charset="0"/>
              </a:rPr>
              <a:t>} </a:t>
            </a:r>
            <a:endParaRPr b="1" i="1" dirty="0">
              <a:latin typeface="Times New Roman" panose="02020603050405020304" pitchFamily="18" charset="0"/>
            </a:endParaRPr>
          </a:p>
          <a:p>
            <a:pPr marL="1600200" lvl="3" indent="-228600" algn="just" eaLnBrk="1" hangingPunct="1">
              <a:spcBef>
                <a:spcPct val="20000"/>
              </a:spcBef>
              <a:buClr>
                <a:schemeClr val="accent2"/>
              </a:buClr>
              <a:buSzPct val="70000"/>
              <a:buFont typeface="Wingdings" panose="05000000000000000000" pitchFamily="2" charset="2"/>
            </a:pPr>
            <a:r>
              <a:rPr b="1" i="1" dirty="0">
                <a:latin typeface="Times New Roman" panose="02020603050405020304" pitchFamily="18" charset="0"/>
              </a:rPr>
              <a:t>…</a:t>
            </a:r>
            <a:endParaRPr b="1" i="1" dirty="0">
              <a:latin typeface="Times New Roman" panose="02020603050405020304" pitchFamily="18" charset="0"/>
            </a:endParaRPr>
          </a:p>
          <a:p>
            <a:pPr marL="342900" lvl="1" indent="0" algn="just" eaLnBrk="1" hangingPunct="1">
              <a:spcBef>
                <a:spcPct val="20000"/>
              </a:spcBef>
              <a:buClr>
                <a:schemeClr val="accent2"/>
              </a:buClr>
              <a:buSzPct val="80000"/>
              <a:buFont typeface="Wingdings" panose="05000000000000000000" pitchFamily="2" charset="2"/>
            </a:pPr>
            <a:r>
              <a:rPr b="1" i="1" dirty="0">
                <a:latin typeface="Times New Roman" panose="02020603050405020304" pitchFamily="18" charset="0"/>
              </a:rPr>
              <a:t>}</a:t>
            </a:r>
            <a:endParaRPr sz="900" b="1" i="1" dirty="0">
              <a:latin typeface="Times New Roman" panose="02020603050405020304" pitchFamily="18" charset="0"/>
            </a:endParaRPr>
          </a:p>
          <a:p>
            <a:pPr marL="342900" lvl="1" indent="0" algn="just" eaLnBrk="1" hangingPunct="1">
              <a:spcBef>
                <a:spcPct val="20000"/>
              </a:spcBef>
              <a:buClr>
                <a:schemeClr val="accent2"/>
              </a:buClr>
              <a:buSzPct val="80000"/>
              <a:buFont typeface="Wingdings" panose="05000000000000000000" pitchFamily="2" charset="2"/>
            </a:pPr>
            <a:endParaRPr sz="900" b="1" i="1" dirty="0">
              <a:latin typeface="Times New Roman" panose="02020603050405020304" pitchFamily="18" charset="0"/>
            </a:endParaRPr>
          </a:p>
          <a:p>
            <a:pPr marL="228600" indent="-228600" algn="just">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rPr>
              <a:t>There are </a:t>
            </a:r>
            <a:r>
              <a:rPr sz="2400" b="1" dirty="0">
                <a:latin typeface="Times New Roman" panose="02020603050405020304" pitchFamily="18" charset="0"/>
              </a:rPr>
              <a:t>two syntactic forms</a:t>
            </a:r>
            <a:r>
              <a:rPr sz="2400" dirty="0">
                <a:latin typeface="Times New Roman" panose="02020603050405020304" pitchFamily="18" charset="0"/>
              </a:rPr>
              <a:t> based on the </a:t>
            </a:r>
            <a:r>
              <a:rPr sz="2400" b="1" dirty="0">
                <a:latin typeface="Times New Roman" panose="02020603050405020304" pitchFamily="18" charset="0"/>
              </a:rPr>
              <a:t>synchronized</a:t>
            </a:r>
            <a:r>
              <a:rPr sz="2400" dirty="0">
                <a:latin typeface="Times New Roman" panose="02020603050405020304" pitchFamily="18" charset="0"/>
              </a:rPr>
              <a:t> keyword - blocks and methods. </a:t>
            </a:r>
            <a:endParaRPr sz="2400" dirty="0">
              <a:latin typeface="Times New Roman" panose="02020603050405020304" pitchFamily="18" charset="0"/>
            </a:endParaRPr>
          </a:p>
          <a:p>
            <a:pPr marL="228600" indent="-228600" algn="just">
              <a:spcBef>
                <a:spcPct val="20000"/>
              </a:spcBef>
              <a:buClr>
                <a:schemeClr val="bg2"/>
              </a:buClr>
              <a:buSzPct val="80000"/>
              <a:buFont typeface="Wingdings" panose="05000000000000000000" pitchFamily="2" charset="2"/>
              <a:buChar char="§"/>
            </a:pPr>
            <a:r>
              <a:rPr sz="2400" b="1" dirty="0">
                <a:latin typeface="Times New Roman" panose="02020603050405020304" pitchFamily="18" charset="0"/>
              </a:rPr>
              <a:t>Block synchronization</a:t>
            </a:r>
            <a:r>
              <a:rPr sz="2400" dirty="0">
                <a:latin typeface="Times New Roman" panose="02020603050405020304" pitchFamily="18" charset="0"/>
              </a:rPr>
              <a:t> takes an argument of which object to lock. This allows </a:t>
            </a:r>
            <a:r>
              <a:rPr sz="2400" b="1" dirty="0">
                <a:latin typeface="Times New Roman" panose="02020603050405020304" pitchFamily="18" charset="0"/>
              </a:rPr>
              <a:t>any method to lock any object.</a:t>
            </a:r>
            <a:endParaRPr sz="2400" b="1" dirty="0">
              <a:latin typeface="Times New Roman" panose="02020603050405020304" pitchFamily="18" charset="0"/>
            </a:endParaRPr>
          </a:p>
          <a:p>
            <a:pPr marL="228600" indent="-228600" algn="just">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rPr>
              <a:t>The most common argument to synchronized blocks is </a:t>
            </a:r>
            <a:r>
              <a:rPr sz="2400" b="1" dirty="0">
                <a:latin typeface="Times New Roman" panose="02020603050405020304" pitchFamily="18" charset="0"/>
              </a:rPr>
              <a:t>this.</a:t>
            </a:r>
            <a:endParaRPr sz="2400" b="1" dirty="0">
              <a:latin typeface="Times New Roman" panose="02020603050405020304" pitchFamily="18" charset="0"/>
            </a:endParaRPr>
          </a:p>
          <a:p>
            <a:pPr marL="228600" indent="-228600" algn="just">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rPr>
              <a:t>Block synchronization is considered more fundamental than method synchronization.</a:t>
            </a:r>
            <a:endParaRPr sz="2400" dirty="0">
              <a:latin typeface="Times New Roman" panose="02020603050405020304" pitchFamily="18"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36867"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pic>
        <p:nvPicPr>
          <p:cNvPr id="36868" name="Picture 2"/>
          <p:cNvPicPr>
            <a:picLocks noChangeAspect="1"/>
          </p:cNvPicPr>
          <p:nvPr/>
        </p:nvPicPr>
        <p:blipFill>
          <a:blip r:embed="rId1"/>
          <a:stretch>
            <a:fillRect/>
          </a:stretch>
        </p:blipFill>
        <p:spPr>
          <a:xfrm>
            <a:off x="1752600" y="4518025"/>
            <a:ext cx="5638800" cy="1968500"/>
          </a:xfrm>
          <a:prstGeom prst="rect">
            <a:avLst/>
          </a:prstGeom>
          <a:noFill/>
          <a:ln w="9525">
            <a:noFill/>
          </a:ln>
        </p:spPr>
      </p:pic>
      <p:sp>
        <p:nvSpPr>
          <p:cNvPr id="36869" name="Rectangle 3"/>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Applying Synchronization (Example)</a:t>
            </a:r>
            <a:endParaRPr lang="en-CA" altLang="x-none" sz="2800" dirty="0">
              <a:solidFill>
                <a:srgbClr val="FF9900"/>
              </a:solidFill>
              <a:ea typeface="Times New Roman" panose="02020603050405020304" pitchFamily="18" charset="0"/>
            </a:endParaRPr>
          </a:p>
        </p:txBody>
      </p:sp>
      <p:sp>
        <p:nvSpPr>
          <p:cNvPr id="392196" name="Rectangle 4" descr="Rectangle: Click to edit Master text styles&#10;Second level&#10;Third level&#10;Fourth level&#10;Fifth level"/>
          <p:cNvSpPr>
            <a:spLocks noChangeArrowheads="1"/>
          </p:cNvSpPr>
          <p:nvPr/>
        </p:nvSpPr>
        <p:spPr bwMode="auto">
          <a:xfrm>
            <a:off x="304800" y="685800"/>
            <a:ext cx="8534400" cy="3962400"/>
          </a:xfrm>
          <a:prstGeom prst="rect">
            <a:avLst/>
          </a:prstGeom>
          <a:noFill/>
          <a:ln w="9525">
            <a:noFill/>
            <a:miter lim="800000"/>
          </a:ln>
          <a:effectLst/>
        </p:spPr>
        <p: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sz="18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C</a:t>
            </a:r>
            <a:r>
              <a:rPr kumimoji="0" lang="bg-BG" sz="18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onsider the following class:</a:t>
            </a:r>
            <a:endParaRPr kumimoji="0" lang="bg-BG" sz="18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class Even {</a:t>
            </a:r>
            <a:endParaRPr kumimoji="0" lang="en-US"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private in</a:t>
            </a:r>
            <a:r>
              <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 n = 0;</a:t>
            </a:r>
            <a:endPar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public </a:t>
            </a:r>
            <a:r>
              <a:rPr kumimoji="0" lang="en-US"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int </a:t>
            </a:r>
            <a:r>
              <a:rPr kumimoji="0" lang="bg-BG" sz="1800" b="1" i="1" u="none" strike="noStrike" kern="1200" cap="none" spc="0" normalizeH="0" baseline="0" noProof="0">
                <a:ln>
                  <a:noFill/>
                </a:ln>
                <a:solidFill>
                  <a:srgbClr val="C72105"/>
                </a:solidFill>
                <a:effectLst/>
                <a:uLnTx/>
                <a:uFillTx/>
                <a:latin typeface="Times New Roman" panose="02020603050405020304" pitchFamily="18" charset="0"/>
                <a:ea typeface="+mn-ea"/>
                <a:cs typeface="+mn-cs"/>
              </a:rPr>
              <a:t>next()</a:t>
            </a:r>
            <a:r>
              <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endParaRPr kumimoji="0" lang="bg-BG" sz="1800" b="1" i="0" u="none" strike="noStrike" kern="1200" cap="none" spc="0" normalizeH="0" baseline="0" noProof="0">
              <a:ln>
                <a:noFill/>
              </a:ln>
              <a:solidFill>
                <a:srgbClr val="00CC00"/>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++n;</a:t>
            </a:r>
            <a:endPar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++n;</a:t>
            </a:r>
            <a:endPar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return n; </a:t>
            </a:r>
            <a:r>
              <a:rPr kumimoji="0" lang="bg-BG" sz="1800" b="1" i="0" u="none" strike="noStrike" kern="1200" cap="none" spc="0" normalizeH="0" baseline="0" noProof="0">
                <a:ln>
                  <a:noFill/>
                </a:ln>
                <a:solidFill>
                  <a:srgbClr val="00CC00"/>
                </a:solidFill>
                <a:effectLst/>
                <a:uLnTx/>
                <a:uFillTx/>
                <a:latin typeface="Times New Roman" panose="02020603050405020304" pitchFamily="18" charset="0"/>
                <a:ea typeface="+mn-ea"/>
                <a:cs typeface="+mn-cs"/>
              </a:rPr>
              <a:t>//</a:t>
            </a:r>
            <a:r>
              <a:rPr kumimoji="0" lang="en-US" sz="1800" b="1" i="0" u="none" strike="noStrike" kern="1200" cap="none" spc="0" normalizeH="0" baseline="0" noProof="0">
                <a:ln>
                  <a:noFill/>
                </a:ln>
                <a:solidFill>
                  <a:srgbClr val="00CC00"/>
                </a:solidFill>
                <a:effectLst/>
                <a:uLnTx/>
                <a:uFillTx/>
                <a:latin typeface="Times New Roman" panose="02020603050405020304" pitchFamily="18" charset="0"/>
                <a:ea typeface="+mn-ea"/>
                <a:cs typeface="+mn-cs"/>
              </a:rPr>
              <a:t>**** </a:t>
            </a:r>
            <a:r>
              <a:rPr kumimoji="0" lang="bg-BG" sz="1800" b="1" i="0" u="none" strike="noStrike" kern="1200" cap="none" spc="0" normalizeH="0" baseline="0" noProof="0">
                <a:ln>
                  <a:noFill/>
                </a:ln>
                <a:solidFill>
                  <a:srgbClr val="00CC00"/>
                </a:solidFill>
                <a:effectLst/>
                <a:uLnTx/>
                <a:uFillTx/>
                <a:latin typeface="Times New Roman" panose="02020603050405020304" pitchFamily="18" charset="0"/>
                <a:ea typeface="+mn-ea"/>
                <a:cs typeface="+mn-cs"/>
              </a:rPr>
              <a:t>next is always even</a:t>
            </a:r>
            <a:endParaRPr kumimoji="0" lang="en-US"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r>
            <a:endPar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r>
            <a:endParaRPr kumimoji="0" lang="bg-BG" sz="1800" b="1"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bg-BG"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Without </a:t>
            </a:r>
            <a:r>
              <a:rPr kumimoji="0" 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synchronizing</a:t>
            </a:r>
            <a:r>
              <a:rPr kumimoji="0" lang="bg-BG"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the desired postcondition may fail due to a storage conflict when two or more</a:t>
            </a:r>
            <a:r>
              <a:rPr kumimoji="0" 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bg-BG"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threads execute the next method of the same Even object. </a:t>
            </a:r>
            <a:endParaRPr kumimoji="0" 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bg-BG" sz="18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Here is one possible execution trace</a:t>
            </a:r>
            <a:r>
              <a:rPr kumimoji="0" lang="en-US" sz="18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a:t>
            </a:r>
            <a:endParaRPr kumimoji="0" lang="en-US" sz="18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p:txBody>
      </p:sp>
      <p:grpSp>
        <p:nvGrpSpPr>
          <p:cNvPr id="2" name="Group 5"/>
          <p:cNvGrpSpPr/>
          <p:nvPr/>
        </p:nvGrpSpPr>
        <p:grpSpPr>
          <a:xfrm>
            <a:off x="1724025" y="1371600"/>
            <a:ext cx="6305550" cy="1219200"/>
            <a:chOff x="924" y="864"/>
            <a:chExt cx="3972" cy="768"/>
          </a:xfrm>
        </p:grpSpPr>
        <p:sp>
          <p:nvSpPr>
            <p:cNvPr id="392198" name="Rectangle 6"/>
            <p:cNvSpPr>
              <a:spLocks noChangeArrowheads="1"/>
            </p:cNvSpPr>
            <p:nvPr/>
          </p:nvSpPr>
          <p:spPr bwMode="auto">
            <a:xfrm>
              <a:off x="2544" y="864"/>
              <a:ext cx="2352" cy="768"/>
            </a:xfrm>
            <a:prstGeom prst="rect">
              <a:avLst/>
            </a:prstGeom>
            <a:noFill/>
            <a:ln w="9525">
              <a:solidFill>
                <a:schemeClr val="tx1"/>
              </a:solidFill>
              <a:miter lim="800000"/>
            </a:ln>
            <a:effectLst/>
          </p:spPr>
          <p:txBody>
            <a:bodyPr anchor="ct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bg-BG" sz="20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Declaring the next method as synchronized would </a:t>
              </a:r>
              <a:r>
                <a:rPr kumimoji="0" lang="en-US" sz="20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resolve</a:t>
              </a:r>
              <a:r>
                <a:rPr kumimoji="0" lang="bg-BG" sz="20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 such conflicting </a:t>
              </a:r>
              <a:r>
                <a:rPr kumimoji="0" lang="en-US" sz="20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problems</a:t>
              </a:r>
              <a:r>
                <a:rPr kumimoji="0" lang="bg-BG" sz="20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 </a:t>
              </a:r>
              <a:endParaRPr kumimoji="0" lang="bg-BG" sz="20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p:txBody>
        </p:sp>
        <p:sp>
          <p:nvSpPr>
            <p:cNvPr id="36873" name="Rectangle 7"/>
            <p:cNvSpPr/>
            <p:nvPr/>
          </p:nvSpPr>
          <p:spPr>
            <a:xfrm>
              <a:off x="924" y="1074"/>
              <a:ext cx="852" cy="192"/>
            </a:xfrm>
            <a:prstGeom prst="rect">
              <a:avLst/>
            </a:prstGeom>
            <a:noFill/>
            <a:ln w="9525">
              <a:noFill/>
            </a:ln>
          </p:spPr>
          <p:txBody>
            <a:bodyPr wrap="none" anchor="ctr" anchorCtr="0"/>
            <a:p>
              <a:pPr algn="ctr"/>
              <a:r>
                <a:rPr b="1" i="1" dirty="0">
                  <a:solidFill>
                    <a:srgbClr val="C72105"/>
                  </a:solidFill>
                  <a:latin typeface="Times New Roman" panose="02020603050405020304" pitchFamily="18" charset="0"/>
                </a:rPr>
                <a:t>synchronized</a:t>
              </a:r>
              <a:endParaRPr lang="bg-BG" altLang="x-none" b="1" i="1" dirty="0">
                <a:solidFill>
                  <a:srgbClr val="C72105"/>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37891"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37892"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Synchronization of Java Threads</a:t>
            </a:r>
            <a:endParaRPr lang="en-CA" altLang="x-none" sz="2800" dirty="0">
              <a:solidFill>
                <a:srgbClr val="FF9900"/>
              </a:solidFill>
              <a:ea typeface="Times New Roman" panose="02020603050405020304" pitchFamily="18" charset="0"/>
            </a:endParaRPr>
          </a:p>
        </p:txBody>
      </p:sp>
      <p:sp>
        <p:nvSpPr>
          <p:cNvPr id="37893" name="Rectangle 3" descr="Rectangle: Click to edit Master text styles&#13;&#10;Second level&#13;&#10;Third level&#13;&#10;Fourth level&#13;&#10;Fifth level"/>
          <p:cNvSpPr/>
          <p:nvPr/>
        </p:nvSpPr>
        <p:spPr>
          <a:xfrm>
            <a:off x="304800" y="685800"/>
            <a:ext cx="8534400" cy="5486400"/>
          </a:xfrm>
          <a:prstGeom prst="rect">
            <a:avLst/>
          </a:prstGeom>
          <a:noFill/>
          <a:ln w="9525">
            <a:noFill/>
          </a:ln>
        </p:spPr>
        <p:txBody>
          <a:bodyPr/>
          <a:p>
            <a:pPr marL="228600" indent="-228600" algn="just">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To program the synchronization behavior we use the Object class’ methods </a:t>
            </a:r>
            <a:r>
              <a:rPr sz="2400" b="1" i="1" dirty="0">
                <a:latin typeface="Times New Roman" panose="02020603050405020304" pitchFamily="18" charset="0"/>
              </a:rPr>
              <a:t>wait(), notify()</a:t>
            </a:r>
            <a:r>
              <a:rPr sz="2400" dirty="0">
                <a:latin typeface="Times New Roman" panose="02020603050405020304" pitchFamily="18" charset="0"/>
              </a:rPr>
              <a:t> and </a:t>
            </a:r>
            <a:r>
              <a:rPr sz="2400" b="1" i="1" dirty="0">
                <a:latin typeface="Times New Roman" panose="02020603050405020304" pitchFamily="18" charset="0"/>
              </a:rPr>
              <a:t>notifyAll().</a:t>
            </a:r>
            <a:endParaRPr sz="2400" b="1" i="1" dirty="0">
              <a:latin typeface="Times New Roman" panose="02020603050405020304" pitchFamily="18" charset="0"/>
            </a:endParaRPr>
          </a:p>
          <a:p>
            <a:pPr marL="228600" indent="-228600" algn="just">
              <a:spcBef>
                <a:spcPct val="20000"/>
              </a:spcBef>
              <a:buClr>
                <a:schemeClr val="bg2"/>
              </a:buClr>
              <a:buSzPct val="75000"/>
              <a:buFont typeface="Wingdings" panose="05000000000000000000" pitchFamily="2" charset="2"/>
              <a:buChar char="§"/>
            </a:pPr>
            <a:endParaRPr sz="2400" b="1" i="1" dirty="0">
              <a:latin typeface="Times New Roman" panose="02020603050405020304" pitchFamily="18" charset="0"/>
            </a:endParaRPr>
          </a:p>
          <a:p>
            <a:pPr marL="228600" indent="-228600" algn="just">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With these methods we allow objects to wait until another object notifies them:</a:t>
            </a:r>
            <a:endParaRPr sz="2400" dirty="0">
              <a:latin typeface="Times New Roman" panose="02020603050405020304" pitchFamily="18" charset="0"/>
            </a:endParaRPr>
          </a:p>
          <a:p>
            <a:pPr marL="342900" lvl="1" indent="0" algn="just" eaLnBrk="1" hangingPunct="1">
              <a:spcBef>
                <a:spcPct val="20000"/>
              </a:spcBef>
              <a:buClr>
                <a:schemeClr val="accent2"/>
              </a:buClr>
              <a:buSzPct val="80000"/>
              <a:buFont typeface="Wingdings" panose="05000000000000000000" pitchFamily="2" charset="2"/>
            </a:pPr>
            <a:r>
              <a:rPr sz="2400" b="1" i="1" dirty="0">
                <a:solidFill>
                  <a:srgbClr val="C72105"/>
                </a:solidFill>
                <a:latin typeface="Times New Roman" panose="02020603050405020304" pitchFamily="18" charset="0"/>
              </a:rPr>
              <a:t>synchronized</a:t>
            </a:r>
            <a:r>
              <a:rPr sz="2400" b="1" i="1" dirty="0">
                <a:latin typeface="Times New Roman" panose="02020603050405020304" pitchFamily="18" charset="0"/>
              </a:rPr>
              <a:t>( waitForThis ) {</a:t>
            </a:r>
            <a:endParaRPr sz="2400" b="1" i="1" dirty="0">
              <a:latin typeface="Times New Roman" panose="02020603050405020304" pitchFamily="18" charset="0"/>
            </a:endParaRPr>
          </a:p>
          <a:p>
            <a:pPr marL="457200" lvl="2" indent="0" algn="just" eaLnBrk="1" hangingPunct="1">
              <a:spcBef>
                <a:spcPct val="20000"/>
              </a:spcBef>
              <a:buClr>
                <a:schemeClr val="bg2"/>
              </a:buClr>
              <a:buSzPct val="65000"/>
              <a:buFont typeface="Wingdings" panose="05000000000000000000" pitchFamily="2" charset="2"/>
            </a:pPr>
            <a:r>
              <a:rPr sz="2400" b="1" i="1" dirty="0">
                <a:latin typeface="Times New Roman" panose="02020603050405020304" pitchFamily="18" charset="0"/>
              </a:rPr>
              <a:t>	try { waitForThis.</a:t>
            </a:r>
            <a:r>
              <a:rPr sz="2400" b="1" i="1" dirty="0">
                <a:solidFill>
                  <a:srgbClr val="C72105"/>
                </a:solidFill>
                <a:latin typeface="Times New Roman" panose="02020603050405020304" pitchFamily="18" charset="0"/>
              </a:rPr>
              <a:t>wait()</a:t>
            </a:r>
            <a:r>
              <a:rPr sz="2400" b="1" i="1" dirty="0">
                <a:latin typeface="Times New Roman" panose="02020603050405020304" pitchFamily="18" charset="0"/>
              </a:rPr>
              <a:t>;}</a:t>
            </a:r>
            <a:endParaRPr sz="2400" b="1" i="1" dirty="0">
              <a:latin typeface="Times New Roman" panose="02020603050405020304" pitchFamily="18" charset="0"/>
            </a:endParaRPr>
          </a:p>
          <a:p>
            <a:pPr marL="457200" lvl="2" indent="0" algn="just" eaLnBrk="1" hangingPunct="1">
              <a:spcBef>
                <a:spcPct val="20000"/>
              </a:spcBef>
              <a:buClr>
                <a:schemeClr val="bg2"/>
              </a:buClr>
              <a:buSzPct val="65000"/>
              <a:buFont typeface="Wingdings" panose="05000000000000000000" pitchFamily="2" charset="2"/>
            </a:pPr>
            <a:r>
              <a:rPr sz="2400" b="1" i="1" dirty="0">
                <a:latin typeface="Times New Roman" panose="02020603050405020304" pitchFamily="18" charset="0"/>
              </a:rPr>
              <a:t>	catch (InterruptedException ie) {}</a:t>
            </a:r>
            <a:endParaRPr sz="2400" b="1" i="1" dirty="0">
              <a:latin typeface="Times New Roman" panose="02020603050405020304" pitchFamily="18" charset="0"/>
            </a:endParaRPr>
          </a:p>
          <a:p>
            <a:pPr marL="342900" lvl="1" indent="0" algn="just" eaLnBrk="1" hangingPunct="1">
              <a:spcBef>
                <a:spcPct val="20000"/>
              </a:spcBef>
              <a:buClr>
                <a:schemeClr val="accent2"/>
              </a:buClr>
              <a:buSzPct val="80000"/>
              <a:buFont typeface="Wingdings" panose="05000000000000000000" pitchFamily="2" charset="2"/>
            </a:pPr>
            <a:r>
              <a:rPr sz="2400" b="1" i="1" dirty="0">
                <a:latin typeface="Times New Roman" panose="02020603050405020304" pitchFamily="18" charset="0"/>
              </a:rPr>
              <a:t>}</a:t>
            </a:r>
            <a:endParaRPr sz="2400" b="1" i="1" dirty="0">
              <a:latin typeface="Times New Roman" panose="02020603050405020304" pitchFamily="18" charset="0"/>
            </a:endParaRPr>
          </a:p>
          <a:p>
            <a:pPr marL="228600" indent="-228600" algn="just">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 To wait on an object, you must first </a:t>
            </a:r>
            <a:r>
              <a:rPr sz="2400" b="1" dirty="0">
                <a:latin typeface="Times New Roman" panose="02020603050405020304" pitchFamily="18" charset="0"/>
              </a:rPr>
              <a:t>synchronize</a:t>
            </a:r>
            <a:r>
              <a:rPr sz="2400" dirty="0">
                <a:latin typeface="Times New Roman" panose="02020603050405020304" pitchFamily="18" charset="0"/>
              </a:rPr>
              <a:t> on it.</a:t>
            </a:r>
            <a:endParaRPr sz="2400" dirty="0">
              <a:latin typeface="Times New Roman" panose="02020603050405020304" pitchFamily="18" charset="0"/>
            </a:endParaRPr>
          </a:p>
          <a:p>
            <a:pPr marL="228600" indent="-228600" algn="just">
              <a:spcBef>
                <a:spcPct val="20000"/>
              </a:spcBef>
              <a:buClr>
                <a:schemeClr val="bg2"/>
              </a:buClr>
              <a:buSzPct val="75000"/>
              <a:buFont typeface="Wingdings" panose="05000000000000000000" pitchFamily="2" charset="2"/>
              <a:buChar char="§"/>
            </a:pPr>
            <a:r>
              <a:rPr sz="2400" b="1" i="1" dirty="0">
                <a:latin typeface="Times New Roman" panose="02020603050405020304" pitchFamily="18" charset="0"/>
                <a:cs typeface="Times New Roman" panose="02020603050405020304" pitchFamily="18" charset="0"/>
              </a:rPr>
              <a:t>InterruptedException </a:t>
            </a:r>
            <a:r>
              <a:rPr sz="2400" dirty="0">
                <a:latin typeface="Times New Roman" panose="02020603050405020304" pitchFamily="18" charset="0"/>
                <a:cs typeface="Times New Roman" panose="02020603050405020304" pitchFamily="18" charset="0"/>
              </a:rPr>
              <a:t>is thrown when a thread is waiting, sleeping, or otherwise paused for a long time and another thread interrupts it using the interrupt method in class Thread.</a:t>
            </a:r>
            <a:endParaRPr sz="2400" dirty="0">
              <a:latin typeface="Times New Roman" panose="02020603050405020304" pitchFamily="18" charset="0"/>
              <a:ea typeface="Times New Roman" panose="02020603050405020304" pitchFamily="18"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38915"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38916"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Synchronization of Java Threads</a:t>
            </a:r>
            <a:endParaRPr lang="en-CA" altLang="x-none" sz="2800" dirty="0">
              <a:solidFill>
                <a:srgbClr val="FF9900"/>
              </a:solidFill>
              <a:ea typeface="Times New Roman" panose="02020603050405020304" pitchFamily="18" charset="0"/>
            </a:endParaRPr>
          </a:p>
        </p:txBody>
      </p:sp>
      <p:sp>
        <p:nvSpPr>
          <p:cNvPr id="38917" name="Rectangle 3" descr="Rectangle: Click to edit Master text styles&#13;&#10;Second level&#13;&#10;Third level&#13;&#10;Fourth level&#13;&#10;Fifth level"/>
          <p:cNvSpPr/>
          <p:nvPr/>
        </p:nvSpPr>
        <p:spPr>
          <a:xfrm>
            <a:off x="304800" y="685800"/>
            <a:ext cx="8534400" cy="5791200"/>
          </a:xfrm>
          <a:prstGeom prst="rect">
            <a:avLst/>
          </a:prstGeom>
          <a:noFill/>
          <a:ln w="9525">
            <a:noFill/>
          </a:ln>
        </p:spPr>
        <p:txBody>
          <a:bodyPr/>
          <a:p>
            <a:pPr marL="228600" indent="-228600" algn="just">
              <a:spcBef>
                <a:spcPct val="20000"/>
              </a:spcBef>
              <a:buClr>
                <a:schemeClr val="bg2"/>
              </a:buClr>
              <a:buSzPct val="75000"/>
              <a:buFont typeface="Wingdings" panose="05000000000000000000" pitchFamily="2" charset="2"/>
              <a:buChar char="§"/>
            </a:pPr>
            <a:r>
              <a:rPr sz="2400" dirty="0">
                <a:latin typeface="Times New Roman" panose="02020603050405020304" pitchFamily="18" charset="0"/>
              </a:rPr>
              <a:t>A thread may call </a:t>
            </a:r>
            <a:r>
              <a:rPr sz="2400" b="1" i="1" dirty="0">
                <a:latin typeface="Times New Roman" panose="02020603050405020304" pitchFamily="18" charset="0"/>
              </a:rPr>
              <a:t>wait()</a:t>
            </a:r>
            <a:r>
              <a:rPr sz="2400" dirty="0">
                <a:latin typeface="Times New Roman" panose="02020603050405020304" pitchFamily="18" charset="0"/>
              </a:rPr>
              <a:t> inside a </a:t>
            </a:r>
            <a:r>
              <a:rPr sz="2400" b="1" dirty="0">
                <a:latin typeface="Times New Roman" panose="02020603050405020304" pitchFamily="18" charset="0"/>
              </a:rPr>
              <a:t>synchronized</a:t>
            </a:r>
            <a:r>
              <a:rPr sz="2400" dirty="0">
                <a:latin typeface="Times New Roman" panose="02020603050405020304" pitchFamily="18" charset="0"/>
              </a:rPr>
              <a:t> method. A timeout may be provided. If missing or zero then the thread waits until either </a:t>
            </a:r>
            <a:r>
              <a:rPr sz="2400" b="1" i="1" dirty="0">
                <a:latin typeface="Times New Roman" panose="02020603050405020304" pitchFamily="18" charset="0"/>
              </a:rPr>
              <a:t>notify()</a:t>
            </a:r>
            <a:r>
              <a:rPr sz="2400" dirty="0">
                <a:latin typeface="Times New Roman" panose="02020603050405020304" pitchFamily="18" charset="0"/>
              </a:rPr>
              <a:t> or </a:t>
            </a:r>
            <a:r>
              <a:rPr sz="2400" b="1" i="1" dirty="0">
                <a:latin typeface="Times New Roman" panose="02020603050405020304" pitchFamily="18" charset="0"/>
              </a:rPr>
              <a:t>notifyAll()</a:t>
            </a:r>
            <a:r>
              <a:rPr sz="2400" dirty="0">
                <a:latin typeface="Times New Roman" panose="02020603050405020304" pitchFamily="18" charset="0"/>
              </a:rPr>
              <a:t> is called, otherwise until the timeout period expires.</a:t>
            </a:r>
            <a:endParaRPr sz="2400" dirty="0">
              <a:latin typeface="Times New Roman" panose="02020603050405020304" pitchFamily="18" charset="0"/>
            </a:endParaRPr>
          </a:p>
          <a:p>
            <a:pPr marL="228600" indent="-228600" algn="just">
              <a:spcBef>
                <a:spcPct val="20000"/>
              </a:spcBef>
              <a:buClr>
                <a:schemeClr val="bg2"/>
              </a:buClr>
              <a:buSzPct val="75000"/>
              <a:buFont typeface="Wingdings" panose="05000000000000000000" pitchFamily="2" charset="2"/>
              <a:buChar char="§"/>
            </a:pPr>
            <a:endParaRPr sz="2400" dirty="0">
              <a:latin typeface="Times New Roman" panose="02020603050405020304" pitchFamily="18" charset="0"/>
            </a:endParaRPr>
          </a:p>
          <a:p>
            <a:pPr marL="228600" indent="-228600" algn="just">
              <a:spcBef>
                <a:spcPct val="20000"/>
              </a:spcBef>
              <a:buClr>
                <a:schemeClr val="bg2"/>
              </a:buClr>
              <a:buSzPct val="75000"/>
              <a:buFont typeface="Wingdings" panose="05000000000000000000" pitchFamily="2" charset="2"/>
              <a:buChar char="§"/>
            </a:pPr>
            <a:r>
              <a:rPr sz="2400" b="1" i="1" dirty="0">
                <a:latin typeface="Times New Roman" panose="02020603050405020304" pitchFamily="18" charset="0"/>
              </a:rPr>
              <a:t>wait()</a:t>
            </a:r>
            <a:r>
              <a:rPr sz="2400" dirty="0">
                <a:latin typeface="Times New Roman" panose="02020603050405020304" pitchFamily="18" charset="0"/>
              </a:rPr>
              <a:t> is called by the thread owning the lock associated with a particular object.</a:t>
            </a:r>
            <a:endParaRPr sz="2400" dirty="0">
              <a:latin typeface="Times New Roman" panose="02020603050405020304" pitchFamily="18" charset="0"/>
            </a:endParaRPr>
          </a:p>
          <a:p>
            <a:pPr marL="228600" indent="-228600" algn="just">
              <a:spcBef>
                <a:spcPct val="20000"/>
              </a:spcBef>
              <a:buClr>
                <a:schemeClr val="bg2"/>
              </a:buClr>
              <a:buSzPct val="75000"/>
              <a:buFont typeface="Wingdings" panose="05000000000000000000" pitchFamily="2" charset="2"/>
              <a:buChar char="§"/>
            </a:pPr>
            <a:endParaRPr sz="2400" dirty="0">
              <a:latin typeface="Times New Roman" panose="02020603050405020304" pitchFamily="18" charset="0"/>
            </a:endParaRPr>
          </a:p>
          <a:p>
            <a:pPr marL="228600" indent="-228600" algn="just">
              <a:spcBef>
                <a:spcPct val="20000"/>
              </a:spcBef>
              <a:buClr>
                <a:schemeClr val="bg2"/>
              </a:buClr>
              <a:buSzPct val="75000"/>
              <a:buFont typeface="Wingdings" panose="05000000000000000000" pitchFamily="2" charset="2"/>
              <a:buChar char="§"/>
            </a:pPr>
            <a:r>
              <a:rPr sz="2400" b="1" i="1" dirty="0">
                <a:latin typeface="Times New Roman" panose="02020603050405020304" pitchFamily="18" charset="0"/>
              </a:rPr>
              <a:t>notify()</a:t>
            </a:r>
            <a:r>
              <a:rPr sz="2400" dirty="0">
                <a:latin typeface="Times New Roman" panose="02020603050405020304" pitchFamily="18" charset="0"/>
              </a:rPr>
              <a:t> or </a:t>
            </a:r>
            <a:r>
              <a:rPr sz="2400" b="1" i="1" dirty="0">
                <a:latin typeface="Times New Roman" panose="02020603050405020304" pitchFamily="18" charset="0"/>
              </a:rPr>
              <a:t>notifyAll()</a:t>
            </a:r>
            <a:r>
              <a:rPr sz="2400" dirty="0">
                <a:latin typeface="Times New Roman" panose="02020603050405020304" pitchFamily="18" charset="0"/>
              </a:rPr>
              <a:t> are only called from a </a:t>
            </a:r>
            <a:r>
              <a:rPr sz="2400" b="1" dirty="0">
                <a:latin typeface="Times New Roman" panose="02020603050405020304" pitchFamily="18" charset="0"/>
              </a:rPr>
              <a:t>synchronized</a:t>
            </a:r>
            <a:r>
              <a:rPr sz="2400" dirty="0">
                <a:latin typeface="Times New Roman" panose="02020603050405020304" pitchFamily="18" charset="0"/>
              </a:rPr>
              <a:t> method. One or all waiting threads are notified, respectively. It’s probably better (safer) to use </a:t>
            </a:r>
            <a:r>
              <a:rPr sz="2400" b="1" i="1" dirty="0">
                <a:latin typeface="Times New Roman" panose="02020603050405020304" pitchFamily="18" charset="0"/>
              </a:rPr>
              <a:t>notifyAll()</a:t>
            </a:r>
            <a:r>
              <a:rPr sz="2400" b="1" dirty="0">
                <a:latin typeface="Times New Roman" panose="02020603050405020304" pitchFamily="18" charset="0"/>
              </a:rPr>
              <a:t>.</a:t>
            </a:r>
            <a:r>
              <a:rPr sz="2400" dirty="0">
                <a:latin typeface="Times New Roman" panose="02020603050405020304" pitchFamily="18" charset="0"/>
              </a:rPr>
              <a:t> These methods don't release the lock. The threads awakened will not return from their </a:t>
            </a:r>
            <a:r>
              <a:rPr sz="2400" b="1" i="1" dirty="0">
                <a:latin typeface="Times New Roman" panose="02020603050405020304" pitchFamily="18" charset="0"/>
              </a:rPr>
              <a:t>wait()</a:t>
            </a:r>
            <a:r>
              <a:rPr sz="2400" dirty="0">
                <a:latin typeface="Times New Roman" panose="02020603050405020304" pitchFamily="18" charset="0"/>
              </a:rPr>
              <a:t> call immediately, but only when the thread that called </a:t>
            </a:r>
            <a:r>
              <a:rPr sz="2400" b="1" i="1" dirty="0">
                <a:latin typeface="Times New Roman" panose="02020603050405020304" pitchFamily="18" charset="0"/>
              </a:rPr>
              <a:t>notify()</a:t>
            </a:r>
            <a:r>
              <a:rPr sz="2400" dirty="0">
                <a:latin typeface="Times New Roman" panose="02020603050405020304" pitchFamily="18" charset="0"/>
              </a:rPr>
              <a:t> or </a:t>
            </a:r>
            <a:r>
              <a:rPr sz="2400" b="1" i="1" dirty="0">
                <a:latin typeface="Times New Roman" panose="02020603050405020304" pitchFamily="18" charset="0"/>
              </a:rPr>
              <a:t>notifyAll()</a:t>
            </a:r>
            <a:r>
              <a:rPr sz="2400" dirty="0">
                <a:latin typeface="Times New Roman" panose="02020603050405020304" pitchFamily="18" charset="0"/>
              </a:rPr>
              <a:t> finally relinquishes ownership of the lock.</a:t>
            </a:r>
            <a:endParaRPr sz="2400" dirty="0">
              <a:latin typeface="Times New Roman" panose="02020603050405020304" pitchFamily="18"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39939"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39940" name="Rectangle 2"/>
          <p:cNvSpPr>
            <a:spLocks noGrp="1"/>
          </p:cNvSpPr>
          <p:nvPr>
            <p:ph type="title" idx="4294967295"/>
          </p:nvPr>
        </p:nvSpPr>
        <p:spPr>
          <a:xfrm>
            <a:off x="685800" y="0"/>
            <a:ext cx="78486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Synchronization of Java Threads</a:t>
            </a:r>
            <a:endParaRPr lang="en-CA" altLang="x-none" sz="2800" dirty="0">
              <a:solidFill>
                <a:srgbClr val="FF9900"/>
              </a:solidFill>
              <a:ea typeface="Times New Roman" panose="02020603050405020304" pitchFamily="18" charset="0"/>
            </a:endParaRPr>
          </a:p>
        </p:txBody>
      </p:sp>
      <p:sp>
        <p:nvSpPr>
          <p:cNvPr id="39941" name="Rectangle 3" descr="Rectangle: Click to edit Master text styles&#13;&#10;Second level&#13;&#10;Third level&#13;&#10;Fourth level&#13;&#10;Fifth level"/>
          <p:cNvSpPr/>
          <p:nvPr/>
        </p:nvSpPr>
        <p:spPr>
          <a:xfrm>
            <a:off x="228600" y="762000"/>
            <a:ext cx="8534400" cy="5486400"/>
          </a:xfrm>
          <a:prstGeom prst="rect">
            <a:avLst/>
          </a:prstGeom>
          <a:noFill/>
          <a:ln w="9525">
            <a:noFill/>
          </a:ln>
        </p:spPr>
        <p:txBody>
          <a:bodyPr/>
          <a:p>
            <a:pPr marL="339725" indent="-339725" algn="just">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rPr>
              <a:t>The </a:t>
            </a:r>
            <a:r>
              <a:rPr sz="2400" b="1" i="1" dirty="0">
                <a:latin typeface="Times New Roman" panose="02020603050405020304" pitchFamily="18" charset="0"/>
              </a:rPr>
              <a:t>wait()</a:t>
            </a:r>
            <a:r>
              <a:rPr sz="2400" dirty="0">
                <a:latin typeface="Times New Roman" panose="02020603050405020304" pitchFamily="18" charset="0"/>
              </a:rPr>
              <a:t> method releases the lock prior to waiting, and reacquires the lock prior to returning from the </a:t>
            </a:r>
            <a:r>
              <a:rPr sz="2400" b="1" i="1" dirty="0">
                <a:latin typeface="Times New Roman" panose="02020603050405020304" pitchFamily="18" charset="0"/>
              </a:rPr>
              <a:t>wait()</a:t>
            </a:r>
            <a:r>
              <a:rPr sz="2400" dirty="0">
                <a:latin typeface="Times New Roman" panose="02020603050405020304" pitchFamily="18" charset="0"/>
              </a:rPr>
              <a:t> method. </a:t>
            </a:r>
            <a:endParaRPr sz="24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endParaRPr sz="24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rPr>
              <a:t>It is possible a </a:t>
            </a:r>
            <a:r>
              <a:rPr sz="2400" b="1" dirty="0">
                <a:latin typeface="Times New Roman" panose="02020603050405020304" pitchFamily="18" charset="0"/>
              </a:rPr>
              <a:t>synchronized method to make a</a:t>
            </a:r>
            <a:r>
              <a:rPr sz="2400" dirty="0">
                <a:latin typeface="Times New Roman" panose="02020603050405020304" pitchFamily="18" charset="0"/>
              </a:rPr>
              <a:t> </a:t>
            </a:r>
            <a:r>
              <a:rPr sz="2400" b="1" dirty="0">
                <a:latin typeface="Times New Roman" panose="02020603050405020304" pitchFamily="18" charset="0"/>
              </a:rPr>
              <a:t>self-call</a:t>
            </a:r>
            <a:r>
              <a:rPr sz="2400" dirty="0">
                <a:latin typeface="Times New Roman" panose="02020603050405020304" pitchFamily="18" charset="0"/>
              </a:rPr>
              <a:t> to another synchronized method on the same object without freezing up.</a:t>
            </a:r>
            <a:endParaRPr sz="24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endParaRPr sz="2400" dirty="0">
              <a:latin typeface="Times New Roman" panose="02020603050405020304" pitchFamily="18" charset="0"/>
            </a:endParaRPr>
          </a:p>
          <a:p>
            <a:pPr marL="339725" indent="-339725" algn="just">
              <a:spcBef>
                <a:spcPct val="20000"/>
              </a:spcBef>
              <a:buClr>
                <a:schemeClr val="bg2"/>
              </a:buClr>
              <a:buSzPct val="75000"/>
              <a:buFont typeface="Wingdings" panose="05000000000000000000" pitchFamily="2" charset="2"/>
              <a:buChar char="§"/>
            </a:pPr>
            <a:r>
              <a:rPr sz="2400" b="1" u="sng" dirty="0">
                <a:latin typeface="Times New Roman" panose="02020603050405020304" pitchFamily="18" charset="0"/>
              </a:rPr>
              <a:t>Methods that are not synchronized may still execute at any time, even if a synchronized method is in progress.</a:t>
            </a:r>
            <a:r>
              <a:rPr sz="2400" dirty="0">
                <a:latin typeface="Times New Roman" panose="02020603050405020304" pitchFamily="18" charset="0"/>
              </a:rPr>
              <a:t> In other words, </a:t>
            </a:r>
            <a:r>
              <a:rPr sz="2400" b="1" dirty="0">
                <a:latin typeface="Times New Roman" panose="02020603050405020304" pitchFamily="18" charset="0"/>
              </a:rPr>
              <a:t>synchronized is not equivalent to </a:t>
            </a:r>
            <a:r>
              <a:rPr sz="2400" b="1" i="1" dirty="0">
                <a:latin typeface="Times New Roman" panose="02020603050405020304" pitchFamily="18" charset="0"/>
              </a:rPr>
              <a:t>atomic, </a:t>
            </a:r>
            <a:r>
              <a:rPr sz="2400" b="1" dirty="0">
                <a:latin typeface="Times New Roman" panose="02020603050405020304" pitchFamily="18" charset="0"/>
              </a:rPr>
              <a:t>but synchronization can be used to achieve atomicity.</a:t>
            </a:r>
            <a:endParaRPr sz="2400" b="1" dirty="0">
              <a:latin typeface="Times New Roman" panose="02020603050405020304" pitchFamily="18"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40963"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40964"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Java Semaphore - Example</a:t>
            </a:r>
            <a:endParaRPr lang="en-CA" altLang="x-none" sz="2800" dirty="0">
              <a:solidFill>
                <a:srgbClr val="FF9900"/>
              </a:solidFill>
              <a:ea typeface="Times New Roman" panose="02020603050405020304" pitchFamily="18" charset="0"/>
            </a:endParaRPr>
          </a:p>
        </p:txBody>
      </p:sp>
      <p:pic>
        <p:nvPicPr>
          <p:cNvPr id="40965" name="Picture 5"/>
          <p:cNvPicPr>
            <a:picLocks noChangeAspect="1"/>
          </p:cNvPicPr>
          <p:nvPr/>
        </p:nvPicPr>
        <p:blipFill>
          <a:blip r:embed="rId1"/>
          <a:stretch>
            <a:fillRect/>
          </a:stretch>
        </p:blipFill>
        <p:spPr>
          <a:xfrm>
            <a:off x="1447800" y="685800"/>
            <a:ext cx="5729288" cy="5137150"/>
          </a:xfrm>
          <a:prstGeom prst="rect">
            <a:avLst/>
          </a:prstGeom>
          <a:noFill/>
          <a:ln w="9525">
            <a:noFill/>
          </a:ln>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41987"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41988"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Protecting Static Fields</a:t>
            </a:r>
            <a:endParaRPr lang="en-CA" altLang="x-none" sz="2800" dirty="0">
              <a:solidFill>
                <a:srgbClr val="FF9900"/>
              </a:solidFill>
              <a:ea typeface="Times New Roman" panose="02020603050405020304" pitchFamily="18" charset="0"/>
            </a:endParaRPr>
          </a:p>
        </p:txBody>
      </p:sp>
      <p:sp>
        <p:nvSpPr>
          <p:cNvPr id="396291" name="Rectangle 3" descr="Rectangle: Click to edit Master text styles&#10;Second level&#10;Third level&#10;Fourth level&#10;Fifth level"/>
          <p:cNvSpPr>
            <a:spLocks noChangeArrowheads="1"/>
          </p:cNvSpPr>
          <p:nvPr/>
        </p:nvSpPr>
        <p:spPr bwMode="auto">
          <a:xfrm>
            <a:off x="304800" y="685800"/>
            <a:ext cx="8534400" cy="5562600"/>
          </a:xfrm>
          <a:prstGeom prst="rect">
            <a:avLst/>
          </a:prstGeom>
          <a:noFill/>
          <a:ln w="9525">
            <a:noFill/>
            <a:miter lim="800000"/>
          </a:ln>
          <a:effectLst/>
        </p:spPr>
        <p:txBody>
          <a:bodyPr/>
          <a:lstStyle/>
          <a:p>
            <a:pPr marL="186055" marR="0" lvl="0" indent="-1860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Locking an object does not</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automatically protect access to the </a:t>
            </a:r>
            <a:r>
              <a:rPr kumimoji="0" 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static fields</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of that object's class or any of its </a:t>
            </a:r>
            <a:r>
              <a:rPr kumimoji="0" lang="en-US" sz="24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superclasses</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186055" marR="0" lvl="0" indent="-186055" algn="just" defTabSz="914400" rtl="0" eaLnBrk="1" fontAlgn="base" latinLnBrk="0" hangingPunct="1">
              <a:lnSpc>
                <a:spcPct val="100000"/>
              </a:lnSpc>
              <a:spcBef>
                <a:spcPct val="20000"/>
              </a:spcBef>
              <a:spcAft>
                <a:spcPct val="0"/>
              </a:spcAft>
              <a:buClr>
                <a:schemeClr val="bg2"/>
              </a:buClr>
              <a:buSzPct val="80000"/>
              <a:buFont typeface="Wingdings" panose="05000000000000000000" pitchFamily="2" charset="2"/>
              <a:buChar char="§"/>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Access to static fields is instead protected via </a:t>
            </a:r>
            <a:r>
              <a:rPr kumimoji="0" 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static</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synchronized </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methods and blocks.</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186055" marR="0" lvl="0" indent="-186055"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186055" marR="0" lvl="0" indent="-186055"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sz="20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C</a:t>
            </a:r>
            <a:r>
              <a:rPr kumimoji="0" lang="bg-BG" sz="20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onsider the following class:</a:t>
            </a:r>
            <a:endParaRPr kumimoji="0" lang="bg-BG" sz="2000" b="1" i="0" u="none" strike="noStrike" kern="1200" cap="none" spc="0" normalizeH="0" baseline="0" noProof="0" dirty="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a:p>
            <a:pPr marL="186055" marR="0" lvl="0" indent="-186055"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class Even {</a:t>
            </a:r>
            <a:endPar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822325" marR="0" lvl="1" indent="-28575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public </a:t>
            </a:r>
            <a:r>
              <a:rPr kumimoji="0" lang="en-US" sz="2000" b="1" i="1" u="none" strike="noStrike" kern="1200" cap="none" spc="0" normalizeH="0" baseline="0" noProof="0" dirty="0">
                <a:ln>
                  <a:noFill/>
                </a:ln>
                <a:solidFill>
                  <a:srgbClr val="C72105"/>
                </a:solidFill>
                <a:effectLst/>
                <a:uLnTx/>
                <a:uFillTx/>
                <a:latin typeface="Times New Roman" panose="02020603050405020304" pitchFamily="18" charset="0"/>
                <a:ea typeface="+mn-ea"/>
                <a:cs typeface="+mn-cs"/>
              </a:rPr>
              <a:t>static</a:t>
            </a:r>
            <a:r>
              <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in</a:t>
            </a:r>
            <a:r>
              <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t n = 0;</a:t>
            </a:r>
            <a:endPar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822325" marR="0" lvl="1" indent="-28575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public </a:t>
            </a:r>
            <a:r>
              <a:rPr kumimoji="0" lang="en-US" sz="2000" b="1" i="1" u="none" strike="noStrike" kern="1200" cap="none" spc="0" normalizeH="0" baseline="0" noProof="0" dirty="0">
                <a:ln>
                  <a:noFill/>
                </a:ln>
                <a:solidFill>
                  <a:srgbClr val="C72105"/>
                </a:solidFill>
                <a:effectLst/>
                <a:uLnTx/>
                <a:uFillTx/>
                <a:latin typeface="Times New Roman" panose="02020603050405020304" pitchFamily="18" charset="0"/>
                <a:ea typeface="+mn-ea"/>
                <a:cs typeface="+mn-cs"/>
              </a:rPr>
              <a:t>static synchronized</a:t>
            </a:r>
            <a:r>
              <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int </a:t>
            </a:r>
            <a:r>
              <a:rPr kumimoji="0" lang="bg-BG" sz="2000" b="1" i="1" u="none" strike="noStrike" kern="1200" cap="none" spc="0" normalizeH="0" baseline="0" noProof="0" dirty="0">
                <a:ln>
                  <a:noFill/>
                </a:ln>
                <a:solidFill>
                  <a:srgbClr val="C72105"/>
                </a:solidFill>
                <a:effectLst/>
                <a:uLnTx/>
                <a:uFillTx/>
                <a:latin typeface="Times New Roman" panose="02020603050405020304" pitchFamily="18" charset="0"/>
                <a:ea typeface="+mn-ea"/>
                <a:cs typeface="+mn-cs"/>
              </a:rPr>
              <a:t>next()</a:t>
            </a:r>
            <a:r>
              <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en-US" sz="2000" b="1" i="1" u="none" strike="noStrike" kern="1200" cap="none" spc="0" normalizeH="0" baseline="0" noProof="0" dirty="0">
                <a:ln>
                  <a:noFill/>
                </a:ln>
                <a:solidFill>
                  <a:srgbClr val="00CC00"/>
                </a:solidFill>
                <a:effectLst/>
                <a:uLnTx/>
                <a:uFillTx/>
                <a:latin typeface="Times New Roman" panose="02020603050405020304" pitchFamily="18" charset="0"/>
                <a:ea typeface="+mn-ea"/>
                <a:cs typeface="+mn-cs"/>
              </a:rPr>
              <a:t>//**** will lock n as well and </a:t>
            </a:r>
            <a:endParaRPr kumimoji="0" lang="bg-BG" sz="2000" b="1" i="0" u="none" strike="noStrike" kern="1200" cap="none" spc="0" normalizeH="0" baseline="0" noProof="0" dirty="0">
              <a:ln>
                <a:noFill/>
              </a:ln>
              <a:solidFill>
                <a:srgbClr val="00CC00"/>
              </a:solidFill>
              <a:effectLst/>
              <a:uLnTx/>
              <a:uFillTx/>
              <a:latin typeface="Times New Roman" panose="02020603050405020304" pitchFamily="18" charset="0"/>
              <a:ea typeface="+mn-ea"/>
              <a:cs typeface="+mn-cs"/>
            </a:endParaRPr>
          </a:p>
          <a:p>
            <a:pPr marL="822325" marR="0" lvl="1" indent="-28575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++n;</a:t>
            </a:r>
            <a:endPar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822325" marR="0" lvl="1" indent="-28575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++n;</a:t>
            </a:r>
            <a:endPar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822325" marR="0" lvl="1" indent="-28575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return n; </a:t>
            </a:r>
            <a:r>
              <a:rPr kumimoji="0" lang="bg-BG" sz="2000" b="1" i="0" u="none" strike="noStrike" kern="1200" cap="none" spc="0" normalizeH="0" baseline="0" noProof="0" dirty="0">
                <a:ln>
                  <a:noFill/>
                </a:ln>
                <a:solidFill>
                  <a:srgbClr val="00CC00"/>
                </a:solidFill>
                <a:effectLst/>
                <a:uLnTx/>
                <a:uFillTx/>
                <a:latin typeface="Times New Roman" panose="02020603050405020304" pitchFamily="18" charset="0"/>
                <a:ea typeface="+mn-ea"/>
                <a:cs typeface="+mn-cs"/>
              </a:rPr>
              <a:t>//</a:t>
            </a:r>
            <a:r>
              <a:rPr kumimoji="0" lang="en-US" sz="2000" b="1" i="0" u="none" strike="noStrike" kern="1200" cap="none" spc="0" normalizeH="0" baseline="0" noProof="0" dirty="0">
                <a:ln>
                  <a:noFill/>
                </a:ln>
                <a:solidFill>
                  <a:srgbClr val="00CC00"/>
                </a:solidFill>
                <a:effectLst/>
                <a:uLnTx/>
                <a:uFillTx/>
                <a:latin typeface="Times New Roman" panose="02020603050405020304" pitchFamily="18" charset="0"/>
                <a:ea typeface="+mn-ea"/>
                <a:cs typeface="+mn-cs"/>
              </a:rPr>
              <a:t>**** </a:t>
            </a:r>
            <a:r>
              <a:rPr kumimoji="0" lang="bg-BG" sz="2000" b="1" i="0" u="none" strike="noStrike" kern="1200" cap="none" spc="0" normalizeH="0" baseline="0" noProof="0" dirty="0">
                <a:ln>
                  <a:noFill/>
                </a:ln>
                <a:solidFill>
                  <a:srgbClr val="00CC00"/>
                </a:solidFill>
                <a:effectLst/>
                <a:uLnTx/>
                <a:uFillTx/>
                <a:latin typeface="Times New Roman" panose="02020603050405020304" pitchFamily="18" charset="0"/>
                <a:ea typeface="+mn-ea"/>
                <a:cs typeface="+mn-cs"/>
              </a:rPr>
              <a:t>next is always even</a:t>
            </a:r>
            <a:endPar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822325" marR="0" lvl="1" indent="-28575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186055" marR="0" lvl="0" indent="-186055"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bg-BG"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0" lang="en-US" sz="20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grpSp>
        <p:nvGrpSpPr>
          <p:cNvPr id="2" name="Group 4"/>
          <p:cNvGrpSpPr/>
          <p:nvPr/>
        </p:nvGrpSpPr>
        <p:grpSpPr>
          <a:xfrm>
            <a:off x="2438400" y="2895600"/>
            <a:ext cx="5562600" cy="1047750"/>
            <a:chOff x="1536" y="1824"/>
            <a:chExt cx="3360" cy="660"/>
          </a:xfrm>
        </p:grpSpPr>
        <p:sp>
          <p:nvSpPr>
            <p:cNvPr id="396293" name="Rectangle 5"/>
            <p:cNvSpPr>
              <a:spLocks noChangeArrowheads="1"/>
            </p:cNvSpPr>
            <p:nvPr/>
          </p:nvSpPr>
          <p:spPr bwMode="auto">
            <a:xfrm>
              <a:off x="2832" y="1824"/>
              <a:ext cx="2064" cy="432"/>
            </a:xfrm>
            <a:prstGeom prst="rect">
              <a:avLst/>
            </a:prstGeom>
            <a:noFill/>
            <a:ln w="9525">
              <a:solidFill>
                <a:schemeClr val="tx1"/>
              </a:solidFill>
              <a:miter lim="800000"/>
            </a:ln>
            <a:effectLst/>
          </p:spPr>
          <p:txBody>
            <a:bodyPr anchor="ct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Will prevent outer access on </a:t>
              </a:r>
              <a:r>
                <a:rPr kumimoji="0" lang="en-US" sz="18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en-US" sz="18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 until the end of the </a:t>
              </a:r>
              <a:r>
                <a:rPr kumimoji="0" lang="en-US" sz="18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next()</a:t>
              </a:r>
              <a:r>
                <a:rPr kumimoji="0" lang="en-US" sz="1800" b="0"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rPr>
                <a:t> method.</a:t>
              </a:r>
              <a:endParaRPr kumimoji="0" lang="bg-BG" sz="1800" b="1" i="0" u="none" strike="noStrike" kern="1200" cap="none" spc="0" normalizeH="0" baseline="0" noProof="0">
                <a:ln>
                  <a:noFill/>
                </a:ln>
                <a:solidFill>
                  <a:srgbClr val="C72105"/>
                </a:solidFill>
                <a:effectLst>
                  <a:outerShdw blurRad="38100" dist="38100" dir="2700000" algn="tl">
                    <a:srgbClr val="C0C0C0"/>
                  </a:outerShdw>
                </a:effectLst>
                <a:uLnTx/>
                <a:uFillTx/>
                <a:latin typeface="Times New Roman" panose="02020603050405020304" pitchFamily="18" charset="0"/>
                <a:ea typeface="+mn-ea"/>
                <a:cs typeface="+mn-cs"/>
              </a:endParaRPr>
            </a:p>
          </p:txBody>
        </p:sp>
        <p:sp>
          <p:nvSpPr>
            <p:cNvPr id="41992" name="Line 6"/>
            <p:cNvSpPr/>
            <p:nvPr/>
          </p:nvSpPr>
          <p:spPr>
            <a:xfrm flipH="1">
              <a:off x="1536" y="2064"/>
              <a:ext cx="1248" cy="96"/>
            </a:xfrm>
            <a:prstGeom prst="line">
              <a:avLst/>
            </a:prstGeom>
            <a:ln w="28575" cap="flat" cmpd="sng">
              <a:solidFill>
                <a:srgbClr val="C72105"/>
              </a:solidFill>
              <a:prstDash val="solid"/>
              <a:headEnd type="none" w="med" len="med"/>
              <a:tailEnd type="triangle" w="med" len="med"/>
            </a:ln>
          </p:spPr>
        </p:sp>
        <p:sp>
          <p:nvSpPr>
            <p:cNvPr id="41993" name="Line 7"/>
            <p:cNvSpPr/>
            <p:nvPr/>
          </p:nvSpPr>
          <p:spPr>
            <a:xfrm flipH="1">
              <a:off x="2112" y="2160"/>
              <a:ext cx="672" cy="288"/>
            </a:xfrm>
            <a:prstGeom prst="line">
              <a:avLst/>
            </a:prstGeom>
            <a:ln w="28575" cap="flat" cmpd="sng">
              <a:solidFill>
                <a:srgbClr val="C72105"/>
              </a:solidFill>
              <a:prstDash val="solid"/>
              <a:headEnd type="none" w="med" len="med"/>
              <a:tailEnd type="triangle" w="med" len="med"/>
            </a:ln>
          </p:spPr>
        </p:sp>
        <p:sp>
          <p:nvSpPr>
            <p:cNvPr id="41994" name="Line 8"/>
            <p:cNvSpPr/>
            <p:nvPr/>
          </p:nvSpPr>
          <p:spPr>
            <a:xfrm flipH="1">
              <a:off x="1536" y="2340"/>
              <a:ext cx="816" cy="144"/>
            </a:xfrm>
            <a:prstGeom prst="line">
              <a:avLst/>
            </a:prstGeom>
            <a:ln w="28575" cap="flat" cmpd="sng">
              <a:solidFill>
                <a:srgbClr val="C72105"/>
              </a:solidFill>
              <a:prstDash val="solid"/>
              <a:headEnd type="none" w="med" len="med"/>
              <a:tailEnd type="triangl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43011"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43012"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Java Threading API</a:t>
            </a:r>
            <a:endParaRPr lang="en-CA" altLang="x-none" sz="2800" dirty="0">
              <a:solidFill>
                <a:srgbClr val="FF9900"/>
              </a:solidFill>
              <a:ea typeface="Times New Roman" panose="02020603050405020304" pitchFamily="18" charset="0"/>
            </a:endParaRPr>
          </a:p>
        </p:txBody>
      </p:sp>
      <p:sp>
        <p:nvSpPr>
          <p:cNvPr id="43013" name="Rectangle 3"/>
          <p:cNvSpPr/>
          <p:nvPr/>
        </p:nvSpPr>
        <p:spPr>
          <a:xfrm>
            <a:off x="549275" y="533400"/>
            <a:ext cx="8213725" cy="304800"/>
          </a:xfrm>
          <a:prstGeom prst="rect">
            <a:avLst/>
          </a:prstGeom>
          <a:gradFill rotWithShape="1">
            <a:gsLst>
              <a:gs pos="0">
                <a:schemeClr val="bg2"/>
              </a:gs>
              <a:gs pos="100000">
                <a:schemeClr val="bg1"/>
              </a:gs>
            </a:gsLst>
            <a:lin ang="0" scaled="1"/>
            <a:tileRect/>
          </a:gradFill>
          <a:ln w="9525">
            <a:noFill/>
          </a:ln>
        </p:spPr>
        <p:txBody>
          <a:bodyPr wrap="none" anchor="ctr" anchorCtr="0"/>
          <a:p>
            <a:r>
              <a:rPr sz="2400" dirty="0">
                <a:solidFill>
                  <a:srgbClr val="FF9900"/>
                </a:solidFill>
                <a:latin typeface="Arial" panose="020B0604020202020204" pitchFamily="34" charset="0"/>
              </a:rPr>
              <a:t>:: Stopping Threads</a:t>
            </a:r>
            <a:endParaRPr lang="bg-BG" altLang="x-none" sz="2400" dirty="0">
              <a:solidFill>
                <a:srgbClr val="FF9900"/>
              </a:solidFill>
              <a:latin typeface="Arial" panose="020B0604020202020204" pitchFamily="34" charset="0"/>
            </a:endParaRPr>
          </a:p>
        </p:txBody>
      </p:sp>
      <p:sp>
        <p:nvSpPr>
          <p:cNvPr id="43014" name="Rectangle 4" descr="Rectangle: Click to edit Master text styles&#13;&#10;Second level&#13;&#10;Third level&#13;&#10;Fourth level&#13;&#10;Fifth level"/>
          <p:cNvSpPr/>
          <p:nvPr/>
        </p:nvSpPr>
        <p:spPr>
          <a:xfrm>
            <a:off x="304800" y="990600"/>
            <a:ext cx="8534400" cy="5334000"/>
          </a:xfrm>
          <a:prstGeom prst="rect">
            <a:avLst/>
          </a:prstGeom>
          <a:noFill/>
          <a:ln w="9525">
            <a:noFill/>
          </a:ln>
        </p:spPr>
        <p:txBody>
          <a:bodyPr/>
          <a:p>
            <a:pPr marL="339725" indent="-339725" algn="just">
              <a:spcBef>
                <a:spcPct val="20000"/>
              </a:spcBef>
              <a:buClr>
                <a:schemeClr val="bg2"/>
              </a:buClr>
              <a:buSzPct val="80000"/>
              <a:buFont typeface="Wingdings" panose="05000000000000000000" pitchFamily="2" charset="2"/>
              <a:buChar char="§"/>
            </a:pPr>
            <a:r>
              <a:rPr sz="2000" dirty="0">
                <a:latin typeface="Times New Roman" panose="02020603050405020304" pitchFamily="18" charset="0"/>
              </a:rPr>
              <a:t>The Thread class does contain a </a:t>
            </a:r>
            <a:r>
              <a:rPr sz="2000" b="1" i="1" dirty="0">
                <a:latin typeface="Times New Roman" panose="02020603050405020304" pitchFamily="18" charset="0"/>
              </a:rPr>
              <a:t>stop()</a:t>
            </a:r>
            <a:r>
              <a:rPr sz="2000" dirty="0">
                <a:latin typeface="Times New Roman" panose="02020603050405020304" pitchFamily="18" charset="0"/>
              </a:rPr>
              <a:t> method that allows you to stop a thread immediately: no matter what the thread is doing, it will be terminated. </a:t>
            </a:r>
            <a:endParaRPr sz="20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r>
              <a:rPr sz="2000" dirty="0">
                <a:latin typeface="Times New Roman" panose="02020603050405020304" pitchFamily="18" charset="0"/>
              </a:rPr>
              <a:t>However, the </a:t>
            </a:r>
            <a:r>
              <a:rPr sz="2000" b="1" i="1" dirty="0">
                <a:latin typeface="Times New Roman" panose="02020603050405020304" pitchFamily="18" charset="0"/>
              </a:rPr>
              <a:t>stop()</a:t>
            </a:r>
            <a:r>
              <a:rPr sz="2000" dirty="0">
                <a:latin typeface="Times New Roman" panose="02020603050405020304" pitchFamily="18" charset="0"/>
              </a:rPr>
              <a:t> method is very dangerous. In Java 2, the </a:t>
            </a:r>
            <a:r>
              <a:rPr sz="2000" b="1" i="1" dirty="0">
                <a:latin typeface="Times New Roman" panose="02020603050405020304" pitchFamily="18" charset="0"/>
              </a:rPr>
              <a:t>stop()</a:t>
            </a:r>
            <a:r>
              <a:rPr sz="2000" dirty="0">
                <a:latin typeface="Times New Roman" panose="02020603050405020304" pitchFamily="18" charset="0"/>
              </a:rPr>
              <a:t> method is deprecated. </a:t>
            </a:r>
            <a:endParaRPr sz="20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endParaRPr sz="20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pPr>
            <a:r>
              <a:rPr sz="2000" b="1" dirty="0">
                <a:latin typeface="Times New Roman" panose="02020603050405020304" pitchFamily="18" charset="0"/>
              </a:rPr>
              <a:t>Why?</a:t>
            </a:r>
            <a:endParaRPr sz="2000" b="1"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r>
              <a:rPr sz="2000" dirty="0">
                <a:latin typeface="Times New Roman" panose="02020603050405020304" pitchFamily="18" charset="0"/>
              </a:rPr>
              <a:t>If a thread holds a lock at the time it is stopped, the lock will be released when the thread stops. </a:t>
            </a:r>
            <a:endParaRPr sz="20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r>
              <a:rPr sz="2000" dirty="0">
                <a:latin typeface="Times New Roman" panose="02020603050405020304" pitchFamily="18" charset="0"/>
              </a:rPr>
              <a:t>But if the thread that is being stopped is in the middle of updating a linked list, for example, the links in the list will be left in an inconsistent state. </a:t>
            </a:r>
            <a:endParaRPr sz="20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r>
              <a:rPr sz="2000" dirty="0">
                <a:latin typeface="Times New Roman" panose="02020603050405020304" pitchFamily="18" charset="0"/>
              </a:rPr>
              <a:t>Hence, if we were able to interrupt a thread in the middle of this operation, we would lose the benefit of its obtaining the lock.</a:t>
            </a:r>
            <a:endParaRPr sz="20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r>
              <a:rPr sz="2000" dirty="0">
                <a:latin typeface="Times New Roman" panose="02020603050405020304" pitchFamily="18" charset="0"/>
              </a:rPr>
              <a:t>The reason we needed to obtain a lock on the list in the first place was to ensure that the list would not be found by another thread in an inconsistent state.</a:t>
            </a:r>
            <a:endParaRPr sz="2000" dirty="0">
              <a:latin typeface="Times New Roman" panose="02020603050405020304" pitchFamily="18"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44035"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44036"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Java Threading API</a:t>
            </a:r>
            <a:endParaRPr lang="en-CA" altLang="x-none" sz="2800" dirty="0">
              <a:solidFill>
                <a:srgbClr val="FF9900"/>
              </a:solidFill>
              <a:ea typeface="Times New Roman" panose="02020603050405020304" pitchFamily="18" charset="0"/>
            </a:endParaRPr>
          </a:p>
        </p:txBody>
      </p:sp>
      <p:sp>
        <p:nvSpPr>
          <p:cNvPr id="44037" name="Rectangle 3"/>
          <p:cNvSpPr/>
          <p:nvPr/>
        </p:nvSpPr>
        <p:spPr>
          <a:xfrm>
            <a:off x="549275" y="533400"/>
            <a:ext cx="8213725" cy="304800"/>
          </a:xfrm>
          <a:prstGeom prst="rect">
            <a:avLst/>
          </a:prstGeom>
          <a:gradFill rotWithShape="1">
            <a:gsLst>
              <a:gs pos="0">
                <a:schemeClr val="bg2"/>
              </a:gs>
              <a:gs pos="100000">
                <a:schemeClr val="bg1"/>
              </a:gs>
            </a:gsLst>
            <a:lin ang="0" scaled="1"/>
            <a:tileRect/>
          </a:gradFill>
          <a:ln w="9525">
            <a:noFill/>
          </a:ln>
        </p:spPr>
        <p:txBody>
          <a:bodyPr wrap="none" anchor="ctr" anchorCtr="0"/>
          <a:p>
            <a:r>
              <a:rPr sz="2400" dirty="0">
                <a:solidFill>
                  <a:srgbClr val="FF9900"/>
                </a:solidFill>
                <a:latin typeface="Arial" panose="020B0604020202020204" pitchFamily="34" charset="0"/>
              </a:rPr>
              <a:t>:: The suspend() and resume() Methods</a:t>
            </a:r>
            <a:endParaRPr lang="bg-BG" altLang="x-none" sz="2400" dirty="0">
              <a:solidFill>
                <a:srgbClr val="FF9900"/>
              </a:solidFill>
              <a:latin typeface="Arial" panose="020B0604020202020204" pitchFamily="34" charset="0"/>
            </a:endParaRPr>
          </a:p>
        </p:txBody>
      </p:sp>
      <p:sp>
        <p:nvSpPr>
          <p:cNvPr id="44038" name="Rectangle 4" descr="Rectangle: Click to edit Master text styles&#13;&#10;Second level&#13;&#10;Third level&#13;&#10;Fourth level&#13;&#10;Fifth level"/>
          <p:cNvSpPr/>
          <p:nvPr/>
        </p:nvSpPr>
        <p:spPr>
          <a:xfrm>
            <a:off x="304800" y="990600"/>
            <a:ext cx="8534400" cy="5334000"/>
          </a:xfrm>
          <a:prstGeom prst="rect">
            <a:avLst/>
          </a:prstGeom>
          <a:noFill/>
          <a:ln w="9525">
            <a:noFill/>
          </a:ln>
        </p:spPr>
        <p:txBody>
          <a:bodyPr/>
          <a:p>
            <a:pPr marL="339725" indent="-339725" algn="just">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rPr>
              <a:t>The </a:t>
            </a:r>
            <a:r>
              <a:rPr sz="2400" b="1" i="1" dirty="0">
                <a:latin typeface="Times New Roman" panose="02020603050405020304" pitchFamily="18" charset="0"/>
              </a:rPr>
              <a:t>suspend() </a:t>
            </a:r>
            <a:r>
              <a:rPr sz="2400" dirty="0">
                <a:latin typeface="Times New Roman" panose="02020603050405020304" pitchFamily="18" charset="0"/>
              </a:rPr>
              <a:t>and </a:t>
            </a:r>
            <a:r>
              <a:rPr sz="2400" b="1" i="1" dirty="0">
                <a:latin typeface="Times New Roman" panose="02020603050405020304" pitchFamily="18" charset="0"/>
              </a:rPr>
              <a:t>resume() </a:t>
            </a:r>
            <a:r>
              <a:rPr sz="2400" dirty="0">
                <a:latin typeface="Times New Roman" panose="02020603050405020304" pitchFamily="18" charset="0"/>
              </a:rPr>
              <a:t>methods are very dangerous and they became deprecated. </a:t>
            </a:r>
            <a:endParaRPr sz="24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rPr>
              <a:t>The problem with using the </a:t>
            </a:r>
            <a:r>
              <a:rPr sz="2400" b="1" i="1" dirty="0">
                <a:latin typeface="Times New Roman" panose="02020603050405020304" pitchFamily="18" charset="0"/>
              </a:rPr>
              <a:t>suspend() </a:t>
            </a:r>
            <a:r>
              <a:rPr sz="2400" dirty="0">
                <a:latin typeface="Times New Roman" panose="02020603050405020304" pitchFamily="18" charset="0"/>
              </a:rPr>
              <a:t>method is that it can conceivably lead to cases of lock starvation - including cases where the starvation shuts down the entire virtual machine. </a:t>
            </a:r>
            <a:endParaRPr sz="24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rPr>
              <a:t>If a thread is suspended while it is holding a lock, that lock remains held by the suspended thread. As long as that thread is suspended, no other thread can obtain the lock. </a:t>
            </a:r>
            <a:endParaRPr sz="24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rPr>
              <a:t>There is no danger in the </a:t>
            </a:r>
            <a:r>
              <a:rPr sz="2400" b="1" i="1" dirty="0">
                <a:latin typeface="Times New Roman" panose="02020603050405020304" pitchFamily="18" charset="0"/>
              </a:rPr>
              <a:t>resume() </a:t>
            </a:r>
            <a:r>
              <a:rPr sz="2400" dirty="0">
                <a:latin typeface="Times New Roman" panose="02020603050405020304" pitchFamily="18" charset="0"/>
              </a:rPr>
              <a:t>method itself, but since the </a:t>
            </a:r>
            <a:r>
              <a:rPr sz="2400" b="1" i="1" dirty="0">
                <a:latin typeface="Times New Roman" panose="02020603050405020304" pitchFamily="18" charset="0"/>
              </a:rPr>
              <a:t>resume() </a:t>
            </a:r>
            <a:r>
              <a:rPr sz="2400" dirty="0">
                <a:latin typeface="Times New Roman" panose="02020603050405020304" pitchFamily="18" charset="0"/>
              </a:rPr>
              <a:t>method is useful only with the </a:t>
            </a:r>
            <a:r>
              <a:rPr sz="2400" b="1" i="1" dirty="0">
                <a:latin typeface="Times New Roman" panose="02020603050405020304" pitchFamily="18" charset="0"/>
              </a:rPr>
              <a:t>suspend() </a:t>
            </a:r>
            <a:r>
              <a:rPr sz="2400" dirty="0">
                <a:latin typeface="Times New Roman" panose="02020603050405020304" pitchFamily="18" charset="0"/>
              </a:rPr>
              <a:t>method, it too has been deprecated.</a:t>
            </a:r>
            <a:endParaRPr sz="2400" dirty="0">
              <a:latin typeface="Times New Roman" panose="02020603050405020304" pitchFamily="18" charset="0"/>
            </a:endParaRPr>
          </a:p>
          <a:p>
            <a:pPr marL="339725" indent="-339725">
              <a:spcBef>
                <a:spcPct val="20000"/>
              </a:spcBef>
              <a:buClr>
                <a:schemeClr val="bg2"/>
              </a:buClr>
              <a:buSzPct val="80000"/>
              <a:buFont typeface="Wingdings" panose="05000000000000000000" pitchFamily="2" charset="2"/>
              <a:buChar char="§"/>
            </a:pPr>
            <a:r>
              <a:rPr sz="2400" dirty="0">
                <a:latin typeface="Times New Roman" panose="02020603050405020304" pitchFamily="18" charset="0"/>
                <a:cs typeface="Times New Roman" panose="02020603050405020304" pitchFamily="18" charset="0"/>
              </a:rPr>
              <a:t>Java Thread primitives deprecation:  http://java.sun.com/j2se/1.5.0/docs/guide/misc/threadPrimitiveDeprecation.html</a:t>
            </a:r>
            <a:endParaRPr sz="2400" dirty="0">
              <a:latin typeface="Times New Roman" panose="02020603050405020304" pitchFamily="18" charset="0"/>
              <a:cs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endParaRPr sz="2400" dirty="0">
              <a:latin typeface="Times New Roman" panose="02020603050405020304" pitchFamily="18" charset="0"/>
            </a:endParaRPr>
          </a:p>
          <a:p>
            <a:pPr marL="339725" indent="-339725" algn="just">
              <a:spcBef>
                <a:spcPct val="20000"/>
              </a:spcBef>
              <a:buClr>
                <a:schemeClr val="bg2"/>
              </a:buClr>
              <a:buSzPct val="80000"/>
              <a:buFont typeface="Wingdings" panose="05000000000000000000" pitchFamily="2" charset="2"/>
              <a:buChar char="§"/>
            </a:pPr>
            <a:endParaRPr sz="2400" dirty="0">
              <a:latin typeface="Times New Roman" panose="02020603050405020304" pitchFamily="18"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45059"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45060"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Java Threading API</a:t>
            </a:r>
            <a:endParaRPr lang="en-CA" altLang="x-none" sz="2800" dirty="0">
              <a:solidFill>
                <a:srgbClr val="FF9900"/>
              </a:solidFill>
              <a:ea typeface="Times New Roman" panose="02020603050405020304" pitchFamily="18" charset="0"/>
            </a:endParaRPr>
          </a:p>
        </p:txBody>
      </p:sp>
      <p:sp>
        <p:nvSpPr>
          <p:cNvPr id="45061" name="Rectangle 3" descr="Rectangle: Click to edit Master text styles&#13;&#10;Second level&#13;&#10;Third level&#13;&#10;Fourth level&#13;&#10;Fifth level"/>
          <p:cNvSpPr/>
          <p:nvPr/>
        </p:nvSpPr>
        <p:spPr>
          <a:xfrm>
            <a:off x="304800" y="914400"/>
            <a:ext cx="8534400" cy="5105400"/>
          </a:xfrm>
          <a:prstGeom prst="rect">
            <a:avLst/>
          </a:prstGeom>
          <a:noFill/>
          <a:ln w="9525">
            <a:noFill/>
          </a:ln>
        </p:spPr>
        <p:txBody>
          <a:bodyPr/>
          <a:p>
            <a:pPr marL="287655" lvl="1" indent="-173355" defTabSz="914400" eaLnBrk="1" hangingPunct="1">
              <a:spcBef>
                <a:spcPct val="20000"/>
              </a:spcBef>
              <a:buClr>
                <a:schemeClr val="bg2"/>
              </a:buClr>
              <a:buSzPct val="80000"/>
              <a:buFont typeface="Wingdings" panose="05000000000000000000" pitchFamily="2" charset="2"/>
              <a:buChar char="§"/>
              <a:tabLst>
                <a:tab pos="227330" algn="l"/>
              </a:tabLst>
            </a:pPr>
            <a:r>
              <a:rPr sz="2000" dirty="0">
                <a:latin typeface="Times New Roman" panose="02020603050405020304" pitchFamily="18" charset="0"/>
              </a:rPr>
              <a:t>I</a:t>
            </a:r>
            <a:r>
              <a:rPr lang="bg-BG" altLang="x-none" sz="2000" dirty="0">
                <a:latin typeface="Times New Roman" panose="02020603050405020304" pitchFamily="18" charset="0"/>
              </a:rPr>
              <a:t>t is possible to assign a String name to the Thread object itself:</a:t>
            </a:r>
            <a:endParaRPr sz="2000" dirty="0">
              <a:latin typeface="Times New Roman" panose="02020603050405020304" pitchFamily="18" charset="0"/>
            </a:endParaRPr>
          </a:p>
          <a:p>
            <a:pPr marL="287655" lvl="1" indent="-173355" defTabSz="914400" eaLnBrk="1" hangingPunct="1">
              <a:spcBef>
                <a:spcPct val="20000"/>
              </a:spcBef>
              <a:buClr>
                <a:schemeClr val="accent2"/>
              </a:buClr>
              <a:buSzPct val="80000"/>
              <a:buFont typeface="Wingdings" panose="05000000000000000000" pitchFamily="2" charset="2"/>
              <a:tabLst>
                <a:tab pos="227330" algn="l"/>
              </a:tabLst>
            </a:pPr>
            <a:r>
              <a:rPr lang="bg-BG" altLang="x-none" sz="2000" b="1" i="1" dirty="0">
                <a:solidFill>
                  <a:srgbClr val="C72105"/>
                </a:solidFill>
                <a:latin typeface="Times New Roman" panose="02020603050405020304" pitchFamily="18" charset="0"/>
              </a:rPr>
              <a:t>void setName(String name)</a:t>
            </a:r>
            <a:r>
              <a:rPr sz="2000" b="1" i="1" dirty="0">
                <a:solidFill>
                  <a:srgbClr val="C72105"/>
                </a:solidFill>
                <a:latin typeface="Times New Roman" panose="02020603050405020304" pitchFamily="18" charset="0"/>
              </a:rPr>
              <a:t> </a:t>
            </a:r>
            <a:r>
              <a:rPr sz="2000" b="1" i="1" dirty="0">
                <a:solidFill>
                  <a:srgbClr val="00CC00"/>
                </a:solidFill>
                <a:latin typeface="Times New Roman" panose="02020603050405020304" pitchFamily="18" charset="0"/>
              </a:rPr>
              <a:t>//a</a:t>
            </a:r>
            <a:r>
              <a:rPr lang="bg-BG" altLang="x-none" sz="2000" b="1" dirty="0">
                <a:solidFill>
                  <a:srgbClr val="00CC00"/>
                </a:solidFill>
                <a:latin typeface="Times New Roman" panose="02020603050405020304" pitchFamily="18" charset="0"/>
              </a:rPr>
              <a:t>ssigns a name to the Thread instance</a:t>
            </a:r>
            <a:endParaRPr lang="bg-BG" altLang="x-none" sz="2000" b="1" dirty="0">
              <a:solidFill>
                <a:srgbClr val="00CC00"/>
              </a:solidFill>
              <a:latin typeface="Times New Roman" panose="02020603050405020304" pitchFamily="18" charset="0"/>
            </a:endParaRPr>
          </a:p>
          <a:p>
            <a:pPr marL="287655" lvl="1" indent="-173355" defTabSz="914400" eaLnBrk="1" hangingPunct="1">
              <a:spcBef>
                <a:spcPct val="20000"/>
              </a:spcBef>
              <a:buClr>
                <a:schemeClr val="accent2"/>
              </a:buClr>
              <a:buSzPct val="80000"/>
              <a:buFont typeface="Wingdings" panose="05000000000000000000" pitchFamily="2" charset="2"/>
              <a:tabLst>
                <a:tab pos="227330" algn="l"/>
              </a:tabLst>
            </a:pPr>
            <a:r>
              <a:rPr lang="bg-BG" altLang="x-none" sz="2000" b="1" i="1" dirty="0">
                <a:solidFill>
                  <a:srgbClr val="C72105"/>
                </a:solidFill>
                <a:latin typeface="Times New Roman" panose="02020603050405020304" pitchFamily="18" charset="0"/>
              </a:rPr>
              <a:t>String getName()</a:t>
            </a:r>
            <a:r>
              <a:rPr sz="2000" b="1" i="1" dirty="0">
                <a:solidFill>
                  <a:srgbClr val="C72105"/>
                </a:solidFill>
                <a:latin typeface="Times New Roman" panose="02020603050405020304" pitchFamily="18" charset="0"/>
              </a:rPr>
              <a:t> </a:t>
            </a:r>
            <a:r>
              <a:rPr sz="2000" b="1" i="1" dirty="0">
                <a:solidFill>
                  <a:srgbClr val="00CC00"/>
                </a:solidFill>
                <a:latin typeface="Times New Roman" panose="02020603050405020304" pitchFamily="18" charset="0"/>
              </a:rPr>
              <a:t>//g</a:t>
            </a:r>
            <a:r>
              <a:rPr lang="bg-BG" altLang="x-none" sz="2000" b="1" dirty="0">
                <a:solidFill>
                  <a:srgbClr val="00CC00"/>
                </a:solidFill>
                <a:latin typeface="Times New Roman" panose="02020603050405020304" pitchFamily="18" charset="0"/>
              </a:rPr>
              <a:t>ets the name of the Thread instance</a:t>
            </a:r>
            <a:endParaRPr sz="2000" b="1" dirty="0">
              <a:solidFill>
                <a:srgbClr val="00CC00"/>
              </a:solidFill>
              <a:latin typeface="Times New Roman" panose="02020603050405020304" pitchFamily="18" charset="0"/>
            </a:endParaRPr>
          </a:p>
          <a:p>
            <a:pPr marL="287655" lvl="1" indent="-173355" defTabSz="914400" eaLnBrk="1" hangingPunct="1">
              <a:spcBef>
                <a:spcPct val="20000"/>
              </a:spcBef>
              <a:buClr>
                <a:schemeClr val="accent2"/>
              </a:buClr>
              <a:buSzPct val="80000"/>
              <a:buFont typeface="Wingdings" panose="05000000000000000000" pitchFamily="2" charset="2"/>
              <a:tabLst>
                <a:tab pos="227330" algn="l"/>
              </a:tabLst>
            </a:pPr>
            <a:endParaRPr sz="2000" b="1" dirty="0">
              <a:solidFill>
                <a:srgbClr val="00CC00"/>
              </a:solidFill>
              <a:latin typeface="Times New Roman" panose="02020603050405020304" pitchFamily="18" charset="0"/>
            </a:endParaRPr>
          </a:p>
          <a:p>
            <a:pPr marL="287655" lvl="1" indent="-173355" defTabSz="914400" eaLnBrk="1" hangingPunct="1">
              <a:spcBef>
                <a:spcPct val="20000"/>
              </a:spcBef>
              <a:buClr>
                <a:schemeClr val="bg2"/>
              </a:buClr>
              <a:buSzPct val="80000"/>
              <a:buFont typeface="Wingdings" panose="05000000000000000000" pitchFamily="2" charset="2"/>
              <a:buChar char="§"/>
              <a:tabLst>
                <a:tab pos="227330" algn="l"/>
              </a:tabLst>
            </a:pPr>
            <a:r>
              <a:rPr lang="bg-BG" altLang="x-none" sz="2000" dirty="0">
                <a:latin typeface="Times New Roman" panose="02020603050405020304" pitchFamily="18" charset="0"/>
              </a:rPr>
              <a:t>The system does not use this string for any specific purpose</a:t>
            </a:r>
            <a:r>
              <a:rPr sz="2000" dirty="0">
                <a:latin typeface="Times New Roman" panose="02020603050405020304" pitchFamily="18" charset="0"/>
              </a:rPr>
              <a:t>.</a:t>
            </a:r>
            <a:endParaRPr sz="2000" dirty="0">
              <a:latin typeface="Times New Roman" panose="02020603050405020304" pitchFamily="18" charset="0"/>
            </a:endParaRPr>
          </a:p>
          <a:p>
            <a:pPr marL="287655" lvl="1" indent="-173355" algn="just" defTabSz="914400" eaLnBrk="1" hangingPunct="1">
              <a:spcBef>
                <a:spcPct val="20000"/>
              </a:spcBef>
              <a:buClr>
                <a:schemeClr val="bg2"/>
              </a:buClr>
              <a:buSzPct val="80000"/>
              <a:buFont typeface="Wingdings" panose="05000000000000000000" pitchFamily="2" charset="2"/>
              <a:buChar char="§"/>
              <a:tabLst>
                <a:tab pos="227330" algn="l"/>
              </a:tabLst>
            </a:pPr>
            <a:r>
              <a:rPr sz="2000" dirty="0">
                <a:latin typeface="Times New Roman" panose="02020603050405020304" pitchFamily="18" charset="0"/>
              </a:rPr>
              <a:t>We can use it for debugging. With an assigned name, the debugger and the </a:t>
            </a:r>
            <a:r>
              <a:rPr sz="2000" b="1" i="1" dirty="0">
                <a:latin typeface="Times New Roman" panose="02020603050405020304" pitchFamily="18" charset="0"/>
              </a:rPr>
              <a:t>toString()</a:t>
            </a:r>
            <a:r>
              <a:rPr sz="2000" dirty="0">
                <a:latin typeface="Times New Roman" panose="02020603050405020304" pitchFamily="18" charset="0"/>
              </a:rPr>
              <a:t> method display thread information in terms of a “logical" name instead of a number.</a:t>
            </a:r>
            <a:endParaRPr sz="2000" dirty="0">
              <a:latin typeface="Times New Roman" panose="02020603050405020304" pitchFamily="18" charset="0"/>
            </a:endParaRPr>
          </a:p>
          <a:p>
            <a:pPr marL="287655" lvl="1" indent="-173355" algn="just" defTabSz="914400" eaLnBrk="1" hangingPunct="1">
              <a:spcBef>
                <a:spcPct val="20000"/>
              </a:spcBef>
              <a:buClr>
                <a:schemeClr val="bg2"/>
              </a:buClr>
              <a:buSzPct val="80000"/>
              <a:buFont typeface="Wingdings" panose="05000000000000000000" pitchFamily="2" charset="2"/>
              <a:buChar char="§"/>
              <a:tabLst>
                <a:tab pos="227330" algn="l"/>
              </a:tabLst>
            </a:pPr>
            <a:r>
              <a:rPr lang="bg-BG" altLang="x-none" sz="2000" dirty="0">
                <a:latin typeface="Times New Roman" panose="02020603050405020304" pitchFamily="18" charset="0"/>
              </a:rPr>
              <a:t>The naming support is also available as a constructor of the Thread class:</a:t>
            </a:r>
            <a:endParaRPr lang="bg-BG" altLang="x-none" sz="2000" dirty="0">
              <a:latin typeface="Times New Roman" panose="02020603050405020304" pitchFamily="18" charset="0"/>
            </a:endParaRPr>
          </a:p>
          <a:p>
            <a:pPr marL="636905" lvl="2" indent="-234950" algn="just" defTabSz="914400" eaLnBrk="1" hangingPunct="1">
              <a:spcBef>
                <a:spcPct val="20000"/>
              </a:spcBef>
              <a:buClr>
                <a:schemeClr val="bg2"/>
              </a:buClr>
              <a:buSzPct val="65000"/>
              <a:buFont typeface="Wingdings" panose="05000000000000000000" pitchFamily="2" charset="2"/>
              <a:buChar char="§"/>
              <a:tabLst>
                <a:tab pos="227330" algn="l"/>
              </a:tabLst>
            </a:pPr>
            <a:r>
              <a:rPr lang="bg-BG" altLang="x-none" sz="2000" b="1" i="1" dirty="0">
                <a:latin typeface="Times New Roman" panose="02020603050405020304" pitchFamily="18" charset="0"/>
              </a:rPr>
              <a:t>Thread(String name)</a:t>
            </a:r>
            <a:r>
              <a:rPr sz="2000" i="1" dirty="0">
                <a:latin typeface="Times New Roman" panose="02020603050405020304" pitchFamily="18" charset="0"/>
              </a:rPr>
              <a:t> </a:t>
            </a:r>
            <a:r>
              <a:rPr sz="2000" dirty="0">
                <a:latin typeface="Times New Roman" panose="02020603050405020304" pitchFamily="18" charset="0"/>
              </a:rPr>
              <a:t>co</a:t>
            </a:r>
            <a:r>
              <a:rPr lang="bg-BG" altLang="x-none" sz="2000" dirty="0">
                <a:latin typeface="Times New Roman" panose="02020603050405020304" pitchFamily="18" charset="0"/>
              </a:rPr>
              <a:t>nstructs a thread object with a name that is already assigned. This constructor is used when</a:t>
            </a:r>
            <a:r>
              <a:rPr sz="2000" dirty="0">
                <a:latin typeface="Times New Roman" panose="02020603050405020304" pitchFamily="18" charset="0"/>
              </a:rPr>
              <a:t> </a:t>
            </a:r>
            <a:r>
              <a:rPr lang="bg-BG" altLang="x-none" sz="2000" dirty="0">
                <a:latin typeface="Times New Roman" panose="02020603050405020304" pitchFamily="18" charset="0"/>
              </a:rPr>
              <a:t>threading by inheritance.</a:t>
            </a:r>
            <a:endParaRPr lang="bg-BG" altLang="x-none" sz="2000" dirty="0">
              <a:latin typeface="Times New Roman" panose="02020603050405020304" pitchFamily="18" charset="0"/>
            </a:endParaRPr>
          </a:p>
          <a:p>
            <a:pPr marL="636905" lvl="2" indent="-234950" algn="just" defTabSz="914400" eaLnBrk="1" hangingPunct="1">
              <a:spcBef>
                <a:spcPct val="20000"/>
              </a:spcBef>
              <a:buClr>
                <a:schemeClr val="bg2"/>
              </a:buClr>
              <a:buSzPct val="65000"/>
              <a:buFont typeface="Wingdings" panose="05000000000000000000" pitchFamily="2" charset="2"/>
              <a:buChar char="§"/>
              <a:tabLst>
                <a:tab pos="227330" algn="l"/>
              </a:tabLst>
            </a:pPr>
            <a:r>
              <a:rPr lang="bg-BG" altLang="x-none" sz="2000" b="1" i="1" dirty="0">
                <a:latin typeface="Times New Roman" panose="02020603050405020304" pitchFamily="18" charset="0"/>
              </a:rPr>
              <a:t>Thread(Runnable target, String name)</a:t>
            </a:r>
            <a:r>
              <a:rPr sz="2000" i="1" dirty="0">
                <a:latin typeface="Times New Roman" panose="02020603050405020304" pitchFamily="18" charset="0"/>
              </a:rPr>
              <a:t> </a:t>
            </a:r>
            <a:r>
              <a:rPr sz="2000" dirty="0">
                <a:latin typeface="Times New Roman" panose="02020603050405020304" pitchFamily="18" charset="0"/>
              </a:rPr>
              <a:t>c</a:t>
            </a:r>
            <a:r>
              <a:rPr lang="bg-BG" altLang="x-none" sz="2000" dirty="0">
                <a:latin typeface="Times New Roman" panose="02020603050405020304" pitchFamily="18" charset="0"/>
              </a:rPr>
              <a:t>onstructs a thread object that is associated with the given Runnable object and is created</a:t>
            </a:r>
            <a:r>
              <a:rPr sz="2000" dirty="0">
                <a:latin typeface="Times New Roman" panose="02020603050405020304" pitchFamily="18" charset="0"/>
              </a:rPr>
              <a:t> </a:t>
            </a:r>
            <a:r>
              <a:rPr lang="bg-BG" altLang="x-none" sz="2000" dirty="0">
                <a:latin typeface="Times New Roman" panose="02020603050405020304" pitchFamily="18" charset="0"/>
              </a:rPr>
              <a:t>with a name that is already assigned. This constructor is used when threading by interfaces.</a:t>
            </a:r>
            <a:endParaRPr lang="bg-BG" altLang="x-none" sz="2000" dirty="0">
              <a:solidFill>
                <a:srgbClr val="00CC00"/>
              </a:solidFill>
              <a:latin typeface="Times New Roman" panose="02020603050405020304" pitchFamily="18" charset="0"/>
            </a:endParaRPr>
          </a:p>
        </p:txBody>
      </p:sp>
      <p:sp>
        <p:nvSpPr>
          <p:cNvPr id="45062" name="Rectangle 4"/>
          <p:cNvSpPr/>
          <p:nvPr/>
        </p:nvSpPr>
        <p:spPr>
          <a:xfrm>
            <a:off x="549275" y="533400"/>
            <a:ext cx="8213725" cy="304800"/>
          </a:xfrm>
          <a:prstGeom prst="rect">
            <a:avLst/>
          </a:prstGeom>
          <a:gradFill rotWithShape="1">
            <a:gsLst>
              <a:gs pos="0">
                <a:schemeClr val="bg2"/>
              </a:gs>
              <a:gs pos="100000">
                <a:schemeClr val="bg1"/>
              </a:gs>
            </a:gsLst>
            <a:lin ang="0" scaled="1"/>
            <a:tileRect/>
          </a:gradFill>
          <a:ln w="9525">
            <a:noFill/>
          </a:ln>
        </p:spPr>
        <p:txBody>
          <a:bodyPr wrap="none" anchor="ctr" anchorCtr="0"/>
          <a:p>
            <a:r>
              <a:rPr sz="2400" dirty="0">
                <a:solidFill>
                  <a:srgbClr val="FF9900"/>
                </a:solidFill>
                <a:latin typeface="Arial" panose="020B0604020202020204" pitchFamily="34" charset="0"/>
              </a:rPr>
              <a:t>:: Thread Naming</a:t>
            </a:r>
            <a:endParaRPr lang="bg-BG" altLang="x-none" sz="2400" dirty="0">
              <a:solidFill>
                <a:srgbClr val="FF9900"/>
              </a:solidFill>
              <a:latin typeface="Arial" panose="020B0604020202020204" pitchFamily="34"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46083"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46084"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Java Threading API</a:t>
            </a:r>
            <a:endParaRPr lang="en-CA" altLang="x-none" sz="2800" dirty="0">
              <a:solidFill>
                <a:srgbClr val="FF9900"/>
              </a:solidFill>
              <a:ea typeface="Times New Roman" panose="02020603050405020304" pitchFamily="18" charset="0"/>
            </a:endParaRPr>
          </a:p>
        </p:txBody>
      </p:sp>
      <p:sp>
        <p:nvSpPr>
          <p:cNvPr id="46085" name="Rectangle 3" descr="Rectangle: Click to edit Master text styles&#13;&#10;Second level&#13;&#10;Third level&#13;&#10;Fourth level&#13;&#10;Fifth level"/>
          <p:cNvSpPr/>
          <p:nvPr/>
        </p:nvSpPr>
        <p:spPr>
          <a:xfrm>
            <a:off x="304800" y="914400"/>
            <a:ext cx="8534400" cy="2971800"/>
          </a:xfrm>
          <a:prstGeom prst="rect">
            <a:avLst/>
          </a:prstGeom>
          <a:noFill/>
          <a:ln w="9525">
            <a:noFill/>
          </a:ln>
        </p:spPr>
        <p:txBody>
          <a:bodyPr/>
          <a:p>
            <a:pPr marL="287655" lvl="1" indent="-173355" defTabSz="914400" eaLnBrk="1" hangingPunct="1">
              <a:spcBef>
                <a:spcPct val="20000"/>
              </a:spcBef>
              <a:buClr>
                <a:schemeClr val="bg2"/>
              </a:buClr>
              <a:buSzPct val="80000"/>
              <a:buFont typeface="Wingdings" panose="05000000000000000000" pitchFamily="2" charset="2"/>
              <a:buChar char="§"/>
              <a:tabLst>
                <a:tab pos="227330" algn="l"/>
              </a:tabLst>
            </a:pPr>
            <a:r>
              <a:rPr lang="bg-BG" altLang="x-none" sz="2000" b="1" i="1" dirty="0">
                <a:latin typeface="Times New Roman" panose="02020603050405020304" pitchFamily="18" charset="0"/>
              </a:rPr>
              <a:t>static Thread currentThread()</a:t>
            </a:r>
            <a:r>
              <a:rPr sz="2000" i="1" dirty="0">
                <a:latin typeface="Times New Roman" panose="02020603050405020304" pitchFamily="18" charset="0"/>
              </a:rPr>
              <a:t> g</a:t>
            </a:r>
            <a:r>
              <a:rPr lang="bg-BG" altLang="x-none" sz="2000" dirty="0">
                <a:latin typeface="Times New Roman" panose="02020603050405020304" pitchFamily="18" charset="0"/>
              </a:rPr>
              <a:t>ets the</a:t>
            </a:r>
            <a:r>
              <a:rPr lang="bg-BG" altLang="x-none" sz="2000" b="1" i="1" dirty="0">
                <a:latin typeface="Times New Roman" panose="02020603050405020304" pitchFamily="18" charset="0"/>
              </a:rPr>
              <a:t> Thread </a:t>
            </a:r>
            <a:r>
              <a:rPr lang="bg-BG" altLang="x-none" sz="2000" dirty="0">
                <a:latin typeface="Times New Roman" panose="02020603050405020304" pitchFamily="18" charset="0"/>
              </a:rPr>
              <a:t>object that represents the current thread of execution. The method is static</a:t>
            </a:r>
            <a:r>
              <a:rPr sz="2000" dirty="0">
                <a:latin typeface="Times New Roman" panose="02020603050405020304" pitchFamily="18" charset="0"/>
              </a:rPr>
              <a:t> </a:t>
            </a:r>
            <a:r>
              <a:rPr lang="bg-BG" altLang="x-none" sz="2000" dirty="0">
                <a:latin typeface="Times New Roman" panose="02020603050405020304" pitchFamily="18" charset="0"/>
              </a:rPr>
              <a:t>and may be called through the </a:t>
            </a:r>
            <a:r>
              <a:rPr lang="bg-BG" altLang="x-none" sz="2000" b="1" i="1" dirty="0">
                <a:latin typeface="Times New Roman" panose="02020603050405020304" pitchFamily="18" charset="0"/>
              </a:rPr>
              <a:t>Thread </a:t>
            </a:r>
            <a:r>
              <a:rPr lang="bg-BG" altLang="x-none" sz="2000" dirty="0">
                <a:latin typeface="Times New Roman" panose="02020603050405020304" pitchFamily="18" charset="0"/>
              </a:rPr>
              <a:t>class name.</a:t>
            </a:r>
            <a:endParaRPr sz="2000" dirty="0">
              <a:latin typeface="Times New Roman" panose="02020603050405020304" pitchFamily="18" charset="0"/>
            </a:endParaRPr>
          </a:p>
          <a:p>
            <a:pPr marL="287655" lvl="1" indent="-173355" defTabSz="914400" eaLnBrk="1" hangingPunct="1">
              <a:spcBef>
                <a:spcPct val="20000"/>
              </a:spcBef>
              <a:buClr>
                <a:schemeClr val="bg2"/>
              </a:buClr>
              <a:buSzPct val="80000"/>
              <a:buFont typeface="Wingdings" panose="05000000000000000000" pitchFamily="2" charset="2"/>
              <a:tabLst>
                <a:tab pos="227330" algn="l"/>
              </a:tabLst>
            </a:pPr>
            <a:r>
              <a:rPr sz="2000" b="1" dirty="0">
                <a:latin typeface="Times New Roman" panose="02020603050405020304" pitchFamily="18" charset="0"/>
              </a:rPr>
              <a:t>W</a:t>
            </a:r>
            <a:r>
              <a:rPr lang="bg-BG" altLang="x-none" sz="2000" b="1" i="1" dirty="0">
                <a:latin typeface="Times New Roman" panose="02020603050405020304" pitchFamily="18" charset="0"/>
              </a:rPr>
              <a:t>hy is this method important? </a:t>
            </a:r>
            <a:endParaRPr sz="2000" b="1" i="1" dirty="0">
              <a:latin typeface="Times New Roman" panose="02020603050405020304" pitchFamily="18" charset="0"/>
            </a:endParaRPr>
          </a:p>
          <a:p>
            <a:pPr marL="287655" lvl="1" indent="-173355" defTabSz="914400" eaLnBrk="1" hangingPunct="1">
              <a:spcBef>
                <a:spcPct val="20000"/>
              </a:spcBef>
              <a:buClr>
                <a:schemeClr val="bg2"/>
              </a:buClr>
              <a:buSzPct val="80000"/>
              <a:buFont typeface="Wingdings" panose="05000000000000000000" pitchFamily="2" charset="2"/>
              <a:buChar char="§"/>
              <a:tabLst>
                <a:tab pos="227330" algn="l"/>
              </a:tabLst>
            </a:pPr>
            <a:r>
              <a:rPr lang="bg-BG" altLang="x-none" sz="2000" dirty="0">
                <a:latin typeface="Times New Roman" panose="02020603050405020304" pitchFamily="18" charset="0"/>
              </a:rPr>
              <a:t>The </a:t>
            </a:r>
            <a:r>
              <a:rPr lang="bg-BG" altLang="x-none" sz="2000" b="1" i="1" dirty="0">
                <a:latin typeface="Times New Roman" panose="02020603050405020304" pitchFamily="18" charset="0"/>
              </a:rPr>
              <a:t>Thread </a:t>
            </a:r>
            <a:r>
              <a:rPr lang="bg-BG" altLang="x-none" sz="2000" dirty="0">
                <a:latin typeface="Times New Roman" panose="02020603050405020304" pitchFamily="18" charset="0"/>
              </a:rPr>
              <a:t>object for the current thread may not be saved</a:t>
            </a:r>
            <a:r>
              <a:rPr sz="2000" dirty="0">
                <a:latin typeface="Times New Roman" panose="02020603050405020304" pitchFamily="18" charset="0"/>
              </a:rPr>
              <a:t> </a:t>
            </a:r>
            <a:r>
              <a:rPr lang="bg-BG" altLang="x-none" sz="2000" dirty="0">
                <a:latin typeface="Times New Roman" panose="02020603050405020304" pitchFamily="18" charset="0"/>
              </a:rPr>
              <a:t>anywhere, and even if it is, it may not be accessible to the called method.</a:t>
            </a:r>
            <a:endParaRPr sz="2000" dirty="0">
              <a:latin typeface="Times New Roman" panose="02020603050405020304" pitchFamily="18" charset="0"/>
            </a:endParaRPr>
          </a:p>
          <a:p>
            <a:pPr marL="287655" lvl="1" indent="-173355" defTabSz="914400" eaLnBrk="1" hangingPunct="1">
              <a:spcBef>
                <a:spcPct val="20000"/>
              </a:spcBef>
              <a:buClr>
                <a:schemeClr val="bg2"/>
              </a:buClr>
              <a:buSzPct val="80000"/>
              <a:buFont typeface="Wingdings" panose="05000000000000000000" pitchFamily="2" charset="2"/>
              <a:buChar char="§"/>
              <a:tabLst>
                <a:tab pos="227330" algn="l"/>
              </a:tabLst>
            </a:pPr>
            <a:r>
              <a:rPr sz="2000" dirty="0">
                <a:latin typeface="Times New Roman" panose="02020603050405020304" pitchFamily="18" charset="0"/>
              </a:rPr>
              <a:t>In this code w</a:t>
            </a:r>
            <a:r>
              <a:rPr lang="bg-BG" altLang="x-none" sz="2000" dirty="0">
                <a:latin typeface="Times New Roman" panose="02020603050405020304" pitchFamily="18" charset="0"/>
              </a:rPr>
              <a:t>e are assuming that reader threads are threads whose names start with</a:t>
            </a:r>
            <a:r>
              <a:rPr sz="2000" dirty="0">
                <a:latin typeface="Times New Roman" panose="02020603050405020304" pitchFamily="18" charset="0"/>
              </a:rPr>
              <a:t> </a:t>
            </a:r>
            <a:r>
              <a:rPr lang="bg-BG" altLang="x-none" sz="2000" dirty="0">
                <a:latin typeface="Times New Roman" panose="02020603050405020304" pitchFamily="18" charset="0"/>
              </a:rPr>
              <a:t>"Reader." This name could have been assigned by the </a:t>
            </a:r>
            <a:r>
              <a:rPr lang="bg-BG" altLang="x-none" sz="2000" b="1" i="1" dirty="0">
                <a:latin typeface="Times New Roman" panose="02020603050405020304" pitchFamily="18" charset="0"/>
              </a:rPr>
              <a:t>setName()</a:t>
            </a:r>
            <a:r>
              <a:rPr lang="bg-BG" altLang="x-none" sz="2000" dirty="0">
                <a:latin typeface="Times New Roman" panose="02020603050405020304" pitchFamily="18" charset="0"/>
              </a:rPr>
              <a:t> method earlier or when the threads</a:t>
            </a:r>
            <a:r>
              <a:rPr sz="2000" dirty="0">
                <a:latin typeface="Times New Roman" panose="02020603050405020304" pitchFamily="18" charset="0"/>
              </a:rPr>
              <a:t> </a:t>
            </a:r>
            <a:r>
              <a:rPr lang="en-CA" altLang="x-none" sz="2000" dirty="0">
                <a:latin typeface="Times New Roman" panose="02020603050405020304" pitchFamily="18" charset="0"/>
              </a:rPr>
              <a:t>we</a:t>
            </a:r>
            <a:r>
              <a:rPr lang="bg-BG" altLang="x-none" sz="2000" dirty="0">
                <a:latin typeface="Times New Roman" panose="02020603050405020304" pitchFamily="18" charset="0"/>
              </a:rPr>
              <a:t>re constructed.</a:t>
            </a:r>
            <a:endParaRPr lang="bg-BG" altLang="x-none" sz="2000" dirty="0">
              <a:latin typeface="Times New Roman" panose="02020603050405020304" pitchFamily="18" charset="0"/>
            </a:endParaRPr>
          </a:p>
          <a:p>
            <a:pPr marL="287655" lvl="1" indent="-173355" defTabSz="914400" eaLnBrk="1" hangingPunct="1">
              <a:spcBef>
                <a:spcPct val="20000"/>
              </a:spcBef>
              <a:buClr>
                <a:schemeClr val="bg2"/>
              </a:buClr>
              <a:buSzPct val="80000"/>
              <a:buFont typeface="Wingdings" panose="05000000000000000000" pitchFamily="2" charset="2"/>
              <a:buChar char="§"/>
              <a:tabLst>
                <a:tab pos="227330" algn="l"/>
              </a:tabLst>
            </a:pPr>
            <a:endParaRPr lang="bg-BG" altLang="x-none" sz="2000" dirty="0">
              <a:latin typeface="Times New Roman" panose="02020603050405020304" pitchFamily="18" charset="0"/>
            </a:endParaRPr>
          </a:p>
        </p:txBody>
      </p:sp>
      <p:sp>
        <p:nvSpPr>
          <p:cNvPr id="46086" name="Rectangle 4"/>
          <p:cNvSpPr/>
          <p:nvPr/>
        </p:nvSpPr>
        <p:spPr>
          <a:xfrm>
            <a:off x="549275" y="533400"/>
            <a:ext cx="8213725" cy="304800"/>
          </a:xfrm>
          <a:prstGeom prst="rect">
            <a:avLst/>
          </a:prstGeom>
          <a:gradFill rotWithShape="1">
            <a:gsLst>
              <a:gs pos="0">
                <a:schemeClr val="bg2"/>
              </a:gs>
              <a:gs pos="100000">
                <a:schemeClr val="bg1"/>
              </a:gs>
            </a:gsLst>
            <a:lin ang="0" scaled="1"/>
            <a:tileRect/>
          </a:gradFill>
          <a:ln w="9525">
            <a:noFill/>
          </a:ln>
        </p:spPr>
        <p:txBody>
          <a:bodyPr wrap="none" anchor="ctr" anchorCtr="0"/>
          <a:p>
            <a:r>
              <a:rPr sz="2400" dirty="0">
                <a:solidFill>
                  <a:srgbClr val="FF9900"/>
                </a:solidFill>
                <a:latin typeface="Arial" panose="020B0604020202020204" pitchFamily="34" charset="0"/>
              </a:rPr>
              <a:t>:: Thread Access – The currentThread() Method</a:t>
            </a:r>
            <a:endParaRPr lang="bg-BG" altLang="x-none" sz="2400" dirty="0">
              <a:solidFill>
                <a:srgbClr val="FF9900"/>
              </a:solidFill>
              <a:latin typeface="Arial" panose="020B0604020202020204" pitchFamily="34" charset="0"/>
            </a:endParaRPr>
          </a:p>
        </p:txBody>
      </p:sp>
      <p:pic>
        <p:nvPicPr>
          <p:cNvPr id="46087" name="Picture 5"/>
          <p:cNvPicPr>
            <a:picLocks noChangeAspect="1"/>
          </p:cNvPicPr>
          <p:nvPr/>
        </p:nvPicPr>
        <p:blipFill>
          <a:blip r:embed="rId1"/>
          <a:stretch>
            <a:fillRect/>
          </a:stretch>
        </p:blipFill>
        <p:spPr>
          <a:xfrm>
            <a:off x="4648200" y="3886200"/>
            <a:ext cx="4238625" cy="2562225"/>
          </a:xfrm>
          <a:prstGeom prst="rect">
            <a:avLst/>
          </a:prstGeom>
          <a:noFill/>
          <a:ln w="9525">
            <a:noFill/>
          </a:ln>
        </p:spPr>
      </p:pic>
      <p:sp>
        <p:nvSpPr>
          <p:cNvPr id="46088" name="Rectangle 6" descr="Rectangle: Click to edit Master text styles&#13;&#10;Second level&#13;&#10;Third level&#13;&#10;Fourth level&#13;&#10;Fifth level"/>
          <p:cNvSpPr/>
          <p:nvPr/>
        </p:nvSpPr>
        <p:spPr>
          <a:xfrm>
            <a:off x="304800" y="3886200"/>
            <a:ext cx="4038600" cy="2362200"/>
          </a:xfrm>
          <a:prstGeom prst="rect">
            <a:avLst/>
          </a:prstGeom>
          <a:noFill/>
          <a:ln w="9525">
            <a:noFill/>
          </a:ln>
        </p:spPr>
        <p:txBody>
          <a:bodyPr/>
          <a:p>
            <a:pPr marL="287655" lvl="1" indent="-173355" algn="just" defTabSz="914400" eaLnBrk="1" hangingPunct="1">
              <a:spcBef>
                <a:spcPct val="20000"/>
              </a:spcBef>
              <a:buClr>
                <a:schemeClr val="bg2"/>
              </a:buClr>
              <a:buSzPct val="80000"/>
              <a:buFont typeface="Wingdings" panose="05000000000000000000" pitchFamily="2" charset="2"/>
              <a:buChar char="§"/>
              <a:tabLst>
                <a:tab pos="227330" algn="l"/>
              </a:tabLst>
            </a:pPr>
            <a:r>
              <a:rPr lang="bg-BG" altLang="x-none" sz="2000" dirty="0">
                <a:latin typeface="Times New Roman" panose="02020603050405020304" pitchFamily="18" charset="0"/>
              </a:rPr>
              <a:t>To obtain a name, we need simply to call the </a:t>
            </a:r>
            <a:r>
              <a:rPr lang="bg-BG" altLang="x-none" sz="2000" b="1" i="1" dirty="0">
                <a:latin typeface="Times New Roman" panose="02020603050405020304" pitchFamily="18" charset="0"/>
              </a:rPr>
              <a:t>getName()</a:t>
            </a:r>
            <a:r>
              <a:rPr lang="bg-BG" altLang="x-none" sz="2000" dirty="0">
                <a:latin typeface="Times New Roman" panose="02020603050405020304" pitchFamily="18" charset="0"/>
              </a:rPr>
              <a:t> method. However, since we</a:t>
            </a:r>
            <a:r>
              <a:rPr sz="2000" dirty="0">
                <a:latin typeface="Times New Roman" panose="02020603050405020304" pitchFamily="18" charset="0"/>
              </a:rPr>
              <a:t> </a:t>
            </a:r>
            <a:r>
              <a:rPr lang="bg-BG" altLang="x-none" sz="2000" dirty="0">
                <a:latin typeface="Times New Roman" panose="02020603050405020304" pitchFamily="18" charset="0"/>
              </a:rPr>
              <a:t>do not have the </a:t>
            </a:r>
            <a:r>
              <a:rPr lang="bg-BG" altLang="x-none" sz="2000" b="1" i="1" dirty="0">
                <a:latin typeface="Times New Roman" panose="02020603050405020304" pitchFamily="18" charset="0"/>
              </a:rPr>
              <a:t>Thread</a:t>
            </a:r>
            <a:r>
              <a:rPr lang="bg-BG" altLang="x-none" sz="2000" dirty="0">
                <a:latin typeface="Times New Roman" panose="02020603050405020304" pitchFamily="18" charset="0"/>
              </a:rPr>
              <a:t> object reference of the caller, we must call the </a:t>
            </a:r>
            <a:r>
              <a:rPr lang="bg-BG" altLang="x-none" sz="2000" b="1" i="1" dirty="0">
                <a:latin typeface="Times New Roman" panose="02020603050405020304" pitchFamily="18" charset="0"/>
              </a:rPr>
              <a:t>currentThread()</a:t>
            </a:r>
            <a:r>
              <a:rPr lang="bg-BG" altLang="x-none" sz="2000" dirty="0">
                <a:latin typeface="Times New Roman" panose="02020603050405020304" pitchFamily="18" charset="0"/>
              </a:rPr>
              <a:t> method to</a:t>
            </a:r>
            <a:r>
              <a:rPr sz="2000" dirty="0">
                <a:latin typeface="Times New Roman" panose="02020603050405020304" pitchFamily="18" charset="0"/>
              </a:rPr>
              <a:t> </a:t>
            </a:r>
            <a:r>
              <a:rPr lang="bg-BG" altLang="x-none" sz="2000" dirty="0">
                <a:latin typeface="Times New Roman" panose="02020603050405020304" pitchFamily="18" charset="0"/>
              </a:rPr>
              <a:t>obtain the reference.</a:t>
            </a:r>
            <a:endParaRPr lang="bg-BG" altLang="x-none" sz="2000" dirty="0">
              <a:latin typeface="Times New Roman" panose="02020603050405020304" pitchFamily="18"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47107"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47108"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Java Threading API</a:t>
            </a:r>
            <a:endParaRPr lang="en-CA" altLang="x-none" sz="2800" dirty="0">
              <a:solidFill>
                <a:srgbClr val="FF9900"/>
              </a:solidFill>
              <a:ea typeface="Times New Roman" panose="02020603050405020304" pitchFamily="18" charset="0"/>
            </a:endParaRPr>
          </a:p>
        </p:txBody>
      </p:sp>
      <p:sp>
        <p:nvSpPr>
          <p:cNvPr id="47109" name="Rectangle 3" descr="Rectangle: Click to edit Master text styles&#13;&#10;Second level&#13;&#10;Third level&#13;&#10;Fourth level&#13;&#10;Fifth level"/>
          <p:cNvSpPr/>
          <p:nvPr/>
        </p:nvSpPr>
        <p:spPr>
          <a:xfrm>
            <a:off x="304800" y="914400"/>
            <a:ext cx="8534400" cy="2971800"/>
          </a:xfrm>
          <a:prstGeom prst="rect">
            <a:avLst/>
          </a:prstGeom>
          <a:noFill/>
          <a:ln w="9525">
            <a:noFill/>
          </a:ln>
        </p:spPr>
        <p:txBody>
          <a:bodyPr/>
          <a:p>
            <a:pPr marL="287655" lvl="1" indent="-173355" algn="just" defTabSz="914400" eaLnBrk="1" hangingPunct="1">
              <a:spcBef>
                <a:spcPct val="20000"/>
              </a:spcBef>
              <a:buClr>
                <a:schemeClr val="accent2"/>
              </a:buClr>
              <a:buSzPct val="80000"/>
              <a:buFont typeface="Wingdings" panose="05000000000000000000" pitchFamily="2" charset="2"/>
              <a:tabLst>
                <a:tab pos="227330" algn="l"/>
              </a:tabLst>
            </a:pPr>
            <a:r>
              <a:rPr sz="2000" dirty="0">
                <a:latin typeface="Times New Roman" panose="02020603050405020304" pitchFamily="18" charset="0"/>
              </a:rPr>
              <a:t>The </a:t>
            </a:r>
            <a:r>
              <a:rPr lang="bg-BG" altLang="x-none" sz="2000" b="1" i="1" dirty="0">
                <a:latin typeface="Times New Roman" panose="02020603050405020304" pitchFamily="18" charset="0"/>
              </a:rPr>
              <a:t>Thread</a:t>
            </a:r>
            <a:r>
              <a:rPr lang="bg-BG" altLang="x-none" sz="2000" dirty="0">
                <a:latin typeface="Times New Roman" panose="02020603050405020304" pitchFamily="18" charset="0"/>
              </a:rPr>
              <a:t> class </a:t>
            </a:r>
            <a:r>
              <a:rPr sz="2000" dirty="0">
                <a:latin typeface="Times New Roman" panose="02020603050405020304" pitchFamily="18" charset="0"/>
              </a:rPr>
              <a:t>provides </a:t>
            </a:r>
            <a:r>
              <a:rPr lang="bg-BG" altLang="x-none" sz="2000" dirty="0">
                <a:latin typeface="Times New Roman" panose="02020603050405020304" pitchFamily="18" charset="0"/>
              </a:rPr>
              <a:t>methods that allow you to obtain a list of all the threads in the</a:t>
            </a:r>
            <a:r>
              <a:rPr sz="2000" dirty="0">
                <a:latin typeface="Times New Roman" panose="02020603050405020304" pitchFamily="18" charset="0"/>
              </a:rPr>
              <a:t> </a:t>
            </a:r>
            <a:r>
              <a:rPr lang="bg-BG" altLang="x-none" sz="2000" dirty="0">
                <a:latin typeface="Times New Roman" panose="02020603050405020304" pitchFamily="18" charset="0"/>
              </a:rPr>
              <a:t>program:</a:t>
            </a:r>
            <a:endParaRPr lang="bg-BG" altLang="x-none" sz="2000" dirty="0">
              <a:latin typeface="Times New Roman" panose="02020603050405020304" pitchFamily="18" charset="0"/>
            </a:endParaRPr>
          </a:p>
          <a:p>
            <a:pPr marL="287655" lvl="1" indent="-173355" algn="just" defTabSz="914400" eaLnBrk="1" hangingPunct="1">
              <a:spcBef>
                <a:spcPct val="20000"/>
              </a:spcBef>
              <a:buClr>
                <a:schemeClr val="bg2"/>
              </a:buClr>
              <a:buSzPct val="80000"/>
              <a:buFont typeface="Wingdings" panose="05000000000000000000" pitchFamily="2" charset="2"/>
              <a:buChar char="§"/>
              <a:tabLst>
                <a:tab pos="227330" algn="l"/>
              </a:tabLst>
            </a:pPr>
            <a:r>
              <a:rPr lang="bg-BG" altLang="x-none" sz="2000" b="1" i="1" dirty="0">
                <a:latin typeface="Times New Roman" panose="02020603050405020304" pitchFamily="18" charset="0"/>
              </a:rPr>
              <a:t>static int enumerate(Thread threadArray[])</a:t>
            </a:r>
            <a:r>
              <a:rPr sz="2000" i="1" dirty="0">
                <a:latin typeface="Times New Roman" panose="02020603050405020304" pitchFamily="18" charset="0"/>
              </a:rPr>
              <a:t> </a:t>
            </a:r>
            <a:r>
              <a:rPr sz="2000" dirty="0">
                <a:latin typeface="Times New Roman" panose="02020603050405020304" pitchFamily="18" charset="0"/>
              </a:rPr>
              <a:t>gets</a:t>
            </a:r>
            <a:r>
              <a:rPr lang="bg-BG" altLang="x-none" sz="2000" dirty="0">
                <a:latin typeface="Times New Roman" panose="02020603050405020304" pitchFamily="18" charset="0"/>
              </a:rPr>
              <a:t> all the thread objects of the program and stores the result into the thread array. The</a:t>
            </a:r>
            <a:r>
              <a:rPr sz="2000" dirty="0">
                <a:latin typeface="Times New Roman" panose="02020603050405020304" pitchFamily="18" charset="0"/>
              </a:rPr>
              <a:t> </a:t>
            </a:r>
            <a:r>
              <a:rPr lang="bg-BG" altLang="x-none" sz="2000" dirty="0">
                <a:latin typeface="Times New Roman" panose="02020603050405020304" pitchFamily="18" charset="0"/>
              </a:rPr>
              <a:t>value returned is the number of thread objects stored into the array. The method is static and</a:t>
            </a:r>
            <a:r>
              <a:rPr sz="2000" dirty="0">
                <a:latin typeface="Times New Roman" panose="02020603050405020304" pitchFamily="18" charset="0"/>
              </a:rPr>
              <a:t> </a:t>
            </a:r>
            <a:r>
              <a:rPr lang="bg-BG" altLang="x-none" sz="2000" dirty="0">
                <a:latin typeface="Times New Roman" panose="02020603050405020304" pitchFamily="18" charset="0"/>
              </a:rPr>
              <a:t>may be called through the </a:t>
            </a:r>
            <a:r>
              <a:rPr lang="bg-BG" altLang="x-none" sz="2000" b="1" i="1" dirty="0">
                <a:latin typeface="Times New Roman" panose="02020603050405020304" pitchFamily="18" charset="0"/>
              </a:rPr>
              <a:t>Thread </a:t>
            </a:r>
            <a:r>
              <a:rPr lang="bg-BG" altLang="x-none" sz="2000" dirty="0">
                <a:latin typeface="Times New Roman" panose="02020603050405020304" pitchFamily="18" charset="0"/>
              </a:rPr>
              <a:t>class name.</a:t>
            </a:r>
            <a:endParaRPr lang="bg-BG" altLang="x-none" sz="2000" dirty="0">
              <a:latin typeface="Times New Roman" panose="02020603050405020304" pitchFamily="18" charset="0"/>
            </a:endParaRPr>
          </a:p>
          <a:p>
            <a:pPr marL="287655" lvl="1" indent="-173355" algn="just" defTabSz="914400" eaLnBrk="1" hangingPunct="1">
              <a:spcBef>
                <a:spcPct val="20000"/>
              </a:spcBef>
              <a:buClr>
                <a:schemeClr val="bg2"/>
              </a:buClr>
              <a:buSzPct val="80000"/>
              <a:buFont typeface="Wingdings" panose="05000000000000000000" pitchFamily="2" charset="2"/>
              <a:buChar char="§"/>
              <a:tabLst>
                <a:tab pos="227330" algn="l"/>
              </a:tabLst>
            </a:pPr>
            <a:r>
              <a:rPr lang="bg-BG" altLang="x-none" sz="2000" b="1" i="1" dirty="0">
                <a:latin typeface="Times New Roman" panose="02020603050405020304" pitchFamily="18" charset="0"/>
              </a:rPr>
              <a:t>static int activeCount()</a:t>
            </a:r>
            <a:r>
              <a:rPr sz="2000" i="1" dirty="0">
                <a:latin typeface="Times New Roman" panose="02020603050405020304" pitchFamily="18" charset="0"/>
              </a:rPr>
              <a:t> </a:t>
            </a:r>
            <a:r>
              <a:rPr sz="2000" dirty="0">
                <a:latin typeface="Times New Roman" panose="02020603050405020304" pitchFamily="18" charset="0"/>
              </a:rPr>
              <a:t>re</a:t>
            </a:r>
            <a:r>
              <a:rPr lang="bg-BG" altLang="x-none" sz="2000" dirty="0">
                <a:latin typeface="Times New Roman" panose="02020603050405020304" pitchFamily="18" charset="0"/>
              </a:rPr>
              <a:t>turns the number of threads in the program. The method is static and may be called</a:t>
            </a:r>
            <a:r>
              <a:rPr sz="2000" dirty="0">
                <a:latin typeface="Times New Roman" panose="02020603050405020304" pitchFamily="18" charset="0"/>
              </a:rPr>
              <a:t> t</a:t>
            </a:r>
            <a:r>
              <a:rPr lang="bg-BG" altLang="x-none" sz="2000" dirty="0">
                <a:latin typeface="Times New Roman" panose="02020603050405020304" pitchFamily="18" charset="0"/>
              </a:rPr>
              <a:t>hrough the </a:t>
            </a:r>
            <a:r>
              <a:rPr lang="bg-BG" altLang="x-none" sz="2000" b="1" i="1" dirty="0">
                <a:latin typeface="Times New Roman" panose="02020603050405020304" pitchFamily="18" charset="0"/>
              </a:rPr>
              <a:t>Thread </a:t>
            </a:r>
            <a:r>
              <a:rPr lang="bg-BG" altLang="x-none" sz="2000" dirty="0">
                <a:latin typeface="Times New Roman" panose="02020603050405020304" pitchFamily="18" charset="0"/>
              </a:rPr>
              <a:t>class name.</a:t>
            </a:r>
            <a:endParaRPr lang="bg-BG" altLang="x-none" sz="2000" dirty="0">
              <a:latin typeface="Times New Roman" panose="02020603050405020304" pitchFamily="18" charset="0"/>
            </a:endParaRPr>
          </a:p>
        </p:txBody>
      </p:sp>
      <p:sp>
        <p:nvSpPr>
          <p:cNvPr id="47110" name="Rectangle 4"/>
          <p:cNvSpPr/>
          <p:nvPr/>
        </p:nvSpPr>
        <p:spPr>
          <a:xfrm>
            <a:off x="549275" y="533400"/>
            <a:ext cx="8213725" cy="304800"/>
          </a:xfrm>
          <a:prstGeom prst="rect">
            <a:avLst/>
          </a:prstGeom>
          <a:gradFill rotWithShape="1">
            <a:gsLst>
              <a:gs pos="0">
                <a:schemeClr val="bg2"/>
              </a:gs>
              <a:gs pos="100000">
                <a:schemeClr val="bg1"/>
              </a:gs>
            </a:gsLst>
            <a:lin ang="0" scaled="1"/>
            <a:tileRect/>
          </a:gradFill>
          <a:ln w="9525">
            <a:noFill/>
          </a:ln>
        </p:spPr>
        <p:txBody>
          <a:bodyPr wrap="none" anchor="ctr" anchorCtr="0"/>
          <a:p>
            <a:r>
              <a:rPr sz="2400" dirty="0">
                <a:solidFill>
                  <a:srgbClr val="FF9900"/>
                </a:solidFill>
                <a:latin typeface="Arial" panose="020B0604020202020204" pitchFamily="34" charset="0"/>
              </a:rPr>
              <a:t>:: Thread Access – Enumerating Threads in JVM</a:t>
            </a:r>
            <a:endParaRPr lang="bg-BG" altLang="x-none" sz="2400" dirty="0">
              <a:solidFill>
                <a:srgbClr val="FF9900"/>
              </a:solidFill>
              <a:latin typeface="Arial" panose="020B0604020202020204" pitchFamily="34" charset="0"/>
            </a:endParaRPr>
          </a:p>
        </p:txBody>
      </p:sp>
      <p:pic>
        <p:nvPicPr>
          <p:cNvPr id="47111" name="Picture 5"/>
          <p:cNvPicPr>
            <a:picLocks noChangeAspect="1"/>
          </p:cNvPicPr>
          <p:nvPr/>
        </p:nvPicPr>
        <p:blipFill>
          <a:blip r:embed="rId1"/>
          <a:stretch>
            <a:fillRect/>
          </a:stretch>
        </p:blipFill>
        <p:spPr>
          <a:xfrm>
            <a:off x="838200" y="3733800"/>
            <a:ext cx="6629400" cy="2673350"/>
          </a:xfrm>
          <a:prstGeom prst="rect">
            <a:avLst/>
          </a:prstGeom>
          <a:noFill/>
          <a:ln w="9525">
            <a:noFill/>
          </a:ln>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52227"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52228"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Thread Synchronization</a:t>
            </a:r>
            <a:endParaRPr lang="en-CA" altLang="x-none" sz="2800" dirty="0">
              <a:solidFill>
                <a:srgbClr val="FF9900"/>
              </a:solidFill>
              <a:ea typeface="Times New Roman" panose="02020603050405020304" pitchFamily="18" charset="0"/>
            </a:endParaRPr>
          </a:p>
        </p:txBody>
      </p:sp>
      <p:graphicFrame>
        <p:nvGraphicFramePr>
          <p:cNvPr id="427059" name="Group 51"/>
          <p:cNvGraphicFramePr>
            <a:graphicFrameLocks noGrp="1"/>
          </p:cNvGraphicFramePr>
          <p:nvPr/>
        </p:nvGraphicFramePr>
        <p:xfrm>
          <a:off x="381000" y="914400"/>
          <a:ext cx="8353425" cy="1981200"/>
        </p:xfrm>
        <a:graphic>
          <a:graphicData uri="http://schemas.openxmlformats.org/drawingml/2006/table">
            <a:tbl>
              <a:tblPr/>
              <a:tblGrid>
                <a:gridCol w="3941763"/>
                <a:gridCol w="4411662"/>
              </a:tblGrid>
              <a:tr h="2635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smtClean="0">
                          <a:ln>
                            <a:noFill/>
                          </a:ln>
                          <a:solidFill>
                            <a:srgbClr val="FF9900"/>
                          </a:solidFill>
                          <a:effectLst/>
                          <a:latin typeface="Times New Roman" panose="02020603050405020304" pitchFamily="18" charset="0"/>
                        </a:rPr>
                        <a:t>Java</a:t>
                      </a:r>
                      <a:endParaRPr kumimoji="0" lang="en-US" sz="2000" b="0" i="0" u="none" strike="noStrike" cap="none" normalizeH="0" baseline="0" smtClean="0">
                        <a:ln>
                          <a:noFill/>
                        </a:ln>
                        <a:solidFill>
                          <a:srgbClr val="FF9900"/>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smtClean="0">
                          <a:ln>
                            <a:noFill/>
                          </a:ln>
                          <a:solidFill>
                            <a:srgbClr val="FF9900"/>
                          </a:solidFill>
                          <a:effectLst/>
                          <a:latin typeface="Times New Roman" panose="02020603050405020304" pitchFamily="18" charset="0"/>
                        </a:rPr>
                        <a:t>C#</a:t>
                      </a:r>
                      <a:endParaRPr kumimoji="0" lang="en-US" sz="2000" b="0" i="0" u="none" strike="noStrike" cap="none" normalizeH="0" baseline="0" smtClean="0">
                        <a:ln>
                          <a:noFill/>
                        </a:ln>
                        <a:solidFill>
                          <a:srgbClr val="FF9900"/>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730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sz="2000" b="0" i="1" u="none" strike="noStrike" cap="none" normalizeH="0" baseline="0" smtClean="0">
                          <a:ln>
                            <a:noFill/>
                          </a:ln>
                          <a:solidFill>
                            <a:srgbClr val="000000"/>
                          </a:solidFill>
                          <a:effectLst/>
                          <a:latin typeface="Times New Roman" panose="02020603050405020304" pitchFamily="18" charset="0"/>
                        </a:rPr>
                        <a:t>synchronized</a:t>
                      </a:r>
                      <a:endParaRPr kumimoji="0" lang="en-US" sz="2000" b="0" i="1" u="none" strike="noStrike" cap="none" normalizeH="0" baseline="0" smtClean="0">
                        <a:ln>
                          <a:noFill/>
                        </a:ln>
                        <a:solidFill>
                          <a:srgbClr val="000000"/>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sz="2000" b="0" i="1" u="none" strike="noStrike" cap="none" normalizeH="0" baseline="0" smtClean="0">
                          <a:ln>
                            <a:noFill/>
                          </a:ln>
                          <a:solidFill>
                            <a:srgbClr val="000000"/>
                          </a:solidFill>
                          <a:effectLst/>
                          <a:latin typeface="Times New Roman" panose="02020603050405020304" pitchFamily="18" charset="0"/>
                        </a:rPr>
                        <a:t>lock</a:t>
                      </a:r>
                      <a:endParaRPr kumimoji="0" lang="en-US" sz="2000" b="0" i="1" u="none" strike="noStrike" cap="none" normalizeH="0" baseline="0" smtClean="0">
                        <a:ln>
                          <a:noFill/>
                        </a:ln>
                        <a:solidFill>
                          <a:srgbClr val="000000"/>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r>
              <a:tr h="3524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0" i="1" u="none" strike="noStrike" cap="none" normalizeH="0" baseline="0" smtClean="0">
                          <a:ln>
                            <a:noFill/>
                          </a:ln>
                          <a:solidFill>
                            <a:schemeClr val="tx1"/>
                          </a:solidFill>
                          <a:effectLst/>
                          <a:latin typeface="Times New Roman" panose="02020603050405020304" pitchFamily="18" charset="0"/>
                        </a:rPr>
                        <a:t>Object.wait()</a:t>
                      </a:r>
                      <a:r>
                        <a:rPr kumimoji="0" lang="en-US" sz="2000" b="0" i="0" u="none" strike="noStrike" cap="none" normalizeH="0" baseline="0" smtClean="0">
                          <a:ln>
                            <a:noFill/>
                          </a:ln>
                          <a:solidFill>
                            <a:schemeClr val="tx1"/>
                          </a:solidFill>
                          <a:effectLst/>
                          <a:latin typeface="Times New Roman" panose="02020603050405020304" pitchFamily="18" charset="0"/>
                        </a:rPr>
                        <a:t> method</a:t>
                      </a:r>
                      <a:endParaRPr kumimoji="0" lang="en-US" sz="2000" b="0" i="0" u="none" strike="noStrike" cap="none" normalizeH="0" baseline="0" smtClean="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0" i="1" u="none" strike="noStrike" cap="none" normalizeH="0" baseline="0" smtClean="0">
                          <a:ln>
                            <a:noFill/>
                          </a:ln>
                          <a:solidFill>
                            <a:schemeClr val="tx1"/>
                          </a:solidFill>
                          <a:effectLst/>
                          <a:latin typeface="Times New Roman" panose="02020603050405020304" pitchFamily="18" charset="0"/>
                        </a:rPr>
                        <a:t>Monitor.Wait( object obj )</a:t>
                      </a:r>
                      <a:r>
                        <a:rPr kumimoji="0" lang="en-US" sz="2000" b="0" i="0" u="none" strike="noStrike" cap="none" normalizeH="0" baseline="0" smtClean="0">
                          <a:ln>
                            <a:noFill/>
                          </a:ln>
                          <a:solidFill>
                            <a:schemeClr val="tx1"/>
                          </a:solidFill>
                          <a:effectLst/>
                          <a:latin typeface="Times New Roman" panose="02020603050405020304" pitchFamily="18" charset="0"/>
                        </a:rPr>
                        <a:t> method</a:t>
                      </a:r>
                      <a:endParaRPr kumimoji="0" lang="en-US" sz="2000" b="0" i="0" u="none" strike="noStrike" cap="none" normalizeH="0" baseline="0" smtClean="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r>
              <a:tr h="27305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0" i="1" u="none" strike="noStrike" cap="none" normalizeH="0" baseline="0" smtClean="0">
                          <a:ln>
                            <a:noFill/>
                          </a:ln>
                          <a:solidFill>
                            <a:schemeClr val="tx1"/>
                          </a:solidFill>
                          <a:effectLst/>
                          <a:latin typeface="Times New Roman" panose="02020603050405020304" pitchFamily="18" charset="0"/>
                        </a:rPr>
                        <a:t>Object.notify()</a:t>
                      </a:r>
                      <a:r>
                        <a:rPr kumimoji="0" lang="en-US" sz="2000" b="0" i="0" u="none" strike="noStrike" cap="none" normalizeH="0" baseline="0" smtClean="0">
                          <a:ln>
                            <a:noFill/>
                          </a:ln>
                          <a:solidFill>
                            <a:schemeClr val="tx1"/>
                          </a:solidFill>
                          <a:effectLst/>
                          <a:latin typeface="Times New Roman" panose="02020603050405020304" pitchFamily="18" charset="0"/>
                        </a:rPr>
                        <a:t> method</a:t>
                      </a:r>
                      <a:endParaRPr kumimoji="0" lang="en-US" sz="2000" b="0" i="0" u="none" strike="noStrike" cap="none" normalizeH="0" baseline="0" smtClean="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0" i="1" u="none" strike="noStrike" cap="none" normalizeH="0" baseline="0" smtClean="0">
                          <a:ln>
                            <a:noFill/>
                          </a:ln>
                          <a:solidFill>
                            <a:schemeClr val="tx1"/>
                          </a:solidFill>
                          <a:effectLst/>
                          <a:latin typeface="Times New Roman" panose="02020603050405020304" pitchFamily="18" charset="0"/>
                        </a:rPr>
                        <a:t>Monitor.Pulse( object obj )</a:t>
                      </a:r>
                      <a:r>
                        <a:rPr kumimoji="0" lang="en-US" sz="2000" b="0" i="0" u="none" strike="noStrike" cap="none" normalizeH="0" baseline="0" smtClean="0">
                          <a:ln>
                            <a:noFill/>
                          </a:ln>
                          <a:solidFill>
                            <a:schemeClr val="tx1"/>
                          </a:solidFill>
                          <a:effectLst/>
                          <a:latin typeface="Times New Roman" panose="02020603050405020304" pitchFamily="18" charset="0"/>
                        </a:rPr>
                        <a:t> method</a:t>
                      </a:r>
                      <a:endParaRPr kumimoji="0" lang="en-US" sz="2000" b="0" i="0" u="none" strike="noStrike" cap="none" normalizeH="0" baseline="0" smtClean="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0" i="1" u="none" strike="noStrike" cap="none" normalizeH="0" baseline="0" smtClean="0">
                          <a:ln>
                            <a:noFill/>
                          </a:ln>
                          <a:solidFill>
                            <a:schemeClr val="tx1"/>
                          </a:solidFill>
                          <a:effectLst/>
                          <a:latin typeface="Times New Roman" panose="02020603050405020304" pitchFamily="18" charset="0"/>
                        </a:rPr>
                        <a:t>Object.notifyAll()</a:t>
                      </a:r>
                      <a:r>
                        <a:rPr kumimoji="0" lang="en-US" sz="2000" b="0" i="0" u="none" strike="noStrike" cap="none" normalizeH="0" baseline="0" smtClean="0">
                          <a:ln>
                            <a:noFill/>
                          </a:ln>
                          <a:solidFill>
                            <a:schemeClr val="tx1"/>
                          </a:solidFill>
                          <a:effectLst/>
                          <a:latin typeface="Times New Roman" panose="02020603050405020304" pitchFamily="18" charset="0"/>
                        </a:rPr>
                        <a:t> method</a:t>
                      </a:r>
                      <a:endParaRPr kumimoji="0" lang="en-US" sz="2000" b="0" i="0" u="none" strike="noStrike" cap="none" normalizeH="0" baseline="0" smtClean="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0" i="1" u="none" strike="noStrike" cap="none" normalizeH="0" baseline="0" smtClean="0">
                          <a:ln>
                            <a:noFill/>
                          </a:ln>
                          <a:solidFill>
                            <a:schemeClr val="tx1"/>
                          </a:solidFill>
                          <a:effectLst/>
                          <a:latin typeface="Times New Roman" panose="02020603050405020304" pitchFamily="18" charset="0"/>
                        </a:rPr>
                        <a:t>Monitor.PulseAll( object obj )</a:t>
                      </a:r>
                      <a:r>
                        <a:rPr kumimoji="0" lang="en-US" sz="2000" b="0" i="0" u="none" strike="noStrike" cap="none" normalizeH="0" baseline="0" smtClean="0">
                          <a:ln>
                            <a:noFill/>
                          </a:ln>
                          <a:solidFill>
                            <a:schemeClr val="tx1"/>
                          </a:solidFill>
                          <a:effectLst/>
                          <a:latin typeface="Times New Roman" panose="02020603050405020304" pitchFamily="18" charset="0"/>
                        </a:rPr>
                        <a:t> method</a:t>
                      </a:r>
                      <a:endParaRPr kumimoji="0" lang="en-US" sz="2000" b="0" i="0" u="none" strike="noStrike" cap="none" normalizeH="0" baseline="0" smtClean="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2249" name="Rectangle 52" descr="Rectangle: Click to edit Master text styles&#13;&#10;Second level&#13;&#10;Third level&#13;&#10;Fourth level&#13;&#10;Fifth level"/>
          <p:cNvSpPr/>
          <p:nvPr/>
        </p:nvSpPr>
        <p:spPr>
          <a:xfrm>
            <a:off x="381000" y="3048000"/>
            <a:ext cx="8382000" cy="3200400"/>
          </a:xfrm>
          <a:prstGeom prst="rect">
            <a:avLst/>
          </a:prstGeom>
          <a:noFill/>
          <a:ln w="9525">
            <a:noFill/>
          </a:ln>
        </p:spPr>
        <p:txBody>
          <a:bodyPr/>
          <a:p>
            <a:pPr marL="228600" indent="-228600"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In addition to the lock construct, C# has provided access to its internal methods to acquire and release locks: </a:t>
            </a:r>
            <a:endParaRPr sz="2000" dirty="0">
              <a:latin typeface="Times New Roman" panose="02020603050405020304" pitchFamily="18" charset="0"/>
            </a:endParaRPr>
          </a:p>
          <a:p>
            <a:pPr marL="576580" lvl="1" indent="-233680" algn="just" eaLnBrk="1" hangingPunct="1">
              <a:spcBef>
                <a:spcPct val="20000"/>
              </a:spcBef>
              <a:buClr>
                <a:schemeClr val="accent2"/>
              </a:buClr>
              <a:buSzPct val="80000"/>
              <a:buFont typeface="Wingdings" panose="05000000000000000000" pitchFamily="2" charset="2"/>
              <a:buChar char="§"/>
            </a:pPr>
            <a:r>
              <a:rPr sz="2000" i="1" dirty="0">
                <a:latin typeface="Times New Roman" panose="02020603050405020304" pitchFamily="18" charset="0"/>
              </a:rPr>
              <a:t>Monitor.Enter( object obj );</a:t>
            </a:r>
            <a:endParaRPr sz="2000" i="1" dirty="0">
              <a:latin typeface="Times New Roman" panose="02020603050405020304" pitchFamily="18" charset="0"/>
            </a:endParaRPr>
          </a:p>
          <a:p>
            <a:pPr marL="576580" lvl="1" indent="-233680" algn="just" eaLnBrk="1" hangingPunct="1">
              <a:spcBef>
                <a:spcPct val="20000"/>
              </a:spcBef>
              <a:buClr>
                <a:schemeClr val="accent2"/>
              </a:buClr>
              <a:buSzPct val="80000"/>
              <a:buFont typeface="Wingdings" panose="05000000000000000000" pitchFamily="2" charset="2"/>
              <a:buChar char="§"/>
            </a:pPr>
            <a:r>
              <a:rPr sz="2000" i="1" dirty="0">
                <a:latin typeface="Times New Roman" panose="02020603050405020304" pitchFamily="18" charset="0"/>
              </a:rPr>
              <a:t>Monitor.Exit( object obj ). </a:t>
            </a:r>
            <a:endParaRPr sz="2000" i="1" dirty="0">
              <a:latin typeface="Times New Roman" panose="02020603050405020304" pitchFamily="18" charset="0"/>
            </a:endParaRPr>
          </a:p>
          <a:p>
            <a:pPr marL="576580" lvl="1" indent="-233680" algn="just" eaLnBrk="1" hangingPunct="1">
              <a:spcBef>
                <a:spcPct val="20000"/>
              </a:spcBef>
              <a:buClr>
                <a:schemeClr val="accent2"/>
              </a:buClr>
              <a:buSzPct val="80000"/>
              <a:buFont typeface="Wingdings" panose="05000000000000000000" pitchFamily="2" charset="2"/>
              <a:buChar char="§"/>
            </a:pPr>
            <a:endParaRPr sz="2000" i="1" dirty="0">
              <a:latin typeface="Times New Roman" panose="02020603050405020304" pitchFamily="18" charset="0"/>
            </a:endParaRPr>
          </a:p>
          <a:p>
            <a:pPr marL="228600" indent="-228600" algn="just">
              <a:spcBef>
                <a:spcPct val="20000"/>
              </a:spcBef>
              <a:buClr>
                <a:schemeClr val="bg2"/>
              </a:buClr>
              <a:buSzPct val="75000"/>
              <a:buFont typeface="Wingdings" panose="05000000000000000000" pitchFamily="2" charset="2"/>
              <a:buChar char="§"/>
            </a:pPr>
            <a:r>
              <a:rPr sz="2000" dirty="0">
                <a:latin typeface="Times New Roman" panose="02020603050405020304" pitchFamily="18" charset="0"/>
              </a:rPr>
              <a:t>Using these methods can buy a programmer the same benefits as using the lock construct, but it can also provide more elaborate locking abilities, such as being able to </a:t>
            </a:r>
            <a:r>
              <a:rPr sz="2000" b="1" dirty="0">
                <a:latin typeface="Times New Roman" panose="02020603050405020304" pitchFamily="18" charset="0"/>
              </a:rPr>
              <a:t>lock variables</a:t>
            </a:r>
            <a:r>
              <a:rPr sz="2000" dirty="0">
                <a:latin typeface="Times New Roman" panose="02020603050405020304" pitchFamily="18" charset="0"/>
              </a:rPr>
              <a:t> in one method and </a:t>
            </a:r>
            <a:r>
              <a:rPr sz="2000" b="1" dirty="0">
                <a:latin typeface="Times New Roman" panose="02020603050405020304" pitchFamily="18" charset="0"/>
              </a:rPr>
              <a:t>have them released at different times</a:t>
            </a:r>
            <a:r>
              <a:rPr sz="2000" dirty="0">
                <a:latin typeface="Times New Roman" panose="02020603050405020304" pitchFamily="18" charset="0"/>
              </a:rPr>
              <a:t> or different points in the code, </a:t>
            </a:r>
            <a:r>
              <a:rPr sz="2000" b="1" dirty="0">
                <a:latin typeface="Times New Roman" panose="02020603050405020304" pitchFamily="18" charset="0"/>
              </a:rPr>
              <a:t>depending on the code path</a:t>
            </a:r>
            <a:r>
              <a:rPr sz="2000" dirty="0">
                <a:latin typeface="Times New Roman" panose="02020603050405020304" pitchFamily="18" charset="0"/>
              </a:rPr>
              <a:t>.</a:t>
            </a:r>
            <a:r>
              <a:rPr sz="2000" b="1" dirty="0">
                <a:latin typeface="Times New Roman" panose="02020603050405020304" pitchFamily="18" charset="0"/>
              </a:rPr>
              <a:t>	</a:t>
            </a:r>
            <a:endParaRPr sz="2000" b="1" dirty="0">
              <a:latin typeface="Times New Roman" panose="02020603050405020304" pitchFamily="18"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Footer Placeholder 1"/>
          <p:cNvSpPr txBox="1">
            <a:spLocks noGrp="1"/>
          </p:cNvSpPr>
          <p:nvPr>
            <p:ph type="ftr" sz="quarter" idx="10"/>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bg-BG" altLang="x-none" sz="1200" dirty="0"/>
              <a:t>Multithreading</a:t>
            </a:r>
            <a:endParaRPr lang="bg-BG" altLang="x-none" sz="1200" dirty="0"/>
          </a:p>
        </p:txBody>
      </p:sp>
      <p:sp>
        <p:nvSpPr>
          <p:cNvPr id="53251" name="Slide Number Placeholder 2"/>
          <p:cNvSpPr txBox="1">
            <a:spLocks noGrp="1"/>
          </p:cNvSpPr>
          <p:nvPr>
            <p:ph type="sldNum" sz="quarter" idx="11"/>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bg-BG" altLang="x-none" sz="1200" dirty="0">
                <a:latin typeface="Arial Black" panose="020B0A04020102020204" pitchFamily="34" charset="0"/>
              </a:rPr>
            </a:fld>
            <a:endParaRPr lang="bg-BG" altLang="x-none" sz="1200" dirty="0">
              <a:latin typeface="Arial Black" panose="020B0A04020102020204" pitchFamily="34" charset="0"/>
            </a:endParaRPr>
          </a:p>
        </p:txBody>
      </p:sp>
      <p:sp>
        <p:nvSpPr>
          <p:cNvPr id="53252" name="Rectangle 2"/>
          <p:cNvSpPr>
            <a:spLocks noGrp="1"/>
          </p:cNvSpPr>
          <p:nvPr>
            <p:ph type="title" idx="4294967295"/>
          </p:nvPr>
        </p:nvSpPr>
        <p:spPr>
          <a:xfrm>
            <a:off x="685800" y="0"/>
            <a:ext cx="7772400" cy="533400"/>
          </a:xfrm>
          <a:ln/>
        </p:spPr>
        <p:txBody>
          <a:bodyPr vert="horz" wrap="square" lIns="91440" tIns="45720" rIns="91440" bIns="45720" anchor="ctr" anchorCtr="0"/>
          <a:p>
            <a:pPr eaLnBrk="1" hangingPunct="1"/>
            <a:r>
              <a:rPr lang="en-CA" altLang="x-none" sz="2800" dirty="0">
                <a:solidFill>
                  <a:srgbClr val="FF9900"/>
                </a:solidFill>
                <a:cs typeface="Times New Roman" panose="02020603050405020304" pitchFamily="18" charset="0"/>
              </a:rPr>
              <a:t>Example: Thread Synchronization</a:t>
            </a:r>
            <a:endParaRPr lang="en-CA" altLang="x-none" sz="2800" dirty="0">
              <a:solidFill>
                <a:srgbClr val="FF9900"/>
              </a:solidFill>
              <a:ea typeface="Times New Roman" panose="02020603050405020304" pitchFamily="18" charset="0"/>
            </a:endParaRPr>
          </a:p>
        </p:txBody>
      </p:sp>
      <p:pic>
        <p:nvPicPr>
          <p:cNvPr id="53253" name="Picture 24"/>
          <p:cNvPicPr>
            <a:picLocks noChangeAspect="1"/>
          </p:cNvPicPr>
          <p:nvPr/>
        </p:nvPicPr>
        <p:blipFill>
          <a:blip r:embed="rId1"/>
          <a:stretch>
            <a:fillRect/>
          </a:stretch>
        </p:blipFill>
        <p:spPr>
          <a:xfrm>
            <a:off x="1143000" y="506413"/>
            <a:ext cx="6705600" cy="5970587"/>
          </a:xfrm>
          <a:prstGeom prst="rect">
            <a:avLst/>
          </a:prstGeom>
          <a:noFill/>
          <a:ln w="9525">
            <a:noFill/>
          </a:ln>
        </p:spPr>
      </p:pic>
    </p:spTree>
  </p:cSld>
  <p:clrMapOvr>
    <a:masterClrMapping/>
  </p:clrMapOvr>
  <p:transition/>
</p:sld>
</file>

<file path=ppt/theme/theme1.xml><?xml version="1.0" encoding="utf-8"?>
<a:theme xmlns:a="http://schemas.openxmlformats.org/drawingml/2006/main" name="1_Pixel">
  <a:themeElements>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1_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1_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1_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1_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1_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1_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1_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1_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1_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1_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1_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23024</Words>
  <Application>WPS Presentation</Application>
  <PresentationFormat>On-screen Show (4:3)</PresentationFormat>
  <Paragraphs>747</Paragraphs>
  <Slides>46</Slides>
  <Notes>61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46</vt:i4>
      </vt:variant>
    </vt:vector>
  </HeadingPairs>
  <TitlesOfParts>
    <vt:vector size="55" baseType="lpstr">
      <vt:lpstr>Arial</vt:lpstr>
      <vt:lpstr>SimSun</vt:lpstr>
      <vt:lpstr>Wingdings</vt:lpstr>
      <vt:lpstr>Times New Roman</vt:lpstr>
      <vt:lpstr>Arial Black</vt:lpstr>
      <vt:lpstr>Tahoma</vt:lpstr>
      <vt:lpstr>Microsoft YaHei</vt:lpstr>
      <vt:lpstr>Arial Unicode MS</vt:lpstr>
      <vt:lpstr>1_Pixel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Glory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Emil Vassev</dc:creator>
  <cp:lastModifiedBy>KIIT0001</cp:lastModifiedBy>
  <cp:revision>580</cp:revision>
  <cp:lastPrinted>2005-01-13T22:02:04Z</cp:lastPrinted>
  <dcterms:created xsi:type="dcterms:W3CDTF">2003-05-04T17:24:40Z</dcterms:created>
  <dcterms:modified xsi:type="dcterms:W3CDTF">2024-03-13T05:17:55Z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77C353BDF1564788A680BEFF9C84CBAF_12</vt:lpwstr>
  </property>
  <property fmtid="{D5CDD505-2E9C-101B-9397-08002B2CF9AE}" pid="3" name="KSOProductBuildVer">
    <vt:lpwstr>1033-12.2.0.13489</vt:lpwstr>
  </property>
</Properties>
</file>