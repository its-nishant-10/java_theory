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9"/>
  </p:handoutMasterIdLst>
  <p:sldIdLst>
    <p:sldId id="258" r:id="rId3"/>
    <p:sldId id="260" r:id="rId4"/>
    <p:sldId id="389" r:id="rId5"/>
    <p:sldId id="390" r:id="rId6"/>
    <p:sldId id="391" r:id="rId7"/>
    <p:sldId id="392" r:id="rId8"/>
    <p:sldId id="393" r:id="rId9"/>
    <p:sldId id="394" r:id="rId10"/>
    <p:sldId id="395" r:id="rId11"/>
    <p:sldId id="396" r:id="rId12"/>
    <p:sldId id="397" r:id="rId13"/>
    <p:sldId id="398" r:id="rId14"/>
    <p:sldId id="400" r:id="rId15"/>
    <p:sldId id="399" r:id="rId16"/>
    <p:sldId id="401" r:id="rId17"/>
    <p:sldId id="402" r:id="rId18"/>
    <p:sldId id="403" r:id="rId19"/>
    <p:sldId id="404" r:id="rId20"/>
    <p:sldId id="405" r:id="rId21"/>
    <p:sldId id="406" r:id="rId22"/>
    <p:sldId id="407" r:id="rId23"/>
    <p:sldId id="408" r:id="rId24"/>
    <p:sldId id="409" r:id="rId25"/>
    <p:sldId id="411" r:id="rId26"/>
    <p:sldId id="412" r:id="rId27"/>
    <p:sldId id="413" r:id="rId28"/>
    <p:sldId id="414" r:id="rId29"/>
    <p:sldId id="415" r:id="rId30"/>
    <p:sldId id="416" r:id="rId31"/>
    <p:sldId id="417" r:id="rId32"/>
    <p:sldId id="418" r:id="rId33"/>
    <p:sldId id="419" r:id="rId34"/>
    <p:sldId id="421" r:id="rId35"/>
    <p:sldId id="422" r:id="rId36"/>
    <p:sldId id="423" r:id="rId37"/>
    <p:sldId id="424" r:id="rId38"/>
    <p:sldId id="425" r:id="rId39"/>
    <p:sldId id="426" r:id="rId40"/>
    <p:sldId id="427" r:id="rId41"/>
    <p:sldId id="428" r:id="rId42"/>
    <p:sldId id="429" r:id="rId43"/>
    <p:sldId id="430" r:id="rId44"/>
    <p:sldId id="431" r:id="rId45"/>
    <p:sldId id="432" r:id="rId46"/>
    <p:sldId id="433" r:id="rId47"/>
    <p:sldId id="434" r:id="rId48"/>
    <p:sldId id="435" r:id="rId49"/>
    <p:sldId id="436" r:id="rId50"/>
    <p:sldId id="437" r:id="rId51"/>
    <p:sldId id="438" r:id="rId52"/>
    <p:sldId id="439" r:id="rId53"/>
    <p:sldId id="440" r:id="rId54"/>
    <p:sldId id="441" r:id="rId55"/>
    <p:sldId id="442" r:id="rId56"/>
    <p:sldId id="443" r:id="rId57"/>
    <p:sldId id="444" r:id="rId58"/>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handoutMaster" Target="handoutMasters/handout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228600" y="9017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hello java example</a:t>
            </a:r>
            <a:endPar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62280" y="1113790"/>
            <a:ext cx="7527290" cy="267652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    public class Simple</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System.out.println("Hello Java");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
        <p:nvSpPr>
          <p:cNvPr id="2" name="Text Box 1"/>
          <p:cNvSpPr txBox="1"/>
          <p:nvPr/>
        </p:nvSpPr>
        <p:spPr>
          <a:xfrm>
            <a:off x="610235" y="4161155"/>
            <a:ext cx="5379720" cy="1938020"/>
          </a:xfrm>
          <a:prstGeom prst="rect">
            <a:avLst/>
          </a:prstGeom>
          <a:noFill/>
        </p:spPr>
        <p:txBody>
          <a:bodyPr wrap="square" rtlCol="0" anchor="t">
            <a:spAutoFit/>
          </a:bodyPr>
          <a:p>
            <a:r>
              <a:rPr lang="en-US" b="1"/>
              <a:t>save this file as Simple.java</a:t>
            </a:r>
            <a:endParaRPr lang="en-US" b="1"/>
          </a:p>
          <a:p>
            <a:endParaRPr lang="en-US" b="1"/>
          </a:p>
          <a:p>
            <a:r>
              <a:rPr lang="en-US" b="1"/>
              <a:t>To compile:	javac Simple.java</a:t>
            </a:r>
            <a:endParaRPr lang="en-US" b="1"/>
          </a:p>
          <a:p>
            <a:endParaRPr lang="en-US" b="1"/>
          </a:p>
          <a:p>
            <a:r>
              <a:rPr lang="en-US" b="1"/>
              <a:t>To execute:	java Simple</a:t>
            </a:r>
            <a:endParaRPr 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107632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How many ways can we write a java program</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818765"/>
            <a:ext cx="7725410" cy="230695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1. </a:t>
            </a:r>
            <a:r>
              <a:rPr lang="en-US" b="1">
                <a:solidFill>
                  <a:srgbClr val="FF0000"/>
                </a:solidFill>
                <a:latin typeface="Times New Roman" panose="02020603050405020304" pitchFamily="18" charset="0"/>
                <a:cs typeface="Times New Roman" panose="02020603050405020304" pitchFamily="18" charset="0"/>
              </a:rPr>
              <a:t>By changing sequence of the modifiers, method prototype is not changed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Let's see the simple code of main method.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public void main(String args[])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378460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2. </a:t>
            </a:r>
            <a:r>
              <a:rPr lang="en-US" b="1">
                <a:solidFill>
                  <a:srgbClr val="FF0000"/>
                </a:solidFill>
                <a:latin typeface="Times New Roman" panose="02020603050405020304" pitchFamily="18" charset="0"/>
                <a:cs typeface="Times New Roman" panose="02020603050405020304" pitchFamily="18" charset="0"/>
              </a:rPr>
              <a:t>Subscript notation in java array can be used after type, before variable or after variable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Let's see the different codes to write the main method.</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3. </a:t>
            </a:r>
            <a:r>
              <a:rPr lang="en-US" b="1">
                <a:solidFill>
                  <a:srgbClr val="FF0000"/>
                </a:solidFill>
                <a:latin typeface="Times New Roman" panose="02020603050405020304" pitchFamily="18" charset="0"/>
                <a:cs typeface="Times New Roman" panose="02020603050405020304" pitchFamily="18" charset="0"/>
              </a:rPr>
              <a:t>You can provide var-args support to main method by passing 3 ellipses (dots)</a:t>
            </a:r>
            <a:endParaRPr lang="en-US" b="1">
              <a:solidFill>
                <a:srgbClr val="FF000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Let's see the simple code of using var-args in main method. We will learn about var-args later in Java New Features chapter.</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4. </a:t>
            </a:r>
            <a:r>
              <a:rPr lang="en-US" b="1">
                <a:solidFill>
                  <a:srgbClr val="FF0000"/>
                </a:solidFill>
                <a:latin typeface="Times New Roman" panose="02020603050405020304" pitchFamily="18" charset="0"/>
                <a:cs typeface="Times New Roman" panose="02020603050405020304" pitchFamily="18" charset="0"/>
              </a:rPr>
              <a:t>Having semicolon at the end of class in java is optional :</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Let's see the simple code.</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class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public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System.out.println("hello java");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3846195"/>
          </a:xfrm>
          <a:prstGeom prst="rect">
            <a:avLst/>
          </a:prstGeom>
          <a:noFill/>
        </p:spPr>
        <p:txBody>
          <a:bodyPr wrap="square" rtlCol="0" anchor="t">
            <a:spAutoFit/>
          </a:bodyPr>
          <a:p>
            <a:r>
              <a:rPr lang="en-US" sz="2800" b="1" u="sng">
                <a:solidFill>
                  <a:srgbClr val="FF0000"/>
                </a:solidFill>
                <a:latin typeface="Times New Roman" panose="02020603050405020304" pitchFamily="18" charset="0"/>
                <a:cs typeface="Times New Roman" panose="02020603050405020304" pitchFamily="18" charset="0"/>
              </a:rPr>
              <a:t>Valid java main method signature :</a:t>
            </a:r>
            <a:endParaRPr lang="en-US" b="1">
              <a:solidFill>
                <a:srgbClr val="FF000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public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static final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final public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final strictfp public static void main(String[] args)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2368550"/>
          </a:xfrm>
          <a:prstGeom prst="rect">
            <a:avLst/>
          </a:prstGeom>
          <a:noFill/>
        </p:spPr>
        <p:txBody>
          <a:bodyPr wrap="square" rtlCol="0" anchor="t">
            <a:spAutoFit/>
          </a:bodyPr>
          <a:p>
            <a:r>
              <a:rPr lang="en-US" sz="2800" b="1" u="sng">
                <a:solidFill>
                  <a:srgbClr val="FF0000"/>
                </a:solidFill>
                <a:latin typeface="Times New Roman" panose="02020603050405020304" pitchFamily="18" charset="0"/>
                <a:cs typeface="Times New Roman" panose="02020603050405020304" pitchFamily="18" charset="0"/>
              </a:rPr>
              <a:t>Invalid java main method signature :</a:t>
            </a:r>
            <a:endParaRPr lang="en-US" b="1">
              <a:solidFill>
                <a:srgbClr val="FF0000"/>
              </a:solidFill>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static void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public void static main(String[] args)  </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    abstract public static void main(String[] args)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521970"/>
          </a:xfrm>
          <a:prstGeom prst="rect">
            <a:avLst/>
          </a:prstGeom>
          <a:noFill/>
        </p:spPr>
        <p:txBody>
          <a:bodyPr wrap="square" rtlCol="0" anchor="t">
            <a:spAutoFit/>
          </a:bodyPr>
          <a:p>
            <a:r>
              <a:rPr lang="en-US" sz="2800" b="1" u="sng">
                <a:solidFill>
                  <a:srgbClr val="FF0000"/>
                </a:solidFill>
                <a:latin typeface="Times New Roman" panose="02020603050405020304" pitchFamily="18" charset="0"/>
                <a:cs typeface="Times New Roman" panose="02020603050405020304" pitchFamily="18" charset="0"/>
              </a:rPr>
              <a:t>Internal Details of Hello Java Program</a:t>
            </a:r>
            <a:endParaRPr lang="en-US" sz="2800" b="1" u="sng">
              <a:solidFill>
                <a:srgbClr val="FF0000"/>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511175" y="2083435"/>
            <a:ext cx="6046470" cy="460375"/>
          </a:xfrm>
          <a:prstGeom prst="rect">
            <a:avLst/>
          </a:prstGeom>
          <a:noFill/>
        </p:spPr>
        <p:txBody>
          <a:bodyPr wrap="square" rtlCol="0" anchor="t">
            <a:spAutoFit/>
          </a:bodyPr>
          <a:p>
            <a:r>
              <a:rPr lang="en-US" b="1"/>
              <a:t>What happens at compile time?</a:t>
            </a:r>
            <a:endParaRPr lang="en-US" b="1"/>
          </a:p>
        </p:txBody>
      </p:sp>
      <p:sp>
        <p:nvSpPr>
          <p:cNvPr id="4" name="Text Box 3"/>
          <p:cNvSpPr txBox="1"/>
          <p:nvPr/>
        </p:nvSpPr>
        <p:spPr>
          <a:xfrm>
            <a:off x="454025" y="2543810"/>
            <a:ext cx="8235950" cy="1198880"/>
          </a:xfrm>
          <a:prstGeom prst="rect">
            <a:avLst/>
          </a:prstGeom>
          <a:noFill/>
        </p:spPr>
        <p:txBody>
          <a:bodyPr wrap="square" rtlCol="0" anchor="t">
            <a:spAutoFit/>
          </a:bodyPr>
          <a:p>
            <a:r>
              <a:rPr lang="en-US"/>
              <a:t>At compile time, java file is compiled by Java Compiler (It does not interact with OS) and converts the java code into bytecode.</a:t>
            </a:r>
            <a:endParaRPr lang="en-US"/>
          </a:p>
        </p:txBody>
      </p:sp>
      <p:pic>
        <p:nvPicPr>
          <p:cNvPr id="5" name="Picture 4" descr="javacodecompile"/>
          <p:cNvPicPr>
            <a:picLocks noChangeAspect="1"/>
          </p:cNvPicPr>
          <p:nvPr/>
        </p:nvPicPr>
        <p:blipFill>
          <a:blip r:embed="rId1"/>
          <a:stretch>
            <a:fillRect/>
          </a:stretch>
        </p:blipFill>
        <p:spPr>
          <a:xfrm>
            <a:off x="630555" y="4105275"/>
            <a:ext cx="7816215" cy="19392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521970"/>
          </a:xfrm>
          <a:prstGeom prst="rect">
            <a:avLst/>
          </a:prstGeom>
          <a:noFill/>
        </p:spPr>
        <p:txBody>
          <a:bodyPr wrap="square" rtlCol="0" anchor="t">
            <a:spAutoFit/>
          </a:bodyPr>
          <a:p>
            <a:r>
              <a:rPr lang="en-US" sz="2800" b="1" u="sng">
                <a:solidFill>
                  <a:srgbClr val="FF0000"/>
                </a:solidFill>
                <a:latin typeface="Times New Roman" panose="02020603050405020304" pitchFamily="18" charset="0"/>
                <a:cs typeface="Times New Roman" panose="02020603050405020304" pitchFamily="18" charset="0"/>
              </a:rPr>
              <a:t>What happens at runtime?</a:t>
            </a:r>
            <a:endParaRPr lang="en-US" sz="2800" b="1" u="sng">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92125" y="1934845"/>
            <a:ext cx="8235950" cy="460375"/>
          </a:xfrm>
          <a:prstGeom prst="rect">
            <a:avLst/>
          </a:prstGeom>
          <a:noFill/>
        </p:spPr>
        <p:txBody>
          <a:bodyPr wrap="square" rtlCol="0" anchor="t">
            <a:spAutoFit/>
          </a:bodyPr>
          <a:p>
            <a:r>
              <a:rPr lang="en-US"/>
              <a:t>At runtime, following steps are performed:</a:t>
            </a:r>
            <a:endParaRPr lang="en-US"/>
          </a:p>
        </p:txBody>
      </p:sp>
      <p:pic>
        <p:nvPicPr>
          <p:cNvPr id="6" name="Picture 5" descr="java-runtime-processing"/>
          <p:cNvPicPr>
            <a:picLocks noChangeAspect="1"/>
          </p:cNvPicPr>
          <p:nvPr/>
        </p:nvPicPr>
        <p:blipFill>
          <a:blip r:embed="rId1"/>
          <a:stretch>
            <a:fillRect/>
          </a:stretch>
        </p:blipFill>
        <p:spPr>
          <a:xfrm>
            <a:off x="3176270" y="2695575"/>
            <a:ext cx="2461895" cy="3754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you save a java source file by other name than the class name?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590550" y="2362835"/>
            <a:ext cx="8235950" cy="829945"/>
          </a:xfrm>
          <a:prstGeom prst="rect">
            <a:avLst/>
          </a:prstGeom>
          <a:noFill/>
        </p:spPr>
        <p:txBody>
          <a:bodyPr wrap="square" rtlCol="0" anchor="t">
            <a:spAutoFit/>
          </a:bodyPr>
          <a:p>
            <a:r>
              <a:rPr lang="en-US"/>
              <a:t>Yes, if the class is not public. It is explained in the figure given below:</a:t>
            </a:r>
            <a:endParaRPr lang="en-US"/>
          </a:p>
        </p:txBody>
      </p:sp>
      <p:pic>
        <p:nvPicPr>
          <p:cNvPr id="2" name="Picture 1" descr="another"/>
          <p:cNvPicPr>
            <a:picLocks noChangeAspect="1"/>
          </p:cNvPicPr>
          <p:nvPr/>
        </p:nvPicPr>
        <p:blipFill>
          <a:blip r:embed="rId1"/>
          <a:stretch>
            <a:fillRect/>
          </a:stretch>
        </p:blipFill>
        <p:spPr>
          <a:xfrm>
            <a:off x="591185" y="3192780"/>
            <a:ext cx="7555230" cy="3199765"/>
          </a:xfrm>
          <a:prstGeom prst="rect">
            <a:avLst/>
          </a:prstGeom>
        </p:spPr>
      </p:pic>
      <p:sp>
        <p:nvSpPr>
          <p:cNvPr id="5" name="Text Box 4"/>
          <p:cNvSpPr txBox="1"/>
          <p:nvPr/>
        </p:nvSpPr>
        <p:spPr>
          <a:xfrm>
            <a:off x="647065" y="5650865"/>
            <a:ext cx="5033645" cy="829945"/>
          </a:xfrm>
          <a:prstGeom prst="rect">
            <a:avLst/>
          </a:prstGeom>
          <a:noFill/>
        </p:spPr>
        <p:txBody>
          <a:bodyPr wrap="square" rtlCol="0" anchor="t">
            <a:spAutoFit/>
          </a:bodyPr>
          <a:p>
            <a:r>
              <a:rPr lang="en-US"/>
              <a:t>To compile:	javac Hard.java</a:t>
            </a:r>
            <a:endParaRPr lang="en-US"/>
          </a:p>
          <a:p>
            <a:r>
              <a:rPr lang="en-US"/>
              <a:t>To execute:	java Simple</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953135"/>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Can you have multiple classes in a java source file?</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590550" y="2362835"/>
            <a:ext cx="8235950" cy="460375"/>
          </a:xfrm>
          <a:prstGeom prst="rect">
            <a:avLst/>
          </a:prstGeom>
          <a:noFill/>
        </p:spPr>
        <p:txBody>
          <a:bodyPr wrap="square" rtlCol="0" anchor="t">
            <a:spAutoFit/>
          </a:bodyPr>
          <a:p>
            <a:r>
              <a:rPr lang="en-US"/>
              <a:t>Yes, like the figure given below illustrates:</a:t>
            </a:r>
            <a:endParaRPr lang="en-US"/>
          </a:p>
        </p:txBody>
      </p:sp>
      <p:pic>
        <p:nvPicPr>
          <p:cNvPr id="6" name="Picture 5" descr="d"/>
          <p:cNvPicPr>
            <a:picLocks noChangeAspect="1"/>
          </p:cNvPicPr>
          <p:nvPr/>
        </p:nvPicPr>
        <p:blipFill>
          <a:blip r:embed="rId1"/>
          <a:stretch>
            <a:fillRect/>
          </a:stretch>
        </p:blipFill>
        <p:spPr>
          <a:xfrm>
            <a:off x="361315" y="3434080"/>
            <a:ext cx="7965440" cy="26473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OOPs Concepts</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54025" y="1951355"/>
            <a:ext cx="8235950" cy="4892675"/>
          </a:xfrm>
          <a:prstGeom prst="rect">
            <a:avLst/>
          </a:prstGeom>
          <a:noFill/>
        </p:spPr>
        <p:txBody>
          <a:bodyPr wrap="square" rtlCol="0" anchor="t">
            <a:spAutoFit/>
          </a:bodyPr>
          <a:p>
            <a:r>
              <a:rPr lang="en-US"/>
              <a:t>Object Oriented Programming is a paradigm that provides many concepts such as inheritance, data binding, polymorphism etc.</a:t>
            </a:r>
            <a:endParaRPr lang="en-US"/>
          </a:p>
          <a:p>
            <a:endParaRPr lang="en-US"/>
          </a:p>
          <a:p>
            <a:r>
              <a:rPr lang="en-US"/>
              <a:t>Simula is considered as the first object-oriented programming language. The programming paradigm where everything is represented as an object, is known as truly object-oriented programming language.</a:t>
            </a:r>
            <a:endParaRPr lang="en-US"/>
          </a:p>
          <a:p>
            <a:endParaRPr lang="en-US"/>
          </a:p>
          <a:p>
            <a:r>
              <a:rPr lang="en-US"/>
              <a:t>Smalltalk is considered as the first truly object-oriented programming language.</a:t>
            </a:r>
            <a:endParaRPr lang="en-US"/>
          </a:p>
          <a:p>
            <a:r>
              <a:rPr lang="en-US"/>
              <a:t>The popular object-oriented languages are Java, C#, PHP, Python, C++ etc.</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421005" y="1336675"/>
            <a:ext cx="7725410" cy="521970"/>
          </a:xfrm>
          <a:prstGeom prst="rect">
            <a:avLst/>
          </a:prstGeom>
          <a:noFill/>
        </p:spPr>
        <p:txBody>
          <a:bodyPr wrap="square" rtlCol="0" anchor="t">
            <a:spAutoFit/>
          </a:bodyPr>
          <a:p>
            <a:r>
              <a:rPr lang="en-US" sz="2800" b="1">
                <a:solidFill>
                  <a:srgbClr val="FF0000"/>
                </a:solidFill>
                <a:latin typeface="Times New Roman" panose="02020603050405020304" pitchFamily="18" charset="0"/>
                <a:cs typeface="Times New Roman" panose="02020603050405020304" pitchFamily="18" charset="0"/>
              </a:rPr>
              <a:t>Java OOPs Concepts</a:t>
            </a:r>
            <a:endParaRPr lang="en-US" sz="28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454025" y="1951355"/>
            <a:ext cx="8235950" cy="4892675"/>
          </a:xfrm>
          <a:prstGeom prst="rect">
            <a:avLst/>
          </a:prstGeom>
          <a:noFill/>
        </p:spPr>
        <p:txBody>
          <a:bodyPr wrap="square" rtlCol="0" anchor="t">
            <a:spAutoFit/>
          </a:bodyPr>
          <a:p>
            <a:r>
              <a:rPr lang="en-US"/>
              <a:t>Object means a real word entity such as pen, chair, table etc. </a:t>
            </a:r>
            <a:endParaRPr lang="en-US"/>
          </a:p>
          <a:p>
            <a:r>
              <a:rPr lang="en-US"/>
              <a:t>Object-Oriented Programming is a methodology or paradigm to design a program using classes and objects. It simplifies the software development and maintenance by providing some concepts:</a:t>
            </a:r>
            <a:endParaRPr lang="en-US"/>
          </a:p>
          <a:p>
            <a:endParaRPr lang="en-US"/>
          </a:p>
          <a:p>
            <a:pPr marL="342900" indent="-342900">
              <a:buFont typeface="Wingdings" panose="05000000000000000000" charset="0"/>
              <a:buChar char="Ø"/>
            </a:pPr>
            <a:r>
              <a:rPr lang="en-US"/>
              <a:t>Object</a:t>
            </a:r>
            <a:endParaRPr lang="en-US"/>
          </a:p>
          <a:p>
            <a:pPr marL="342900" indent="-342900">
              <a:buFont typeface="Wingdings" panose="05000000000000000000" charset="0"/>
              <a:buChar char="Ø"/>
            </a:pPr>
            <a:r>
              <a:rPr lang="en-US"/>
              <a:t>Class</a:t>
            </a:r>
            <a:endParaRPr lang="en-US"/>
          </a:p>
          <a:p>
            <a:pPr marL="342900" indent="-342900">
              <a:buFont typeface="Wingdings" panose="05000000000000000000" charset="0"/>
              <a:buChar char="Ø"/>
            </a:pPr>
            <a:r>
              <a:rPr lang="en-US"/>
              <a:t>Inheritance</a:t>
            </a:r>
            <a:endParaRPr lang="en-US"/>
          </a:p>
          <a:p>
            <a:pPr marL="342900" indent="-342900">
              <a:buFont typeface="Wingdings" panose="05000000000000000000" charset="0"/>
              <a:buChar char="Ø"/>
            </a:pPr>
            <a:r>
              <a:rPr lang="en-US"/>
              <a:t>Polymorphism</a:t>
            </a:r>
            <a:endParaRPr lang="en-US"/>
          </a:p>
          <a:p>
            <a:pPr marL="342900" indent="-342900">
              <a:buFont typeface="Wingdings" panose="05000000000000000000" charset="0"/>
              <a:buChar char="Ø"/>
            </a:pPr>
            <a:r>
              <a:rPr lang="en-US"/>
              <a:t>Abstraction</a:t>
            </a:r>
            <a:endParaRPr lang="en-US"/>
          </a:p>
          <a:p>
            <a:pPr marL="342900" indent="-342900">
              <a:buFont typeface="Wingdings" panose="05000000000000000000" charset="0"/>
              <a:buChar char="Ø"/>
            </a:pPr>
            <a:r>
              <a:rPr lang="en-US"/>
              <a:t>Encapsulation</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201420"/>
            <a:ext cx="7725410" cy="521970"/>
          </a:xfrm>
          <a:prstGeom prst="rect">
            <a:avLst/>
          </a:prstGeom>
          <a:noFill/>
        </p:spPr>
        <p:txBody>
          <a:bodyPr wrap="square" rtlCol="0" anchor="t">
            <a:spAutoFit/>
          </a:bodyPr>
          <a:p>
            <a:r>
              <a:rPr lang="en-US" sz="2800">
                <a:solidFill>
                  <a:srgbClr val="FF0000"/>
                </a:solidFill>
                <a:sym typeface="+mn-ea"/>
              </a:rPr>
              <a:t>Object :</a:t>
            </a:r>
            <a:endParaRPr lang="en-US" sz="2800" b="1">
              <a:solidFill>
                <a:srgbClr val="FF0000"/>
              </a:solidFill>
              <a:latin typeface="Times New Roman" panose="02020603050405020304" pitchFamily="18" charset="0"/>
              <a:cs typeface="Times New Roman" panose="02020603050405020304" pitchFamily="18" charset="0"/>
              <a:sym typeface="+mn-ea"/>
            </a:endParaRPr>
          </a:p>
        </p:txBody>
      </p:sp>
      <p:sp>
        <p:nvSpPr>
          <p:cNvPr id="4" name="Text Box 3"/>
          <p:cNvSpPr txBox="1"/>
          <p:nvPr/>
        </p:nvSpPr>
        <p:spPr>
          <a:xfrm>
            <a:off x="492125" y="1858645"/>
            <a:ext cx="8235950" cy="4892675"/>
          </a:xfrm>
          <a:prstGeom prst="rect">
            <a:avLst/>
          </a:prstGeom>
          <a:noFill/>
        </p:spPr>
        <p:txBody>
          <a:bodyPr wrap="square" rtlCol="0" anchor="t">
            <a:spAutoFit/>
          </a:bodyPr>
          <a:p>
            <a:r>
              <a:rPr lang="en-US"/>
              <a:t>Any entity that has state and behavior is known as an object. For example: chair, pen, table, keyboard, bike etc. It can be physical and logical.</a:t>
            </a:r>
            <a:endParaRPr lang="en-US"/>
          </a:p>
          <a:p>
            <a:endParaRPr lang="en-US"/>
          </a:p>
          <a:p>
            <a:r>
              <a:rPr lang="en-US"/>
              <a:t>Object can be defined as an instance of a class. An object contains an address and takes up some space in memory. Objects can communicate without knowing details of each other's data or code, the only necessary thing is that the type of message accepted and type of response returned by the objects.</a:t>
            </a:r>
            <a:endParaRPr lang="en-US"/>
          </a:p>
          <a:p>
            <a:r>
              <a:rPr lang="en-US"/>
              <a:t>Example: A dog is an object because it has states i.e. color, name, breed etc. as well as behaviors i.e. wagging the tail, barking, eating etc.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331595"/>
            <a:ext cx="8235950" cy="4892675"/>
          </a:xfrm>
          <a:prstGeom prst="rect">
            <a:avLst/>
          </a:prstGeom>
          <a:noFill/>
        </p:spPr>
        <p:txBody>
          <a:bodyPr wrap="square" rtlCol="0" anchor="t">
            <a:spAutoFit/>
          </a:bodyPr>
          <a:p>
            <a:r>
              <a:rPr lang="en-US">
                <a:solidFill>
                  <a:srgbClr val="FF0000"/>
                </a:solidFill>
              </a:rPr>
              <a:t>Class :</a:t>
            </a:r>
            <a:endParaRPr lang="en-US"/>
          </a:p>
          <a:p>
            <a:endParaRPr lang="en-US"/>
          </a:p>
          <a:p>
            <a:r>
              <a:rPr lang="en-US"/>
              <a:t>Collection of objects is called class. It is a logical entity.</a:t>
            </a:r>
            <a:endParaRPr lang="en-US"/>
          </a:p>
          <a:p>
            <a:endParaRPr lang="en-US"/>
          </a:p>
          <a:p>
            <a:r>
              <a:rPr lang="en-US"/>
              <a:t>A class can also be defined as a blueprint from which you can create an individual object. Class doesn?t store any space.</a:t>
            </a:r>
            <a:endParaRPr lang="en-US"/>
          </a:p>
          <a:p>
            <a:endParaRPr lang="en-US"/>
          </a:p>
          <a:p>
            <a:r>
              <a:rPr lang="en-US">
                <a:solidFill>
                  <a:srgbClr val="FF0000"/>
                </a:solidFill>
              </a:rPr>
              <a:t>Inheritance :</a:t>
            </a:r>
            <a:endParaRPr lang="en-US"/>
          </a:p>
          <a:p>
            <a:endParaRPr lang="en-US"/>
          </a:p>
          <a:p>
            <a:r>
              <a:rPr lang="en-US"/>
              <a:t>When one object acquires all the properties and behaviours of parent object, it is known as inheritance. It provides code reusability. It is used to achieve runtime polymorphism.</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339850"/>
            <a:ext cx="8235950" cy="4523105"/>
          </a:xfrm>
          <a:prstGeom prst="rect">
            <a:avLst/>
          </a:prstGeom>
          <a:noFill/>
        </p:spPr>
        <p:txBody>
          <a:bodyPr wrap="square" rtlCol="0" anchor="t">
            <a:spAutoFit/>
          </a:bodyPr>
          <a:p>
            <a:r>
              <a:rPr lang="en-US">
                <a:solidFill>
                  <a:srgbClr val="FF0000"/>
                </a:solidFill>
              </a:rPr>
              <a:t>Polymorphism :</a:t>
            </a:r>
            <a:endParaRPr lang="en-US"/>
          </a:p>
          <a:p>
            <a:endParaRPr lang="en-US"/>
          </a:p>
          <a:p>
            <a:r>
              <a:rPr lang="en-US"/>
              <a:t>When one task is performed by different ways i.e. known as polymorphism. For example: to convince the customer differently, to draw something e.g. shape or rectangle etc.</a:t>
            </a:r>
            <a:endParaRPr lang="en-US"/>
          </a:p>
          <a:p>
            <a:endParaRPr lang="en-US"/>
          </a:p>
          <a:p>
            <a:r>
              <a:rPr lang="en-US"/>
              <a:t>In java, we use method overloading and method overriding to achieve polymorphism.</a:t>
            </a:r>
            <a:endParaRPr lang="en-US"/>
          </a:p>
          <a:p>
            <a:endParaRPr lang="en-US"/>
          </a:p>
          <a:p>
            <a:r>
              <a:rPr lang="en-US"/>
              <a:t>Another example can be to speak something e.g. cat speaks meaw, dog barks woof etc.</a:t>
            </a:r>
            <a:endParaRPr 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339850"/>
            <a:ext cx="8235950" cy="3415030"/>
          </a:xfrm>
          <a:prstGeom prst="rect">
            <a:avLst/>
          </a:prstGeom>
          <a:noFill/>
        </p:spPr>
        <p:txBody>
          <a:bodyPr wrap="square" rtlCol="0" anchor="t">
            <a:spAutoFit/>
          </a:bodyPr>
          <a:p>
            <a:r>
              <a:rPr lang="en-US">
                <a:solidFill>
                  <a:srgbClr val="FF0000"/>
                </a:solidFill>
              </a:rPr>
              <a:t>Abstraction</a:t>
            </a:r>
            <a:endParaRPr lang="en-US"/>
          </a:p>
          <a:p>
            <a:endParaRPr lang="en-US"/>
          </a:p>
          <a:p>
            <a:r>
              <a:rPr lang="en-US"/>
              <a:t>Hiding internal details and showing functionality is known as abstraction. For example: phone call, we don't know the internal processing.</a:t>
            </a:r>
            <a:endParaRPr lang="en-US"/>
          </a:p>
          <a:p>
            <a:endParaRPr lang="en-US"/>
          </a:p>
          <a:p>
            <a:r>
              <a:rPr lang="en-US"/>
              <a:t>In java, we use abstract class and interface to achieve abstraction.</a:t>
            </a:r>
            <a:endParaRPr 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54025" y="1389380"/>
            <a:ext cx="8235950" cy="3415030"/>
          </a:xfrm>
          <a:prstGeom prst="rect">
            <a:avLst/>
          </a:prstGeom>
          <a:noFill/>
        </p:spPr>
        <p:txBody>
          <a:bodyPr wrap="square" rtlCol="0" anchor="t">
            <a:spAutoFit/>
          </a:bodyPr>
          <a:p>
            <a:r>
              <a:rPr lang="en-US">
                <a:solidFill>
                  <a:srgbClr val="FF0000"/>
                </a:solidFill>
              </a:rPr>
              <a:t>Encapsulation:</a:t>
            </a:r>
            <a:endParaRPr lang="en-US"/>
          </a:p>
          <a:p>
            <a:endParaRPr lang="en-US"/>
          </a:p>
          <a:p>
            <a:r>
              <a:rPr lang="en-US"/>
              <a:t>Binding (or wrapping) code and data together into a single unit is known as encapsulation. For example: capsule, it is wrapped with different medicines.</a:t>
            </a:r>
            <a:endParaRPr lang="en-US"/>
          </a:p>
          <a:p>
            <a:endParaRPr lang="en-US"/>
          </a:p>
          <a:p>
            <a:r>
              <a:rPr lang="en-US"/>
              <a:t>A java class is the example of encapsulation. Java bean is the fully encapsulated class because all the data members are private here.</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54025" y="1389380"/>
            <a:ext cx="8235950" cy="4523105"/>
          </a:xfrm>
          <a:prstGeom prst="rect">
            <a:avLst/>
          </a:prstGeom>
          <a:noFill/>
        </p:spPr>
        <p:txBody>
          <a:bodyPr wrap="square" rtlCol="0" anchor="t">
            <a:spAutoFit/>
          </a:bodyPr>
          <a:p>
            <a:r>
              <a:rPr lang="en-US">
                <a:solidFill>
                  <a:srgbClr val="FF0000"/>
                </a:solidFill>
              </a:rPr>
              <a:t>Advantage of OOPs over Procedure-oriented programming language :</a:t>
            </a:r>
            <a:endParaRPr lang="en-US">
              <a:solidFill>
                <a:srgbClr val="FF0000"/>
              </a:solidFill>
            </a:endParaRPr>
          </a:p>
          <a:p>
            <a:endParaRPr lang="en-US"/>
          </a:p>
          <a:p>
            <a:r>
              <a:rPr lang="en-US"/>
              <a:t> 1) OOPs makes development and maintenance easier where as in Procedure-oriented programming language it is not easy to manage if code grows as project size grows.</a:t>
            </a:r>
            <a:endParaRPr lang="en-US"/>
          </a:p>
          <a:p>
            <a:endParaRPr lang="en-US"/>
          </a:p>
          <a:p>
            <a:r>
              <a:rPr lang="en-US"/>
              <a:t>2) OOPs provides data hiding whereas in Procedure-oriented programming language a global data can be accessed from anywhere.</a:t>
            </a:r>
            <a:endParaRPr lang="en-US"/>
          </a:p>
          <a:p>
            <a:endParaRPr lang="en-US"/>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3725" y="4912995"/>
            <a:ext cx="8235950" cy="829945"/>
          </a:xfrm>
          <a:prstGeom prst="rect">
            <a:avLst/>
          </a:prstGeom>
          <a:noFill/>
        </p:spPr>
        <p:txBody>
          <a:bodyPr wrap="square" rtlCol="0" anchor="t">
            <a:spAutoFit/>
          </a:bodyPr>
          <a:p>
            <a:r>
              <a:rPr lang="en-US">
                <a:sym typeface="+mn-ea"/>
              </a:rPr>
              <a:t>Figure: Data Representation in Procedure-Oriented Programming</a:t>
            </a:r>
            <a:endParaRPr lang="en-US"/>
          </a:p>
        </p:txBody>
      </p:sp>
      <p:pic>
        <p:nvPicPr>
          <p:cNvPr id="2" name="Picture 1" descr="globaldata2"/>
          <p:cNvPicPr>
            <a:picLocks noChangeAspect="1"/>
          </p:cNvPicPr>
          <p:nvPr/>
        </p:nvPicPr>
        <p:blipFill>
          <a:blip r:embed="rId1"/>
          <a:stretch>
            <a:fillRect/>
          </a:stretch>
        </p:blipFill>
        <p:spPr>
          <a:xfrm>
            <a:off x="1779905" y="1713865"/>
            <a:ext cx="3938270" cy="23412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593725" y="4912995"/>
            <a:ext cx="8235950" cy="829945"/>
          </a:xfrm>
          <a:prstGeom prst="rect">
            <a:avLst/>
          </a:prstGeom>
          <a:noFill/>
        </p:spPr>
        <p:txBody>
          <a:bodyPr wrap="square" rtlCol="0" anchor="t">
            <a:spAutoFit/>
          </a:bodyPr>
          <a:p>
            <a:r>
              <a:rPr lang="en-US">
                <a:sym typeface="+mn-ea"/>
              </a:rPr>
              <a:t>Figure: Data Representation in Object-Oriented Programming</a:t>
            </a:r>
            <a:endParaRPr lang="en-US">
              <a:sym typeface="+mn-ea"/>
            </a:endParaRPr>
          </a:p>
        </p:txBody>
      </p:sp>
      <p:pic>
        <p:nvPicPr>
          <p:cNvPr id="3" name="Picture 2" descr="objectdata2"/>
          <p:cNvPicPr>
            <a:picLocks noChangeAspect="1"/>
          </p:cNvPicPr>
          <p:nvPr/>
        </p:nvPicPr>
        <p:blipFill>
          <a:blip r:embed="rId1"/>
          <a:stretch>
            <a:fillRect/>
          </a:stretch>
        </p:blipFill>
        <p:spPr>
          <a:xfrm>
            <a:off x="1425575" y="1475740"/>
            <a:ext cx="5255260" cy="281686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92125" y="1628140"/>
            <a:ext cx="8235950" cy="1568450"/>
          </a:xfrm>
          <a:prstGeom prst="rect">
            <a:avLst/>
          </a:prstGeom>
          <a:noFill/>
        </p:spPr>
        <p:txBody>
          <a:bodyPr wrap="square" rtlCol="0" anchor="t">
            <a:spAutoFit/>
          </a:bodyPr>
          <a:p>
            <a:r>
              <a:rPr lang="en-US">
                <a:sym typeface="+mn-ea"/>
              </a:rPr>
              <a:t>3) OOPs provides ability to simulate real-world event much more effectively. We can provide the solution of real word problem if we are using the Object-Oriented Programming language.</a:t>
            </a:r>
            <a:endParaRPr lang="en-US">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92125" y="1628140"/>
            <a:ext cx="8235950" cy="829945"/>
          </a:xfrm>
          <a:prstGeom prst="rect">
            <a:avLst/>
          </a:prstGeom>
          <a:noFill/>
        </p:spPr>
        <p:txBody>
          <a:bodyPr wrap="square" rtlCol="0" anchor="t">
            <a:spAutoFit/>
          </a:bodyPr>
          <a:p>
            <a:r>
              <a:rPr lang="en-US">
                <a:solidFill>
                  <a:srgbClr val="FF0000"/>
                </a:solidFill>
                <a:sym typeface="+mn-ea"/>
              </a:rPr>
              <a:t>What is difference between object-oriented programming language and object-based programming language?</a:t>
            </a:r>
            <a:endParaRPr lang="en-US">
              <a:solidFill>
                <a:srgbClr val="FF0000"/>
              </a:solidFill>
              <a:sym typeface="+mn-ea"/>
            </a:endParaRPr>
          </a:p>
        </p:txBody>
      </p:sp>
      <p:sp>
        <p:nvSpPr>
          <p:cNvPr id="2" name="Text Box 1"/>
          <p:cNvSpPr txBox="1"/>
          <p:nvPr/>
        </p:nvSpPr>
        <p:spPr>
          <a:xfrm>
            <a:off x="492760" y="2871470"/>
            <a:ext cx="7950835" cy="1568450"/>
          </a:xfrm>
          <a:prstGeom prst="rect">
            <a:avLst/>
          </a:prstGeom>
          <a:noFill/>
        </p:spPr>
        <p:txBody>
          <a:bodyPr wrap="square" rtlCol="0" anchor="t">
            <a:spAutoFit/>
          </a:bodyPr>
          <a:p>
            <a:r>
              <a:rPr lang="en-US"/>
              <a:t>Object based programming language follows all the features of OOPs except Inheritance. JavaScript and VBScript are examples of object based programming languages.</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92125" y="1628140"/>
            <a:ext cx="8235950" cy="460375"/>
          </a:xfrm>
          <a:prstGeom prst="rect">
            <a:avLst/>
          </a:prstGeom>
          <a:noFill/>
        </p:spPr>
        <p:txBody>
          <a:bodyPr wrap="square" rtlCol="0" anchor="t">
            <a:spAutoFit/>
          </a:bodyPr>
          <a:p>
            <a:r>
              <a:rPr lang="en-US">
                <a:solidFill>
                  <a:srgbClr val="FF0000"/>
                </a:solidFill>
                <a:sym typeface="+mn-ea"/>
              </a:rPr>
              <a:t>Java Naming conventions :</a:t>
            </a:r>
            <a:endParaRPr lang="en-US">
              <a:solidFill>
                <a:srgbClr val="FF0000"/>
              </a:solidFill>
              <a:sym typeface="+mn-ea"/>
            </a:endParaRPr>
          </a:p>
        </p:txBody>
      </p:sp>
      <p:sp>
        <p:nvSpPr>
          <p:cNvPr id="2" name="Text Box 1"/>
          <p:cNvSpPr txBox="1"/>
          <p:nvPr/>
        </p:nvSpPr>
        <p:spPr>
          <a:xfrm>
            <a:off x="492125" y="2385695"/>
            <a:ext cx="7950835" cy="3784600"/>
          </a:xfrm>
          <a:prstGeom prst="rect">
            <a:avLst/>
          </a:prstGeom>
          <a:noFill/>
        </p:spPr>
        <p:txBody>
          <a:bodyPr wrap="square" rtlCol="0" anchor="t">
            <a:spAutoFit/>
          </a:bodyPr>
          <a:p>
            <a:r>
              <a:rPr lang="en-US"/>
              <a:t>Java naming convention is a rule to follow as you decide what to name your identifiers such as class, package, variable, constant, method etc.</a:t>
            </a:r>
            <a:endParaRPr lang="en-US"/>
          </a:p>
          <a:p>
            <a:endParaRPr lang="en-US"/>
          </a:p>
          <a:p>
            <a:r>
              <a:rPr lang="en-US"/>
              <a:t>But, it is not forced to follow. So, it is known as convention not rule.</a:t>
            </a:r>
            <a:endParaRPr lang="en-US"/>
          </a:p>
          <a:p>
            <a:endParaRPr lang="en-US"/>
          </a:p>
          <a:p>
            <a:r>
              <a:rPr lang="en-US"/>
              <a:t>All the classes, interfaces, packages, methods and fields of java programming language are given according to java naming convention.</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Advantage of naming conventions in java :</a:t>
            </a:r>
            <a:endParaRPr lang="en-US">
              <a:solidFill>
                <a:srgbClr val="FF0000"/>
              </a:solidFill>
              <a:sym typeface="+mn-ea"/>
            </a:endParaRPr>
          </a:p>
        </p:txBody>
      </p:sp>
      <p:sp>
        <p:nvSpPr>
          <p:cNvPr id="2" name="Text Box 1"/>
          <p:cNvSpPr txBox="1"/>
          <p:nvPr/>
        </p:nvSpPr>
        <p:spPr>
          <a:xfrm>
            <a:off x="492125" y="1916430"/>
            <a:ext cx="7950835" cy="1938020"/>
          </a:xfrm>
          <a:prstGeom prst="rect">
            <a:avLst/>
          </a:prstGeom>
          <a:noFill/>
        </p:spPr>
        <p:txBody>
          <a:bodyPr wrap="square" rtlCol="0" anchor="t">
            <a:spAutoFit/>
          </a:bodyPr>
          <a:p>
            <a:r>
              <a:rPr lang="en-US"/>
              <a:t>By using standard Java naming conventions, you make your code easier to read for yourself and for other programmers. Readability of Java program is very important. It indicates that less time is spent to figure out what the code does. </a:t>
            </a:r>
            <a:endParaRPr lang="en-US"/>
          </a:p>
        </p:txBody>
      </p:sp>
      <p:graphicFrame>
        <p:nvGraphicFramePr>
          <p:cNvPr id="3" name="Table 2"/>
          <p:cNvGraphicFramePr/>
          <p:nvPr/>
        </p:nvGraphicFramePr>
        <p:xfrm>
          <a:off x="588645" y="3873500"/>
          <a:ext cx="7849235" cy="2750820"/>
        </p:xfrm>
        <a:graphic>
          <a:graphicData uri="http://schemas.openxmlformats.org/drawingml/2006/table">
            <a:tbl>
              <a:tblPr firstRow="1" bandRow="1">
                <a:tableStyleId>{5C22544A-7EE6-4342-B048-85BDC9FD1C3A}</a:tableStyleId>
              </a:tblPr>
              <a:tblGrid>
                <a:gridCol w="3582035"/>
                <a:gridCol w="4267200"/>
              </a:tblGrid>
              <a:tr h="373380">
                <a:tc>
                  <a:txBody>
                    <a:bodyPr/>
                    <a:p>
                      <a:pPr>
                        <a:buNone/>
                      </a:pPr>
                      <a:r>
                        <a:rPr lang="en-US"/>
                        <a:t>Name</a:t>
                      </a:r>
                      <a:endParaRPr lang="en-US"/>
                    </a:p>
                  </a:txBody>
                  <a:tcPr/>
                </a:tc>
                <a:tc>
                  <a:txBody>
                    <a:bodyPr/>
                    <a:p>
                      <a:pPr>
                        <a:buNone/>
                      </a:pPr>
                      <a:r>
                        <a:rPr lang="en-US"/>
                        <a:t>Convention</a:t>
                      </a:r>
                      <a:endParaRPr lang="en-US"/>
                    </a:p>
                  </a:txBody>
                  <a:tcPr/>
                </a:tc>
              </a:tr>
              <a:tr h="1188720">
                <a:tc>
                  <a:txBody>
                    <a:bodyPr/>
                    <a:p>
                      <a:pPr>
                        <a:buNone/>
                      </a:pPr>
                      <a:r>
                        <a:rPr lang="en-US"/>
                        <a:t>class name</a:t>
                      </a:r>
                      <a:endParaRPr lang="en-US"/>
                    </a:p>
                  </a:txBody>
                  <a:tcPr/>
                </a:tc>
                <a:tc>
                  <a:txBody>
                    <a:bodyPr/>
                    <a:p>
                      <a:pPr>
                        <a:buNone/>
                      </a:pPr>
                      <a:r>
                        <a:rPr lang="en-US"/>
                        <a:t>should start with uppercase letter and be a noun e.g. String, Color, Button, System, Thread etc.</a:t>
                      </a:r>
                      <a:endParaRPr lang="en-US"/>
                    </a:p>
                  </a:txBody>
                  <a:tcPr/>
                </a:tc>
              </a:tr>
              <a:tr h="1188720">
                <a:tc>
                  <a:txBody>
                    <a:bodyPr/>
                    <a:p>
                      <a:pPr>
                        <a:buNone/>
                      </a:pPr>
                      <a:r>
                        <a:rPr lang="en-US"/>
                        <a:t>interface name</a:t>
                      </a:r>
                      <a:endParaRPr lang="en-US"/>
                    </a:p>
                  </a:txBody>
                  <a:tcPr/>
                </a:tc>
                <a:tc>
                  <a:txBody>
                    <a:bodyPr/>
                    <a:p>
                      <a:pPr>
                        <a:buNone/>
                      </a:pPr>
                      <a:r>
                        <a:rPr lang="en-US"/>
                        <a:t>should start with uppercase letter and be an adjective e.g. Runnable, Remote, ActionListener etc.</a:t>
                      </a:r>
                      <a:endParaRPr lang="en-US"/>
                    </a:p>
                  </a:txBody>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Advantage of naming conventions in java :</a:t>
            </a:r>
            <a:endParaRPr lang="en-US">
              <a:solidFill>
                <a:srgbClr val="FF0000"/>
              </a:solidFill>
              <a:sym typeface="+mn-ea"/>
            </a:endParaRPr>
          </a:p>
        </p:txBody>
      </p:sp>
      <p:graphicFrame>
        <p:nvGraphicFramePr>
          <p:cNvPr id="6" name="Table 5"/>
          <p:cNvGraphicFramePr/>
          <p:nvPr/>
        </p:nvGraphicFramePr>
        <p:xfrm>
          <a:off x="490220" y="1851025"/>
          <a:ext cx="8166100" cy="4754245"/>
        </p:xfrm>
        <a:graphic>
          <a:graphicData uri="http://schemas.openxmlformats.org/drawingml/2006/table">
            <a:tbl>
              <a:tblPr firstRow="1" bandRow="1">
                <a:tableStyleId>{5C22544A-7EE6-4342-B048-85BDC9FD1C3A}</a:tableStyleId>
              </a:tblPr>
              <a:tblGrid>
                <a:gridCol w="4083050"/>
                <a:gridCol w="4083050"/>
              </a:tblGrid>
              <a:tr h="448310">
                <a:tc>
                  <a:txBody>
                    <a:bodyPr/>
                    <a:p>
                      <a:pPr>
                        <a:buNone/>
                      </a:pPr>
                      <a:r>
                        <a:rPr lang="en-US"/>
                        <a:t>Name</a:t>
                      </a:r>
                      <a:endParaRPr lang="en-US"/>
                    </a:p>
                  </a:txBody>
                  <a:tcPr/>
                </a:tc>
                <a:tc>
                  <a:txBody>
                    <a:bodyPr/>
                    <a:p>
                      <a:pPr>
                        <a:buNone/>
                      </a:pPr>
                      <a:r>
                        <a:rPr lang="en-US"/>
                        <a:t>Convention</a:t>
                      </a:r>
                      <a:endParaRPr lang="en-US"/>
                    </a:p>
                  </a:txBody>
                  <a:tcPr/>
                </a:tc>
              </a:tr>
              <a:tr h="1399540">
                <a:tc>
                  <a:txBody>
                    <a:bodyPr/>
                    <a:p>
                      <a:pPr>
                        <a:buNone/>
                      </a:pPr>
                      <a:r>
                        <a:rPr lang="en-US"/>
                        <a:t>method name</a:t>
                      </a:r>
                      <a:endParaRPr lang="en-US"/>
                    </a:p>
                  </a:txBody>
                  <a:tcPr/>
                </a:tc>
                <a:tc>
                  <a:txBody>
                    <a:bodyPr/>
                    <a:p>
                      <a:pPr>
                        <a:buNone/>
                      </a:pPr>
                      <a:r>
                        <a:rPr lang="en-US"/>
                        <a:t>should start with lowercase letter and be a verb e.g. actionPerformed(), main(), print(), println() etc.</a:t>
                      </a:r>
                      <a:endParaRPr lang="en-US"/>
                    </a:p>
                  </a:txBody>
                  <a:tcPr/>
                </a:tc>
              </a:tr>
              <a:tr h="1076325">
                <a:tc>
                  <a:txBody>
                    <a:bodyPr/>
                    <a:p>
                      <a:pPr>
                        <a:buNone/>
                      </a:pPr>
                      <a:r>
                        <a:rPr lang="en-US"/>
                        <a:t>variable name</a:t>
                      </a:r>
                      <a:endParaRPr lang="en-US"/>
                    </a:p>
                  </a:txBody>
                  <a:tcPr/>
                </a:tc>
                <a:tc>
                  <a:txBody>
                    <a:bodyPr/>
                    <a:p>
                      <a:pPr>
                        <a:buNone/>
                      </a:pPr>
                      <a:r>
                        <a:rPr lang="en-US"/>
                        <a:t>should start with lowercase letter e.g. firstName, orderNumber etc.</a:t>
                      </a:r>
                      <a:endParaRPr lang="en-US"/>
                    </a:p>
                  </a:txBody>
                  <a:tcPr/>
                </a:tc>
              </a:tr>
              <a:tr h="753745">
                <a:tc>
                  <a:txBody>
                    <a:bodyPr/>
                    <a:p>
                      <a:pPr>
                        <a:buNone/>
                      </a:pPr>
                      <a:r>
                        <a:rPr lang="en-US"/>
                        <a:t>package name</a:t>
                      </a:r>
                      <a:endParaRPr lang="en-US"/>
                    </a:p>
                  </a:txBody>
                  <a:tcPr/>
                </a:tc>
                <a:tc>
                  <a:txBody>
                    <a:bodyPr/>
                    <a:p>
                      <a:pPr>
                        <a:buNone/>
                      </a:pPr>
                      <a:r>
                        <a:rPr lang="en-US"/>
                        <a:t>should be in lowercase letter e.g. java, lang, sql, util etc.</a:t>
                      </a:r>
                      <a:endParaRPr lang="en-US"/>
                    </a:p>
                  </a:txBody>
                  <a:tcPr/>
                </a:tc>
              </a:tr>
              <a:tr h="1076325">
                <a:tc>
                  <a:txBody>
                    <a:bodyPr/>
                    <a:p>
                      <a:pPr>
                        <a:buNone/>
                      </a:pPr>
                      <a:r>
                        <a:rPr lang="en-US"/>
                        <a:t>constants name</a:t>
                      </a:r>
                      <a:endParaRPr lang="en-US"/>
                    </a:p>
                  </a:txBody>
                  <a:tcPr/>
                </a:tc>
                <a:tc>
                  <a:txBody>
                    <a:bodyPr/>
                    <a:p>
                      <a:pPr>
                        <a:buNone/>
                      </a:pPr>
                      <a:r>
                        <a:rPr lang="en-US"/>
                        <a:t>should be in uppercase letter. e.g. RED, YELLOW, MAX_PRIORITY etc.</a:t>
                      </a:r>
                      <a:endParaRPr lang="en-US"/>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CamelCase in java naming conventions :</a:t>
            </a:r>
            <a:endParaRPr lang="en-US">
              <a:solidFill>
                <a:srgbClr val="FF0000"/>
              </a:solidFill>
              <a:sym typeface="+mn-ea"/>
            </a:endParaRPr>
          </a:p>
        </p:txBody>
      </p:sp>
      <p:sp>
        <p:nvSpPr>
          <p:cNvPr id="2" name="Text Box 1"/>
          <p:cNvSpPr txBox="1"/>
          <p:nvPr/>
        </p:nvSpPr>
        <p:spPr>
          <a:xfrm>
            <a:off x="506730" y="2616200"/>
            <a:ext cx="8063865" cy="2306955"/>
          </a:xfrm>
          <a:prstGeom prst="rect">
            <a:avLst/>
          </a:prstGeom>
          <a:noFill/>
        </p:spPr>
        <p:txBody>
          <a:bodyPr wrap="square" rtlCol="0" anchor="t">
            <a:spAutoFit/>
          </a:bodyPr>
          <a:p>
            <a:r>
              <a:rPr lang="en-US"/>
              <a:t>Java follows camelcase syntax for naming the class, interface, method and variable.</a:t>
            </a:r>
            <a:endParaRPr lang="en-US"/>
          </a:p>
          <a:p>
            <a:endParaRPr lang="en-US"/>
          </a:p>
          <a:p>
            <a:r>
              <a:rPr lang="en-US"/>
              <a:t>If name is combined with two words, second word will start with uppercase letter always e.g. actionPerformed(), firstName, ActionEvent, ActionListener etc.</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Object in Java :</a:t>
            </a:r>
            <a:endParaRPr lang="en-US">
              <a:solidFill>
                <a:srgbClr val="FF0000"/>
              </a:solidFill>
              <a:sym typeface="+mn-ea"/>
            </a:endParaRPr>
          </a:p>
        </p:txBody>
      </p:sp>
      <p:sp>
        <p:nvSpPr>
          <p:cNvPr id="2" name="Text Box 1"/>
          <p:cNvSpPr txBox="1"/>
          <p:nvPr/>
        </p:nvSpPr>
        <p:spPr>
          <a:xfrm>
            <a:off x="421005" y="1825625"/>
            <a:ext cx="8063865" cy="1568450"/>
          </a:xfrm>
          <a:prstGeom prst="rect">
            <a:avLst/>
          </a:prstGeom>
          <a:noFill/>
        </p:spPr>
        <p:txBody>
          <a:bodyPr wrap="square" rtlCol="0" anchor="t">
            <a:spAutoFit/>
          </a:bodyPr>
          <a:p>
            <a:r>
              <a:rPr lang="en-US"/>
              <a:t>An entity that has state and behavior is known as an object e.g. chair, bike, marker, pen, table, car etc. It can be physical or logical (tangible and intangible). The example of intangible object is banking system.</a:t>
            </a:r>
            <a:endParaRPr lang="en-US"/>
          </a:p>
        </p:txBody>
      </p:sp>
      <p:sp>
        <p:nvSpPr>
          <p:cNvPr id="3" name="Text Box 2"/>
          <p:cNvSpPr txBox="1"/>
          <p:nvPr/>
        </p:nvSpPr>
        <p:spPr>
          <a:xfrm>
            <a:off x="249555" y="3394075"/>
            <a:ext cx="8770620" cy="3784600"/>
          </a:xfrm>
          <a:prstGeom prst="rect">
            <a:avLst/>
          </a:prstGeom>
          <a:noFill/>
        </p:spPr>
        <p:txBody>
          <a:bodyPr wrap="square" rtlCol="0" anchor="t">
            <a:spAutoFit/>
          </a:bodyPr>
          <a:p>
            <a:r>
              <a:rPr lang="en-US"/>
              <a:t>An object has three characteristics:</a:t>
            </a:r>
            <a:endParaRPr lang="en-US"/>
          </a:p>
          <a:p>
            <a:endParaRPr lang="en-US"/>
          </a:p>
          <a:p>
            <a:r>
              <a:rPr lang="en-US"/>
              <a:t>    </a:t>
            </a:r>
            <a:r>
              <a:rPr lang="en-US">
                <a:solidFill>
                  <a:srgbClr val="FF0000"/>
                </a:solidFill>
              </a:rPr>
              <a:t>state:</a:t>
            </a:r>
            <a:r>
              <a:rPr lang="en-US"/>
              <a:t> represents data (value) of an object.</a:t>
            </a:r>
            <a:endParaRPr lang="en-US"/>
          </a:p>
          <a:p>
            <a:r>
              <a:rPr lang="en-US"/>
              <a:t>    </a:t>
            </a:r>
            <a:r>
              <a:rPr lang="en-US">
                <a:solidFill>
                  <a:srgbClr val="FF0000"/>
                </a:solidFill>
              </a:rPr>
              <a:t>behavior:</a:t>
            </a:r>
            <a:r>
              <a:rPr lang="en-US"/>
              <a:t> represents the behavior (functionality) of an object such as deposit, withdraw etc.</a:t>
            </a:r>
            <a:endParaRPr lang="en-US"/>
          </a:p>
          <a:p>
            <a:r>
              <a:rPr lang="en-US"/>
              <a:t>    </a:t>
            </a:r>
            <a:r>
              <a:rPr lang="en-US">
                <a:solidFill>
                  <a:srgbClr val="FF0000"/>
                </a:solidFill>
              </a:rPr>
              <a:t>identity:</a:t>
            </a:r>
            <a:r>
              <a:rPr lang="en-US"/>
              <a:t> Object identity is typically implemented via a unique ID. The value of the ID is not visible to the external user. But, it is used internally by the JVM to identify each object uniquely.</a:t>
            </a:r>
            <a:endParaRPr lang="en-US"/>
          </a:p>
          <a:p>
            <a:endParaRPr lang="en-US"/>
          </a:p>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21005" y="1436370"/>
            <a:ext cx="8063865" cy="1198880"/>
          </a:xfrm>
          <a:prstGeom prst="rect">
            <a:avLst/>
          </a:prstGeom>
          <a:noFill/>
        </p:spPr>
        <p:txBody>
          <a:bodyPr wrap="square" rtlCol="0" anchor="t">
            <a:spAutoFit/>
          </a:bodyPr>
          <a:p>
            <a:r>
              <a:rPr lang="en-US">
                <a:sym typeface="+mn-ea"/>
              </a:rPr>
              <a:t>For Example: Pen is an object. Its name is Reynolds, color is white etc. known as its state. It is used to write, so writing is its behavior. </a:t>
            </a:r>
            <a:endParaRPr lang="en-US"/>
          </a:p>
        </p:txBody>
      </p:sp>
      <p:sp>
        <p:nvSpPr>
          <p:cNvPr id="5" name="Text Box 4"/>
          <p:cNvSpPr txBox="1"/>
          <p:nvPr/>
        </p:nvSpPr>
        <p:spPr>
          <a:xfrm>
            <a:off x="504190" y="2735580"/>
            <a:ext cx="8135620" cy="3784600"/>
          </a:xfrm>
          <a:prstGeom prst="rect">
            <a:avLst/>
          </a:prstGeom>
          <a:noFill/>
        </p:spPr>
        <p:txBody>
          <a:bodyPr wrap="square" rtlCol="0" anchor="t">
            <a:spAutoFit/>
          </a:bodyPr>
          <a:p>
            <a:r>
              <a:rPr lang="en-US"/>
              <a:t>Object is an instance of a class. Class is a template or blueprint from which objects are created. So object is the instance(result) of a class.</a:t>
            </a:r>
            <a:endParaRPr lang="en-US"/>
          </a:p>
          <a:p>
            <a:endParaRPr lang="en-US"/>
          </a:p>
          <a:p>
            <a:r>
              <a:rPr lang="en-US"/>
              <a:t>Object Definitions:</a:t>
            </a:r>
            <a:endParaRPr lang="en-US"/>
          </a:p>
          <a:p>
            <a:endParaRPr lang="en-US"/>
          </a:p>
          <a:p>
            <a:r>
              <a:rPr lang="en-US"/>
              <a:t>    Object is a real world entity.</a:t>
            </a:r>
            <a:endParaRPr lang="en-US"/>
          </a:p>
          <a:p>
            <a:r>
              <a:rPr lang="en-US"/>
              <a:t>    Object is a run time entity.</a:t>
            </a:r>
            <a:endParaRPr lang="en-US"/>
          </a:p>
          <a:p>
            <a:r>
              <a:rPr lang="en-US"/>
              <a:t>    Object is an entity which has state and behavior.</a:t>
            </a:r>
            <a:endParaRPr lang="en-US"/>
          </a:p>
          <a:p>
            <a:r>
              <a:rPr lang="en-US"/>
              <a:t>    Object is an instance of a class.</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Class in Java</a:t>
            </a:r>
            <a:endParaRPr lang="en-US">
              <a:solidFill>
                <a:srgbClr val="FF0000"/>
              </a:solidFill>
              <a:sym typeface="+mn-ea"/>
            </a:endParaRPr>
          </a:p>
        </p:txBody>
      </p:sp>
      <p:sp>
        <p:nvSpPr>
          <p:cNvPr id="2" name="Text Box 1"/>
          <p:cNvSpPr txBox="1"/>
          <p:nvPr/>
        </p:nvSpPr>
        <p:spPr>
          <a:xfrm>
            <a:off x="421005" y="1825625"/>
            <a:ext cx="8063865" cy="4154170"/>
          </a:xfrm>
          <a:prstGeom prst="rect">
            <a:avLst/>
          </a:prstGeom>
          <a:noFill/>
        </p:spPr>
        <p:txBody>
          <a:bodyPr wrap="square" rtlCol="0" anchor="t">
            <a:spAutoFit/>
          </a:bodyPr>
          <a:p>
            <a:r>
              <a:rPr lang="en-US"/>
              <a:t>A class is a group of objects which have common properties. It is a template or blueprint from which objects are created. It is a logical entity. It can't be physical.</a:t>
            </a:r>
            <a:endParaRPr lang="en-US"/>
          </a:p>
          <a:p>
            <a:endParaRPr lang="en-US"/>
          </a:p>
          <a:p>
            <a:r>
              <a:rPr lang="en-US"/>
              <a:t>A class in Java can contain:</a:t>
            </a:r>
            <a:endParaRPr lang="en-US"/>
          </a:p>
          <a:p>
            <a:endParaRPr lang="en-US"/>
          </a:p>
          <a:p>
            <a:pPr marL="342900" indent="-342900">
              <a:buFont typeface="Wingdings" panose="05000000000000000000" charset="0"/>
              <a:buChar char="Ø"/>
            </a:pPr>
            <a:r>
              <a:rPr lang="en-US"/>
              <a:t>fields</a:t>
            </a:r>
            <a:endParaRPr lang="en-US"/>
          </a:p>
          <a:p>
            <a:pPr marL="342900" indent="-342900">
              <a:buFont typeface="Wingdings" panose="05000000000000000000" charset="0"/>
              <a:buChar char="Ø"/>
            </a:pPr>
            <a:r>
              <a:rPr lang="en-US"/>
              <a:t>methods</a:t>
            </a:r>
            <a:endParaRPr lang="en-US"/>
          </a:p>
          <a:p>
            <a:pPr marL="342900" indent="-342900">
              <a:buFont typeface="Wingdings" panose="05000000000000000000" charset="0"/>
              <a:buChar char="Ø"/>
            </a:pPr>
            <a:r>
              <a:rPr lang="en-US"/>
              <a:t>constructors</a:t>
            </a:r>
            <a:endParaRPr lang="en-US"/>
          </a:p>
          <a:p>
            <a:pPr marL="342900" indent="-342900">
              <a:buFont typeface="Wingdings" panose="05000000000000000000" charset="0"/>
              <a:buChar char="Ø"/>
            </a:pPr>
            <a:r>
              <a:rPr lang="en-US"/>
              <a:t>blocks</a:t>
            </a:r>
            <a:endParaRPr lang="en-US"/>
          </a:p>
          <a:p>
            <a:pPr marL="342900" indent="-342900">
              <a:buFont typeface="Wingdings" panose="05000000000000000000" charset="0"/>
              <a:buChar char="Ø"/>
            </a:pPr>
            <a:r>
              <a:rPr lang="en-US"/>
              <a:t>nested class and interface</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4" name="Text Box 3"/>
          <p:cNvSpPr txBox="1"/>
          <p:nvPr/>
        </p:nvSpPr>
        <p:spPr>
          <a:xfrm>
            <a:off x="421005" y="1273810"/>
            <a:ext cx="8235950" cy="460375"/>
          </a:xfrm>
          <a:prstGeom prst="rect">
            <a:avLst/>
          </a:prstGeom>
          <a:noFill/>
        </p:spPr>
        <p:txBody>
          <a:bodyPr wrap="square" rtlCol="0" anchor="t">
            <a:spAutoFit/>
          </a:bodyPr>
          <a:p>
            <a:r>
              <a:rPr lang="en-US">
                <a:solidFill>
                  <a:srgbClr val="FF0000"/>
                </a:solidFill>
                <a:sym typeface="+mn-ea"/>
              </a:rPr>
              <a:t>Syntax to declare a class:</a:t>
            </a:r>
            <a:endParaRPr lang="en-US">
              <a:solidFill>
                <a:srgbClr val="FF0000"/>
              </a:solidFill>
              <a:sym typeface="+mn-ea"/>
            </a:endParaRPr>
          </a:p>
        </p:txBody>
      </p:sp>
      <p:sp>
        <p:nvSpPr>
          <p:cNvPr id="2" name="Text Box 1"/>
          <p:cNvSpPr txBox="1"/>
          <p:nvPr/>
        </p:nvSpPr>
        <p:spPr>
          <a:xfrm>
            <a:off x="421005" y="1849755"/>
            <a:ext cx="8063865" cy="1938020"/>
          </a:xfrm>
          <a:prstGeom prst="rect">
            <a:avLst/>
          </a:prstGeom>
          <a:noFill/>
        </p:spPr>
        <p:txBody>
          <a:bodyPr wrap="square" rtlCol="0" anchor="t">
            <a:spAutoFit/>
          </a:bodyPr>
          <a:p>
            <a:r>
              <a:rPr lang="en-US"/>
              <a:t>    class &lt;class_name&gt;</a:t>
            </a:r>
            <a:endParaRPr lang="en-US"/>
          </a:p>
          <a:p>
            <a:r>
              <a:rPr lang="en-US"/>
              <a:t>    {  </a:t>
            </a:r>
            <a:endParaRPr lang="en-US"/>
          </a:p>
          <a:p>
            <a:r>
              <a:rPr lang="en-US"/>
              <a:t>        field;  </a:t>
            </a:r>
            <a:endParaRPr lang="en-US"/>
          </a:p>
          <a:p>
            <a:r>
              <a:rPr lang="en-US"/>
              <a:t>        method;  </a:t>
            </a:r>
            <a:endParaRPr lang="en-US"/>
          </a:p>
          <a:p>
            <a:r>
              <a:rPr lang="en-US"/>
              <a:t>    }  </a:t>
            </a:r>
            <a:endParaRPr lang="en-US"/>
          </a:p>
        </p:txBody>
      </p:sp>
      <p:sp>
        <p:nvSpPr>
          <p:cNvPr id="3" name="Text Box 2"/>
          <p:cNvSpPr txBox="1"/>
          <p:nvPr/>
        </p:nvSpPr>
        <p:spPr>
          <a:xfrm>
            <a:off x="392430" y="3855085"/>
            <a:ext cx="8092440" cy="2676525"/>
          </a:xfrm>
          <a:prstGeom prst="rect">
            <a:avLst/>
          </a:prstGeom>
          <a:noFill/>
        </p:spPr>
        <p:txBody>
          <a:bodyPr wrap="square" rtlCol="0" anchor="t">
            <a:spAutoFit/>
          </a:bodyPr>
          <a:p>
            <a:r>
              <a:rPr lang="en-US">
                <a:solidFill>
                  <a:srgbClr val="FF0000"/>
                </a:solidFill>
              </a:rPr>
              <a:t>Instance variable in Java :</a:t>
            </a:r>
            <a:endParaRPr lang="en-US"/>
          </a:p>
          <a:p>
            <a:endParaRPr lang="en-US"/>
          </a:p>
          <a:p>
            <a:r>
              <a:rPr lang="en-US"/>
              <a:t>A variable which is created inside the class but outside the method, is known as instance variable. Instance variable doesn't get memory at compile time. It gets memory at run time when object(instance) is created. That is why, it is known as instance variable.</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257175" y="1370965"/>
            <a:ext cx="8092440" cy="3046095"/>
          </a:xfrm>
          <a:prstGeom prst="rect">
            <a:avLst/>
          </a:prstGeom>
          <a:noFill/>
        </p:spPr>
        <p:txBody>
          <a:bodyPr wrap="square" rtlCol="0" anchor="t">
            <a:spAutoFit/>
          </a:bodyPr>
          <a:p>
            <a:r>
              <a:rPr lang="en-US" b="1">
                <a:solidFill>
                  <a:srgbClr val="FF0000"/>
                </a:solidFill>
              </a:rPr>
              <a:t>Method in Java :</a:t>
            </a:r>
            <a:endParaRPr lang="en-US">
              <a:solidFill>
                <a:srgbClr val="FF0000"/>
              </a:solidFill>
            </a:endParaRPr>
          </a:p>
          <a:p>
            <a:endParaRPr lang="en-US">
              <a:solidFill>
                <a:srgbClr val="FF0000"/>
              </a:solidFill>
            </a:endParaRPr>
          </a:p>
          <a:p>
            <a:r>
              <a:rPr lang="en-US">
                <a:solidFill>
                  <a:schemeClr val="tx1"/>
                </a:solidFill>
              </a:rPr>
              <a:t>In java, a method is like function i.e. used to expose behavior of an object.</a:t>
            </a:r>
            <a:endParaRPr lang="en-US">
              <a:solidFill>
                <a:schemeClr val="tx1"/>
              </a:solidFill>
            </a:endParaRPr>
          </a:p>
          <a:p>
            <a:r>
              <a:rPr lang="en-US">
                <a:solidFill>
                  <a:schemeClr val="tx1"/>
                </a:solidFill>
              </a:rPr>
              <a:t>Advantage of Method</a:t>
            </a:r>
            <a:endParaRPr lang="en-US">
              <a:solidFill>
                <a:schemeClr val="tx1"/>
              </a:solidFill>
            </a:endParaRPr>
          </a:p>
          <a:p>
            <a:endParaRPr lang="en-US">
              <a:solidFill>
                <a:schemeClr val="tx1"/>
              </a:solidFill>
            </a:endParaRPr>
          </a:p>
          <a:p>
            <a:pPr marL="342900" indent="-342900">
              <a:buFont typeface="Wingdings" panose="05000000000000000000" charset="0"/>
              <a:buChar char="Ø"/>
            </a:pPr>
            <a:r>
              <a:rPr lang="en-US">
                <a:solidFill>
                  <a:schemeClr val="tx1"/>
                </a:solidFill>
              </a:rPr>
              <a:t>Code Reusability</a:t>
            </a:r>
            <a:endParaRPr lang="en-US">
              <a:solidFill>
                <a:schemeClr val="tx1"/>
              </a:solidFill>
            </a:endParaRPr>
          </a:p>
          <a:p>
            <a:pPr marL="342900" indent="-342900">
              <a:buFont typeface="Wingdings" panose="05000000000000000000" charset="0"/>
              <a:buChar char="Ø"/>
            </a:pPr>
            <a:r>
              <a:rPr lang="en-US">
                <a:solidFill>
                  <a:schemeClr val="tx1"/>
                </a:solidFill>
              </a:rPr>
              <a:t>Code Optimization</a:t>
            </a:r>
            <a:endParaRPr lang="en-US">
              <a:solidFill>
                <a:schemeClr val="tx1"/>
              </a:solidFill>
            </a:endParaRPr>
          </a:p>
        </p:txBody>
      </p:sp>
      <p:sp>
        <p:nvSpPr>
          <p:cNvPr id="5" name="Text Box 4"/>
          <p:cNvSpPr txBox="1"/>
          <p:nvPr/>
        </p:nvSpPr>
        <p:spPr>
          <a:xfrm>
            <a:off x="304800" y="4784090"/>
            <a:ext cx="6143625" cy="460375"/>
          </a:xfrm>
          <a:prstGeom prst="rect">
            <a:avLst/>
          </a:prstGeom>
          <a:noFill/>
        </p:spPr>
        <p:txBody>
          <a:bodyPr wrap="square" rtlCol="0" anchor="t">
            <a:spAutoFit/>
          </a:bodyPr>
          <a:p>
            <a:r>
              <a:rPr lang="en-US" b="1">
                <a:solidFill>
                  <a:srgbClr val="FF0000"/>
                </a:solidFill>
              </a:rPr>
              <a:t>new keyword in Java :</a:t>
            </a:r>
            <a:endParaRPr lang="en-US" b="1">
              <a:solidFill>
                <a:srgbClr val="FF0000"/>
              </a:solidFill>
            </a:endParaRPr>
          </a:p>
        </p:txBody>
      </p:sp>
      <p:sp>
        <p:nvSpPr>
          <p:cNvPr id="6" name="Text Box 5"/>
          <p:cNvSpPr txBox="1"/>
          <p:nvPr/>
        </p:nvSpPr>
        <p:spPr>
          <a:xfrm>
            <a:off x="366395" y="5374640"/>
            <a:ext cx="8549005" cy="829945"/>
          </a:xfrm>
          <a:prstGeom prst="rect">
            <a:avLst/>
          </a:prstGeom>
          <a:noFill/>
        </p:spPr>
        <p:txBody>
          <a:bodyPr wrap="square" rtlCol="0" anchor="t">
            <a:spAutoFit/>
          </a:bodyPr>
          <a:p>
            <a:r>
              <a:rPr lang="en-US"/>
              <a:t>The new keyword is used to allocate memory at run time. All objects get memory in Heap memory area.</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and Class Example: main within class</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5262245"/>
          </a:xfrm>
          <a:prstGeom prst="rect">
            <a:avLst/>
          </a:prstGeom>
          <a:noFill/>
        </p:spPr>
        <p:txBody>
          <a:bodyPr wrap="square" rtlCol="0" anchor="t">
            <a:spAutoFit/>
          </a:bodyPr>
          <a:p>
            <a:r>
              <a:rPr lang="en-US">
                <a:solidFill>
                  <a:srgbClr val="FF0000"/>
                </a:solidFill>
              </a:rPr>
              <a:t>    </a:t>
            </a:r>
            <a:r>
              <a:rPr lang="en-US" b="1">
                <a:solidFill>
                  <a:schemeClr val="tx1"/>
                </a:solidFill>
              </a:rPr>
              <a:t>class Student</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int id;</a:t>
            </a:r>
            <a:r>
              <a:rPr lang="en-US" b="1">
                <a:solidFill>
                  <a:srgbClr val="00B050"/>
                </a:solidFill>
              </a:rPr>
              <a:t>//field or data member or instance variable</a:t>
            </a:r>
            <a:r>
              <a:rPr lang="en-US" b="1">
                <a:solidFill>
                  <a:schemeClr val="tx1"/>
                </a:solidFill>
              </a:rPr>
              <a:t>  </a:t>
            </a:r>
            <a:endParaRPr lang="en-US" b="1">
              <a:solidFill>
                <a:schemeClr val="tx1"/>
              </a:solidFill>
            </a:endParaRPr>
          </a:p>
          <a:p>
            <a:r>
              <a:rPr lang="en-US" b="1">
                <a:solidFill>
                  <a:schemeClr val="tx1"/>
                </a:solidFill>
              </a:rPr>
              <a:t>     String name;  </a:t>
            </a:r>
            <a:endParaRPr lang="en-US" b="1">
              <a:solidFill>
                <a:schemeClr val="tx1"/>
              </a:solidFill>
            </a:endParaRPr>
          </a:p>
          <a:p>
            <a:r>
              <a:rPr lang="en-US" b="1">
                <a:solidFill>
                  <a:schemeClr val="tx1"/>
                </a:solidFill>
              </a:rPr>
              <a:t>      </a:t>
            </a:r>
            <a:endParaRPr lang="en-US" b="1">
              <a:solidFill>
                <a:schemeClr val="tx1"/>
              </a:solidFill>
            </a:endParaRPr>
          </a:p>
          <a:p>
            <a:r>
              <a:rPr lang="en-US" b="1">
                <a:solidFill>
                  <a:schemeClr val="tx1"/>
                </a:solidFill>
              </a:rPr>
              <a:t>     public static void main(String args[])</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Student s1=new Student();</a:t>
            </a:r>
            <a:r>
              <a:rPr lang="en-US" b="1">
                <a:solidFill>
                  <a:srgbClr val="00B050"/>
                </a:solidFill>
              </a:rPr>
              <a:t>//creating an object of Student  </a:t>
            </a:r>
            <a:endParaRPr lang="en-US" b="1">
              <a:solidFill>
                <a:srgbClr val="00B050"/>
              </a:solidFill>
            </a:endParaRPr>
          </a:p>
          <a:p>
            <a:r>
              <a:rPr lang="en-US" b="1">
                <a:solidFill>
                  <a:schemeClr val="tx1"/>
                </a:solidFill>
              </a:rPr>
              <a:t>      System.out.println(s1.id);</a:t>
            </a:r>
            <a:r>
              <a:rPr lang="en-US" b="1">
                <a:solidFill>
                  <a:srgbClr val="00B050"/>
                </a:solidFill>
              </a:rPr>
              <a:t>//accessing member through reference variable  </a:t>
            </a:r>
            <a:endParaRPr lang="en-US" b="1">
              <a:solidFill>
                <a:srgbClr val="00B050"/>
              </a:solidFill>
            </a:endParaRPr>
          </a:p>
          <a:p>
            <a:r>
              <a:rPr lang="en-US" b="1">
                <a:solidFill>
                  <a:schemeClr val="tx1"/>
                </a:solidFill>
              </a:rPr>
              <a:t>      System.out.println(s1.name);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  </a:t>
            </a:r>
            <a:endParaRPr lang="en-US" b="1">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and Class Example: main outside class</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3415030"/>
          </a:xfrm>
          <a:prstGeom prst="rect">
            <a:avLst/>
          </a:prstGeom>
          <a:noFill/>
        </p:spPr>
        <p:txBody>
          <a:bodyPr wrap="square" rtlCol="0" anchor="t">
            <a:spAutoFit/>
          </a:bodyPr>
          <a:p>
            <a:r>
              <a:rPr lang="en-US"/>
              <a:t>In real time development, we create classes and use it from another class. It is a better approach than previous one. Let's see a simple example, where we are having main() method in another class.</a:t>
            </a:r>
            <a:endParaRPr lang="en-US"/>
          </a:p>
          <a:p>
            <a:endParaRPr lang="en-US"/>
          </a:p>
          <a:p>
            <a:r>
              <a:rPr lang="en-US"/>
              <a:t>We can have multiple classes in different java files or single java file. If you define multiple classes in a single java source file, it is a good idea to save the file name with the class name which has main() method.</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and Class Example: main outside class</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5262245"/>
          </a:xfrm>
          <a:prstGeom prst="rect">
            <a:avLst/>
          </a:prstGeom>
          <a:noFill/>
        </p:spPr>
        <p:txBody>
          <a:bodyPr wrap="square" rtlCol="0" anchor="t">
            <a:spAutoFit/>
          </a:bodyPr>
          <a:p>
            <a:r>
              <a:rPr lang="en-US" b="1"/>
              <a:t>    class Student</a:t>
            </a:r>
            <a:endParaRPr lang="en-US" b="1"/>
          </a:p>
          <a:p>
            <a:r>
              <a:rPr lang="en-US" b="1"/>
              <a:t>    {  </a:t>
            </a:r>
            <a:endParaRPr lang="en-US" b="1"/>
          </a:p>
          <a:p>
            <a:r>
              <a:rPr lang="en-US" b="1"/>
              <a:t>     int id;  </a:t>
            </a:r>
            <a:endParaRPr lang="en-US" b="1"/>
          </a:p>
          <a:p>
            <a:r>
              <a:rPr lang="en-US" b="1"/>
              <a:t>     String name;  </a:t>
            </a:r>
            <a:endParaRPr lang="en-US" b="1"/>
          </a:p>
          <a:p>
            <a:r>
              <a:rPr lang="en-US" b="1"/>
              <a:t>    }  </a:t>
            </a:r>
            <a:endParaRPr lang="en-US" b="1"/>
          </a:p>
          <a:p>
            <a:r>
              <a:rPr lang="en-US" b="1"/>
              <a:t>    public class TestStudent1</a:t>
            </a:r>
            <a:endParaRPr lang="en-US" b="1"/>
          </a:p>
          <a:p>
            <a:r>
              <a:rPr lang="en-US" b="1"/>
              <a:t>   {  </a:t>
            </a:r>
            <a:endParaRPr lang="en-US" b="1"/>
          </a:p>
          <a:p>
            <a:r>
              <a:rPr lang="en-US" b="1"/>
              <a:t>     public static void main(String args[])</a:t>
            </a:r>
            <a:endParaRPr lang="en-US" b="1"/>
          </a:p>
          <a:p>
            <a:r>
              <a:rPr lang="en-US" b="1"/>
              <a:t>     {  </a:t>
            </a:r>
            <a:endParaRPr lang="en-US" b="1"/>
          </a:p>
          <a:p>
            <a:r>
              <a:rPr lang="en-US" b="1"/>
              <a:t>      Student s1=new Student();  </a:t>
            </a:r>
            <a:endParaRPr lang="en-US" b="1"/>
          </a:p>
          <a:p>
            <a:r>
              <a:rPr lang="en-US" b="1"/>
              <a:t>      System.out.println(s1.id);  </a:t>
            </a:r>
            <a:endParaRPr lang="en-US" b="1"/>
          </a:p>
          <a:p>
            <a:r>
              <a:rPr lang="en-US" b="1"/>
              <a:t>      System.out.println(s1.name);  </a:t>
            </a:r>
            <a:endParaRPr lang="en-US" b="1"/>
          </a:p>
          <a:p>
            <a:r>
              <a:rPr lang="en-US" b="1"/>
              <a:t>     }  </a:t>
            </a:r>
            <a:endParaRPr lang="en-US" b="1"/>
          </a:p>
          <a:p>
            <a:r>
              <a:rPr lang="en-US" b="1"/>
              <a:t>    }  </a:t>
            </a:r>
            <a:endParaRPr lang="en-US"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3 Ways to initialize object :</a:t>
            </a:r>
            <a:endParaRPr lang="en-US" b="1">
              <a:solidFill>
                <a:srgbClr val="FF0000"/>
              </a:solidFill>
            </a:endParaRPr>
          </a:p>
        </p:txBody>
      </p:sp>
      <p:sp>
        <p:nvSpPr>
          <p:cNvPr id="2" name="Text Box 1"/>
          <p:cNvSpPr txBox="1"/>
          <p:nvPr/>
        </p:nvSpPr>
        <p:spPr>
          <a:xfrm>
            <a:off x="622935" y="2747010"/>
            <a:ext cx="7898130" cy="1938020"/>
          </a:xfrm>
          <a:prstGeom prst="rect">
            <a:avLst/>
          </a:prstGeom>
          <a:noFill/>
        </p:spPr>
        <p:txBody>
          <a:bodyPr wrap="square" rtlCol="0" anchor="t">
            <a:spAutoFit/>
          </a:bodyPr>
          <a:p>
            <a:r>
              <a:rPr lang="en-US"/>
              <a:t>There are 3 ways to initialize object in java.</a:t>
            </a:r>
            <a:endParaRPr lang="en-US"/>
          </a:p>
          <a:p>
            <a:endParaRPr lang="en-US"/>
          </a:p>
          <a:p>
            <a:pPr marL="457200" indent="-457200">
              <a:buFont typeface="+mj-lt"/>
              <a:buAutoNum type="arabicPeriod"/>
            </a:pPr>
            <a:r>
              <a:rPr lang="en-US"/>
              <a:t>By reference variable</a:t>
            </a:r>
            <a:endParaRPr lang="en-US"/>
          </a:p>
          <a:p>
            <a:pPr marL="457200" indent="-457200">
              <a:buFont typeface="+mj-lt"/>
              <a:buAutoNum type="arabicPeriod"/>
            </a:pPr>
            <a:r>
              <a:rPr lang="en-US"/>
              <a:t>By method</a:t>
            </a:r>
            <a:endParaRPr lang="en-US"/>
          </a:p>
          <a:p>
            <a:pPr marL="457200" indent="-457200">
              <a:buFont typeface="+mj-lt"/>
              <a:buAutoNum type="arabicPeriod"/>
            </a:pPr>
            <a:r>
              <a:rPr lang="en-US"/>
              <a:t>By constructor</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829945"/>
          </a:xfrm>
          <a:prstGeom prst="rect">
            <a:avLst/>
          </a:prstGeom>
          <a:noFill/>
        </p:spPr>
        <p:txBody>
          <a:bodyPr wrap="square" rtlCol="0" anchor="t">
            <a:spAutoFit/>
          </a:bodyPr>
          <a:p>
            <a:r>
              <a:rPr lang="en-US" b="1">
                <a:solidFill>
                  <a:srgbClr val="FF0000"/>
                </a:solidFill>
              </a:rPr>
              <a:t>1) Object and Class Example: Initialization through reference :</a:t>
            </a:r>
            <a:endParaRPr lang="en-US" b="1">
              <a:solidFill>
                <a:srgbClr val="FF0000"/>
              </a:solidFill>
            </a:endParaRPr>
          </a:p>
        </p:txBody>
      </p:sp>
      <p:sp>
        <p:nvSpPr>
          <p:cNvPr id="2" name="Text Box 1"/>
          <p:cNvSpPr txBox="1"/>
          <p:nvPr/>
        </p:nvSpPr>
        <p:spPr>
          <a:xfrm>
            <a:off x="421005" y="2287905"/>
            <a:ext cx="8552815" cy="4523105"/>
          </a:xfrm>
          <a:prstGeom prst="rect">
            <a:avLst/>
          </a:prstGeom>
          <a:noFill/>
        </p:spPr>
        <p:txBody>
          <a:bodyPr wrap="square" rtlCol="0" anchor="t">
            <a:spAutoFit/>
          </a:bodyPr>
          <a:p>
            <a:r>
              <a:rPr lang="en-US"/>
              <a:t>    class Student{  </a:t>
            </a:r>
            <a:endParaRPr lang="en-US"/>
          </a:p>
          <a:p>
            <a:r>
              <a:rPr lang="en-US"/>
              <a:t>     int id;  </a:t>
            </a:r>
            <a:endParaRPr lang="en-US"/>
          </a:p>
          <a:p>
            <a:r>
              <a:rPr lang="en-US"/>
              <a:t>     String name;  </a:t>
            </a:r>
            <a:endParaRPr lang="en-US"/>
          </a:p>
          <a:p>
            <a:r>
              <a:rPr lang="en-US"/>
              <a:t>    }  </a:t>
            </a:r>
            <a:endParaRPr lang="en-US"/>
          </a:p>
          <a:p>
            <a:r>
              <a:rPr lang="en-US"/>
              <a:t>    public class TestStudent{  </a:t>
            </a:r>
            <a:endParaRPr lang="en-US"/>
          </a:p>
          <a:p>
            <a:r>
              <a:rPr lang="en-US"/>
              <a:t>     public static void main(String args[]){  </a:t>
            </a:r>
            <a:endParaRPr lang="en-US"/>
          </a:p>
          <a:p>
            <a:r>
              <a:rPr lang="en-US"/>
              <a:t>      Student s1=new Student();  </a:t>
            </a:r>
            <a:endParaRPr lang="en-US"/>
          </a:p>
          <a:p>
            <a:r>
              <a:rPr lang="en-US"/>
              <a:t>      s1.id=101;  </a:t>
            </a:r>
            <a:endParaRPr lang="en-US"/>
          </a:p>
          <a:p>
            <a:r>
              <a:rPr lang="en-US"/>
              <a:t>      s1.name="Ankit";  </a:t>
            </a:r>
            <a:endParaRPr lang="en-US"/>
          </a:p>
          <a:p>
            <a:r>
              <a:rPr lang="en-US"/>
              <a:t>      System.out.println(s1.id+" "+s1.name);</a:t>
            </a:r>
            <a:r>
              <a:rPr lang="en-US">
                <a:solidFill>
                  <a:srgbClr val="00B050"/>
                </a:solidFill>
              </a:rPr>
              <a:t>//printing members with a white space  </a:t>
            </a:r>
            <a:endParaRPr lang="en-US">
              <a:solidFill>
                <a:srgbClr val="00B050"/>
              </a:solidFill>
            </a:endParaRPr>
          </a:p>
          <a:p>
            <a:r>
              <a:rPr lang="en-US"/>
              <a:t>     } }  </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91795" y="1240155"/>
            <a:ext cx="8552815" cy="5631180"/>
          </a:xfrm>
          <a:prstGeom prst="rect">
            <a:avLst/>
          </a:prstGeom>
          <a:noFill/>
        </p:spPr>
        <p:txBody>
          <a:bodyPr wrap="square" rtlCol="0" anchor="t">
            <a:spAutoFit/>
          </a:bodyPr>
          <a:p>
            <a:r>
              <a:rPr lang="en-US" sz="2000"/>
              <a:t>    class Student{  </a:t>
            </a:r>
            <a:endParaRPr lang="en-US" sz="2000"/>
          </a:p>
          <a:p>
            <a:r>
              <a:rPr lang="en-US" sz="2000"/>
              <a:t>     int id;  </a:t>
            </a:r>
            <a:endParaRPr lang="en-US" sz="2000"/>
          </a:p>
          <a:p>
            <a:r>
              <a:rPr lang="en-US" sz="2000"/>
              <a:t>     String name;  </a:t>
            </a:r>
            <a:endParaRPr lang="en-US" sz="2000"/>
          </a:p>
          <a:p>
            <a:r>
              <a:rPr lang="en-US" sz="2000"/>
              <a:t>    }  </a:t>
            </a:r>
            <a:endParaRPr lang="en-US" sz="2000"/>
          </a:p>
          <a:p>
            <a:r>
              <a:rPr lang="en-US" sz="2000"/>
              <a:t>    public class TestStudent{  </a:t>
            </a:r>
            <a:endParaRPr lang="en-US" sz="2000"/>
          </a:p>
          <a:p>
            <a:r>
              <a:rPr lang="en-US" sz="2000"/>
              <a:t>     public static void main(String args[]){  </a:t>
            </a:r>
            <a:endParaRPr lang="en-US" sz="2000"/>
          </a:p>
          <a:p>
            <a:r>
              <a:rPr lang="en-US" sz="2000"/>
              <a:t>      </a:t>
            </a:r>
            <a:r>
              <a:rPr lang="en-US" sz="2000">
                <a:solidFill>
                  <a:srgbClr val="00B050"/>
                </a:solidFill>
              </a:rPr>
              <a:t>//Creating objects </a:t>
            </a:r>
            <a:r>
              <a:rPr lang="en-US" sz="2000"/>
              <a:t> </a:t>
            </a:r>
            <a:endParaRPr lang="en-US" sz="2000"/>
          </a:p>
          <a:p>
            <a:r>
              <a:rPr lang="en-US" sz="2000"/>
              <a:t>      Student s1=new Student();  </a:t>
            </a:r>
            <a:endParaRPr lang="en-US" sz="2000"/>
          </a:p>
          <a:p>
            <a:r>
              <a:rPr lang="en-US" sz="2000"/>
              <a:t>      Student s2=new Student();  </a:t>
            </a:r>
            <a:endParaRPr lang="en-US" sz="2000"/>
          </a:p>
          <a:p>
            <a:r>
              <a:rPr lang="en-US" sz="2000"/>
              <a:t>      </a:t>
            </a:r>
            <a:r>
              <a:rPr lang="en-US" sz="2000">
                <a:solidFill>
                  <a:srgbClr val="00B050"/>
                </a:solidFill>
              </a:rPr>
              <a:t>//Initializing objects  </a:t>
            </a:r>
            <a:endParaRPr lang="en-US" sz="2000"/>
          </a:p>
          <a:p>
            <a:r>
              <a:rPr lang="en-US" sz="2000"/>
              <a:t>      s1.id=101;  </a:t>
            </a:r>
            <a:endParaRPr lang="en-US" sz="2000"/>
          </a:p>
          <a:p>
            <a:r>
              <a:rPr lang="en-US" sz="2000"/>
              <a:t>      s1.name="Ankit";  </a:t>
            </a:r>
            <a:endParaRPr lang="en-US" sz="2000"/>
          </a:p>
          <a:p>
            <a:r>
              <a:rPr lang="en-US" sz="2000"/>
              <a:t>      s2.id=102;  </a:t>
            </a:r>
            <a:endParaRPr lang="en-US" sz="2000"/>
          </a:p>
          <a:p>
            <a:r>
              <a:rPr lang="en-US" sz="2000"/>
              <a:t>      s2.name="Amit";  </a:t>
            </a:r>
            <a:endParaRPr lang="en-US" sz="2000"/>
          </a:p>
          <a:p>
            <a:r>
              <a:rPr lang="en-US" sz="2000"/>
              <a:t>      </a:t>
            </a:r>
            <a:r>
              <a:rPr lang="en-US" sz="2000">
                <a:solidFill>
                  <a:srgbClr val="00B050"/>
                </a:solidFill>
              </a:rPr>
              <a:t>//Printing data</a:t>
            </a:r>
            <a:r>
              <a:rPr lang="en-US" sz="2000"/>
              <a:t>  </a:t>
            </a:r>
            <a:endParaRPr lang="en-US" sz="2000"/>
          </a:p>
          <a:p>
            <a:r>
              <a:rPr lang="en-US" sz="2000"/>
              <a:t>      System.out.println(s1.id+" "+s1.name);  </a:t>
            </a:r>
            <a:endParaRPr lang="en-US" sz="2000"/>
          </a:p>
          <a:p>
            <a:r>
              <a:rPr lang="en-US" sz="2000"/>
              <a:t>      System.out.println(s2.id+" "+s2.name);  </a:t>
            </a:r>
            <a:endParaRPr lang="en-US" sz="2000"/>
          </a:p>
          <a:p>
            <a:r>
              <a:rPr lang="en-US" sz="2000"/>
              <a:t>     }  }  </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829945"/>
          </a:xfrm>
          <a:prstGeom prst="rect">
            <a:avLst/>
          </a:prstGeom>
          <a:noFill/>
        </p:spPr>
        <p:txBody>
          <a:bodyPr wrap="square" rtlCol="0" anchor="t">
            <a:spAutoFit/>
          </a:bodyPr>
          <a:p>
            <a:r>
              <a:rPr lang="en-US" b="1">
                <a:solidFill>
                  <a:srgbClr val="FF0000"/>
                </a:solidFill>
              </a:rPr>
              <a:t>2) Object and Class Example: Initialization through method :</a:t>
            </a:r>
            <a:endParaRPr lang="en-US" b="1">
              <a:solidFill>
                <a:srgbClr val="FF0000"/>
              </a:solidFill>
            </a:endParaRPr>
          </a:p>
        </p:txBody>
      </p:sp>
      <p:sp>
        <p:nvSpPr>
          <p:cNvPr id="2" name="Text Box 1"/>
          <p:cNvSpPr txBox="1"/>
          <p:nvPr/>
        </p:nvSpPr>
        <p:spPr>
          <a:xfrm>
            <a:off x="421005" y="2287905"/>
            <a:ext cx="8552815" cy="4523105"/>
          </a:xfrm>
          <a:prstGeom prst="rect">
            <a:avLst/>
          </a:prstGeom>
          <a:noFill/>
        </p:spPr>
        <p:txBody>
          <a:bodyPr wrap="square" rtlCol="0" anchor="t">
            <a:spAutoFit/>
          </a:bodyPr>
          <a:p>
            <a:r>
              <a:rPr lang="en-US" b="1"/>
              <a:t>class Student</a:t>
            </a:r>
            <a:endParaRPr lang="en-US" b="1"/>
          </a:p>
          <a:p>
            <a:r>
              <a:rPr lang="en-US" b="1"/>
              <a:t>{  </a:t>
            </a:r>
            <a:endParaRPr lang="en-US" b="1"/>
          </a:p>
          <a:p>
            <a:r>
              <a:rPr lang="en-US" b="1"/>
              <a:t> int rollno;  </a:t>
            </a:r>
            <a:endParaRPr lang="en-US" b="1"/>
          </a:p>
          <a:p>
            <a:r>
              <a:rPr lang="en-US" b="1"/>
              <a:t> String name;  </a:t>
            </a:r>
            <a:endParaRPr lang="en-US" b="1"/>
          </a:p>
          <a:p>
            <a:r>
              <a:rPr lang="en-US" b="1"/>
              <a:t> void insertRecord(int r, String n)</a:t>
            </a:r>
            <a:endParaRPr lang="en-US" b="1"/>
          </a:p>
          <a:p>
            <a:r>
              <a:rPr lang="en-US" b="1"/>
              <a:t>{  </a:t>
            </a:r>
            <a:endParaRPr lang="en-US" b="1"/>
          </a:p>
          <a:p>
            <a:r>
              <a:rPr lang="en-US" b="1"/>
              <a:t>  rollno=r;  </a:t>
            </a:r>
            <a:endParaRPr lang="en-US" b="1"/>
          </a:p>
          <a:p>
            <a:r>
              <a:rPr lang="en-US" b="1"/>
              <a:t>  name=n;  </a:t>
            </a:r>
            <a:endParaRPr lang="en-US" b="1"/>
          </a:p>
          <a:p>
            <a:r>
              <a:rPr lang="en-US" b="1"/>
              <a:t> }  </a:t>
            </a:r>
            <a:endParaRPr lang="en-US" b="1"/>
          </a:p>
          <a:p>
            <a:r>
              <a:rPr lang="en-US" b="1"/>
              <a:t> void displayInformation()</a:t>
            </a:r>
            <a:endParaRPr lang="en-US" b="1"/>
          </a:p>
          <a:p>
            <a:r>
              <a:rPr lang="en-US" b="1"/>
              <a:t>  {System.out.println(rollno+" "+name);}  </a:t>
            </a:r>
            <a:endParaRPr lang="en-US" b="1"/>
          </a:p>
          <a:p>
            <a:r>
              <a:rPr lang="en-US" b="1"/>
              <a:t>}  </a:t>
            </a:r>
            <a:endParaRPr lang="en-US"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21005" y="1938655"/>
            <a:ext cx="8552815" cy="4523105"/>
          </a:xfrm>
          <a:prstGeom prst="rect">
            <a:avLst/>
          </a:prstGeom>
          <a:noFill/>
        </p:spPr>
        <p:txBody>
          <a:bodyPr wrap="square" rtlCol="0" anchor="t">
            <a:spAutoFit/>
          </a:bodyPr>
          <a:p>
            <a:r>
              <a:rPr lang="en-US" b="1"/>
              <a:t>public class TestStudent</a:t>
            </a:r>
            <a:endParaRPr lang="en-US" b="1"/>
          </a:p>
          <a:p>
            <a:r>
              <a:rPr lang="en-US" b="1"/>
              <a:t>{  </a:t>
            </a:r>
            <a:endParaRPr lang="en-US" b="1"/>
          </a:p>
          <a:p>
            <a:r>
              <a:rPr lang="en-US" b="1"/>
              <a:t> public static void main(String args[])</a:t>
            </a:r>
            <a:endParaRPr lang="en-US" b="1"/>
          </a:p>
          <a:p>
            <a:r>
              <a:rPr lang="en-US" b="1"/>
              <a:t> {  </a:t>
            </a:r>
            <a:endParaRPr lang="en-US" b="1"/>
          </a:p>
          <a:p>
            <a:r>
              <a:rPr lang="en-US" b="1"/>
              <a:t>  Student s1=new Student();  </a:t>
            </a:r>
            <a:endParaRPr lang="en-US" b="1"/>
          </a:p>
          <a:p>
            <a:r>
              <a:rPr lang="en-US" b="1"/>
              <a:t>  Student s2=new Student();  </a:t>
            </a:r>
            <a:endParaRPr lang="en-US" b="1"/>
          </a:p>
          <a:p>
            <a:r>
              <a:rPr lang="en-US" b="1"/>
              <a:t>  s1.insertRecord(111,"Karan");  </a:t>
            </a:r>
            <a:endParaRPr lang="en-US" b="1"/>
          </a:p>
          <a:p>
            <a:r>
              <a:rPr lang="en-US" b="1"/>
              <a:t>  s2.insertRecord(222,"Aryan");  </a:t>
            </a:r>
            <a:endParaRPr lang="en-US" b="1"/>
          </a:p>
          <a:p>
            <a:r>
              <a:rPr lang="en-US" b="1"/>
              <a:t>  s1.displayInformation();  </a:t>
            </a:r>
            <a:endParaRPr lang="en-US" b="1"/>
          </a:p>
          <a:p>
            <a:r>
              <a:rPr lang="en-US" b="1"/>
              <a:t>  s2.displayInformation();  </a:t>
            </a:r>
            <a:endParaRPr lang="en-US" b="1"/>
          </a:p>
          <a:p>
            <a:r>
              <a:rPr lang="en-US" b="1"/>
              <a:t> }  </a:t>
            </a:r>
            <a:endParaRPr lang="en-US" b="1"/>
          </a:p>
          <a:p>
            <a:r>
              <a:rPr lang="en-US" b="1"/>
              <a:t>}  </a:t>
            </a:r>
            <a:endParaRPr lang="en-US"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3" name="Picture 2" descr="thisvalue"/>
          <p:cNvPicPr>
            <a:picLocks noChangeAspect="1"/>
          </p:cNvPicPr>
          <p:nvPr/>
        </p:nvPicPr>
        <p:blipFill>
          <a:blip r:embed="rId1"/>
          <a:stretch>
            <a:fillRect/>
          </a:stretch>
        </p:blipFill>
        <p:spPr>
          <a:xfrm>
            <a:off x="842010" y="2159000"/>
            <a:ext cx="7150100" cy="365887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829945"/>
          </a:xfrm>
          <a:prstGeom prst="rect">
            <a:avLst/>
          </a:prstGeom>
          <a:noFill/>
        </p:spPr>
        <p:txBody>
          <a:bodyPr wrap="square" rtlCol="0" anchor="t">
            <a:spAutoFit/>
          </a:bodyPr>
          <a:p>
            <a:r>
              <a:rPr lang="en-US" b="1">
                <a:solidFill>
                  <a:srgbClr val="FF0000"/>
                </a:solidFill>
              </a:rPr>
              <a:t>3) Object and Class Example: Initialization through constructor</a:t>
            </a:r>
            <a:endParaRPr lang="en-US" b="1">
              <a:solidFill>
                <a:srgbClr val="FF0000"/>
              </a:solidFill>
            </a:endParaRPr>
          </a:p>
        </p:txBody>
      </p:sp>
      <p:sp>
        <p:nvSpPr>
          <p:cNvPr id="2" name="Text Box 1"/>
          <p:cNvSpPr txBox="1"/>
          <p:nvPr/>
        </p:nvSpPr>
        <p:spPr>
          <a:xfrm>
            <a:off x="421005" y="2287905"/>
            <a:ext cx="8552815" cy="460375"/>
          </a:xfrm>
          <a:prstGeom prst="rect">
            <a:avLst/>
          </a:prstGeom>
          <a:noFill/>
        </p:spPr>
        <p:txBody>
          <a:bodyPr wrap="square" rtlCol="0" anchor="t">
            <a:spAutoFit/>
          </a:bodyPr>
          <a:p>
            <a:r>
              <a:rPr lang="en-US" b="1"/>
              <a:t>We will learn about constructors in constructor topic later.</a:t>
            </a:r>
            <a:endParaRPr lang="en-US" b="1"/>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Object and Class Example: Employee</a:t>
            </a:r>
            <a:endParaRPr lang="en-US" b="1">
              <a:solidFill>
                <a:srgbClr val="FF0000"/>
              </a:solidFill>
            </a:endParaRPr>
          </a:p>
        </p:txBody>
      </p:sp>
      <p:sp>
        <p:nvSpPr>
          <p:cNvPr id="2" name="Text Box 1"/>
          <p:cNvSpPr txBox="1"/>
          <p:nvPr/>
        </p:nvSpPr>
        <p:spPr>
          <a:xfrm>
            <a:off x="421005" y="2287905"/>
            <a:ext cx="8552815" cy="4523105"/>
          </a:xfrm>
          <a:prstGeom prst="rect">
            <a:avLst/>
          </a:prstGeom>
          <a:noFill/>
        </p:spPr>
        <p:txBody>
          <a:bodyPr wrap="square" rtlCol="0" anchor="t">
            <a:spAutoFit/>
          </a:bodyPr>
          <a:p>
            <a:r>
              <a:rPr lang="en-US" b="1"/>
              <a:t>class Employee{  </a:t>
            </a:r>
            <a:endParaRPr lang="en-US" b="1"/>
          </a:p>
          <a:p>
            <a:r>
              <a:rPr lang="en-US" b="1"/>
              <a:t>    int id;  </a:t>
            </a:r>
            <a:endParaRPr lang="en-US" b="1"/>
          </a:p>
          <a:p>
            <a:r>
              <a:rPr lang="en-US" b="1"/>
              <a:t>    String name;  </a:t>
            </a:r>
            <a:endParaRPr lang="en-US" b="1"/>
          </a:p>
          <a:p>
            <a:r>
              <a:rPr lang="en-US" b="1"/>
              <a:t>    float salary;  </a:t>
            </a:r>
            <a:endParaRPr lang="en-US" b="1"/>
          </a:p>
          <a:p>
            <a:r>
              <a:rPr lang="en-US" b="1"/>
              <a:t>    void insert(int i, String n, float s) {  </a:t>
            </a:r>
            <a:endParaRPr lang="en-US" b="1"/>
          </a:p>
          <a:p>
            <a:r>
              <a:rPr lang="en-US" b="1"/>
              <a:t>        id=i;  </a:t>
            </a:r>
            <a:endParaRPr lang="en-US" b="1"/>
          </a:p>
          <a:p>
            <a:r>
              <a:rPr lang="en-US" b="1"/>
              <a:t>        name=n;  </a:t>
            </a:r>
            <a:endParaRPr lang="en-US" b="1"/>
          </a:p>
          <a:p>
            <a:r>
              <a:rPr lang="en-US" b="1"/>
              <a:t>        salary=s;  </a:t>
            </a:r>
            <a:endParaRPr lang="en-US" b="1"/>
          </a:p>
          <a:p>
            <a:r>
              <a:rPr lang="en-US" b="1"/>
              <a:t>    }  </a:t>
            </a:r>
            <a:endParaRPr lang="en-US" b="1"/>
          </a:p>
          <a:p>
            <a:r>
              <a:rPr lang="en-US" b="1"/>
              <a:t>    void display(){System.out.println(id+" "+name+" "+salary);}  </a:t>
            </a:r>
            <a:endParaRPr lang="en-US" b="1"/>
          </a:p>
          <a:p>
            <a:r>
              <a:rPr lang="en-US" b="1"/>
              <a:t>}  </a:t>
            </a:r>
            <a:endParaRPr lang="en-US" b="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62585" y="1573530"/>
            <a:ext cx="8552815" cy="4892675"/>
          </a:xfrm>
          <a:prstGeom prst="rect">
            <a:avLst/>
          </a:prstGeom>
          <a:noFill/>
        </p:spPr>
        <p:txBody>
          <a:bodyPr wrap="square" rtlCol="0" anchor="t">
            <a:spAutoFit/>
          </a:bodyPr>
          <a:p>
            <a:r>
              <a:rPr lang="en-US" b="1"/>
              <a:t>public class TestEmployee {  </a:t>
            </a:r>
            <a:endParaRPr lang="en-US" b="1"/>
          </a:p>
          <a:p>
            <a:r>
              <a:rPr lang="en-US" b="1"/>
              <a:t>public static void main(String[] args) {  </a:t>
            </a:r>
            <a:endParaRPr lang="en-US" b="1"/>
          </a:p>
          <a:p>
            <a:r>
              <a:rPr lang="en-US" b="1"/>
              <a:t>    Employee e1=new Employee();  </a:t>
            </a:r>
            <a:endParaRPr lang="en-US" b="1"/>
          </a:p>
          <a:p>
            <a:r>
              <a:rPr lang="en-US" b="1"/>
              <a:t>    Employee e2=new Employee();  </a:t>
            </a:r>
            <a:endParaRPr lang="en-US" b="1"/>
          </a:p>
          <a:p>
            <a:r>
              <a:rPr lang="en-US" b="1"/>
              <a:t>    Employee e3=new Employee();  </a:t>
            </a:r>
            <a:endParaRPr lang="en-US" b="1"/>
          </a:p>
          <a:p>
            <a:r>
              <a:rPr lang="en-US" b="1"/>
              <a:t>    e1.insert(101,"ajeet",45000);  </a:t>
            </a:r>
            <a:endParaRPr lang="en-US" b="1"/>
          </a:p>
          <a:p>
            <a:r>
              <a:rPr lang="en-US" b="1"/>
              <a:t>    e2.insert(102,"irfan",25000);  </a:t>
            </a:r>
            <a:endParaRPr lang="en-US" b="1"/>
          </a:p>
          <a:p>
            <a:r>
              <a:rPr lang="en-US" b="1"/>
              <a:t>    e3.insert(103,"nakul",55000);  </a:t>
            </a:r>
            <a:endParaRPr lang="en-US" b="1"/>
          </a:p>
          <a:p>
            <a:r>
              <a:rPr lang="en-US" b="1"/>
              <a:t>    e1.display();  </a:t>
            </a:r>
            <a:endParaRPr lang="en-US" b="1"/>
          </a:p>
          <a:p>
            <a:r>
              <a:rPr lang="en-US" b="1"/>
              <a:t>    e2.display();  </a:t>
            </a:r>
            <a:endParaRPr lang="en-US" b="1"/>
          </a:p>
          <a:p>
            <a:r>
              <a:rPr lang="en-US" b="1"/>
              <a:t>    e3.display();  </a:t>
            </a:r>
            <a:endParaRPr lang="en-US" b="1"/>
          </a:p>
          <a:p>
            <a:r>
              <a:rPr lang="en-US" b="1"/>
              <a:t>}  </a:t>
            </a:r>
            <a:endParaRPr lang="en-US" b="1"/>
          </a:p>
          <a:p>
            <a:r>
              <a:rPr lang="en-US" b="1"/>
              <a:t>}  </a:t>
            </a:r>
            <a:endParaRPr lang="en-US" b="1"/>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Object and Class Example: Rectangle</a:t>
            </a:r>
            <a:endParaRPr lang="en-US" b="1">
              <a:solidFill>
                <a:srgbClr val="FF0000"/>
              </a:solidFill>
            </a:endParaRPr>
          </a:p>
        </p:txBody>
      </p:sp>
      <p:sp>
        <p:nvSpPr>
          <p:cNvPr id="2" name="Text Box 1"/>
          <p:cNvSpPr txBox="1"/>
          <p:nvPr/>
        </p:nvSpPr>
        <p:spPr>
          <a:xfrm>
            <a:off x="421005" y="2287905"/>
            <a:ext cx="8552815" cy="3415030"/>
          </a:xfrm>
          <a:prstGeom prst="rect">
            <a:avLst/>
          </a:prstGeom>
          <a:noFill/>
        </p:spPr>
        <p:txBody>
          <a:bodyPr wrap="square" rtlCol="0" anchor="t">
            <a:spAutoFit/>
          </a:bodyPr>
          <a:p>
            <a:r>
              <a:rPr lang="en-US" b="1"/>
              <a:t>class Rectangle{  </a:t>
            </a:r>
            <a:endParaRPr lang="en-US" b="1"/>
          </a:p>
          <a:p>
            <a:r>
              <a:rPr lang="en-US" b="1"/>
              <a:t> int length;  </a:t>
            </a:r>
            <a:endParaRPr lang="en-US" b="1"/>
          </a:p>
          <a:p>
            <a:r>
              <a:rPr lang="en-US" b="1"/>
              <a:t> int width;  </a:t>
            </a:r>
            <a:endParaRPr lang="en-US" b="1"/>
          </a:p>
          <a:p>
            <a:r>
              <a:rPr lang="en-US" b="1"/>
              <a:t> void insert(int l, int w){  </a:t>
            </a:r>
            <a:endParaRPr lang="en-US" b="1"/>
          </a:p>
          <a:p>
            <a:r>
              <a:rPr lang="en-US" b="1"/>
              <a:t>  length=l;  </a:t>
            </a:r>
            <a:endParaRPr lang="en-US" b="1"/>
          </a:p>
          <a:p>
            <a:r>
              <a:rPr lang="en-US" b="1"/>
              <a:t>  width=w;  </a:t>
            </a:r>
            <a:endParaRPr lang="en-US" b="1"/>
          </a:p>
          <a:p>
            <a:r>
              <a:rPr lang="en-US" b="1"/>
              <a:t> }  </a:t>
            </a:r>
            <a:endParaRPr lang="en-US" b="1"/>
          </a:p>
          <a:p>
            <a:r>
              <a:rPr lang="en-US" b="1"/>
              <a:t> void calculateArea(){System.out.println(length*width);}  </a:t>
            </a:r>
            <a:endParaRPr lang="en-US" b="1"/>
          </a:p>
          <a:p>
            <a:r>
              <a:rPr lang="en-US" b="1"/>
              <a:t>}  </a:t>
            </a:r>
            <a:endParaRPr lang="en-US"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62585" y="1573530"/>
            <a:ext cx="8552815" cy="3784600"/>
          </a:xfrm>
          <a:prstGeom prst="rect">
            <a:avLst/>
          </a:prstGeom>
          <a:noFill/>
        </p:spPr>
        <p:txBody>
          <a:bodyPr wrap="square" rtlCol="0" anchor="t">
            <a:spAutoFit/>
          </a:bodyPr>
          <a:p>
            <a:r>
              <a:rPr lang="en-US" b="1"/>
              <a:t>public class TestRectangle1{  </a:t>
            </a:r>
            <a:endParaRPr lang="en-US" b="1"/>
          </a:p>
          <a:p>
            <a:r>
              <a:rPr lang="en-US" b="1"/>
              <a:t> public static void main(String args[]){  </a:t>
            </a:r>
            <a:endParaRPr lang="en-US" b="1"/>
          </a:p>
          <a:p>
            <a:r>
              <a:rPr lang="en-US" b="1"/>
              <a:t>  Rectangle r1=new Rectangle();  </a:t>
            </a:r>
            <a:endParaRPr lang="en-US" b="1"/>
          </a:p>
          <a:p>
            <a:r>
              <a:rPr lang="en-US" b="1"/>
              <a:t>  Rectangle r2=new Rectangle();  </a:t>
            </a:r>
            <a:endParaRPr lang="en-US" b="1"/>
          </a:p>
          <a:p>
            <a:r>
              <a:rPr lang="en-US" b="1"/>
              <a:t>  r1.insert(11,5);  </a:t>
            </a:r>
            <a:endParaRPr lang="en-US" b="1"/>
          </a:p>
          <a:p>
            <a:r>
              <a:rPr lang="en-US" b="1"/>
              <a:t>  r2.insert(3,15);  </a:t>
            </a:r>
            <a:endParaRPr lang="en-US" b="1"/>
          </a:p>
          <a:p>
            <a:r>
              <a:rPr lang="en-US" b="1"/>
              <a:t>  r1.calculateArea();  </a:t>
            </a:r>
            <a:endParaRPr lang="en-US" b="1"/>
          </a:p>
          <a:p>
            <a:r>
              <a:rPr lang="en-US" b="1"/>
              <a:t>  r2.calculateArea();  </a:t>
            </a:r>
            <a:endParaRPr lang="en-US" b="1"/>
          </a:p>
          <a:p>
            <a:r>
              <a:rPr lang="en-US" b="1"/>
              <a:t>}  </a:t>
            </a:r>
            <a:endParaRPr lang="en-US" b="1"/>
          </a:p>
          <a:p>
            <a:r>
              <a:rPr lang="en-US" b="1"/>
              <a:t>}  </a:t>
            </a:r>
            <a:endParaRPr lang="en-US" b="1"/>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 Initialization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What are the different ways to create an object in Java?</a:t>
            </a:r>
            <a:endParaRPr lang="en-US" b="1">
              <a:solidFill>
                <a:srgbClr val="FF0000"/>
              </a:solidFill>
            </a:endParaRPr>
          </a:p>
        </p:txBody>
      </p:sp>
      <p:sp>
        <p:nvSpPr>
          <p:cNvPr id="2" name="Text Box 1"/>
          <p:cNvSpPr txBox="1"/>
          <p:nvPr/>
        </p:nvSpPr>
        <p:spPr>
          <a:xfrm>
            <a:off x="421005" y="2287905"/>
            <a:ext cx="8552815" cy="3784600"/>
          </a:xfrm>
          <a:prstGeom prst="rect">
            <a:avLst/>
          </a:prstGeom>
          <a:noFill/>
        </p:spPr>
        <p:txBody>
          <a:bodyPr wrap="square" rtlCol="0" anchor="t">
            <a:spAutoFit/>
          </a:bodyPr>
          <a:p>
            <a:r>
              <a:rPr lang="en-US" b="1"/>
              <a:t>There are many ways to create an object in java. They are:</a:t>
            </a:r>
            <a:endParaRPr lang="en-US" b="1"/>
          </a:p>
          <a:p>
            <a:endParaRPr lang="en-US" b="1"/>
          </a:p>
          <a:p>
            <a:pPr marL="342900" indent="-342900">
              <a:buFont typeface="Wingdings" panose="05000000000000000000" charset="0"/>
              <a:buChar char="Ø"/>
            </a:pPr>
            <a:r>
              <a:rPr lang="en-US" b="1"/>
              <a:t>By new keyword</a:t>
            </a:r>
            <a:endParaRPr lang="en-US" b="1"/>
          </a:p>
          <a:p>
            <a:pPr marL="342900" indent="-342900">
              <a:buFont typeface="Wingdings" panose="05000000000000000000" charset="0"/>
              <a:buChar char="Ø"/>
            </a:pPr>
            <a:r>
              <a:rPr lang="en-US" b="1"/>
              <a:t>By newInstance() method</a:t>
            </a:r>
            <a:endParaRPr lang="en-US" b="1"/>
          </a:p>
          <a:p>
            <a:pPr marL="342900" indent="-342900">
              <a:buFont typeface="Wingdings" panose="05000000000000000000" charset="0"/>
              <a:buChar char="Ø"/>
            </a:pPr>
            <a:r>
              <a:rPr lang="en-US" b="1"/>
              <a:t>By clone() method</a:t>
            </a:r>
            <a:endParaRPr lang="en-US" b="1"/>
          </a:p>
          <a:p>
            <a:pPr marL="342900" indent="-342900">
              <a:buFont typeface="Wingdings" panose="05000000000000000000" charset="0"/>
              <a:buChar char="Ø"/>
            </a:pPr>
            <a:r>
              <a:rPr lang="en-US" b="1"/>
              <a:t>By deserialization</a:t>
            </a:r>
            <a:endParaRPr lang="en-US" b="1"/>
          </a:p>
          <a:p>
            <a:pPr marL="342900" indent="-342900">
              <a:buFont typeface="Wingdings" panose="05000000000000000000" charset="0"/>
              <a:buChar char="Ø"/>
            </a:pPr>
            <a:r>
              <a:rPr lang="en-US" b="1"/>
              <a:t>By factory method</a:t>
            </a:r>
            <a:endParaRPr lang="en-US" b="1"/>
          </a:p>
          <a:p>
            <a:endParaRPr lang="en-US" b="1"/>
          </a:p>
          <a:p>
            <a:r>
              <a:rPr lang="en-US" b="1"/>
              <a:t>We will learn these ways to create object later.</a:t>
            </a:r>
            <a:endParaRPr lang="en-US" b="1"/>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Anonymous object :</a:t>
            </a:r>
            <a:endParaRPr lang="en-US" b="1">
              <a:solidFill>
                <a:srgbClr val="FF0000"/>
              </a:solidFill>
            </a:endParaRPr>
          </a:p>
        </p:txBody>
      </p:sp>
      <p:sp>
        <p:nvSpPr>
          <p:cNvPr id="2" name="Text Box 1"/>
          <p:cNvSpPr txBox="1"/>
          <p:nvPr/>
        </p:nvSpPr>
        <p:spPr>
          <a:xfrm>
            <a:off x="421005" y="2287905"/>
            <a:ext cx="8552815" cy="3784600"/>
          </a:xfrm>
          <a:prstGeom prst="rect">
            <a:avLst/>
          </a:prstGeom>
          <a:noFill/>
        </p:spPr>
        <p:txBody>
          <a:bodyPr wrap="square" rtlCol="0" anchor="t">
            <a:spAutoFit/>
          </a:bodyPr>
          <a:p>
            <a:r>
              <a:rPr lang="en-US" b="1"/>
              <a:t>Anonymous simply means nameless. An object which has no reference is known as anonymous object. It can be used at the time of object creation only.</a:t>
            </a:r>
            <a:endParaRPr lang="en-US" b="1"/>
          </a:p>
          <a:p>
            <a:endParaRPr lang="en-US" b="1"/>
          </a:p>
          <a:p>
            <a:r>
              <a:rPr lang="en-US" b="1"/>
              <a:t>If you have to use an object only once, anonymous object is a good approach. For example:</a:t>
            </a:r>
            <a:endParaRPr lang="en-US" b="1"/>
          </a:p>
          <a:p>
            <a:endParaRPr lang="en-US" b="1"/>
          </a:p>
          <a:p>
            <a:r>
              <a:rPr lang="en-US" b="1"/>
              <a:t>    new Calculation();</a:t>
            </a:r>
            <a:r>
              <a:rPr lang="en-US" b="1">
                <a:solidFill>
                  <a:srgbClr val="00B050"/>
                </a:solidFill>
              </a:rPr>
              <a:t>//anonymous object  </a:t>
            </a:r>
            <a:endParaRPr lang="en-US" b="1">
              <a:solidFill>
                <a:srgbClr val="00B050"/>
              </a:solidFill>
            </a:endParaRPr>
          </a:p>
          <a:p>
            <a:endParaRPr lang="en-US" b="1">
              <a:solidFill>
                <a:srgbClr val="00B050"/>
              </a:solidFill>
            </a:endParaRPr>
          </a:p>
          <a:p>
            <a:endParaRPr lang="en-US" b="1">
              <a:solidFill>
                <a:srgbClr val="00B05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Anonymous object :</a:t>
            </a:r>
            <a:endParaRPr lang="en-US" b="1">
              <a:solidFill>
                <a:srgbClr val="FF0000"/>
              </a:solidFill>
            </a:endParaRPr>
          </a:p>
        </p:txBody>
      </p:sp>
      <p:sp>
        <p:nvSpPr>
          <p:cNvPr id="2" name="Text Box 1"/>
          <p:cNvSpPr txBox="1"/>
          <p:nvPr/>
        </p:nvSpPr>
        <p:spPr>
          <a:xfrm>
            <a:off x="421005" y="2287905"/>
            <a:ext cx="8552815" cy="3046095"/>
          </a:xfrm>
          <a:prstGeom prst="rect">
            <a:avLst/>
          </a:prstGeom>
          <a:noFill/>
        </p:spPr>
        <p:txBody>
          <a:bodyPr wrap="square" rtlCol="0" anchor="t">
            <a:spAutoFit/>
          </a:bodyPr>
          <a:p>
            <a:r>
              <a:rPr lang="en-US" b="1">
                <a:solidFill>
                  <a:srgbClr val="00B050"/>
                </a:solidFill>
              </a:rPr>
              <a:t>Calling method through reference:</a:t>
            </a:r>
            <a:endParaRPr lang="en-US" b="1">
              <a:solidFill>
                <a:srgbClr val="00B050"/>
              </a:solidFill>
            </a:endParaRPr>
          </a:p>
          <a:p>
            <a:endParaRPr lang="en-US" b="1"/>
          </a:p>
          <a:p>
            <a:r>
              <a:rPr lang="en-US" b="1"/>
              <a:t>    Calculation c=new Calculation();  </a:t>
            </a:r>
            <a:endParaRPr lang="en-US" b="1"/>
          </a:p>
          <a:p>
            <a:r>
              <a:rPr lang="en-US" b="1"/>
              <a:t>    c.fact(5);  </a:t>
            </a:r>
            <a:endParaRPr lang="en-US" b="1"/>
          </a:p>
          <a:p>
            <a:endParaRPr lang="en-US" b="1"/>
          </a:p>
          <a:p>
            <a:r>
              <a:rPr lang="en-US" b="1">
                <a:solidFill>
                  <a:srgbClr val="00B050"/>
                </a:solidFill>
              </a:rPr>
              <a:t>Calling method through anonymous object:</a:t>
            </a:r>
            <a:endParaRPr lang="en-US" b="1"/>
          </a:p>
          <a:p>
            <a:endParaRPr lang="en-US" b="1"/>
          </a:p>
          <a:p>
            <a:r>
              <a:rPr lang="en-US" b="1"/>
              <a:t>    new Calculation().fact(5);  </a:t>
            </a:r>
            <a:endParaRPr lang="en-US" b="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Anonymous object :</a:t>
            </a:r>
            <a:endParaRPr lang="en-US" b="1">
              <a:solidFill>
                <a:srgbClr val="FF0000"/>
              </a:solidFill>
            </a:endParaRPr>
          </a:p>
        </p:txBody>
      </p:sp>
      <p:sp>
        <p:nvSpPr>
          <p:cNvPr id="2" name="Text Box 1"/>
          <p:cNvSpPr txBox="1"/>
          <p:nvPr/>
        </p:nvSpPr>
        <p:spPr>
          <a:xfrm>
            <a:off x="396875" y="2041525"/>
            <a:ext cx="8426450" cy="4523105"/>
          </a:xfrm>
          <a:prstGeom prst="rect">
            <a:avLst/>
          </a:prstGeom>
          <a:noFill/>
        </p:spPr>
        <p:txBody>
          <a:bodyPr wrap="square" rtlCol="0" anchor="t">
            <a:spAutoFit/>
          </a:bodyPr>
          <a:p>
            <a:r>
              <a:rPr lang="en-US" b="1">
                <a:solidFill>
                  <a:schemeClr val="tx1"/>
                </a:solidFill>
              </a:rPr>
              <a:t>    class Calculation{  </a:t>
            </a:r>
            <a:endParaRPr lang="en-US" b="1">
              <a:solidFill>
                <a:schemeClr val="tx1"/>
              </a:solidFill>
            </a:endParaRPr>
          </a:p>
          <a:p>
            <a:r>
              <a:rPr lang="en-US" b="1">
                <a:solidFill>
                  <a:schemeClr val="tx1"/>
                </a:solidFill>
              </a:rPr>
              <a:t>     void fact(int  n){  </a:t>
            </a:r>
            <a:endParaRPr lang="en-US" b="1">
              <a:solidFill>
                <a:schemeClr val="tx1"/>
              </a:solidFill>
            </a:endParaRPr>
          </a:p>
          <a:p>
            <a:r>
              <a:rPr lang="en-US" b="1">
                <a:solidFill>
                  <a:schemeClr val="tx1"/>
                </a:solidFill>
              </a:rPr>
              <a:t>      int fact=1;  </a:t>
            </a:r>
            <a:endParaRPr lang="en-US" b="1">
              <a:solidFill>
                <a:schemeClr val="tx1"/>
              </a:solidFill>
            </a:endParaRPr>
          </a:p>
          <a:p>
            <a:r>
              <a:rPr lang="en-US" b="1">
                <a:solidFill>
                  <a:schemeClr val="tx1"/>
                </a:solidFill>
              </a:rPr>
              <a:t>      for(int i=1;i&lt;=n;i++){  </a:t>
            </a:r>
            <a:endParaRPr lang="en-US" b="1">
              <a:solidFill>
                <a:schemeClr val="tx1"/>
              </a:solidFill>
            </a:endParaRPr>
          </a:p>
          <a:p>
            <a:r>
              <a:rPr lang="en-US" b="1">
                <a:solidFill>
                  <a:schemeClr val="tx1"/>
                </a:solidFill>
              </a:rPr>
              <a:t>       fact=fact*i;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System.out.println("factorial is "+fact);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public static void main(String args[]){  </a:t>
            </a:r>
            <a:endParaRPr lang="en-US" b="1">
              <a:solidFill>
                <a:schemeClr val="tx1"/>
              </a:solidFill>
            </a:endParaRPr>
          </a:p>
          <a:p>
            <a:r>
              <a:rPr lang="en-US" b="1">
                <a:solidFill>
                  <a:schemeClr val="tx1"/>
                </a:solidFill>
              </a:rPr>
              <a:t>     new Calculation().fact(5);</a:t>
            </a:r>
            <a:r>
              <a:rPr lang="en-US" b="1">
                <a:solidFill>
                  <a:srgbClr val="00B050"/>
                </a:solidFill>
              </a:rPr>
              <a:t>//calling method with anonymous object  </a:t>
            </a:r>
            <a:endParaRPr lang="en-US" b="1">
              <a:solidFill>
                <a:srgbClr val="00B050"/>
              </a:solidFill>
            </a:endParaRPr>
          </a:p>
          <a:p>
            <a:r>
              <a:rPr lang="en-US" b="1">
                <a:solidFill>
                  <a:schemeClr val="tx1"/>
                </a:solidFill>
              </a:rPr>
              <a:t>    }  }  </a:t>
            </a:r>
            <a:endParaRPr lang="en-US" b="1">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Creating multiple objects by one type only :</a:t>
            </a:r>
            <a:endParaRPr lang="en-US" b="1">
              <a:solidFill>
                <a:srgbClr val="FF0000"/>
              </a:solidFill>
            </a:endParaRPr>
          </a:p>
        </p:txBody>
      </p:sp>
      <p:sp>
        <p:nvSpPr>
          <p:cNvPr id="2" name="Text Box 1"/>
          <p:cNvSpPr txBox="1"/>
          <p:nvPr/>
        </p:nvSpPr>
        <p:spPr>
          <a:xfrm>
            <a:off x="396875" y="2041525"/>
            <a:ext cx="8426450" cy="4154170"/>
          </a:xfrm>
          <a:prstGeom prst="rect">
            <a:avLst/>
          </a:prstGeom>
          <a:noFill/>
        </p:spPr>
        <p:txBody>
          <a:bodyPr wrap="square" rtlCol="0" anchor="t">
            <a:spAutoFit/>
          </a:bodyPr>
          <a:p>
            <a:r>
              <a:rPr lang="en-US" b="1">
                <a:solidFill>
                  <a:schemeClr val="tx1"/>
                </a:solidFill>
              </a:rPr>
              <a:t>We can create multiple objects by one type only as we do in case of primitives.</a:t>
            </a:r>
            <a:endParaRPr lang="en-US" b="1">
              <a:solidFill>
                <a:schemeClr val="tx1"/>
              </a:solidFill>
            </a:endParaRPr>
          </a:p>
          <a:p>
            <a:endParaRPr lang="en-US" b="1">
              <a:solidFill>
                <a:schemeClr val="tx1"/>
              </a:solidFill>
            </a:endParaRPr>
          </a:p>
          <a:p>
            <a:r>
              <a:rPr lang="en-US" b="1">
                <a:solidFill>
                  <a:srgbClr val="00B050"/>
                </a:solidFill>
              </a:rPr>
              <a:t>Initialization of primitive variables:</a:t>
            </a:r>
            <a:endParaRPr lang="en-US" b="1">
              <a:solidFill>
                <a:schemeClr val="tx1"/>
              </a:solidFill>
            </a:endParaRPr>
          </a:p>
          <a:p>
            <a:endParaRPr lang="en-US" b="1">
              <a:solidFill>
                <a:schemeClr val="tx1"/>
              </a:solidFill>
            </a:endParaRPr>
          </a:p>
          <a:p>
            <a:r>
              <a:rPr lang="en-US" b="1">
                <a:solidFill>
                  <a:schemeClr val="tx1"/>
                </a:solidFill>
              </a:rPr>
              <a:t>    int a=10, b=20;  </a:t>
            </a:r>
            <a:endParaRPr lang="en-US" b="1">
              <a:solidFill>
                <a:schemeClr val="tx1"/>
              </a:solidFill>
            </a:endParaRPr>
          </a:p>
          <a:p>
            <a:endParaRPr lang="en-US" b="1">
              <a:solidFill>
                <a:schemeClr val="tx1"/>
              </a:solidFill>
            </a:endParaRPr>
          </a:p>
          <a:p>
            <a:r>
              <a:rPr lang="en-US" b="1">
                <a:solidFill>
                  <a:srgbClr val="00B050"/>
                </a:solidFill>
              </a:rPr>
              <a:t>Initialization of refernce variables:</a:t>
            </a:r>
            <a:endParaRPr lang="en-US" b="1">
              <a:solidFill>
                <a:schemeClr val="tx1"/>
              </a:solidFill>
            </a:endParaRPr>
          </a:p>
          <a:p>
            <a:endParaRPr lang="en-US" b="1">
              <a:solidFill>
                <a:schemeClr val="tx1"/>
              </a:solidFill>
            </a:endParaRPr>
          </a:p>
          <a:p>
            <a:r>
              <a:rPr lang="en-US" b="1">
                <a:solidFill>
                  <a:schemeClr val="tx1"/>
                </a:solidFill>
              </a:rPr>
              <a:t>Rectangle r1=new Rectangle(), r2=new Rectangle(); </a:t>
            </a:r>
            <a:r>
              <a:rPr lang="en-US" b="1">
                <a:solidFill>
                  <a:srgbClr val="00B050"/>
                </a:solidFill>
              </a:rPr>
              <a:t>//creating two objects  </a:t>
            </a:r>
            <a:endParaRPr lang="en-US" b="1">
              <a:solidFill>
                <a:srgbClr val="00B05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8775" y="1303020"/>
            <a:ext cx="8426450" cy="5631180"/>
          </a:xfrm>
          <a:prstGeom prst="rect">
            <a:avLst/>
          </a:prstGeom>
          <a:noFill/>
        </p:spPr>
        <p:txBody>
          <a:bodyPr wrap="square" rtlCol="0" anchor="t">
            <a:spAutoFit/>
          </a:bodyPr>
          <a:p>
            <a:r>
              <a:rPr lang="en-US" b="1">
                <a:solidFill>
                  <a:schemeClr val="tx1"/>
                </a:solidFill>
              </a:rPr>
              <a:t>    class Rectangle</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int length;  </a:t>
            </a:r>
            <a:endParaRPr lang="en-US" b="1">
              <a:solidFill>
                <a:schemeClr val="tx1"/>
              </a:solidFill>
            </a:endParaRPr>
          </a:p>
          <a:p>
            <a:r>
              <a:rPr lang="en-US" b="1">
                <a:solidFill>
                  <a:schemeClr val="tx1"/>
                </a:solidFill>
              </a:rPr>
              <a:t>     int width;  </a:t>
            </a:r>
            <a:endParaRPr lang="en-US" b="1">
              <a:solidFill>
                <a:schemeClr val="tx1"/>
              </a:solidFill>
            </a:endParaRPr>
          </a:p>
          <a:p>
            <a:r>
              <a:rPr lang="en-US" b="1">
                <a:solidFill>
                  <a:schemeClr val="tx1"/>
                </a:solidFill>
              </a:rPr>
              <a:t>     void insert(int l,int w)</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length=l;  </a:t>
            </a:r>
            <a:endParaRPr lang="en-US" b="1">
              <a:solidFill>
                <a:schemeClr val="tx1"/>
              </a:solidFill>
            </a:endParaRPr>
          </a:p>
          <a:p>
            <a:r>
              <a:rPr lang="en-US" b="1">
                <a:solidFill>
                  <a:schemeClr val="tx1"/>
                </a:solidFill>
              </a:rPr>
              <a:t>      width=w;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void calculateArea()</a:t>
            </a:r>
            <a:endParaRPr lang="en-US" b="1">
              <a:solidFill>
                <a:schemeClr val="tx1"/>
              </a:solidFill>
            </a:endParaRPr>
          </a:p>
          <a:p>
            <a:r>
              <a:rPr lang="en-US" b="1">
                <a:solidFill>
                  <a:schemeClr val="tx1"/>
                </a:solidFill>
              </a:rPr>
              <a:t>     {</a:t>
            </a:r>
            <a:endParaRPr lang="en-US" b="1">
              <a:solidFill>
                <a:schemeClr val="tx1"/>
              </a:solidFill>
            </a:endParaRPr>
          </a:p>
          <a:p>
            <a:r>
              <a:rPr lang="en-US" b="1">
                <a:solidFill>
                  <a:schemeClr val="tx1"/>
                </a:solidFill>
              </a:rPr>
              <a:t>        System.out.println(length*width);</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    </a:t>
            </a:r>
            <a:endParaRPr lang="en-US" b="1">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60020" y="1303020"/>
            <a:ext cx="8625205" cy="5262245"/>
          </a:xfrm>
          <a:prstGeom prst="rect">
            <a:avLst/>
          </a:prstGeom>
          <a:noFill/>
        </p:spPr>
        <p:txBody>
          <a:bodyPr wrap="square" rtlCol="0" anchor="t">
            <a:spAutoFit/>
          </a:bodyPr>
          <a:p>
            <a:endParaRPr lang="en-US" b="1">
              <a:sym typeface="+mn-ea"/>
            </a:endParaRPr>
          </a:p>
          <a:p>
            <a:endParaRPr lang="en-US" b="1">
              <a:sym typeface="+mn-ea"/>
            </a:endParaRPr>
          </a:p>
          <a:p>
            <a:r>
              <a:rPr lang="en-US" b="1">
                <a:sym typeface="+mn-ea"/>
              </a:rPr>
              <a:t>public class TestRectangle</a:t>
            </a:r>
            <a:endParaRPr lang="en-US" b="1">
              <a:sym typeface="+mn-ea"/>
            </a:endParaRPr>
          </a:p>
          <a:p>
            <a:r>
              <a:rPr lang="en-US" b="1">
                <a:sym typeface="+mn-ea"/>
              </a:rPr>
              <a:t>{  </a:t>
            </a:r>
            <a:endParaRPr lang="en-US" b="1">
              <a:solidFill>
                <a:schemeClr val="tx1"/>
              </a:solidFill>
            </a:endParaRPr>
          </a:p>
          <a:p>
            <a:r>
              <a:rPr lang="en-US" b="1">
                <a:sym typeface="+mn-ea"/>
              </a:rPr>
              <a:t>     public static void main(String args[])</a:t>
            </a:r>
            <a:endParaRPr lang="en-US" b="1">
              <a:sym typeface="+mn-ea"/>
            </a:endParaRPr>
          </a:p>
          <a:p>
            <a:r>
              <a:rPr lang="en-US" b="1">
                <a:sym typeface="+mn-ea"/>
              </a:rPr>
              <a:t>     {  </a:t>
            </a:r>
            <a:endParaRPr lang="en-US" b="1">
              <a:solidFill>
                <a:schemeClr val="tx1"/>
              </a:solidFill>
            </a:endParaRPr>
          </a:p>
          <a:p>
            <a:r>
              <a:rPr lang="en-US" b="1">
                <a:sym typeface="+mn-ea"/>
              </a:rPr>
              <a:t>      Rectangle r1=new Rectangle(),r2=new Rectangle();      </a:t>
            </a:r>
            <a:endParaRPr lang="en-US" b="1">
              <a:solidFill>
                <a:srgbClr val="00B050"/>
              </a:solidFill>
              <a:sym typeface="+mn-ea"/>
            </a:endParaRPr>
          </a:p>
          <a:p>
            <a:r>
              <a:rPr lang="en-US" b="1">
                <a:sym typeface="+mn-ea"/>
              </a:rPr>
              <a:t>      </a:t>
            </a:r>
            <a:r>
              <a:rPr lang="en-US" b="1">
                <a:solidFill>
                  <a:srgbClr val="00B050"/>
                </a:solidFill>
                <a:sym typeface="+mn-ea"/>
              </a:rPr>
              <a:t>//creating two objects </a:t>
            </a:r>
            <a:r>
              <a:rPr lang="en-US" b="1">
                <a:sym typeface="+mn-ea"/>
              </a:rPr>
              <a:t> </a:t>
            </a:r>
            <a:endParaRPr lang="en-US" b="1">
              <a:solidFill>
                <a:schemeClr val="tx1"/>
              </a:solidFill>
            </a:endParaRPr>
          </a:p>
          <a:p>
            <a:r>
              <a:rPr lang="en-US" b="1">
                <a:sym typeface="+mn-ea"/>
              </a:rPr>
              <a:t>      r1.insert(11,5);  </a:t>
            </a:r>
            <a:endParaRPr lang="en-US" b="1">
              <a:solidFill>
                <a:schemeClr val="tx1"/>
              </a:solidFill>
            </a:endParaRPr>
          </a:p>
          <a:p>
            <a:r>
              <a:rPr lang="en-US" b="1">
                <a:sym typeface="+mn-ea"/>
              </a:rPr>
              <a:t>      r2.insert(3,15);  </a:t>
            </a:r>
            <a:endParaRPr lang="en-US" b="1">
              <a:solidFill>
                <a:schemeClr val="tx1"/>
              </a:solidFill>
            </a:endParaRPr>
          </a:p>
          <a:p>
            <a:r>
              <a:rPr lang="en-US" b="1">
                <a:sym typeface="+mn-ea"/>
              </a:rPr>
              <a:t>      r1.calculateArea();  </a:t>
            </a:r>
            <a:endParaRPr lang="en-US" b="1">
              <a:solidFill>
                <a:schemeClr val="tx1"/>
              </a:solidFill>
            </a:endParaRPr>
          </a:p>
          <a:p>
            <a:r>
              <a:rPr lang="en-US" b="1">
                <a:sym typeface="+mn-ea"/>
              </a:rPr>
              <a:t>      r2.calculateArea();  </a:t>
            </a:r>
            <a:endParaRPr lang="en-US" b="1">
              <a:solidFill>
                <a:schemeClr val="tx1"/>
              </a:solidFill>
            </a:endParaRPr>
          </a:p>
          <a:p>
            <a:r>
              <a:rPr lang="en-US" b="1">
                <a:sym typeface="+mn-ea"/>
              </a:rPr>
              <a:t>    }  </a:t>
            </a:r>
            <a:endParaRPr lang="en-US" b="1">
              <a:solidFill>
                <a:schemeClr val="tx1"/>
              </a:solidFill>
            </a:endParaRPr>
          </a:p>
          <a:p>
            <a:r>
              <a:rPr lang="en-US" b="1">
                <a:sym typeface="+mn-ea"/>
              </a:rPr>
              <a:t> }  </a:t>
            </a:r>
            <a:endParaRPr lang="en-US" b="1">
              <a:solidFill>
                <a:schemeClr val="tx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800" y="1457325"/>
            <a:ext cx="8610600" cy="460375"/>
          </a:xfrm>
          <a:prstGeom prst="rect">
            <a:avLst/>
          </a:prstGeom>
          <a:noFill/>
        </p:spPr>
        <p:txBody>
          <a:bodyPr wrap="square" rtlCol="0" anchor="t">
            <a:spAutoFit/>
          </a:bodyPr>
          <a:p>
            <a:r>
              <a:rPr lang="en-US" b="1">
                <a:solidFill>
                  <a:srgbClr val="FF0000"/>
                </a:solidFill>
              </a:rPr>
              <a:t>Real World Example: Account</a:t>
            </a:r>
            <a:endParaRPr lang="en-US" b="1">
              <a:solidFill>
                <a:srgbClr val="FF0000"/>
              </a:solidFill>
            </a:endParaRPr>
          </a:p>
        </p:txBody>
      </p:sp>
      <p:sp>
        <p:nvSpPr>
          <p:cNvPr id="2" name="Text Box 1"/>
          <p:cNvSpPr txBox="1"/>
          <p:nvPr/>
        </p:nvSpPr>
        <p:spPr>
          <a:xfrm>
            <a:off x="396875" y="2041525"/>
            <a:ext cx="8426450" cy="3415030"/>
          </a:xfrm>
          <a:prstGeom prst="rect">
            <a:avLst/>
          </a:prstGeom>
          <a:noFill/>
        </p:spPr>
        <p:txBody>
          <a:bodyPr wrap="square" rtlCol="0" anchor="t">
            <a:spAutoFit/>
          </a:bodyPr>
          <a:p>
            <a:r>
              <a:rPr lang="en-US" b="1">
                <a:solidFill>
                  <a:schemeClr val="tx1"/>
                </a:solidFill>
              </a:rPr>
              <a:t>class Account{  </a:t>
            </a:r>
            <a:endParaRPr lang="en-US" b="1">
              <a:solidFill>
                <a:schemeClr val="tx1"/>
              </a:solidFill>
            </a:endParaRPr>
          </a:p>
          <a:p>
            <a:r>
              <a:rPr lang="en-US" b="1">
                <a:solidFill>
                  <a:schemeClr val="tx1"/>
                </a:solidFill>
              </a:rPr>
              <a:t>int acc_no;  </a:t>
            </a:r>
            <a:endParaRPr lang="en-US" b="1">
              <a:solidFill>
                <a:schemeClr val="tx1"/>
              </a:solidFill>
            </a:endParaRPr>
          </a:p>
          <a:p>
            <a:r>
              <a:rPr lang="en-US" b="1">
                <a:solidFill>
                  <a:schemeClr val="tx1"/>
                </a:solidFill>
              </a:rPr>
              <a:t>String name;  </a:t>
            </a:r>
            <a:endParaRPr lang="en-US" b="1">
              <a:solidFill>
                <a:schemeClr val="tx1"/>
              </a:solidFill>
            </a:endParaRPr>
          </a:p>
          <a:p>
            <a:r>
              <a:rPr lang="en-US" b="1">
                <a:solidFill>
                  <a:schemeClr val="tx1"/>
                </a:solidFill>
              </a:rPr>
              <a:t>float amount;  </a:t>
            </a:r>
            <a:endParaRPr lang="en-US" b="1">
              <a:solidFill>
                <a:schemeClr val="tx1"/>
              </a:solidFill>
            </a:endParaRPr>
          </a:p>
          <a:p>
            <a:r>
              <a:rPr lang="en-US" b="1">
                <a:solidFill>
                  <a:schemeClr val="tx1"/>
                </a:solidFill>
              </a:rPr>
              <a:t>void insert(int a,String n,float amt){  </a:t>
            </a:r>
            <a:endParaRPr lang="en-US" b="1">
              <a:solidFill>
                <a:schemeClr val="tx1"/>
              </a:solidFill>
            </a:endParaRPr>
          </a:p>
          <a:p>
            <a:r>
              <a:rPr lang="en-US" b="1">
                <a:solidFill>
                  <a:schemeClr val="tx1"/>
                </a:solidFill>
              </a:rPr>
              <a:t>acc_no=a;  </a:t>
            </a:r>
            <a:endParaRPr lang="en-US" b="1">
              <a:solidFill>
                <a:schemeClr val="tx1"/>
              </a:solidFill>
            </a:endParaRPr>
          </a:p>
          <a:p>
            <a:r>
              <a:rPr lang="en-US" b="1">
                <a:solidFill>
                  <a:schemeClr val="tx1"/>
                </a:solidFill>
              </a:rPr>
              <a:t>name=n;  </a:t>
            </a:r>
            <a:endParaRPr lang="en-US" b="1">
              <a:solidFill>
                <a:schemeClr val="tx1"/>
              </a:solidFill>
            </a:endParaRPr>
          </a:p>
          <a:p>
            <a:r>
              <a:rPr lang="en-US" b="1">
                <a:solidFill>
                  <a:schemeClr val="tx1"/>
                </a:solidFill>
              </a:rPr>
              <a:t>amount=amt;  </a:t>
            </a:r>
            <a:endParaRPr lang="en-US" b="1">
              <a:solidFill>
                <a:schemeClr val="tx1"/>
              </a:solidFill>
            </a:endParaRPr>
          </a:p>
          <a:p>
            <a:r>
              <a:rPr lang="en-US" b="1">
                <a:solidFill>
                  <a:schemeClr val="tx1"/>
                </a:solidFill>
              </a:rPr>
              <a:t>}  </a:t>
            </a:r>
            <a:endParaRPr lang="en-US" b="1">
              <a:solidFill>
                <a:schemeClr val="tx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8775" y="1271270"/>
            <a:ext cx="8426450" cy="5631180"/>
          </a:xfrm>
          <a:prstGeom prst="rect">
            <a:avLst/>
          </a:prstGeom>
          <a:noFill/>
        </p:spPr>
        <p:txBody>
          <a:bodyPr wrap="square" rtlCol="0" anchor="t">
            <a:spAutoFit/>
          </a:bodyPr>
          <a:p>
            <a:r>
              <a:rPr lang="en-US" b="1">
                <a:solidFill>
                  <a:schemeClr val="tx1"/>
                </a:solidFill>
              </a:rPr>
              <a:t>void deposit(float amt){  </a:t>
            </a:r>
            <a:endParaRPr lang="en-US" b="1">
              <a:solidFill>
                <a:schemeClr val="tx1"/>
              </a:solidFill>
            </a:endParaRPr>
          </a:p>
          <a:p>
            <a:r>
              <a:rPr lang="en-US" b="1">
                <a:solidFill>
                  <a:schemeClr val="tx1"/>
                </a:solidFill>
              </a:rPr>
              <a:t>amount=amount+amt;  </a:t>
            </a:r>
            <a:endParaRPr lang="en-US" b="1">
              <a:solidFill>
                <a:schemeClr val="tx1"/>
              </a:solidFill>
            </a:endParaRPr>
          </a:p>
          <a:p>
            <a:r>
              <a:rPr lang="en-US" b="1">
                <a:solidFill>
                  <a:schemeClr val="tx1"/>
                </a:solidFill>
              </a:rPr>
              <a:t>System.out.println(amt+" deposited");  }  </a:t>
            </a:r>
            <a:endParaRPr lang="en-US" b="1">
              <a:solidFill>
                <a:schemeClr val="tx1"/>
              </a:solidFill>
            </a:endParaRPr>
          </a:p>
          <a:p>
            <a:r>
              <a:rPr lang="en-US" b="1">
                <a:solidFill>
                  <a:schemeClr val="tx1"/>
                </a:solidFill>
              </a:rPr>
              <a:t>void withdraw(float amt){  </a:t>
            </a:r>
            <a:endParaRPr lang="en-US" b="1">
              <a:solidFill>
                <a:schemeClr val="tx1"/>
              </a:solidFill>
            </a:endParaRPr>
          </a:p>
          <a:p>
            <a:r>
              <a:rPr lang="en-US" b="1">
                <a:solidFill>
                  <a:schemeClr val="tx1"/>
                </a:solidFill>
              </a:rPr>
              <a:t>if(amount&lt;amt){  </a:t>
            </a:r>
            <a:endParaRPr lang="en-US" b="1">
              <a:solidFill>
                <a:schemeClr val="tx1"/>
              </a:solidFill>
            </a:endParaRPr>
          </a:p>
          <a:p>
            <a:r>
              <a:rPr lang="en-US" b="1">
                <a:solidFill>
                  <a:schemeClr val="tx1"/>
                </a:solidFill>
              </a:rPr>
              <a:t>System.out.println("Insufficient Balance");  </a:t>
            </a:r>
            <a:endParaRPr lang="en-US" b="1">
              <a:solidFill>
                <a:schemeClr val="tx1"/>
              </a:solidFill>
            </a:endParaRPr>
          </a:p>
          <a:p>
            <a:r>
              <a:rPr lang="en-US" b="1">
                <a:solidFill>
                  <a:schemeClr val="tx1"/>
                </a:solidFill>
              </a:rPr>
              <a:t>}else{  </a:t>
            </a:r>
            <a:endParaRPr lang="en-US" b="1">
              <a:solidFill>
                <a:schemeClr val="tx1"/>
              </a:solidFill>
            </a:endParaRPr>
          </a:p>
          <a:p>
            <a:r>
              <a:rPr lang="en-US" b="1">
                <a:solidFill>
                  <a:schemeClr val="tx1"/>
                </a:solidFill>
              </a:rPr>
              <a:t>amount=amount - amt;  </a:t>
            </a:r>
            <a:endParaRPr lang="en-US" b="1">
              <a:solidFill>
                <a:schemeClr val="tx1"/>
              </a:solidFill>
            </a:endParaRPr>
          </a:p>
          <a:p>
            <a:r>
              <a:rPr lang="en-US" b="1">
                <a:solidFill>
                  <a:schemeClr val="tx1"/>
                </a:solidFill>
              </a:rPr>
              <a:t>System.out.println(amt+" withdrawn");  </a:t>
            </a:r>
            <a:endParaRPr lang="en-US" b="1">
              <a:solidFill>
                <a:schemeClr val="tx1"/>
              </a:solidFill>
            </a:endParaRPr>
          </a:p>
          <a:p>
            <a:r>
              <a:rPr lang="en-US" b="1">
                <a:solidFill>
                  <a:schemeClr val="tx1"/>
                </a:solidFill>
              </a:rPr>
              <a:t>} }  </a:t>
            </a:r>
            <a:endParaRPr lang="en-US" b="1">
              <a:solidFill>
                <a:schemeClr val="tx1"/>
              </a:solidFill>
            </a:endParaRPr>
          </a:p>
          <a:p>
            <a:r>
              <a:rPr lang="en-US" b="1">
                <a:solidFill>
                  <a:schemeClr val="tx1"/>
                </a:solidFill>
              </a:rPr>
              <a:t>void checkBalance(){System.out.println("Balance is: "+amount);}  </a:t>
            </a:r>
            <a:endParaRPr lang="en-US" b="1">
              <a:solidFill>
                <a:schemeClr val="tx1"/>
              </a:solidFill>
            </a:endParaRPr>
          </a:p>
          <a:p>
            <a:r>
              <a:rPr lang="en-US" b="1">
                <a:solidFill>
                  <a:schemeClr val="tx1"/>
                </a:solidFill>
              </a:rPr>
              <a:t>void display(){System.out.println(acc_no+" "+name+" "+amount);}  </a:t>
            </a:r>
            <a:endParaRPr lang="en-US" b="1">
              <a:solidFill>
                <a:schemeClr val="tx1"/>
              </a:solidFill>
            </a:endParaRPr>
          </a:p>
          <a:p>
            <a:r>
              <a:rPr lang="en-US" b="1">
                <a:solidFill>
                  <a:schemeClr val="tx1"/>
                </a:solidFill>
              </a:rPr>
              <a:t>}  </a:t>
            </a:r>
            <a:endParaRPr lang="en-US" b="1">
              <a:solidFill>
                <a:schemeClr val="tx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8494395"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Object</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8775" y="1271270"/>
            <a:ext cx="8426450" cy="5262245"/>
          </a:xfrm>
          <a:prstGeom prst="rect">
            <a:avLst/>
          </a:prstGeom>
          <a:noFill/>
        </p:spPr>
        <p:txBody>
          <a:bodyPr wrap="square" rtlCol="0" anchor="t">
            <a:spAutoFit/>
          </a:bodyPr>
          <a:p>
            <a:r>
              <a:rPr lang="en-US" b="1">
                <a:solidFill>
                  <a:schemeClr val="tx1"/>
                </a:solidFill>
              </a:rPr>
              <a:t>public class TestAccount</a:t>
            </a:r>
            <a:endParaRPr lang="en-US" b="1">
              <a:solidFill>
                <a:schemeClr val="tx1"/>
              </a:solidFill>
            </a:endParaRPr>
          </a:p>
          <a:p>
            <a:r>
              <a:rPr lang="en-US" b="1">
                <a:solidFill>
                  <a:schemeClr val="tx1"/>
                </a:solidFill>
              </a:rPr>
              <a:t>{  </a:t>
            </a:r>
            <a:endParaRPr lang="en-US" b="1">
              <a:solidFill>
                <a:schemeClr val="tx1"/>
              </a:solidFill>
            </a:endParaRPr>
          </a:p>
          <a:p>
            <a:r>
              <a:rPr lang="en-US" b="1">
                <a:solidFill>
                  <a:schemeClr val="tx1"/>
                </a:solidFill>
              </a:rPr>
              <a:t>public static void main(String[] args)</a:t>
            </a:r>
            <a:endParaRPr lang="en-US" b="1">
              <a:solidFill>
                <a:schemeClr val="tx1"/>
              </a:solidFill>
            </a:endParaRPr>
          </a:p>
          <a:p>
            <a:r>
              <a:rPr lang="en-US" b="1">
                <a:solidFill>
                  <a:schemeClr val="tx1"/>
                </a:solidFill>
              </a:rPr>
              <a:t>{  </a:t>
            </a:r>
            <a:endParaRPr lang="en-US" b="1">
              <a:solidFill>
                <a:schemeClr val="tx1"/>
              </a:solidFill>
            </a:endParaRPr>
          </a:p>
          <a:p>
            <a:r>
              <a:rPr lang="en-US" b="1">
                <a:solidFill>
                  <a:schemeClr val="tx1"/>
                </a:solidFill>
              </a:rPr>
              <a:t>Account a1=new Account();  </a:t>
            </a:r>
            <a:endParaRPr lang="en-US" b="1">
              <a:solidFill>
                <a:schemeClr val="tx1"/>
              </a:solidFill>
            </a:endParaRPr>
          </a:p>
          <a:p>
            <a:r>
              <a:rPr lang="en-US" b="1">
                <a:solidFill>
                  <a:schemeClr val="tx1"/>
                </a:solidFill>
              </a:rPr>
              <a:t>a1.insert(832345,"Ankit",1000);  </a:t>
            </a:r>
            <a:endParaRPr lang="en-US" b="1">
              <a:solidFill>
                <a:schemeClr val="tx1"/>
              </a:solidFill>
            </a:endParaRPr>
          </a:p>
          <a:p>
            <a:r>
              <a:rPr lang="en-US" b="1">
                <a:solidFill>
                  <a:schemeClr val="tx1"/>
                </a:solidFill>
              </a:rPr>
              <a:t>a1.display();  </a:t>
            </a:r>
            <a:endParaRPr lang="en-US" b="1">
              <a:solidFill>
                <a:schemeClr val="tx1"/>
              </a:solidFill>
            </a:endParaRPr>
          </a:p>
          <a:p>
            <a:r>
              <a:rPr lang="en-US" b="1">
                <a:solidFill>
                  <a:schemeClr val="tx1"/>
                </a:solidFill>
              </a:rPr>
              <a:t>a1.checkBalance();  </a:t>
            </a:r>
            <a:endParaRPr lang="en-US" b="1">
              <a:solidFill>
                <a:schemeClr val="tx1"/>
              </a:solidFill>
            </a:endParaRPr>
          </a:p>
          <a:p>
            <a:r>
              <a:rPr lang="en-US" b="1">
                <a:solidFill>
                  <a:schemeClr val="tx1"/>
                </a:solidFill>
              </a:rPr>
              <a:t>a1.deposit(40000);  </a:t>
            </a:r>
            <a:endParaRPr lang="en-US" b="1">
              <a:solidFill>
                <a:schemeClr val="tx1"/>
              </a:solidFill>
            </a:endParaRPr>
          </a:p>
          <a:p>
            <a:r>
              <a:rPr lang="en-US" b="1">
                <a:solidFill>
                  <a:schemeClr val="tx1"/>
                </a:solidFill>
              </a:rPr>
              <a:t>a1.checkBalance();  </a:t>
            </a:r>
            <a:endParaRPr lang="en-US" b="1">
              <a:solidFill>
                <a:schemeClr val="tx1"/>
              </a:solidFill>
            </a:endParaRPr>
          </a:p>
          <a:p>
            <a:r>
              <a:rPr lang="en-US" b="1">
                <a:solidFill>
                  <a:schemeClr val="tx1"/>
                </a:solidFill>
              </a:rPr>
              <a:t>a1.withdraw(15000);  </a:t>
            </a:r>
            <a:endParaRPr lang="en-US" b="1">
              <a:solidFill>
                <a:schemeClr val="tx1"/>
              </a:solidFill>
            </a:endParaRPr>
          </a:p>
          <a:p>
            <a:r>
              <a:rPr lang="en-US" b="1">
                <a:solidFill>
                  <a:schemeClr val="tx1"/>
                </a:solidFill>
              </a:rPr>
              <a:t>a1.checkBalance();  </a:t>
            </a:r>
            <a:endParaRPr lang="en-US" b="1">
              <a:solidFill>
                <a:schemeClr val="tx1"/>
              </a:solidFill>
            </a:endParaRPr>
          </a:p>
          <a:p>
            <a:r>
              <a:rPr lang="en-US" b="1">
                <a:solidFill>
                  <a:schemeClr val="tx1"/>
                </a:solidFill>
              </a:rPr>
              <a:t>}</a:t>
            </a:r>
            <a:endParaRPr lang="en-US" b="1">
              <a:solidFill>
                <a:schemeClr val="tx1"/>
              </a:solidFill>
            </a:endParaRPr>
          </a:p>
          <a:p>
            <a:r>
              <a:rPr lang="en-US" b="1">
                <a:solidFill>
                  <a:schemeClr val="tx1"/>
                </a:solidFill>
              </a:rPr>
              <a:t>}   </a:t>
            </a:r>
            <a:endParaRPr lang="en-US" b="1">
              <a:solidFill>
                <a:schemeClr val="tx1"/>
              </a:solidFill>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16513</Words>
  <Application>WPS Presentation</Application>
  <PresentationFormat/>
  <Paragraphs>675</Paragraphs>
  <Slides>56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56</vt:i4>
      </vt:variant>
    </vt:vector>
  </HeadingPairs>
  <TitlesOfParts>
    <vt:vector size="66" baseType="lpstr">
      <vt:lpstr>Arial</vt:lpstr>
      <vt:lpstr>SimSun</vt:lpstr>
      <vt:lpstr>Wingdings</vt:lpstr>
      <vt:lpstr>Times New Roman</vt:lpstr>
      <vt:lpstr>Impact</vt:lpstr>
      <vt:lpstr>Microsoft YaHei</vt:lpstr>
      <vt:lpstr>Arial Unicode MS</vt:lpstr>
      <vt:lpstr>Calibri</vt:lpstr>
      <vt:lpstr>Wingdings</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368</cp:revision>
  <dcterms:created xsi:type="dcterms:W3CDTF">2001-06-04T11:43:00Z</dcterms:created>
  <dcterms:modified xsi:type="dcterms:W3CDTF">2018-08-08T11:46:29Z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1033-10.2.0.7439</vt:lpwstr>
  </property>
</Properties>
</file>