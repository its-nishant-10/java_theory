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59"/>
  </p:handoutMasterIdLst>
  <p:sldIdLst>
    <p:sldId id="258" r:id="rId3"/>
    <p:sldId id="389" r:id="rId4"/>
    <p:sldId id="390" r:id="rId5"/>
    <p:sldId id="391" r:id="rId6"/>
    <p:sldId id="392" r:id="rId7"/>
    <p:sldId id="393" r:id="rId8"/>
    <p:sldId id="394" r:id="rId9"/>
    <p:sldId id="395" r:id="rId10"/>
    <p:sldId id="396" r:id="rId11"/>
    <p:sldId id="397" r:id="rId12"/>
    <p:sldId id="398" r:id="rId13"/>
    <p:sldId id="399" r:id="rId14"/>
    <p:sldId id="400" r:id="rId15"/>
    <p:sldId id="401" r:id="rId16"/>
    <p:sldId id="402" r:id="rId17"/>
    <p:sldId id="403" r:id="rId18"/>
    <p:sldId id="404" r:id="rId19"/>
    <p:sldId id="405" r:id="rId20"/>
    <p:sldId id="406" r:id="rId22"/>
    <p:sldId id="407" r:id="rId23"/>
    <p:sldId id="408" r:id="rId24"/>
    <p:sldId id="409" r:id="rId25"/>
    <p:sldId id="410" r:id="rId26"/>
    <p:sldId id="411" r:id="rId27"/>
    <p:sldId id="413" r:id="rId28"/>
    <p:sldId id="414" r:id="rId29"/>
    <p:sldId id="415" r:id="rId30"/>
    <p:sldId id="417" r:id="rId31"/>
    <p:sldId id="416" r:id="rId32"/>
    <p:sldId id="418" r:id="rId33"/>
    <p:sldId id="419" r:id="rId34"/>
    <p:sldId id="420" r:id="rId35"/>
    <p:sldId id="421" r:id="rId36"/>
    <p:sldId id="422" r:id="rId37"/>
    <p:sldId id="423" r:id="rId38"/>
    <p:sldId id="424" r:id="rId39"/>
    <p:sldId id="425" r:id="rId40"/>
    <p:sldId id="426" r:id="rId41"/>
    <p:sldId id="427" r:id="rId42"/>
    <p:sldId id="429" r:id="rId43"/>
    <p:sldId id="430" r:id="rId44"/>
    <p:sldId id="431" r:id="rId45"/>
    <p:sldId id="432" r:id="rId46"/>
    <p:sldId id="433" r:id="rId47"/>
    <p:sldId id="434" r:id="rId48"/>
    <p:sldId id="435" r:id="rId49"/>
    <p:sldId id="436" r:id="rId50"/>
    <p:sldId id="437" r:id="rId51"/>
    <p:sldId id="438" r:id="rId52"/>
    <p:sldId id="439" r:id="rId53"/>
    <p:sldId id="440" r:id="rId54"/>
    <p:sldId id="441" r:id="rId55"/>
    <p:sldId id="442" r:id="rId56"/>
    <p:sldId id="443" r:id="rId57"/>
    <p:sldId id="444" r:id="rId58"/>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14"/>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handoutMaster" Target="handoutMasters/handoutMaster1.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440880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Constructor :</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750570" y="1772285"/>
            <a:ext cx="7527290" cy="2306955"/>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In Java, constructor is a block of codes similar to method. It is called when an instance of object is created and memory is allocated for the object.</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It is a special type of method which is used to initialize the object. </a:t>
            </a:r>
            <a:endParaRPr lang="en-US">
              <a:latin typeface="Times New Roman" panose="02020603050405020304" pitchFamily="18" charset="0"/>
              <a:cs typeface="Times New Roman" panose="02020603050405020304" pitchFamily="18" charset="0"/>
            </a:endParaRPr>
          </a:p>
        </p:txBody>
      </p:sp>
      <p:sp>
        <p:nvSpPr>
          <p:cNvPr id="2" name="Text Box 1"/>
          <p:cNvSpPr txBox="1"/>
          <p:nvPr/>
        </p:nvSpPr>
        <p:spPr>
          <a:xfrm>
            <a:off x="750570" y="4286885"/>
            <a:ext cx="7751445" cy="1691640"/>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When is a constructor called ?</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Everytime an object is created using new() keyword, atleast one constructor is called. It is called a default constructor. </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501586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Rules for creating java constructor :</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There are basically two rules defined for the constructor.</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a:latin typeface="Times New Roman" panose="02020603050405020304" pitchFamily="18" charset="0"/>
                <a:cs typeface="Times New Roman" panose="02020603050405020304" pitchFamily="18" charset="0"/>
              </a:rPr>
              <a:t>Constructor name must be same as its class name</a:t>
            </a:r>
            <a:endParaRPr lang="en-US">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a:latin typeface="Times New Roman" panose="02020603050405020304" pitchFamily="18" charset="0"/>
                <a:cs typeface="Times New Roman" panose="02020603050405020304" pitchFamily="18" charset="0"/>
              </a:rPr>
              <a:t>Constructor must have no explicit return type</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sz="2800" b="1">
                <a:solidFill>
                  <a:srgbClr val="FF0000"/>
                </a:solidFill>
                <a:latin typeface="Times New Roman" panose="02020603050405020304" pitchFamily="18" charset="0"/>
                <a:cs typeface="Times New Roman" panose="02020603050405020304" pitchFamily="18" charset="0"/>
              </a:rPr>
              <a:t>Types of java constructors</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There are two types of constructors in java:</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a:latin typeface="Times New Roman" panose="02020603050405020304" pitchFamily="18" charset="0"/>
                <a:cs typeface="Times New Roman" panose="02020603050405020304" pitchFamily="18" charset="0"/>
              </a:rPr>
              <a:t>Default constructor (no-arg constructor)</a:t>
            </a:r>
            <a:endParaRPr lang="en-US">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a:latin typeface="Times New Roman" panose="02020603050405020304" pitchFamily="18" charset="0"/>
                <a:cs typeface="Times New Roman" panose="02020603050405020304" pitchFamily="18" charset="0"/>
              </a:rPr>
              <a:t>Parameterized constructor</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526224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Default Constructor</a:t>
            </a:r>
            <a:endParaRPr lang="en-US" sz="2800" b="1">
              <a:solidFill>
                <a:srgbClr val="FF0000"/>
              </a:solidFill>
              <a:latin typeface="Times New Roman" panose="02020603050405020304" pitchFamily="18" charset="0"/>
              <a:cs typeface="Times New Roman" panose="02020603050405020304" pitchFamily="18" charset="0"/>
            </a:endParaRPr>
          </a:p>
          <a:p>
            <a:endParaRPr lang="en-US" sz="2800" b="1">
              <a:solidFill>
                <a:srgbClr val="FF0000"/>
              </a:solidFill>
              <a:latin typeface="Times New Roman" panose="02020603050405020304" pitchFamily="18" charset="0"/>
              <a:cs typeface="Times New Roman" panose="02020603050405020304" pitchFamily="18" charset="0"/>
            </a:endParaRPr>
          </a:p>
          <a:p>
            <a:r>
              <a:rPr lang="en-US" sz="2800">
                <a:solidFill>
                  <a:schemeClr val="tx1"/>
                </a:solidFill>
                <a:latin typeface="Times New Roman" panose="02020603050405020304" pitchFamily="18" charset="0"/>
                <a:cs typeface="Times New Roman" panose="02020603050405020304" pitchFamily="18" charset="0"/>
              </a:rPr>
              <a:t>A constructor is called "Default Constructor" when it doesn't have any parameter.</a:t>
            </a:r>
            <a:endParaRPr lang="en-US" sz="2800">
              <a:solidFill>
                <a:schemeClr val="tx1"/>
              </a:solidFill>
              <a:latin typeface="Times New Roman" panose="02020603050405020304" pitchFamily="18" charset="0"/>
              <a:cs typeface="Times New Roman" panose="02020603050405020304" pitchFamily="18" charset="0"/>
            </a:endParaRPr>
          </a:p>
          <a:p>
            <a:endParaRPr lang="en-US" sz="2800" b="1">
              <a:solidFill>
                <a:schemeClr val="tx1"/>
              </a:solidFill>
              <a:latin typeface="Times New Roman" panose="02020603050405020304" pitchFamily="18" charset="0"/>
              <a:cs typeface="Times New Roman" panose="02020603050405020304" pitchFamily="18" charset="0"/>
            </a:endParaRPr>
          </a:p>
          <a:p>
            <a:endParaRPr lang="en-US" sz="2800" b="1">
              <a:solidFill>
                <a:srgbClr val="FF0000"/>
              </a:solidFill>
              <a:latin typeface="Times New Roman" panose="02020603050405020304" pitchFamily="18" charset="0"/>
              <a:cs typeface="Times New Roman" panose="02020603050405020304" pitchFamily="18" charset="0"/>
            </a:endParaRPr>
          </a:p>
          <a:p>
            <a:r>
              <a:rPr lang="en-US" sz="2800" b="1">
                <a:solidFill>
                  <a:srgbClr val="FF0000"/>
                </a:solidFill>
                <a:latin typeface="Times New Roman" panose="02020603050405020304" pitchFamily="18" charset="0"/>
                <a:cs typeface="Times New Roman" panose="02020603050405020304" pitchFamily="18" charset="0"/>
              </a:rPr>
              <a:t>Syntax of default constructor:</a:t>
            </a:r>
            <a:endParaRPr lang="en-US" sz="2800" b="1">
              <a:solidFill>
                <a:srgbClr val="FF0000"/>
              </a:solidFill>
              <a:latin typeface="Times New Roman" panose="02020603050405020304" pitchFamily="18" charset="0"/>
              <a:cs typeface="Times New Roman" panose="02020603050405020304" pitchFamily="18" charset="0"/>
            </a:endParaRPr>
          </a:p>
          <a:p>
            <a:endParaRPr lang="en-US" sz="2800" b="1">
              <a:solidFill>
                <a:srgbClr val="FF0000"/>
              </a:solidFill>
              <a:latin typeface="Times New Roman" panose="02020603050405020304" pitchFamily="18" charset="0"/>
              <a:cs typeface="Times New Roman" panose="02020603050405020304" pitchFamily="18" charset="0"/>
            </a:endParaRPr>
          </a:p>
          <a:p>
            <a:r>
              <a:rPr lang="en-US" sz="2800" b="1">
                <a:solidFill>
                  <a:srgbClr val="FF0000"/>
                </a:solidFill>
                <a:latin typeface="Times New Roman" panose="02020603050405020304" pitchFamily="18" charset="0"/>
                <a:cs typeface="Times New Roman" panose="02020603050405020304" pitchFamily="18" charset="0"/>
              </a:rPr>
              <a:t>   </a:t>
            </a:r>
            <a:r>
              <a:rPr lang="en-US" sz="2800">
                <a:solidFill>
                  <a:schemeClr val="tx1"/>
                </a:solidFill>
                <a:latin typeface="Times New Roman" panose="02020603050405020304" pitchFamily="18" charset="0"/>
                <a:cs typeface="Times New Roman" panose="02020603050405020304" pitchFamily="18" charset="0"/>
              </a:rPr>
              <a:t> &lt;class_name&gt;()</a:t>
            </a:r>
            <a:endParaRPr lang="en-US" sz="2800">
              <a:solidFill>
                <a:schemeClr val="tx1"/>
              </a:solidFill>
              <a:latin typeface="Times New Roman" panose="02020603050405020304" pitchFamily="18" charset="0"/>
              <a:cs typeface="Times New Roman" panose="02020603050405020304" pitchFamily="18" charset="0"/>
            </a:endParaRPr>
          </a:p>
          <a:p>
            <a:r>
              <a:rPr lang="en-US" sz="2800">
                <a:solidFill>
                  <a:schemeClr val="tx1"/>
                </a:solidFill>
                <a:latin typeface="Times New Roman" panose="02020603050405020304" pitchFamily="18" charset="0"/>
                <a:cs typeface="Times New Roman" panose="02020603050405020304" pitchFamily="18" charset="0"/>
              </a:rPr>
              <a:t>     {</a:t>
            </a:r>
            <a:endParaRPr lang="en-US" sz="2800">
              <a:solidFill>
                <a:schemeClr val="tx1"/>
              </a:solidFill>
              <a:latin typeface="Times New Roman" panose="02020603050405020304" pitchFamily="18" charset="0"/>
              <a:cs typeface="Times New Roman" panose="02020603050405020304" pitchFamily="18" charset="0"/>
            </a:endParaRPr>
          </a:p>
          <a:p>
            <a:r>
              <a:rPr lang="en-US" sz="2800">
                <a:solidFill>
                  <a:schemeClr val="tx1"/>
                </a:solidFill>
                <a:latin typeface="Times New Roman" panose="02020603050405020304" pitchFamily="18" charset="0"/>
                <a:cs typeface="Times New Roman" panose="02020603050405020304" pitchFamily="18" charset="0"/>
              </a:rPr>
              <a:t>     </a:t>
            </a:r>
            <a:endParaRPr lang="en-US" sz="2800">
              <a:solidFill>
                <a:schemeClr val="tx1"/>
              </a:solidFill>
              <a:latin typeface="Times New Roman" panose="02020603050405020304" pitchFamily="18" charset="0"/>
              <a:cs typeface="Times New Roman" panose="02020603050405020304" pitchFamily="18" charset="0"/>
            </a:endParaRPr>
          </a:p>
          <a:p>
            <a:r>
              <a:rPr lang="en-US" sz="2800">
                <a:solidFill>
                  <a:schemeClr val="tx1"/>
                </a:solidFill>
                <a:latin typeface="Times New Roman" panose="02020603050405020304" pitchFamily="18" charset="0"/>
                <a:cs typeface="Times New Roman" panose="02020603050405020304" pitchFamily="18" charset="0"/>
              </a:rPr>
              <a:t>     }  </a:t>
            </a:r>
            <a:endParaRPr lang="en-US" sz="28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57543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default constructor :</a:t>
            </a:r>
            <a:endParaRPr lang="en-US" sz="2800" b="1">
              <a:solidFill>
                <a:srgbClr val="FF0000"/>
              </a:solidFill>
              <a:latin typeface="Times New Roman" panose="02020603050405020304" pitchFamily="18" charset="0"/>
              <a:cs typeface="Times New Roman" panose="02020603050405020304" pitchFamily="18" charset="0"/>
            </a:endParaRPr>
          </a:p>
          <a:p>
            <a:endParaRPr lang="en-US" sz="2800" b="1">
              <a:solidFill>
                <a:srgbClr val="FF0000"/>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In this example, we are creating the no-arg constructor in the Bike class. It will be invoked at the time of object creation.</a:t>
            </a:r>
            <a:endParaRPr lang="en-US">
              <a:solidFill>
                <a:schemeClr val="tx1"/>
              </a:solidFill>
              <a:latin typeface="Times New Roman" panose="02020603050405020304" pitchFamily="18" charset="0"/>
              <a:cs typeface="Times New Roman" panose="02020603050405020304" pitchFamily="18" charset="0"/>
            </a:endParaRPr>
          </a:p>
          <a:p>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class Bike1</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Bike1()</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{System.out.println("Bike is created");}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public static void main(String args[])</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Bike1 b=new Bike1();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  </a:t>
            </a:r>
            <a:endParaRPr 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829945"/>
          </a:xfrm>
          <a:prstGeom prst="rect">
            <a:avLst/>
          </a:prstGeom>
          <a:noFill/>
        </p:spPr>
        <p:txBody>
          <a:bodyPr wrap="square" rtlCol="0" anchor="t">
            <a:spAutoFit/>
          </a:bodyPr>
          <a:p>
            <a:r>
              <a:rPr lang="en-US">
                <a:solidFill>
                  <a:schemeClr val="tx1"/>
                </a:solidFill>
                <a:latin typeface="Times New Roman" panose="02020603050405020304" pitchFamily="18" charset="0"/>
                <a:cs typeface="Times New Roman" panose="02020603050405020304" pitchFamily="18" charset="0"/>
              </a:rPr>
              <a:t>If there is no constructor in a class, compiler automatically creates a default constructor.</a:t>
            </a:r>
            <a:endParaRPr lang="en-US">
              <a:solidFill>
                <a:schemeClr val="tx1"/>
              </a:solidFill>
              <a:latin typeface="Times New Roman" panose="02020603050405020304" pitchFamily="18" charset="0"/>
              <a:cs typeface="Times New Roman" panose="02020603050405020304" pitchFamily="18" charset="0"/>
            </a:endParaRPr>
          </a:p>
        </p:txBody>
      </p:sp>
      <p:pic>
        <p:nvPicPr>
          <p:cNvPr id="2" name="Picture 1" descr="default-constructor1"/>
          <p:cNvPicPr>
            <a:picLocks noChangeAspect="1"/>
          </p:cNvPicPr>
          <p:nvPr/>
        </p:nvPicPr>
        <p:blipFill>
          <a:blip r:embed="rId1"/>
          <a:stretch>
            <a:fillRect/>
          </a:stretch>
        </p:blipFill>
        <p:spPr>
          <a:xfrm>
            <a:off x="432435" y="1873250"/>
            <a:ext cx="8279130" cy="3110865"/>
          </a:xfrm>
          <a:prstGeom prst="rect">
            <a:avLst/>
          </a:prstGeom>
        </p:spPr>
      </p:pic>
      <p:sp>
        <p:nvSpPr>
          <p:cNvPr id="3" name="Text Box 2"/>
          <p:cNvSpPr txBox="1"/>
          <p:nvPr/>
        </p:nvSpPr>
        <p:spPr>
          <a:xfrm>
            <a:off x="460375" y="4984115"/>
            <a:ext cx="8179435" cy="1568450"/>
          </a:xfrm>
          <a:prstGeom prst="rect">
            <a:avLst/>
          </a:prstGeom>
          <a:noFill/>
        </p:spPr>
        <p:txBody>
          <a:bodyPr wrap="square" rtlCol="0" anchor="t">
            <a:spAutoFit/>
          </a:bodyPr>
          <a:p>
            <a:r>
              <a:rPr lang="en-US" b="1">
                <a:solidFill>
                  <a:srgbClr val="FF0000"/>
                </a:solidFill>
              </a:rPr>
              <a:t>What is the purpose of default constructor ?</a:t>
            </a:r>
            <a:endParaRPr lang="en-US"/>
          </a:p>
          <a:p>
            <a:endParaRPr lang="en-US"/>
          </a:p>
          <a:p>
            <a:r>
              <a:rPr lang="en-US"/>
              <a:t>Default constructor is used to provide the default values to the object like 0, null etc. depending on the type. </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57543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Example of default constructor that displays the default values</a:t>
            </a:r>
            <a:endParaRPr lang="en-US">
              <a:solidFill>
                <a:schemeClr val="tx1"/>
              </a:solidFill>
              <a:latin typeface="Times New Roman" panose="02020603050405020304" pitchFamily="18" charset="0"/>
              <a:cs typeface="Times New Roman" panose="02020603050405020304" pitchFamily="18" charset="0"/>
            </a:endParaRPr>
          </a:p>
          <a:p>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class Student3{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int id;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String name;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void display(){System.out.println(id+" "+name);}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public static void main(String args[]){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Student3 s1=new Student3();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Student3 s2=new Student3();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s1.display();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s2.display();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  }  </a:t>
            </a:r>
            <a:endParaRPr 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163004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parameterized constructor</a:t>
            </a:r>
            <a:endParaRPr lang="en-US" sz="2800" b="1">
              <a:solidFill>
                <a:srgbClr val="FF0000"/>
              </a:solidFill>
              <a:latin typeface="Times New Roman" panose="02020603050405020304" pitchFamily="18" charset="0"/>
              <a:cs typeface="Times New Roman" panose="02020603050405020304" pitchFamily="18" charset="0"/>
            </a:endParaRPr>
          </a:p>
          <a:p>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 constructor which has a specific number of parameters is called parameterized constructor.</a:t>
            </a:r>
            <a:endParaRPr lang="en-US">
              <a:solidFill>
                <a:schemeClr val="tx1"/>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509905" y="2958465"/>
            <a:ext cx="8048625" cy="1568450"/>
          </a:xfrm>
          <a:prstGeom prst="rect">
            <a:avLst/>
          </a:prstGeom>
          <a:noFill/>
        </p:spPr>
        <p:txBody>
          <a:bodyPr wrap="square" rtlCol="0" anchor="t">
            <a:spAutoFit/>
          </a:bodyPr>
          <a:p>
            <a:r>
              <a:rPr lang="en-US" b="1">
                <a:solidFill>
                  <a:srgbClr val="FF0000"/>
                </a:solidFill>
                <a:latin typeface="Times New Roman" panose="02020603050405020304" pitchFamily="18" charset="0"/>
                <a:cs typeface="Times New Roman" panose="02020603050405020304" pitchFamily="18" charset="0"/>
              </a:rPr>
              <a:t>Why use parameterized constructor ?</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Parameterized constructor is used to provide different values to the distinct objects. </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80365" y="918210"/>
            <a:ext cx="8609965" cy="600075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    class Student{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int id;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String name;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Student(int i,String n){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id = i;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name = n;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void display(){System.out.println(id+" "+name);}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public static void main(String args[]){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Student s1 = new Student(111,"Karan");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Student s2 = new Student(222,"Aryan");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s1.display();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s2.display();  </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  }  </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384619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Constructor Overloading in Java :</a:t>
            </a:r>
            <a:endParaRPr lang="en-US" sz="2800" b="1">
              <a:solidFill>
                <a:srgbClr val="FF0000"/>
              </a:solidFill>
              <a:latin typeface="Times New Roman" panose="02020603050405020304" pitchFamily="18" charset="0"/>
              <a:cs typeface="Times New Roman" panose="02020603050405020304" pitchFamily="18" charset="0"/>
            </a:endParaRPr>
          </a:p>
          <a:p>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In Java, a constructor is just like a method but without return type. It can also be overloaded like Java methods.</a:t>
            </a:r>
            <a:endParaRPr lang="en-US">
              <a:solidFill>
                <a:schemeClr val="tx1"/>
              </a:solidFill>
              <a:latin typeface="Times New Roman" panose="02020603050405020304" pitchFamily="18" charset="0"/>
              <a:cs typeface="Times New Roman" panose="02020603050405020304" pitchFamily="18" charset="0"/>
            </a:endParaRPr>
          </a:p>
          <a:p>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Constructor overloading in Java is a technique of having more than one constructor with different parameter lists. They are arranged in a way that each constructor performs a different task. They are differentiated by the compiler by the number of parameters in the list and their types. </a:t>
            </a:r>
            <a:endParaRPr 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5262245"/>
          </a:xfrm>
          <a:prstGeom prst="rect">
            <a:avLst/>
          </a:prstGeom>
          <a:noFill/>
        </p:spPr>
        <p:txBody>
          <a:bodyPr wrap="square" rtlCol="0" anchor="t">
            <a:spAutoFit/>
          </a:bodyPr>
          <a:p>
            <a:r>
              <a:rPr lang="en-US">
                <a:solidFill>
                  <a:schemeClr val="tx1"/>
                </a:solidFill>
                <a:latin typeface="Times New Roman" panose="02020603050405020304" pitchFamily="18" charset="0"/>
                <a:cs typeface="Times New Roman" panose="02020603050405020304" pitchFamily="18" charset="0"/>
              </a:rPr>
              <a:t>    class Student{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int id;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String name;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int age;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Student(int i,String n){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id = i;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name = n;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Student(int i,String n,int a){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id = i;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name = n;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age=a;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  </a:t>
            </a:r>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t>
            </a:r>
            <a:endParaRPr 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0375" y="982980"/>
            <a:ext cx="7527290" cy="341503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sym typeface="+mn-ea"/>
              </a:rPr>
              <a:t>void display(){System.out.println(id+" "+name+" "+age);}  </a:t>
            </a:r>
            <a:endParaRPr lang="en-US">
              <a:solidFill>
                <a:schemeClr val="tx1"/>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sym typeface="+mn-ea"/>
              </a:rPr>
              <a:t>       </a:t>
            </a:r>
            <a:endParaRPr lang="en-US">
              <a:solidFill>
                <a:schemeClr val="tx1"/>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sym typeface="+mn-ea"/>
              </a:rPr>
              <a:t>        public static void main(String args[]){  </a:t>
            </a:r>
            <a:endParaRPr lang="en-US">
              <a:solidFill>
                <a:schemeClr val="tx1"/>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sym typeface="+mn-ea"/>
              </a:rPr>
              <a:t>        Student s1 = new Student(111,"Karan");  </a:t>
            </a:r>
            <a:endParaRPr lang="en-US">
              <a:solidFill>
                <a:schemeClr val="tx1"/>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sym typeface="+mn-ea"/>
              </a:rPr>
              <a:t>        Student s2 = new Student(222,"Aryan",25);  </a:t>
            </a:r>
            <a:endParaRPr lang="en-US">
              <a:solidFill>
                <a:schemeClr val="tx1"/>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sym typeface="+mn-ea"/>
              </a:rPr>
              <a:t>        s1.display();  </a:t>
            </a:r>
            <a:endParaRPr lang="en-US">
              <a:solidFill>
                <a:schemeClr val="tx1"/>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sym typeface="+mn-ea"/>
              </a:rPr>
              <a:t>        s2.display();  </a:t>
            </a:r>
            <a:endParaRPr lang="en-US">
              <a:solidFill>
                <a:schemeClr val="tx1"/>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sym typeface="+mn-ea"/>
              </a:rPr>
              <a:t>       }  </a:t>
            </a:r>
            <a:endParaRPr lang="en-US">
              <a:solidFill>
                <a:schemeClr val="tx1"/>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sym typeface="+mn-ea"/>
              </a:rPr>
              <a:t>    }  </a:t>
            </a:r>
            <a:endParaRPr 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126047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Difference between constructor and method in java :</a:t>
            </a:r>
            <a:endParaRPr lang="en-US" sz="2800" b="1">
              <a:solidFill>
                <a:srgbClr val="FF0000"/>
              </a:solidFill>
              <a:latin typeface="Times New Roman" panose="02020603050405020304" pitchFamily="18" charset="0"/>
              <a:cs typeface="Times New Roman" panose="02020603050405020304" pitchFamily="18" charset="0"/>
            </a:endParaRPr>
          </a:p>
          <a:p>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t>
            </a:r>
            <a:endParaRPr lang="en-US">
              <a:solidFill>
                <a:schemeClr val="tx1"/>
              </a:solidFill>
              <a:latin typeface="Times New Roman" panose="02020603050405020304" pitchFamily="18" charset="0"/>
              <a:cs typeface="Times New Roman" panose="02020603050405020304" pitchFamily="18" charset="0"/>
            </a:endParaRPr>
          </a:p>
        </p:txBody>
      </p:sp>
      <p:graphicFrame>
        <p:nvGraphicFramePr>
          <p:cNvPr id="2" name="Table 1"/>
          <p:cNvGraphicFramePr/>
          <p:nvPr/>
        </p:nvGraphicFramePr>
        <p:xfrm>
          <a:off x="519430" y="1921510"/>
          <a:ext cx="8131810" cy="4217035"/>
        </p:xfrm>
        <a:graphic>
          <a:graphicData uri="http://schemas.openxmlformats.org/drawingml/2006/table">
            <a:tbl>
              <a:tblPr firstRow="1" bandRow="1">
                <a:tableStyleId>{5C22544A-7EE6-4342-B048-85BDC9FD1C3A}</a:tableStyleId>
              </a:tblPr>
              <a:tblGrid>
                <a:gridCol w="4056380"/>
                <a:gridCol w="4075430"/>
              </a:tblGrid>
              <a:tr h="481965">
                <a:tc>
                  <a:txBody>
                    <a:bodyPr/>
                    <a:p>
                      <a:pPr>
                        <a:buNone/>
                      </a:pPr>
                      <a:r>
                        <a:rPr lang="en-US"/>
                        <a:t>Java Constructor</a:t>
                      </a:r>
                      <a:endParaRPr lang="en-US"/>
                    </a:p>
                  </a:txBody>
                  <a:tcPr/>
                </a:tc>
                <a:tc>
                  <a:txBody>
                    <a:bodyPr/>
                    <a:p>
                      <a:pPr>
                        <a:buNone/>
                      </a:pPr>
                      <a:r>
                        <a:rPr lang="en-US"/>
                        <a:t>Java Method</a:t>
                      </a:r>
                      <a:endParaRPr lang="en-US"/>
                    </a:p>
                  </a:txBody>
                  <a:tcPr/>
                </a:tc>
              </a:tr>
              <a:tr h="808355">
                <a:tc>
                  <a:txBody>
                    <a:bodyPr/>
                    <a:p>
                      <a:pPr>
                        <a:buNone/>
                      </a:pPr>
                      <a:r>
                        <a:rPr lang="en-US"/>
                        <a:t>Constructor is used to initialize the state of an object.</a:t>
                      </a:r>
                      <a:endParaRPr lang="en-US"/>
                    </a:p>
                  </a:txBody>
                  <a:tcPr/>
                </a:tc>
                <a:tc>
                  <a:txBody>
                    <a:bodyPr/>
                    <a:p>
                      <a:pPr>
                        <a:buNone/>
                      </a:pPr>
                      <a:r>
                        <a:rPr lang="en-US"/>
                        <a:t>Method is used to expose behaviour of an object.</a:t>
                      </a:r>
                      <a:endParaRPr lang="en-US"/>
                    </a:p>
                  </a:txBody>
                  <a:tcPr/>
                </a:tc>
              </a:tr>
              <a:tr h="481330">
                <a:tc>
                  <a:txBody>
                    <a:bodyPr/>
                    <a:p>
                      <a:pPr>
                        <a:buNone/>
                      </a:pPr>
                      <a:r>
                        <a:rPr lang="en-US"/>
                        <a:t>Constructor must not have return type.</a:t>
                      </a:r>
                      <a:endParaRPr lang="en-US"/>
                    </a:p>
                  </a:txBody>
                  <a:tcPr/>
                </a:tc>
                <a:tc>
                  <a:txBody>
                    <a:bodyPr/>
                    <a:p>
                      <a:pPr>
                        <a:buNone/>
                      </a:pPr>
                      <a:r>
                        <a:rPr lang="en-US"/>
                        <a:t>Method must have return type.</a:t>
                      </a:r>
                      <a:endParaRPr lang="en-US"/>
                    </a:p>
                  </a:txBody>
                  <a:tcPr/>
                </a:tc>
              </a:tr>
              <a:tr h="481330">
                <a:tc>
                  <a:txBody>
                    <a:bodyPr/>
                    <a:p>
                      <a:pPr>
                        <a:buNone/>
                      </a:pPr>
                      <a:r>
                        <a:rPr lang="en-US"/>
                        <a:t>Constructor is invoked implicitly.</a:t>
                      </a:r>
                      <a:endParaRPr lang="en-US"/>
                    </a:p>
                  </a:txBody>
                  <a:tcPr/>
                </a:tc>
                <a:tc>
                  <a:txBody>
                    <a:bodyPr/>
                    <a:p>
                      <a:pPr>
                        <a:buNone/>
                      </a:pPr>
                      <a:r>
                        <a:rPr lang="en-US"/>
                        <a:t>Method is invoked explicitly.</a:t>
                      </a:r>
                      <a:endParaRPr lang="en-US"/>
                    </a:p>
                  </a:txBody>
                  <a:tcPr/>
                </a:tc>
              </a:tr>
              <a:tr h="1155065">
                <a:tc>
                  <a:txBody>
                    <a:bodyPr/>
                    <a:p>
                      <a:pPr>
                        <a:buNone/>
                      </a:pPr>
                      <a:r>
                        <a:rPr lang="en-US"/>
                        <a:t>The java compiler provides a default constructor if you don't have any constructor.</a:t>
                      </a:r>
                      <a:endParaRPr lang="en-US"/>
                    </a:p>
                  </a:txBody>
                  <a:tcPr/>
                </a:tc>
                <a:tc>
                  <a:txBody>
                    <a:bodyPr/>
                    <a:p>
                      <a:pPr>
                        <a:buNone/>
                      </a:pPr>
                      <a:r>
                        <a:rPr lang="en-US"/>
                        <a:t>Method is not provided by compiler in any case.</a:t>
                      </a:r>
                      <a:endParaRPr lang="en-US"/>
                    </a:p>
                  </a:txBody>
                  <a:tcPr/>
                </a:tc>
              </a:tr>
              <a:tr h="808990">
                <a:tc>
                  <a:txBody>
                    <a:bodyPr/>
                    <a:p>
                      <a:pPr>
                        <a:buNone/>
                      </a:pPr>
                      <a:r>
                        <a:rPr lang="en-US"/>
                        <a:t>Constructor name must be same as the class name.</a:t>
                      </a:r>
                      <a:endParaRPr lang="en-US"/>
                    </a:p>
                  </a:txBody>
                  <a:tcPr/>
                </a:tc>
                <a:tc>
                  <a:txBody>
                    <a:bodyPr/>
                    <a:p>
                      <a:pPr>
                        <a:buNone/>
                      </a:pPr>
                      <a:r>
                        <a:rPr lang="en-US"/>
                        <a:t>Method name may or may not be same as class name.</a:t>
                      </a:r>
                      <a:endParaRPr lang="en-US"/>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Copy Constructor</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62280" y="2040255"/>
            <a:ext cx="8505825" cy="3415030"/>
          </a:xfrm>
          <a:prstGeom prst="rect">
            <a:avLst/>
          </a:prstGeom>
          <a:noFill/>
        </p:spPr>
        <p:txBody>
          <a:bodyPr wrap="square" rtlCol="0" anchor="t">
            <a:spAutoFit/>
          </a:bodyPr>
          <a:p>
            <a:r>
              <a:rPr lang="en-US"/>
              <a:t>There is no copy constructor in java. But, we can copy the values of one object to another like copy constructor in C++.</a:t>
            </a:r>
            <a:endParaRPr lang="en-US"/>
          </a:p>
          <a:p>
            <a:endParaRPr lang="en-US"/>
          </a:p>
          <a:p>
            <a:r>
              <a:rPr lang="en-US"/>
              <a:t>There are many ways to copy the values of one object into another in java. They are:</a:t>
            </a:r>
            <a:endParaRPr lang="en-US"/>
          </a:p>
          <a:p>
            <a:endParaRPr lang="en-US"/>
          </a:p>
          <a:p>
            <a:pPr marL="342900" indent="-342900">
              <a:buFont typeface="Wingdings" panose="05000000000000000000" charset="0"/>
              <a:buChar char="Ø"/>
            </a:pPr>
            <a:r>
              <a:rPr lang="en-US"/>
              <a:t>By constructor</a:t>
            </a:r>
            <a:endParaRPr lang="en-US"/>
          </a:p>
          <a:p>
            <a:pPr marL="342900" indent="-342900">
              <a:buFont typeface="Wingdings" panose="05000000000000000000" charset="0"/>
              <a:buChar char="Ø"/>
            </a:pPr>
            <a:r>
              <a:rPr lang="en-US"/>
              <a:t>By assigning the values of one object into another</a:t>
            </a:r>
            <a:endParaRPr lang="en-US"/>
          </a:p>
          <a:p>
            <a:pPr marL="342900" indent="-342900">
              <a:buFont typeface="Wingdings" panose="05000000000000000000" charset="0"/>
              <a:buChar char="Ø"/>
            </a:pPr>
            <a:r>
              <a:rPr lang="en-US"/>
              <a:t>By clone() method of Object class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87680" y="1310640"/>
            <a:ext cx="8351520" cy="52622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class Student{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id;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String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Student(int i,String n)</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id = i;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name = 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Student(Student 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id = s.id;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name =s.name;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87680" y="1310640"/>
            <a:ext cx="835152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void display()</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System.out.println(id+" "+name);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Student s1 = new Student(111,"Karan");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FF0000"/>
                </a:solidFill>
                <a:latin typeface="Times New Roman" panose="02020603050405020304" pitchFamily="18" charset="0"/>
                <a:cs typeface="Times New Roman" panose="02020603050405020304" pitchFamily="18" charset="0"/>
              </a:rPr>
              <a:t>Student s2 = new Student(s1);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s1.display();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s2.display();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Copying values without constructor</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62280" y="2040255"/>
            <a:ext cx="8505825" cy="4523105"/>
          </a:xfrm>
          <a:prstGeom prst="rect">
            <a:avLst/>
          </a:prstGeom>
          <a:noFill/>
        </p:spPr>
        <p:txBody>
          <a:bodyPr wrap="square" rtlCol="0" anchor="t">
            <a:spAutoFit/>
          </a:bodyPr>
          <a:p>
            <a:r>
              <a:rPr lang="en-US" b="1"/>
              <a:t>class Student{  </a:t>
            </a:r>
            <a:endParaRPr lang="en-US" b="1"/>
          </a:p>
          <a:p>
            <a:r>
              <a:rPr lang="en-US" b="1"/>
              <a:t>    int id;  </a:t>
            </a:r>
            <a:endParaRPr lang="en-US" b="1"/>
          </a:p>
          <a:p>
            <a:r>
              <a:rPr lang="en-US" b="1"/>
              <a:t>    String name;  </a:t>
            </a:r>
            <a:endParaRPr lang="en-US" b="1"/>
          </a:p>
          <a:p>
            <a:r>
              <a:rPr lang="en-US" b="1"/>
              <a:t>    Student(int i,String n)</a:t>
            </a:r>
            <a:endParaRPr lang="en-US" b="1"/>
          </a:p>
          <a:p>
            <a:r>
              <a:rPr lang="en-US" b="1"/>
              <a:t>    {  </a:t>
            </a:r>
            <a:endParaRPr lang="en-US" b="1"/>
          </a:p>
          <a:p>
            <a:r>
              <a:rPr lang="en-US" b="1"/>
              <a:t>    id = i;  </a:t>
            </a:r>
            <a:endParaRPr lang="en-US" b="1"/>
          </a:p>
          <a:p>
            <a:r>
              <a:rPr lang="en-US" b="1"/>
              <a:t>    name = n;  </a:t>
            </a:r>
            <a:endParaRPr lang="en-US" b="1"/>
          </a:p>
          <a:p>
            <a:r>
              <a:rPr lang="en-US" b="1"/>
              <a:t>    }  </a:t>
            </a:r>
            <a:endParaRPr lang="en-US" b="1"/>
          </a:p>
          <a:p>
            <a:r>
              <a:rPr lang="en-US" b="1"/>
              <a:t>    Student(){}  </a:t>
            </a:r>
            <a:endParaRPr lang="en-US" b="1"/>
          </a:p>
          <a:p>
            <a:r>
              <a:rPr lang="en-US" b="1"/>
              <a:t>    void display()</a:t>
            </a:r>
            <a:endParaRPr lang="en-US" b="1"/>
          </a:p>
          <a:p>
            <a:r>
              <a:rPr lang="en-US" b="1"/>
              <a:t>    {System.out.println(id+" "+name);}  </a:t>
            </a:r>
            <a:endParaRPr lang="en-US" b="1"/>
          </a:p>
          <a:p>
            <a:r>
              <a:rPr lang="en-US" b="1"/>
              <a:t>   </a:t>
            </a:r>
            <a:endParaRPr lang="en-US"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62280" y="2040255"/>
            <a:ext cx="8505825" cy="3415030"/>
          </a:xfrm>
          <a:prstGeom prst="rect">
            <a:avLst/>
          </a:prstGeom>
          <a:noFill/>
        </p:spPr>
        <p:txBody>
          <a:bodyPr wrap="square" rtlCol="0" anchor="t">
            <a:spAutoFit/>
          </a:bodyPr>
          <a:p>
            <a:r>
              <a:rPr lang="en-US" b="1"/>
              <a:t> public static void main(String args[]){  </a:t>
            </a:r>
            <a:endParaRPr lang="en-US" b="1"/>
          </a:p>
          <a:p>
            <a:r>
              <a:rPr lang="en-US" b="1"/>
              <a:t>    Student s1 = new Student(111,"Karan");  </a:t>
            </a:r>
            <a:endParaRPr lang="en-US" b="1"/>
          </a:p>
          <a:p>
            <a:r>
              <a:rPr lang="en-US" b="1"/>
              <a:t>    Student s2 = new Student();  </a:t>
            </a:r>
            <a:endParaRPr lang="en-US" b="1"/>
          </a:p>
          <a:p>
            <a:r>
              <a:rPr lang="en-US" b="1"/>
              <a:t>    s2.id=s1.id;  </a:t>
            </a:r>
            <a:endParaRPr lang="en-US" b="1"/>
          </a:p>
          <a:p>
            <a:r>
              <a:rPr lang="en-US" b="1"/>
              <a:t>    s2.name=s1.name;  </a:t>
            </a:r>
            <a:endParaRPr lang="en-US" b="1"/>
          </a:p>
          <a:p>
            <a:r>
              <a:rPr lang="en-US" b="1"/>
              <a:t>    s1.display();  </a:t>
            </a:r>
            <a:endParaRPr lang="en-US" b="1"/>
          </a:p>
          <a:p>
            <a:r>
              <a:rPr lang="en-US" b="1"/>
              <a:t>    s2.display();  </a:t>
            </a:r>
            <a:endParaRPr lang="en-US" b="1"/>
          </a:p>
          <a:p>
            <a:r>
              <a:rPr lang="en-US" b="1"/>
              <a:t>   }  </a:t>
            </a:r>
            <a:endParaRPr lang="en-US" b="1"/>
          </a:p>
          <a:p>
            <a:r>
              <a:rPr lang="en-US" b="1"/>
              <a:t>}  </a:t>
            </a:r>
            <a:endParaRPr lang="en-US"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Constructor in Java</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Does constructor return any value?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62280" y="1828800"/>
            <a:ext cx="8505825" cy="8299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yes, that is current class instance (You cannot use return type yet it returns a value).</a:t>
            </a:r>
            <a:endParaRPr lang="en-US" b="1">
              <a:latin typeface="Times New Roman" panose="02020603050405020304" pitchFamily="18" charset="0"/>
              <a:cs typeface="Times New Roman" panose="02020603050405020304" pitchFamily="18" charset="0"/>
            </a:endParaRPr>
          </a:p>
        </p:txBody>
      </p:sp>
      <p:sp>
        <p:nvSpPr>
          <p:cNvPr id="2" name="Text Box 1"/>
          <p:cNvSpPr txBox="1"/>
          <p:nvPr/>
        </p:nvSpPr>
        <p:spPr>
          <a:xfrm>
            <a:off x="462280" y="3013710"/>
            <a:ext cx="828865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Can constructor perform other tasks instead of initialization?</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591185" y="4380865"/>
            <a:ext cx="8230235" cy="119888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Yes, like object creation, starting a thread, calling method etc. You can perform any operation in the constructor as you perform in the method.</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lang="en-US" sz="3200" b="1" noProof="0">
                <a:solidFill>
                  <a:srgbClr val="993300"/>
                </a:solidFill>
                <a:latin typeface="Impact" panose="020B0806030902050204" pitchFamily="34" charset="0"/>
                <a:cs typeface="Times New Roman" panose="02020603050405020304" pitchFamily="18" charset="0"/>
                <a:sym typeface="+mn-ea"/>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static keyword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62280" y="1828800"/>
            <a:ext cx="8505825"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 static keyword in java is used for memory management mainly. We can apply java static keyword with variables, methods, blocks and nested class. The static keyword belongs to the class than instance of the class.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static can be: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variable (also known as class variable)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method (also known as class method)</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block</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nested class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1) Java static variable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62280" y="1828800"/>
            <a:ext cx="8505825" cy="341503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you declare any variable as static, it is known static variable.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   The static variable can be used to refer the common property of all objects (that is not unique for each object) e.g. company name of employees,college name of students etc.</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B. The static variable gets memory only once in class area at the time of class loading.</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lang="en-US" sz="3200" b="1" noProof="0">
                <a:solidFill>
                  <a:srgbClr val="993300"/>
                </a:solidFill>
                <a:latin typeface="Impact" panose="020B0806030902050204" pitchFamily="34" charset="0"/>
                <a:cs typeface="Times New Roman" panose="02020603050405020304" pitchFamily="18" charset="0"/>
                <a:sym typeface="+mn-ea"/>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181483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Advantage of static variable :</a:t>
            </a:r>
            <a:endParaRPr lang="en-US" sz="2800" b="1">
              <a:solidFill>
                <a:srgbClr val="FF0000"/>
              </a:solidFill>
              <a:latin typeface="Times New Roman" panose="02020603050405020304" pitchFamily="18" charset="0"/>
              <a:cs typeface="Times New Roman" panose="02020603050405020304" pitchFamily="18" charset="0"/>
            </a:endParaRPr>
          </a:p>
          <a:p>
            <a:endParaRPr lang="en-US" sz="2800" b="1">
              <a:solidFill>
                <a:srgbClr val="FF0000"/>
              </a:solidFill>
              <a:latin typeface="Times New Roman" panose="02020603050405020304" pitchFamily="18" charset="0"/>
              <a:cs typeface="Times New Roman" panose="02020603050405020304" pitchFamily="18" charset="0"/>
            </a:endParaRPr>
          </a:p>
          <a:p>
            <a:r>
              <a:rPr lang="en-US" sz="2800" b="1">
                <a:solidFill>
                  <a:schemeClr val="tx1"/>
                </a:solidFill>
                <a:latin typeface="Times New Roman" panose="02020603050405020304" pitchFamily="18" charset="0"/>
                <a:cs typeface="Times New Roman" panose="02020603050405020304" pitchFamily="18" charset="0"/>
              </a:rPr>
              <a:t>It makes your program memory efficient (i.e it saves memory).</a:t>
            </a:r>
            <a:endParaRPr lang="en-US" sz="2800" b="1">
              <a:solidFill>
                <a:schemeClr val="tx1"/>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591185" y="3198495"/>
            <a:ext cx="7834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Understanding problem without static variable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834390" y="4142105"/>
            <a:ext cx="654558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class Student{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rollno;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String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String       college="KIIT";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lang="en-US" sz="3200" b="1" noProof="0">
                <a:solidFill>
                  <a:srgbClr val="993300"/>
                </a:solidFill>
                <a:latin typeface="Impact" panose="020B0806030902050204" pitchFamily="34" charset="0"/>
                <a:cs typeface="Times New Roman" panose="02020603050405020304" pitchFamily="18" charset="0"/>
                <a:sym typeface="+mn-ea"/>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33375" y="1137920"/>
            <a:ext cx="8505825" cy="563118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//Program of static variable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class Student{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rollno;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String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FF0000"/>
                </a:solidFill>
                <a:latin typeface="Times New Roman" panose="02020603050405020304" pitchFamily="18" charset="0"/>
                <a:cs typeface="Times New Roman" panose="02020603050405020304" pitchFamily="18" charset="0"/>
              </a:rPr>
              <a:t>static String college ="KIIT";  </a:t>
            </a:r>
            <a:endParaRPr lang="en-US" b="1">
              <a:solidFill>
                <a:srgbClr val="FF0000"/>
              </a:solidFill>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Student(int r,String 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rollno = 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name = 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void display (){System.out.println(rollno+" "+name+" "+college);}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lang="en-US" sz="3200" b="1" noProof="0">
                <a:solidFill>
                  <a:srgbClr val="993300"/>
                </a:solidFill>
                <a:latin typeface="Impact" panose="020B0806030902050204" pitchFamily="34" charset="0"/>
                <a:cs typeface="Times New Roman" panose="02020603050405020304" pitchFamily="18" charset="0"/>
                <a:sym typeface="+mn-ea"/>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62280" y="1828800"/>
            <a:ext cx="8505825"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Student s1 = new Student(111,"Karan");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Student s2 = new Student(222,"Aryan");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s1.display();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s2.display();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lang="en-US" sz="3200" b="1" noProof="0">
                <a:solidFill>
                  <a:srgbClr val="993300"/>
                </a:solidFill>
                <a:latin typeface="Impact" panose="020B0806030902050204" pitchFamily="34" charset="0"/>
                <a:cs typeface="Times New Roman" panose="02020603050405020304" pitchFamily="18" charset="0"/>
                <a:sym typeface="+mn-ea"/>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80670" y="937260"/>
            <a:ext cx="8505825" cy="600075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t>
            </a:r>
            <a:r>
              <a:rPr lang="en-US" b="1">
                <a:solidFill>
                  <a:srgbClr val="FF0000"/>
                </a:solidFill>
                <a:latin typeface="Times New Roman" panose="02020603050405020304" pitchFamily="18" charset="0"/>
                <a:cs typeface="Times New Roman" panose="02020603050405020304" pitchFamily="18" charset="0"/>
                <a:sym typeface="+mn-ea"/>
              </a:rPr>
              <a:t>//Program of counter without static variable</a:t>
            </a:r>
            <a:endParaRPr lang="en-US" b="1">
              <a:solidFill>
                <a:srgbClr val="FF0000"/>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class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count=0;</a:t>
            </a:r>
            <a:r>
              <a:rPr lang="en-US" b="1">
                <a:solidFill>
                  <a:srgbClr val="FF0000"/>
                </a:solidFill>
                <a:latin typeface="Times New Roman" panose="02020603050405020304" pitchFamily="18" charset="0"/>
                <a:cs typeface="Times New Roman" panose="02020603050405020304" pitchFamily="18" charset="0"/>
                <a:sym typeface="+mn-ea"/>
              </a:rPr>
              <a:t>//will get memory when instance is created</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System.out.println(count);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Counter c1=new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Counter c2=new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Counter c3=new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lang="en-US" sz="3200" b="1" noProof="0">
                <a:solidFill>
                  <a:srgbClr val="993300"/>
                </a:solidFill>
                <a:latin typeface="Impact" panose="020B0806030902050204" pitchFamily="34" charset="0"/>
                <a:cs typeface="Times New Roman" panose="02020603050405020304" pitchFamily="18" charset="0"/>
                <a:sym typeface="+mn-ea"/>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80670" y="937260"/>
            <a:ext cx="8505825" cy="563118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t>
            </a:r>
            <a:r>
              <a:rPr lang="en-US" b="1">
                <a:solidFill>
                  <a:srgbClr val="FF0000"/>
                </a:solidFill>
                <a:latin typeface="Times New Roman" panose="02020603050405020304" pitchFamily="18" charset="0"/>
                <a:cs typeface="Times New Roman" panose="02020603050405020304" pitchFamily="18" charset="0"/>
                <a:sym typeface="+mn-ea"/>
              </a:rPr>
              <a:t>//Program of counter by static variable</a:t>
            </a:r>
            <a:endParaRPr lang="en-US" b="1">
              <a:solidFill>
                <a:srgbClr val="FF0000"/>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class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static int count=0;</a:t>
            </a:r>
            <a:r>
              <a:rPr lang="en-US" b="1">
                <a:solidFill>
                  <a:srgbClr val="FF0000"/>
                </a:solidFill>
                <a:latin typeface="Times New Roman" panose="02020603050405020304" pitchFamily="18" charset="0"/>
                <a:cs typeface="Times New Roman" panose="02020603050405020304" pitchFamily="18" charset="0"/>
                <a:sym typeface="+mn-ea"/>
              </a:rPr>
              <a:t>//will get memory only once and retain its value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System.out.println(count);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Counter c1=new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Counter c2=new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Counter c3=new Counter();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2) Java static method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62280" y="1828800"/>
            <a:ext cx="8505825"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you apply static keyword with any method, it is known as static method.</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  A static method belongs to the class rather than object of a class.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ii. A static method can be invoked without the need for creating an instance of a class.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iii. static method can access static data member and can change the value of it.</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//Program of changing the common property of all objects(static field).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62280" y="1828800"/>
            <a:ext cx="850582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public class Student{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int rollno;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String name;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static String college = "KIIT";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static void change(){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college = "KISS";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Student(int r, String 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rollno = 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name = n;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1185" y="982980"/>
            <a:ext cx="8248015"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//Program of changing the common property of all objects(static field).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62280" y="1936115"/>
            <a:ext cx="850582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void display (){System.out.println(rollno+" "+name+" "+college);}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Student.change();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Student s1 = new Student(111,"Karan");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Student s2 = new Student(222,"Aryan");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Student s3 = new Student(333,"Laxman");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s1.display();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s2.display();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s3.display();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//Program to get cube of a given number by static method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539115" y="2300605"/>
            <a:ext cx="8505825"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public class Calculate{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static int cube(int x){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return x*x*x;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result=Calculate.cube(5);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System.out.println(result);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Restrictions for static method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99085" y="2300605"/>
            <a:ext cx="8745855" cy="230695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There are two main restrictions for the static method. They are: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The static method can not use non static data member or call    non-static method directly.</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this and super cannot be used in static context.</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Restrictions for static method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99085" y="2300605"/>
            <a:ext cx="8745855" cy="26765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a=40;</a:t>
            </a:r>
            <a:r>
              <a:rPr lang="en-US" b="1">
                <a:solidFill>
                  <a:srgbClr val="FF0000"/>
                </a:solidFill>
                <a:latin typeface="Times New Roman" panose="02020603050405020304" pitchFamily="18" charset="0"/>
                <a:cs typeface="Times New Roman" panose="02020603050405020304" pitchFamily="18" charset="0"/>
                <a:sym typeface="+mn-ea"/>
              </a:rPr>
              <a:t>//non static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why java main method is static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692785" y="2300605"/>
            <a:ext cx="7796530" cy="156845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Because object is not required to call static method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if it were non-static method, jvm create object first then call main() method that will lead the problem of extra memory allocation.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3) Java static block</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7796530" cy="4892675"/>
          </a:xfrm>
          <a:prstGeom prst="rect">
            <a:avLst/>
          </a:prstGeom>
          <a:noFill/>
        </p:spPr>
        <p:txBody>
          <a:bodyPr wrap="square" rtlCol="0" anchor="t">
            <a:spAutoFit/>
          </a:bodyPr>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Is used to initialize the static data member.</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It is executed before main method at the time of classloading.</a:t>
            </a: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FF0000"/>
                </a:solidFill>
                <a:latin typeface="Times New Roman" panose="02020603050405020304" pitchFamily="18" charset="0"/>
                <a:cs typeface="Times New Roman" panose="02020603050405020304" pitchFamily="18" charset="0"/>
                <a:sym typeface="+mn-ea"/>
              </a:rPr>
              <a:t>Example of static block</a:t>
            </a: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class A2{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 static{</a:t>
            </a:r>
            <a:endParaRPr lang="en-US" b="1">
              <a:solidFill>
                <a:srgbClr val="00B050"/>
              </a:solidFill>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System.out.println("static block is invoked");}</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System.out.println("Hello main");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Can we execute a program without main() method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7796530" cy="415417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Yes, one of the way is static block but in previous version of JDK not in JDK 7.</a:t>
            </a: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class A3{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static{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System.out.println("static block is invoked");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System.exit(0);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Output:static block is invoked (if not JDK7)</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static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Can we execute a program without main() method ?</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7796530" cy="193802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In JDK7 and above, output will be:</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Output:Error: Main method not found in class A3, please define the main method as:</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static void main(String[] args)</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Usage of java this keyword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8357235" cy="4523105"/>
          </a:xfrm>
          <a:prstGeom prst="rect">
            <a:avLst/>
          </a:prstGeom>
          <a:noFill/>
        </p:spPr>
        <p:txBody>
          <a:bodyPr wrap="square" rtlCol="0" anchor="t">
            <a:spAutoFit/>
          </a:bodyPr>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this can be used to refer current class instance variable.</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this can be used to invoke current class method (implicitly)</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this() can be used to invoke current class constructor.</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this can be passed as an argument in the method call.</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this can be passed as argument in the constructor call.</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this can be used to return the current class instance from the method.</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1) this: to refer current class instance variable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8357235" cy="156845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The this keyword can be used to refer current class instance variable. If there is ambiguity between the instance variables and parameters, this keyword resolves the problem of ambiguity.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Understanding the problem without this keyword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8357235" cy="415417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class Student{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int rollno;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String name;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float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Student(int rollno,String name,float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rollno=rollno;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name=name;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fee=fee;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void display(){System.out.println(rollno+" "+name+"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Understanding the problem without this keyword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8357235" cy="452310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class TestThis1{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 s1=new Student(111,"ankit",5000f);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 s2=new Student(112,"sumit",6000f);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s1.display();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s2.display();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Output:</a:t>
            </a:r>
            <a:endParaRPr lang="en-US" b="1">
              <a:solidFill>
                <a:srgbClr val="00B050"/>
              </a:solidFill>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solidFill>
                <a:srgbClr val="00B050"/>
              </a:solidFill>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0 null 0.0</a:t>
            </a:r>
            <a:endParaRPr lang="en-US" b="1">
              <a:solidFill>
                <a:srgbClr val="00B050"/>
              </a:solidFill>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0 null 0.0</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Solution of the above problem by this keyword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8357235" cy="415417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class Student{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int rollno;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String name;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float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Student(int rollno,String name,float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this.rollno=rollno;  </a:t>
            </a:r>
            <a:endParaRPr lang="en-US" b="1">
              <a:solidFill>
                <a:srgbClr val="00B050"/>
              </a:solidFill>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this.name=name;  </a:t>
            </a:r>
            <a:endParaRPr lang="en-US" b="1">
              <a:solidFill>
                <a:srgbClr val="00B050"/>
              </a:solidFill>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this.fee=fee;</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void display(){System.out.println(rollno+" "+name+"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81965" y="1763395"/>
            <a:ext cx="8357235" cy="267652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class TestThis{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 s1=new Student(111,"ankit",5000f);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 s2=new Student(112,"sumit",6000f);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s1.display();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s2.display();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2) this: to invoke current class method</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8357235" cy="119888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You may invoke the method of the current class by using the this keyword. If you don't use the this keyword, compiler automatically adds this keyword while invoking the method.</a:t>
            </a:r>
            <a:endParaRPr lang="en-US" b="1">
              <a:latin typeface="Times New Roman" panose="02020603050405020304" pitchFamily="18" charset="0"/>
              <a:cs typeface="Times New Roman" panose="02020603050405020304" pitchFamily="18" charset="0"/>
              <a:sym typeface="+mn-ea"/>
            </a:endParaRPr>
          </a:p>
        </p:txBody>
      </p:sp>
      <p:pic>
        <p:nvPicPr>
          <p:cNvPr id="2" name="Picture 1" descr="thismethod"/>
          <p:cNvPicPr>
            <a:picLocks noChangeAspect="1"/>
          </p:cNvPicPr>
          <p:nvPr/>
        </p:nvPicPr>
        <p:blipFill>
          <a:blip r:embed="rId1"/>
          <a:stretch>
            <a:fillRect/>
          </a:stretch>
        </p:blipFill>
        <p:spPr>
          <a:xfrm>
            <a:off x="884555" y="3055620"/>
            <a:ext cx="7693660" cy="3342640"/>
          </a:xfrm>
          <a:prstGeom prst="rect">
            <a:avLst/>
          </a:prstGeom>
        </p:spPr>
      </p:pic>
    </p:spTree>
  </p:cSld>
  <p:clrMapOvr>
    <a:masterClrMapping/>
  </p:clrMapOvr>
  <p:transition>
    <p:dissolv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93700" y="1144905"/>
            <a:ext cx="8357235" cy="489267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void m(){System.out.println("hello m");}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void n(){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System.out.println("hello n");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//m();//same as this.m()  </a:t>
            </a:r>
            <a:endParaRPr lang="en-US" b="1">
              <a:solidFill>
                <a:srgbClr val="00B050"/>
              </a:solidFill>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this.m();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class TestThis{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 a=new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a.n();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3) this() : to invoke current class constructor</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1965" y="1763395"/>
            <a:ext cx="8357235" cy="119888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The this() constructor call can be used to invoke the current class constructor. It is used to reuse the constructor. In other words, it is used for constructor chaining.</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Calling default constructor from parameterized constructor:</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90855" y="2007235"/>
            <a:ext cx="8357235" cy="415417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A(){System.out.println("hello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A(int x){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System.out.println(x);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class TestThis{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 a=new A(10);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Calling parameterized constructor from default constructor:</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90855" y="2007235"/>
            <a:ext cx="8357235" cy="452310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this(5);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System.out.println("hello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A(int x){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System.out.println(x);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class TestThis{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 a=new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Constructor chaining:</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81965" y="1744980"/>
            <a:ext cx="8357235" cy="489267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class Student{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int rollno;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String name,course;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float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Student(int rollno,String name,String course){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this.rollno=rollno;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this.name=name;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this.course=course;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Student(int rollno,String name,String course,float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this(rollno,name,course);</a:t>
            </a:r>
            <a:r>
              <a:rPr lang="en-US" b="1">
                <a:solidFill>
                  <a:srgbClr val="FF0000"/>
                </a:solidFill>
                <a:latin typeface="Times New Roman" panose="02020603050405020304" pitchFamily="18" charset="0"/>
                <a:cs typeface="Times New Roman" panose="02020603050405020304" pitchFamily="18" charset="0"/>
                <a:sym typeface="+mn-ea"/>
              </a:rPr>
              <a:t>//reusing constructor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this.fee=fee;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Constructor chaining:</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81965" y="1744980"/>
            <a:ext cx="8357235" cy="378460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void display(){System.out.println(rollno+" "+name+" "+course+"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class TestThis{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 s1=new Student(111,"ankit","java");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 s2=new Student(112,"sumit","java",6000f);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s1.display();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s2.display();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Rule: Call to this() must be the first statement in constructor.</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490855" y="1936115"/>
            <a:ext cx="8357235" cy="489267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class Student{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int rollno;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String name,course;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float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Student(int rollno,String name,String course){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this.rollno=rollno;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this.name=name;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this.course=course;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Student(int rollno,String name,String course,float 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this.fee=fee;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FF0000"/>
                </a:solidFill>
                <a:latin typeface="Times New Roman" panose="02020603050405020304" pitchFamily="18" charset="0"/>
                <a:cs typeface="Times New Roman" panose="02020603050405020304" pitchFamily="18" charset="0"/>
                <a:sym typeface="+mn-ea"/>
              </a:rPr>
              <a:t>this(rollno,name,course);//C.T.Error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4) this: to pass as an argument in the method</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0205" y="1626235"/>
            <a:ext cx="8477885" cy="452310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class S2{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void m(S2 obj){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System.out.println("method is invoked");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void p(){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m(this);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S2 s1 = new S2();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s1.p();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5) this: to pass as argument in the constructor call</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0205" y="1626235"/>
            <a:ext cx="8477885" cy="415417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class B{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 obj;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B(A obj){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this.obj=obj;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void display(){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System.out.println(obj.data);</a:t>
            </a:r>
            <a:r>
              <a:rPr lang="en-US" b="1">
                <a:solidFill>
                  <a:srgbClr val="FF0000"/>
                </a:solidFill>
                <a:latin typeface="Times New Roman" panose="02020603050405020304" pitchFamily="18" charset="0"/>
                <a:cs typeface="Times New Roman" panose="02020603050405020304" pitchFamily="18" charset="0"/>
                <a:sym typeface="+mn-ea"/>
              </a:rPr>
              <a:t>//using data member of A class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5) this: to pass as argument in the constructor call</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70205" y="1626235"/>
            <a:ext cx="8477885" cy="341503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public class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int data=10;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B b=new B(this);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b.display();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 a=new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6) this keyword can be used to return current class instance</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61315" y="2085340"/>
            <a:ext cx="8477885" cy="415417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 getA(){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return this;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void msg(){System.out.println("Hello java");}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class Test1{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new A().getA().msg();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Proving this keyword</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61315" y="2085340"/>
            <a:ext cx="8477885" cy="119888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Let's prove that this keyword refers to the current class instance variable. In this program, we are printing the reference variable and this, output of both variables are same.</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9235" y="0"/>
            <a:ext cx="678116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Java this keyword</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370840" y="982980"/>
            <a:ext cx="859663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sym typeface="+mn-ea"/>
              </a:rPr>
              <a:t>Proving this keyword</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61315" y="2085340"/>
            <a:ext cx="8477885" cy="378460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class A5{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void m(){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System.out.println(this);</a:t>
            </a:r>
            <a:r>
              <a:rPr lang="en-US" b="1">
                <a:solidFill>
                  <a:srgbClr val="FF0000"/>
                </a:solidFill>
                <a:latin typeface="Times New Roman" panose="02020603050405020304" pitchFamily="18" charset="0"/>
                <a:cs typeface="Times New Roman" panose="02020603050405020304" pitchFamily="18" charset="0"/>
                <a:sym typeface="+mn-ea"/>
              </a:rPr>
              <a:t>//prints same reference ID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A5 obj=new A5();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System.out.println(obj);</a:t>
            </a:r>
            <a:r>
              <a:rPr lang="en-US" b="1">
                <a:solidFill>
                  <a:srgbClr val="FF0000"/>
                </a:solidFill>
                <a:latin typeface="Times New Roman" panose="02020603050405020304" pitchFamily="18" charset="0"/>
                <a:cs typeface="Times New Roman" panose="02020603050405020304" pitchFamily="18" charset="0"/>
                <a:sym typeface="+mn-ea"/>
              </a:rPr>
              <a:t>//prints the reference ID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obj.m();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transition>
    <p:dissolve/>
  </p:transition>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16768</Words>
  <Application>WPS Presentation</Application>
  <PresentationFormat/>
  <Paragraphs>771</Paragraphs>
  <Slides>55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55</vt:i4>
      </vt:variant>
    </vt:vector>
  </HeadingPairs>
  <TitlesOfParts>
    <vt:vector size="65" baseType="lpstr">
      <vt:lpstr>Arial</vt:lpstr>
      <vt:lpstr>SimSun</vt:lpstr>
      <vt:lpstr>Wingdings</vt:lpstr>
      <vt:lpstr>Times New Roman</vt:lpstr>
      <vt:lpstr>Impact</vt:lpstr>
      <vt:lpstr>Wingdings</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370</cp:revision>
  <dcterms:created xsi:type="dcterms:W3CDTF">2001-06-04T11:43:00Z</dcterms:created>
  <dcterms:modified xsi:type="dcterms:W3CDTF">2021-01-28T04:10:54Z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1033-11.2.0.9967</vt:lpwstr>
  </property>
</Properties>
</file>