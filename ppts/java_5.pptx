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4"/>
  </p:handoutMasterIdLst>
  <p:sldIdLst>
    <p:sldId id="258" r:id="rId3"/>
    <p:sldId id="259" r:id="rId4"/>
    <p:sldId id="260" r:id="rId5"/>
    <p:sldId id="261" r:id="rId6"/>
    <p:sldId id="262" r:id="rId7"/>
    <p:sldId id="263" r:id="rId8"/>
    <p:sldId id="264" r:id="rId9"/>
    <p:sldId id="265" r:id="rId10"/>
    <p:sldId id="266" r:id="rId11"/>
    <p:sldId id="267" r:id="rId12"/>
    <p:sldId id="268" r:id="rId13"/>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856"/>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Command - line Arguments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08940" y="975360"/>
            <a:ext cx="7341235" cy="583565"/>
          </a:xfrm>
          <a:prstGeom prst="rect">
            <a:avLst/>
          </a:prstGeom>
          <a:noFill/>
        </p:spPr>
        <p:txBody>
          <a:bodyPr wrap="square" rtlCol="0" anchor="t">
            <a:spAutoFit/>
          </a:bodyPr>
          <a:p>
            <a:r>
              <a:rPr sz="3200" b="1" spc="-5" dirty="0">
                <a:solidFill>
                  <a:srgbClr val="0000FF"/>
                </a:solidFill>
                <a:latin typeface="Arial" panose="020B0604020202020204"/>
                <a:cs typeface="Arial" panose="020B0604020202020204"/>
                <a:sym typeface="+mn-ea"/>
              </a:rPr>
              <a:t>Command - Line</a:t>
            </a:r>
            <a:r>
              <a:rPr sz="3200" b="1" spc="-10" dirty="0">
                <a:solidFill>
                  <a:srgbClr val="0000FF"/>
                </a:solidFill>
                <a:latin typeface="Arial" panose="020B0604020202020204"/>
                <a:cs typeface="Arial" panose="020B0604020202020204"/>
                <a:sym typeface="+mn-ea"/>
              </a:rPr>
              <a:t> </a:t>
            </a:r>
            <a:r>
              <a:rPr sz="3200" b="1" spc="-5" dirty="0">
                <a:solidFill>
                  <a:srgbClr val="0000FF"/>
                </a:solidFill>
                <a:latin typeface="Arial" panose="020B0604020202020204"/>
                <a:cs typeface="Arial" panose="020B0604020202020204"/>
                <a:sym typeface="+mn-ea"/>
              </a:rPr>
              <a:t>Arguments</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507365" y="1772285"/>
            <a:ext cx="7835900" cy="5002530"/>
          </a:xfrm>
          <a:prstGeom prst="rect">
            <a:avLst/>
          </a:prstGeom>
          <a:noFill/>
        </p:spPr>
        <p:txBody>
          <a:bodyPr wrap="square" rtlCol="0" anchor="t">
            <a:spAutoFit/>
          </a:bodyPr>
          <a:p>
            <a:pPr marL="342900" indent="-342900">
              <a:lnSpc>
                <a:spcPct val="100000"/>
              </a:lnSpc>
              <a:spcBef>
                <a:spcPts val="95"/>
              </a:spcBef>
              <a:buClr>
                <a:srgbClr val="0000FF"/>
              </a:buClr>
              <a:buSzPct val="90000"/>
              <a:buFont typeface="Wingdings" panose="05000000000000000000" charset="0"/>
              <a:buChar char="Ø"/>
              <a:tabLst>
                <a:tab pos="121920" algn="l"/>
              </a:tabLst>
            </a:pPr>
            <a:r>
              <a:rPr spc="-5" dirty="0">
                <a:latin typeface="Times New Roman" panose="02020603050405020304" pitchFamily="18" charset="0"/>
                <a:cs typeface="Times New Roman" panose="02020603050405020304" pitchFamily="18" charset="0"/>
                <a:sym typeface="+mn-ea"/>
              </a:rPr>
              <a:t>A command-line argument is the information that</a:t>
            </a:r>
            <a:r>
              <a:rPr spc="35" dirty="0">
                <a:latin typeface="Times New Roman" panose="02020603050405020304" pitchFamily="18" charset="0"/>
                <a:cs typeface="Times New Roman" panose="02020603050405020304" pitchFamily="18" charset="0"/>
                <a:sym typeface="+mn-ea"/>
              </a:rPr>
              <a:t> </a:t>
            </a:r>
            <a:r>
              <a:rPr spc="-5" dirty="0">
                <a:latin typeface="Times New Roman" panose="02020603050405020304" pitchFamily="18" charset="0"/>
                <a:cs typeface="Times New Roman" panose="02020603050405020304" pitchFamily="18" charset="0"/>
                <a:sym typeface="+mn-ea"/>
              </a:rPr>
              <a:t>directly </a:t>
            </a:r>
            <a:r>
              <a:rPr lang="en-US" spc="-5" dirty="0">
                <a:latin typeface="Times New Roman" panose="02020603050405020304" pitchFamily="18" charset="0"/>
                <a:cs typeface="Times New Roman" panose="02020603050405020304" pitchFamily="18" charset="0"/>
                <a:sym typeface="+mn-ea"/>
              </a:rPr>
              <a:t>f</a:t>
            </a:r>
            <a:r>
              <a:rPr spc="-10" dirty="0">
                <a:latin typeface="Times New Roman" panose="02020603050405020304" pitchFamily="18" charset="0"/>
                <a:cs typeface="Times New Roman" panose="02020603050405020304" pitchFamily="18" charset="0"/>
                <a:sym typeface="+mn-ea"/>
              </a:rPr>
              <a:t>ollows </a:t>
            </a:r>
            <a:r>
              <a:rPr spc="-5" dirty="0">
                <a:latin typeface="Times New Roman" panose="02020603050405020304" pitchFamily="18" charset="0"/>
                <a:cs typeface="Times New Roman" panose="02020603050405020304" pitchFamily="18" charset="0"/>
                <a:sym typeface="+mn-ea"/>
              </a:rPr>
              <a:t>the </a:t>
            </a:r>
            <a:r>
              <a:rPr spc="-10" dirty="0">
                <a:latin typeface="Times New Roman" panose="02020603050405020304" pitchFamily="18" charset="0"/>
                <a:cs typeface="Times New Roman" panose="02020603050405020304" pitchFamily="18" charset="0"/>
                <a:sym typeface="+mn-ea"/>
              </a:rPr>
              <a:t>program’s </a:t>
            </a:r>
            <a:r>
              <a:rPr spc="-5" dirty="0">
                <a:latin typeface="Times New Roman" panose="02020603050405020304" pitchFamily="18" charset="0"/>
                <a:cs typeface="Times New Roman" panose="02020603050405020304" pitchFamily="18" charset="0"/>
                <a:sym typeface="+mn-ea"/>
              </a:rPr>
              <a:t>name on the command line when it  is</a:t>
            </a:r>
            <a:r>
              <a:rPr spc="-10" dirty="0">
                <a:latin typeface="Times New Roman" panose="02020603050405020304" pitchFamily="18" charset="0"/>
                <a:cs typeface="Times New Roman" panose="02020603050405020304" pitchFamily="18" charset="0"/>
                <a:sym typeface="+mn-ea"/>
              </a:rPr>
              <a:t> executed</a:t>
            </a:r>
            <a:endParaRPr spc="-10" dirty="0">
              <a:latin typeface="Times New Roman" panose="02020603050405020304" pitchFamily="18" charset="0"/>
              <a:cs typeface="Times New Roman" panose="02020603050405020304" pitchFamily="18" charset="0"/>
              <a:sym typeface="+mn-ea"/>
            </a:endParaRPr>
          </a:p>
          <a:p>
            <a:pPr marL="342900" indent="-342900">
              <a:lnSpc>
                <a:spcPct val="100000"/>
              </a:lnSpc>
              <a:spcBef>
                <a:spcPts val="95"/>
              </a:spcBef>
              <a:buClr>
                <a:srgbClr val="0000FF"/>
              </a:buClr>
              <a:buSzPct val="90000"/>
              <a:buFont typeface="Wingdings" panose="05000000000000000000" charset="0"/>
              <a:buChar char="Ø"/>
              <a:tabLst>
                <a:tab pos="121920" algn="l"/>
              </a:tabLst>
            </a:pPr>
            <a:endParaRPr spc="-10" dirty="0">
              <a:latin typeface="Times New Roman" panose="02020603050405020304" pitchFamily="18" charset="0"/>
              <a:cs typeface="Times New Roman" panose="02020603050405020304" pitchFamily="18" charset="0"/>
              <a:sym typeface="+mn-ea"/>
            </a:endParaRPr>
          </a:p>
          <a:p>
            <a:pPr marL="342900" indent="-342900">
              <a:lnSpc>
                <a:spcPct val="100000"/>
              </a:lnSpc>
              <a:spcBef>
                <a:spcPts val="95"/>
              </a:spcBef>
              <a:buClr>
                <a:srgbClr val="0000FF"/>
              </a:buClr>
              <a:buSzPct val="90000"/>
              <a:buFont typeface="Wingdings" panose="05000000000000000000" charset="0"/>
              <a:buChar char="Ø"/>
              <a:tabLst>
                <a:tab pos="121920" algn="l"/>
              </a:tabLst>
            </a:pPr>
            <a:r>
              <a:rPr spc="-5" dirty="0">
                <a:latin typeface="Times New Roman" panose="02020603050405020304" pitchFamily="18" charset="0"/>
                <a:cs typeface="Times New Roman" panose="02020603050405020304" pitchFamily="18" charset="0"/>
                <a:sym typeface="+mn-ea"/>
              </a:rPr>
              <a:t>The command-line arguments are stored as strings in</a:t>
            </a:r>
            <a:r>
              <a:rPr spc="45" dirty="0">
                <a:latin typeface="Times New Roman" panose="02020603050405020304" pitchFamily="18" charset="0"/>
                <a:cs typeface="Times New Roman" panose="02020603050405020304" pitchFamily="18" charset="0"/>
                <a:sym typeface="+mn-ea"/>
              </a:rPr>
              <a:t> </a:t>
            </a:r>
            <a:r>
              <a:rPr spc="-5" dirty="0">
                <a:latin typeface="Times New Roman" panose="02020603050405020304" pitchFamily="18" charset="0"/>
                <a:cs typeface="Times New Roman" panose="02020603050405020304" pitchFamily="18" charset="0"/>
                <a:sym typeface="+mn-ea"/>
              </a:rPr>
              <a:t>the</a:t>
            </a:r>
            <a:r>
              <a:rPr spc="-10" dirty="0">
                <a:latin typeface="Times New Roman" panose="02020603050405020304" pitchFamily="18" charset="0"/>
                <a:cs typeface="Times New Roman" panose="02020603050405020304" pitchFamily="18" charset="0"/>
                <a:sym typeface="+mn-ea"/>
              </a:rPr>
              <a:t> </a:t>
            </a:r>
            <a:r>
              <a:rPr dirty="0">
                <a:solidFill>
                  <a:srgbClr val="FF0000"/>
                </a:solidFill>
                <a:latin typeface="Times New Roman" panose="02020603050405020304" pitchFamily="18" charset="0"/>
                <a:cs typeface="Times New Roman" panose="02020603050405020304" pitchFamily="18" charset="0"/>
                <a:sym typeface="+mn-ea"/>
              </a:rPr>
              <a:t>String </a:t>
            </a:r>
            <a:r>
              <a:rPr spc="-10" dirty="0">
                <a:latin typeface="Times New Roman" panose="02020603050405020304" pitchFamily="18" charset="0"/>
                <a:cs typeface="Times New Roman" panose="02020603050405020304" pitchFamily="18" charset="0"/>
                <a:sym typeface="+mn-ea"/>
              </a:rPr>
              <a:t>array </a:t>
            </a:r>
            <a:r>
              <a:rPr spc="-5" dirty="0">
                <a:latin typeface="Times New Roman" panose="02020603050405020304" pitchFamily="18" charset="0"/>
                <a:cs typeface="Times New Roman" panose="02020603050405020304" pitchFamily="18" charset="0"/>
                <a:sym typeface="+mn-ea"/>
              </a:rPr>
              <a:t>passed to main(</a:t>
            </a:r>
            <a:r>
              <a:rPr spc="-60" dirty="0">
                <a:latin typeface="Times New Roman" panose="02020603050405020304" pitchFamily="18" charset="0"/>
                <a:cs typeface="Times New Roman" panose="02020603050405020304" pitchFamily="18" charset="0"/>
                <a:sym typeface="+mn-ea"/>
              </a:rPr>
              <a:t> </a:t>
            </a:r>
            <a:r>
              <a:rPr spc="-5" dirty="0">
                <a:latin typeface="Times New Roman" panose="02020603050405020304" pitchFamily="18" charset="0"/>
                <a:cs typeface="Times New Roman" panose="02020603050405020304" pitchFamily="18" charset="0"/>
                <a:sym typeface="+mn-ea"/>
              </a:rPr>
              <a:t>)</a:t>
            </a:r>
            <a:endParaRPr spc="-10" dirty="0">
              <a:latin typeface="Times New Roman" panose="02020603050405020304" pitchFamily="18" charset="0"/>
              <a:cs typeface="Times New Roman" panose="02020603050405020304" pitchFamily="18" charset="0"/>
              <a:sym typeface="+mn-ea"/>
            </a:endParaRPr>
          </a:p>
          <a:p>
            <a:pPr marL="121285" indent="-121285">
              <a:lnSpc>
                <a:spcPct val="100000"/>
              </a:lnSpc>
              <a:spcBef>
                <a:spcPts val="95"/>
              </a:spcBef>
              <a:buClr>
                <a:srgbClr val="0000FF"/>
              </a:buClr>
              <a:buSzPct val="90000"/>
              <a:buFont typeface="Arial" panose="020B0604020202020204"/>
              <a:buChar char="•"/>
              <a:tabLst>
                <a:tab pos="121920" algn="l"/>
              </a:tabLst>
            </a:pPr>
            <a:endParaRPr lang="en-US">
              <a:latin typeface="Times New Roman" panose="02020603050405020304" pitchFamily="18" charset="0"/>
              <a:cs typeface="Times New Roman" panose="02020603050405020304" pitchFamily="18" charset="0"/>
            </a:endParaRPr>
          </a:p>
          <a:p>
            <a:pPr>
              <a:lnSpc>
                <a:spcPct val="100000"/>
              </a:lnSpc>
              <a:spcBef>
                <a:spcPts val="95"/>
              </a:spcBef>
              <a:buClr>
                <a:srgbClr val="0000FF"/>
              </a:buClr>
              <a:buSzPct val="90000"/>
              <a:buFont typeface="Arial" panose="020B0604020202020204"/>
              <a:tabLst>
                <a:tab pos="121920" algn="l"/>
              </a:tabLst>
            </a:pPr>
            <a:r>
              <a:rPr lang="en-US">
                <a:latin typeface="Times New Roman" panose="02020603050405020304" pitchFamily="18" charset="0"/>
                <a:cs typeface="Times New Roman" panose="02020603050405020304" pitchFamily="18" charset="0"/>
              </a:rPr>
              <a:t>   class CommandLineExample</a:t>
            </a:r>
            <a:endParaRPr lang="en-US">
              <a:latin typeface="Times New Roman" panose="02020603050405020304" pitchFamily="18" charset="0"/>
              <a:cs typeface="Times New Roman" panose="02020603050405020304" pitchFamily="18" charset="0"/>
            </a:endParaRPr>
          </a:p>
          <a:p>
            <a:pPr>
              <a:lnSpc>
                <a:spcPct val="100000"/>
              </a:lnSpc>
              <a:spcBef>
                <a:spcPts val="95"/>
              </a:spcBef>
              <a:buClr>
                <a:srgbClr val="0000FF"/>
              </a:buClr>
              <a:buSzPct val="90000"/>
              <a:buFont typeface="Arial" panose="020B0604020202020204"/>
              <a:tabLst>
                <a:tab pos="121920" algn="l"/>
              </a:tabLst>
            </a:pPr>
            <a:r>
              <a:rPr lang="en-US">
                <a:latin typeface="Times New Roman" panose="02020603050405020304" pitchFamily="18" charset="0"/>
                <a:cs typeface="Times New Roman" panose="02020603050405020304" pitchFamily="18" charset="0"/>
              </a:rPr>
              <a:t>   {  </a:t>
            </a:r>
            <a:endParaRPr lang="en-US">
              <a:latin typeface="Times New Roman" panose="02020603050405020304" pitchFamily="18" charset="0"/>
              <a:cs typeface="Times New Roman" panose="02020603050405020304" pitchFamily="18" charset="0"/>
            </a:endParaRPr>
          </a:p>
          <a:p>
            <a:pPr>
              <a:lnSpc>
                <a:spcPct val="100000"/>
              </a:lnSpc>
              <a:spcBef>
                <a:spcPts val="95"/>
              </a:spcBef>
              <a:buClr>
                <a:srgbClr val="0000FF"/>
              </a:buClr>
              <a:buSzPct val="90000"/>
              <a:buFont typeface="Arial" panose="020B0604020202020204"/>
              <a:tabLst>
                <a:tab pos="121920" algn="l"/>
              </a:tabLst>
            </a:pPr>
            <a:r>
              <a:rPr lang="en-US">
                <a:latin typeface="Times New Roman" panose="02020603050405020304" pitchFamily="18" charset="0"/>
                <a:cs typeface="Times New Roman" panose="02020603050405020304" pitchFamily="18" charset="0"/>
              </a:rPr>
              <a:t>    public static void main(String args[]){  </a:t>
            </a:r>
            <a:endParaRPr lang="en-US">
              <a:latin typeface="Times New Roman" panose="02020603050405020304" pitchFamily="18" charset="0"/>
              <a:cs typeface="Times New Roman" panose="02020603050405020304" pitchFamily="18" charset="0"/>
            </a:endParaRPr>
          </a:p>
          <a:p>
            <a:pPr>
              <a:lnSpc>
                <a:spcPct val="100000"/>
              </a:lnSpc>
              <a:spcBef>
                <a:spcPts val="95"/>
              </a:spcBef>
              <a:buClr>
                <a:srgbClr val="0000FF"/>
              </a:buClr>
              <a:buSzPct val="90000"/>
              <a:buFont typeface="Arial" panose="020B0604020202020204"/>
              <a:tabLst>
                <a:tab pos="121920" algn="l"/>
              </a:tabLst>
            </a:pPr>
            <a:r>
              <a:rPr lang="en-US">
                <a:latin typeface="Times New Roman" panose="02020603050405020304" pitchFamily="18" charset="0"/>
                <a:cs typeface="Times New Roman" panose="02020603050405020304" pitchFamily="18" charset="0"/>
              </a:rPr>
              <a:t>    System.out.println("Your first argument is: "+args[0]);  </a:t>
            </a:r>
            <a:endParaRPr lang="en-US">
              <a:latin typeface="Times New Roman" panose="02020603050405020304" pitchFamily="18" charset="0"/>
              <a:cs typeface="Times New Roman" panose="02020603050405020304" pitchFamily="18" charset="0"/>
            </a:endParaRPr>
          </a:p>
          <a:p>
            <a:pPr>
              <a:lnSpc>
                <a:spcPct val="100000"/>
              </a:lnSpc>
              <a:spcBef>
                <a:spcPts val="95"/>
              </a:spcBef>
              <a:buClr>
                <a:srgbClr val="0000FF"/>
              </a:buClr>
              <a:buSzPct val="90000"/>
              <a:buFont typeface="Arial" panose="020B0604020202020204"/>
              <a:tabLst>
                <a:tab pos="121920" algn="l"/>
              </a:tabLst>
            </a:pPr>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pPr>
              <a:lnSpc>
                <a:spcPct val="100000"/>
              </a:lnSpc>
              <a:spcBef>
                <a:spcPts val="95"/>
              </a:spcBef>
              <a:buClr>
                <a:srgbClr val="0000FF"/>
              </a:buClr>
              <a:buSzPct val="90000"/>
              <a:buFont typeface="Arial" panose="020B0604020202020204"/>
              <a:tabLst>
                <a:tab pos="121920" algn="l"/>
              </a:tabLst>
            </a:pPr>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Command - line Arguments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2560320"/>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dirty="0">
                <a:latin typeface="Arial" panose="020B0604020202020204"/>
                <a:cs typeface="Arial" panose="020B0604020202020204"/>
                <a:sym typeface="+mn-ea"/>
              </a:rPr>
              <a:t>compile by &gt; javac CommandLineExample.java  </a:t>
            </a:r>
            <a:endParaRPr dirty="0">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dirty="0">
                <a:latin typeface="Arial" panose="020B0604020202020204"/>
                <a:cs typeface="Arial" panose="020B0604020202020204"/>
                <a:sym typeface="+mn-ea"/>
              </a:rPr>
              <a:t>run by &gt; java CommandLineExample </a:t>
            </a:r>
            <a:r>
              <a:rPr lang="en-US" dirty="0">
                <a:latin typeface="Arial" panose="020B0604020202020204"/>
                <a:cs typeface="Arial" panose="020B0604020202020204"/>
                <a:sym typeface="+mn-ea"/>
              </a:rPr>
              <a:t>Amit</a:t>
            </a:r>
            <a:endParaRPr lang="en-US" dirty="0">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dirty="0">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rgbClr val="FF0000"/>
                </a:solidFill>
                <a:latin typeface="Arial" panose="020B0604020202020204"/>
                <a:cs typeface="Arial" panose="020B0604020202020204"/>
                <a:sym typeface="+mn-ea"/>
              </a:rPr>
              <a:t>Output: Your first argument is: Amit</a:t>
            </a:r>
            <a:endParaRPr lang="en-US"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dirty="0">
              <a:solidFill>
                <a:srgbClr val="FF0000"/>
              </a:solidFill>
              <a:latin typeface="Arial" panose="020B0604020202020204"/>
              <a:cs typeface="Arial" panose="020B0604020202020204"/>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Command - line Arguments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5029835"/>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u="sng" dirty="0">
                <a:solidFill>
                  <a:srgbClr val="FF0000"/>
                </a:solidFill>
                <a:latin typeface="Arial" panose="020B0604020202020204"/>
                <a:cs typeface="Arial" panose="020B0604020202020204"/>
                <a:sym typeface="+mn-ea"/>
              </a:rPr>
              <a:t>Example of command-line argument that prints all the values</a:t>
            </a:r>
            <a:endParaRPr lang="en-US"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rgbClr val="FF0000"/>
                </a:solidFill>
                <a:latin typeface="Arial" panose="020B0604020202020204"/>
                <a:cs typeface="Arial" panose="020B0604020202020204"/>
                <a:sym typeface="+mn-ea"/>
              </a:rPr>
              <a:t>    </a:t>
            </a:r>
            <a:r>
              <a:rPr lang="en-US" dirty="0">
                <a:solidFill>
                  <a:schemeClr val="tx1"/>
                </a:solidFill>
                <a:latin typeface="Arial" panose="020B0604020202020204"/>
                <a:cs typeface="Arial" panose="020B0604020202020204"/>
                <a:sym typeface="+mn-ea"/>
              </a:rPr>
              <a:t>class A{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public static void main(String args[]){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for(int i=0;i&lt;args.length;i++)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System.out.println(args[i]);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  }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compile by &gt; javac A.java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run by &gt; java A  Amit 1 3 abc  </a:t>
            </a:r>
            <a:endParaRPr lang="en-US" dirty="0">
              <a:solidFill>
                <a:schemeClr val="tx1"/>
              </a:solidFill>
              <a:latin typeface="Arial" panose="020B0604020202020204"/>
              <a:cs typeface="Arial" panose="020B0604020202020204"/>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Command - line Arguments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2140585"/>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Output: </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Amit</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1</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3</a:t>
            </a:r>
            <a:endParaRPr lang="en-US" dirty="0">
              <a:solidFill>
                <a:schemeClr val="tx1"/>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dirty="0">
                <a:solidFill>
                  <a:schemeClr val="tx1"/>
                </a:solidFill>
                <a:latin typeface="Arial" panose="020B0604020202020204"/>
                <a:cs typeface="Arial" panose="020B0604020202020204"/>
                <a:sym typeface="+mn-ea"/>
              </a:rPr>
              <a:t>       abc</a:t>
            </a:r>
            <a:endParaRPr lang="en-US" dirty="0">
              <a:solidFill>
                <a:schemeClr val="tx1"/>
              </a:solidFill>
              <a:latin typeface="Arial" panose="020B0604020202020204"/>
              <a:cs typeface="Arial" panose="020B0604020202020204"/>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Read input from console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5297805"/>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b="1" u="sng" dirty="0">
                <a:solidFill>
                  <a:srgbClr val="FF0000"/>
                </a:solidFill>
                <a:latin typeface="Arial" panose="020B0604020202020204"/>
                <a:cs typeface="Arial" panose="020B0604020202020204"/>
                <a:sym typeface="+mn-ea"/>
              </a:rPr>
              <a:t>1.Using Buffered Reader Class :</a:t>
            </a:r>
            <a:endParaRPr lang="en-US" b="1"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b="1"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This is the Java classical method to take input, Introduced in JDK1.0. This method is used by wrapping the System.in (standard input stream) in an InputStreamReader which is wrapped in a BufferedReader, we can read input from the user in the command line.</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FF0000"/>
                </a:solidFill>
                <a:latin typeface="Times New Roman" panose="02020603050405020304" pitchFamily="18" charset="0"/>
                <a:cs typeface="Times New Roman" panose="02020603050405020304" pitchFamily="18" charset="0"/>
                <a:sym typeface="+mn-ea"/>
              </a:rPr>
              <a:t>Advantages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The input is buffered for efficient reading.</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FF0000"/>
                </a:solidFill>
                <a:latin typeface="Times New Roman" panose="02020603050405020304" pitchFamily="18" charset="0"/>
                <a:cs typeface="Times New Roman" panose="02020603050405020304" pitchFamily="18" charset="0"/>
                <a:sym typeface="+mn-ea"/>
              </a:rPr>
              <a:t>Drawback:</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The wrapping code is hard to remember.</a:t>
            </a:r>
            <a:endParaRPr lang="en-US"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Command - line Arguments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292100" y="985520"/>
            <a:ext cx="8051165" cy="5801995"/>
          </a:xfrm>
          <a:prstGeom prst="rect">
            <a:avLst/>
          </a:prstGeom>
          <a:noFill/>
        </p:spPr>
        <p:txBody>
          <a:bodyPr wrap="square" rtlCol="0" anchor="t">
            <a:spAutoFit/>
          </a:bodyPr>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import java.io.BufferedReader;</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import java.io.IOException;</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import java.io.InputStreamReader;</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public class Test </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public static void main(String[] args) throws IOException </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a:t>
            </a:r>
            <a:r>
              <a:rPr dirty="0">
                <a:solidFill>
                  <a:srgbClr val="00B050"/>
                </a:solidFill>
                <a:latin typeface="Times New Roman" panose="02020603050405020304" pitchFamily="18" charset="0"/>
                <a:cs typeface="Times New Roman" panose="02020603050405020304" pitchFamily="18" charset="0"/>
                <a:sym typeface="+mn-ea"/>
              </a:rPr>
              <a:t> //Enter data using BufferReader</a:t>
            </a:r>
            <a:endParaRPr dirty="0">
              <a:solidFill>
                <a:srgbClr val="00B050"/>
              </a:solidFill>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BufferedReader reader = </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new BufferedReader(new InputStreamReader(System.in));</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a:t>
            </a:r>
            <a:r>
              <a:rPr dirty="0">
                <a:solidFill>
                  <a:srgbClr val="00B050"/>
                </a:solidFill>
                <a:latin typeface="Times New Roman" panose="02020603050405020304" pitchFamily="18" charset="0"/>
                <a:cs typeface="Times New Roman" panose="02020603050405020304" pitchFamily="18" charset="0"/>
                <a:sym typeface="+mn-ea"/>
              </a:rPr>
              <a:t>// Reading data using readLine</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String name = reader.readLine();</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a:t>
            </a:r>
            <a:r>
              <a:rPr dirty="0">
                <a:solidFill>
                  <a:srgbClr val="00B050"/>
                </a:solidFill>
                <a:latin typeface="Times New Roman" panose="02020603050405020304" pitchFamily="18" charset="0"/>
                <a:cs typeface="Times New Roman" panose="02020603050405020304" pitchFamily="18" charset="0"/>
                <a:sym typeface="+mn-ea"/>
              </a:rPr>
              <a:t>// Printing the read line</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System.out.println(name);        </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    }}</a:t>
            </a:r>
            <a:endParaRPr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Command - line Arguments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292100" y="985520"/>
            <a:ext cx="8051165" cy="3107055"/>
          </a:xfrm>
          <a:prstGeom prst="rect">
            <a:avLst/>
          </a:prstGeom>
          <a:noFill/>
        </p:spPr>
        <p:txBody>
          <a:bodyPr wrap="square" rtlCol="0" anchor="t">
            <a:spAutoFit/>
          </a:bodyPr>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Input:</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lang="en-US" dirty="0">
                <a:latin typeface="Times New Roman" panose="02020603050405020304" pitchFamily="18" charset="0"/>
                <a:cs typeface="Times New Roman" panose="02020603050405020304" pitchFamily="18" charset="0"/>
                <a:sym typeface="+mn-ea"/>
              </a:rPr>
              <a:t>Amit</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dirty="0">
                <a:latin typeface="Times New Roman" panose="02020603050405020304" pitchFamily="18" charset="0"/>
                <a:cs typeface="Times New Roman" panose="02020603050405020304" pitchFamily="18" charset="0"/>
                <a:sym typeface="+mn-ea"/>
              </a:rPr>
              <a:t>Output:</a:t>
            </a:r>
            <a:endParaRPr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lang="en-US" dirty="0">
                <a:latin typeface="Times New Roman" panose="02020603050405020304" pitchFamily="18" charset="0"/>
                <a:cs typeface="Times New Roman" panose="02020603050405020304" pitchFamily="18" charset="0"/>
                <a:sym typeface="+mn-ea"/>
              </a:rPr>
              <a:t>Amit</a:t>
            </a:r>
            <a:endParaRPr lang="en-US"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endParaRPr lang="en-US" dirty="0">
              <a:latin typeface="Times New Roman" panose="02020603050405020304" pitchFamily="18" charset="0"/>
              <a:cs typeface="Times New Roman" panose="02020603050405020304" pitchFamily="18" charset="0"/>
              <a:sym typeface="+mn-ea"/>
            </a:endParaRPr>
          </a:p>
          <a:p>
            <a:pPr>
              <a:lnSpc>
                <a:spcPct val="100000"/>
              </a:lnSpc>
              <a:spcBef>
                <a:spcPts val="95"/>
              </a:spcBef>
              <a:buClr>
                <a:srgbClr val="0000FF"/>
              </a:buClr>
              <a:buSzPct val="90000"/>
              <a:buFont typeface="Wingdings" panose="05000000000000000000" charset="0"/>
              <a:tabLst>
                <a:tab pos="121920" algn="l"/>
              </a:tabLst>
            </a:pPr>
            <a:r>
              <a:rPr lang="en-US" b="1" dirty="0">
                <a:solidFill>
                  <a:srgbClr val="FF0000"/>
                </a:solidFill>
                <a:latin typeface="Times New Roman" panose="02020603050405020304" pitchFamily="18" charset="0"/>
                <a:cs typeface="Times New Roman" panose="02020603050405020304" pitchFamily="18" charset="0"/>
                <a:sym typeface="+mn-ea"/>
              </a:rPr>
              <a:t>Note:</a:t>
            </a:r>
            <a:r>
              <a:rPr lang="en-US" b="1" dirty="0">
                <a:latin typeface="Times New Roman" panose="02020603050405020304" pitchFamily="18" charset="0"/>
                <a:cs typeface="Times New Roman" panose="02020603050405020304" pitchFamily="18" charset="0"/>
                <a:sym typeface="+mn-ea"/>
              </a:rPr>
              <a:t> To read other types, we use functions like Integer.parseInt()</a:t>
            </a:r>
            <a:r>
              <a:rPr lang="en-US" b="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Double.parseDouble(). To read multiple values, we use split().</a:t>
            </a:r>
            <a:endParaRPr lang="en-US"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Read input from console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5247005"/>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b="1" u="sng" dirty="0">
                <a:solidFill>
                  <a:srgbClr val="FF0000"/>
                </a:solidFill>
                <a:latin typeface="Arial" panose="020B0604020202020204"/>
                <a:cs typeface="Arial" panose="020B0604020202020204"/>
                <a:sym typeface="+mn-ea"/>
              </a:rPr>
              <a:t>2. Using Scanner Class</a:t>
            </a:r>
            <a:endParaRPr lang="en-US" b="1"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endParaRPr lang="en-US" b="1"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This is probably the most preferred method to take input. The main purpose of the Scanner class is to parse primitive types and strings using regular expressions, however it is also can be used to read input from the user in the command line.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FF0000"/>
                </a:solidFill>
                <a:latin typeface="Times New Roman" panose="02020603050405020304" pitchFamily="18" charset="0"/>
                <a:cs typeface="Times New Roman" panose="02020603050405020304" pitchFamily="18" charset="0"/>
                <a:sym typeface="+mn-ea"/>
              </a:rPr>
              <a:t>Advantages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355600" indent="-342900">
              <a:lnSpc>
                <a:spcPct val="100000"/>
              </a:lnSpc>
              <a:spcBef>
                <a:spcPts val="395"/>
              </a:spcBef>
              <a:buClr>
                <a:srgbClr val="0000FF"/>
              </a:buClr>
              <a:buSzPct val="90000"/>
              <a:buFont typeface="Wingdings" panose="05000000000000000000" charset="0"/>
              <a:buChar char="Ø"/>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Convenient methods for parsing primitives (nextInt(), nextFloat(), …) from the tokenized input.</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355600" indent="-342900">
              <a:lnSpc>
                <a:spcPct val="100000"/>
              </a:lnSpc>
              <a:spcBef>
                <a:spcPts val="395"/>
              </a:spcBef>
              <a:buClr>
                <a:srgbClr val="0000FF"/>
              </a:buClr>
              <a:buSzPct val="90000"/>
              <a:buFont typeface="Wingdings" panose="05000000000000000000" charset="0"/>
              <a:buChar char="Ø"/>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Regular expressions can be used to find tokens.</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FF0000"/>
                </a:solidFill>
                <a:latin typeface="Times New Roman" panose="02020603050405020304" pitchFamily="18" charset="0"/>
                <a:cs typeface="Times New Roman" panose="02020603050405020304" pitchFamily="18" charset="0"/>
                <a:sym typeface="+mn-ea"/>
              </a:rPr>
              <a:t>Drawback:</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The reading methods are not synchronized</a:t>
            </a:r>
            <a:endParaRPr lang="en-US"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Read input from console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5869940"/>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b="1" dirty="0">
                <a:solidFill>
                  <a:srgbClr val="00B050"/>
                </a:solidFill>
                <a:latin typeface="Times New Roman" panose="02020603050405020304" pitchFamily="18" charset="0"/>
                <a:cs typeface="Times New Roman" panose="02020603050405020304" pitchFamily="18" charset="0"/>
                <a:sym typeface="+mn-ea"/>
              </a:rPr>
              <a:t>// Java program to demonstrate working of Scanner in</a:t>
            </a:r>
            <a:r>
              <a:rPr lang="en-US" b="1" dirty="0">
                <a:solidFill>
                  <a:schemeClr val="tx1"/>
                </a:solidFill>
                <a:latin typeface="Times New Roman" panose="02020603050405020304" pitchFamily="18" charset="0"/>
                <a:cs typeface="Times New Roman" panose="02020603050405020304" pitchFamily="18" charset="0"/>
                <a:sym typeface="+mn-ea"/>
              </a:rPr>
              <a:t> import java.util.Scanner;</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class GetInputFromUser</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public static void main(String args[])</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   </a:t>
            </a:r>
            <a:r>
              <a:rPr lang="en-US" b="1" dirty="0">
                <a:solidFill>
                  <a:srgbClr val="00B050"/>
                </a:solidFill>
                <a:latin typeface="Times New Roman" panose="02020603050405020304" pitchFamily="18" charset="0"/>
                <a:cs typeface="Times New Roman" panose="02020603050405020304" pitchFamily="18" charset="0"/>
                <a:sym typeface="+mn-ea"/>
              </a:rPr>
              <a:t>// Using Scanner for Getting Input from User</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Scanner in = new Scanner(System.in);</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String s = in.nextLine();</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System.out.println("You entered string "+s);</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int a = in.nextInt();</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System.out.println("You entered integer "+a);</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float b = in.nextFloat();</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        System.out.println("You entered float "+b);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a:t>
            </a:r>
            <a:endParaRPr lang="en-US"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Read input from console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47980" y="1050925"/>
            <a:ext cx="7835900" cy="5247005"/>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b="1" u="sng" dirty="0">
                <a:solidFill>
                  <a:srgbClr val="FF0000"/>
                </a:solidFill>
                <a:latin typeface="Arial" panose="020B0604020202020204"/>
                <a:cs typeface="Arial" panose="020B0604020202020204"/>
                <a:sym typeface="+mn-ea"/>
              </a:rPr>
              <a:t>3. Using Console Class</a:t>
            </a:r>
            <a:endParaRPr lang="en-US" b="1" u="sng" dirty="0">
              <a:solidFill>
                <a:srgbClr val="FF0000"/>
              </a:solidFill>
              <a:latin typeface="Arial" panose="020B0604020202020204"/>
              <a:cs typeface="Arial" panose="020B0604020202020204"/>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It has been becoming a preferred way for reading user’s input from the command line. In addition, it can be used for reading password-like input without echoing the characters entered by the user; the format string syntax can also be used (like System.out.printf()).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FF0000"/>
                </a:solidFill>
                <a:latin typeface="Times New Roman" panose="02020603050405020304" pitchFamily="18" charset="0"/>
                <a:cs typeface="Times New Roman" panose="02020603050405020304" pitchFamily="18" charset="0"/>
                <a:sym typeface="+mn-ea"/>
              </a:rPr>
              <a:t>Advantages :</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355600" indent="-342900">
              <a:lnSpc>
                <a:spcPct val="100000"/>
              </a:lnSpc>
              <a:spcBef>
                <a:spcPts val="395"/>
              </a:spcBef>
              <a:buClr>
                <a:srgbClr val="0000FF"/>
              </a:buClr>
              <a:buSzPct val="90000"/>
              <a:buFont typeface="Wingdings" panose="05000000000000000000" charset="0"/>
              <a:buChar char="Ø"/>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Reading password without echoing the entered characters.</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355600" indent="-342900">
              <a:lnSpc>
                <a:spcPct val="100000"/>
              </a:lnSpc>
              <a:spcBef>
                <a:spcPts val="395"/>
              </a:spcBef>
              <a:buClr>
                <a:srgbClr val="0000FF"/>
              </a:buClr>
              <a:buSzPct val="90000"/>
              <a:buFont typeface="Wingdings" panose="05000000000000000000" charset="0"/>
              <a:buChar char="Ø"/>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Reading methods are synchronized.</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355600" indent="-342900">
              <a:lnSpc>
                <a:spcPct val="100000"/>
              </a:lnSpc>
              <a:spcBef>
                <a:spcPts val="395"/>
              </a:spcBef>
              <a:buClr>
                <a:srgbClr val="0000FF"/>
              </a:buClr>
              <a:buSzPct val="90000"/>
              <a:buFont typeface="Wingdings" panose="05000000000000000000" charset="0"/>
              <a:buChar char="Ø"/>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Format string syntax can be used.</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Wingdings" panose="05000000000000000000" charset="0"/>
              <a:tabLst>
                <a:tab pos="134620" algn="l"/>
              </a:tabLst>
            </a:pPr>
            <a:r>
              <a:rPr lang="en-US" b="1" dirty="0">
                <a:solidFill>
                  <a:srgbClr val="FF0000"/>
                </a:solidFill>
                <a:latin typeface="Times New Roman" panose="02020603050405020304" pitchFamily="18" charset="0"/>
                <a:cs typeface="Times New Roman" panose="02020603050405020304" pitchFamily="18" charset="0"/>
                <a:sym typeface="+mn-ea"/>
              </a:rPr>
              <a:t>Drawback:</a:t>
            </a:r>
            <a:endParaRPr lang="en-US" b="1" dirty="0">
              <a:solidFill>
                <a:schemeClr val="tx1"/>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chemeClr val="tx1"/>
                </a:solidFill>
                <a:latin typeface="Times New Roman" panose="02020603050405020304" pitchFamily="18" charset="0"/>
                <a:cs typeface="Times New Roman" panose="02020603050405020304" pitchFamily="18" charset="0"/>
                <a:sym typeface="+mn-ea"/>
              </a:rPr>
              <a:t>Does not work in non-interactive environment</a:t>
            </a:r>
            <a:endParaRPr lang="en-US"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15570" y="0"/>
            <a:ext cx="689483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Read input from console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227965" y="911225"/>
            <a:ext cx="7955915" cy="5869940"/>
          </a:xfrm>
          <a:prstGeom prst="rect">
            <a:avLst/>
          </a:prstGeom>
          <a:noFill/>
        </p:spPr>
        <p:txBody>
          <a:bodyPr wrap="square" rtlCol="0" anchor="t">
            <a:spAutoFit/>
          </a:bodyPr>
          <a:p>
            <a:pPr marL="12700">
              <a:lnSpc>
                <a:spcPct val="100000"/>
              </a:lnSpc>
              <a:spcBef>
                <a:spcPts val="395"/>
              </a:spcBef>
              <a:buClr>
                <a:srgbClr val="0000FF"/>
              </a:buClr>
              <a:buSzPct val="90000"/>
              <a:buFont typeface="Arial" panose="020B0604020202020204"/>
              <a:tabLst>
                <a:tab pos="134620" algn="l"/>
              </a:tabLst>
            </a:pPr>
            <a:r>
              <a:rPr lang="en-US" b="1" dirty="0">
                <a:solidFill>
                  <a:srgbClr val="00B050"/>
                </a:solidFill>
                <a:latin typeface="Times New Roman" panose="02020603050405020304" pitchFamily="18" charset="0"/>
                <a:cs typeface="Times New Roman" panose="02020603050405020304" pitchFamily="18" charset="0"/>
                <a:sym typeface="+mn-ea"/>
              </a:rPr>
              <a:t>// Java program to demonstrate working of System.console()</a:t>
            </a:r>
            <a:endParaRPr lang="en-US" b="1" dirty="0">
              <a:solidFill>
                <a:srgbClr val="00B050"/>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00B050"/>
                </a:solidFill>
                <a:latin typeface="Times New Roman" panose="02020603050405020304" pitchFamily="18" charset="0"/>
                <a:cs typeface="Times New Roman" panose="02020603050405020304" pitchFamily="18" charset="0"/>
                <a:sym typeface="+mn-ea"/>
              </a:rPr>
              <a:t>// Note that this program does not work on IDEs as </a:t>
            </a:r>
            <a:endParaRPr lang="en-US" b="1" dirty="0">
              <a:solidFill>
                <a:srgbClr val="00B050"/>
              </a:solidFill>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solidFill>
                  <a:srgbClr val="00B050"/>
                </a:solidFill>
                <a:latin typeface="Times New Roman" panose="02020603050405020304" pitchFamily="18" charset="0"/>
                <a:cs typeface="Times New Roman" panose="02020603050405020304" pitchFamily="18" charset="0"/>
                <a:sym typeface="+mn-ea"/>
              </a:rPr>
              <a:t>// System.console() may require console</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public class Sample </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public static void main(String[] args) </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        </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a:t>
            </a:r>
            <a:r>
              <a:rPr lang="en-US" b="1" dirty="0">
                <a:solidFill>
                  <a:srgbClr val="FF0000"/>
                </a:solidFill>
                <a:latin typeface="Times New Roman" panose="02020603050405020304" pitchFamily="18" charset="0"/>
                <a:cs typeface="Times New Roman" panose="02020603050405020304" pitchFamily="18" charset="0"/>
                <a:sym typeface="+mn-ea"/>
              </a:rPr>
              <a:t>// Using Console to input data from user</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String name = System.console().readLine();</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System.out.println(name);</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    }</a:t>
            </a:r>
            <a:endParaRPr lang="en-US" b="1" dirty="0">
              <a:latin typeface="Times New Roman" panose="02020603050405020304" pitchFamily="18" charset="0"/>
              <a:cs typeface="Times New Roman" panose="02020603050405020304" pitchFamily="18" charset="0"/>
              <a:sym typeface="+mn-ea"/>
            </a:endParaRPr>
          </a:p>
          <a:p>
            <a:pPr marL="12700">
              <a:lnSpc>
                <a:spcPct val="100000"/>
              </a:lnSpc>
              <a:spcBef>
                <a:spcPts val="395"/>
              </a:spcBef>
              <a:buClr>
                <a:srgbClr val="0000FF"/>
              </a:buClr>
              <a:buSzPct val="90000"/>
              <a:buFont typeface="Arial" panose="020B0604020202020204"/>
              <a:tabLst>
                <a:tab pos="134620" algn="l"/>
              </a:tabLst>
            </a:pPr>
            <a:r>
              <a:rPr lang="en-US" b="1" dirty="0">
                <a:latin typeface="Times New Roman" panose="02020603050405020304" pitchFamily="18" charset="0"/>
                <a:cs typeface="Times New Roman" panose="02020603050405020304" pitchFamily="18" charset="0"/>
                <a:sym typeface="+mn-ea"/>
              </a:rPr>
              <a:t>}</a:t>
            </a:r>
            <a:endParaRPr lang="en-US"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3989</Words>
  <Application>WPS Presentation</Application>
  <PresentationFormat/>
  <Paragraphs>139</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Times New Roman</vt:lpstr>
      <vt:lpstr>Impact</vt:lpstr>
      <vt:lpstr>Arial</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362</cp:revision>
  <dcterms:created xsi:type="dcterms:W3CDTF">2001-06-04T11:43:00Z</dcterms:created>
  <dcterms:modified xsi:type="dcterms:W3CDTF">2022-02-07T09:35:13Z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06E1DC34F371479EA98FD1E05AD33F36</vt:lpwstr>
  </property>
</Properties>
</file>