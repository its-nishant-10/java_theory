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65"/>
  </p:handoutMasterIdLst>
  <p:sldIdLst>
    <p:sldId id="258" r:id="rId3"/>
    <p:sldId id="389" r:id="rId4"/>
    <p:sldId id="390" r:id="rId5"/>
    <p:sldId id="391" r:id="rId6"/>
    <p:sldId id="393" r:id="rId7"/>
    <p:sldId id="392" r:id="rId8"/>
    <p:sldId id="394" r:id="rId9"/>
    <p:sldId id="395" r:id="rId10"/>
    <p:sldId id="396" r:id="rId11"/>
    <p:sldId id="397" r:id="rId12"/>
    <p:sldId id="398" r:id="rId13"/>
    <p:sldId id="399" r:id="rId14"/>
    <p:sldId id="400" r:id="rId15"/>
    <p:sldId id="401" r:id="rId16"/>
    <p:sldId id="402" r:id="rId17"/>
    <p:sldId id="403" r:id="rId18"/>
    <p:sldId id="404" r:id="rId19"/>
    <p:sldId id="405" r:id="rId20"/>
    <p:sldId id="406" r:id="rId21"/>
    <p:sldId id="408" r:id="rId22"/>
    <p:sldId id="409" r:id="rId23"/>
    <p:sldId id="410" r:id="rId24"/>
    <p:sldId id="411" r:id="rId25"/>
    <p:sldId id="412" r:id="rId26"/>
    <p:sldId id="413" r:id="rId27"/>
    <p:sldId id="414" r:id="rId28"/>
    <p:sldId id="415" r:id="rId29"/>
    <p:sldId id="416" r:id="rId30"/>
    <p:sldId id="417" r:id="rId31"/>
    <p:sldId id="418" r:id="rId32"/>
    <p:sldId id="419" r:id="rId33"/>
    <p:sldId id="420" r:id="rId34"/>
    <p:sldId id="421" r:id="rId35"/>
    <p:sldId id="422" r:id="rId36"/>
    <p:sldId id="423" r:id="rId37"/>
    <p:sldId id="424" r:id="rId38"/>
    <p:sldId id="425" r:id="rId39"/>
    <p:sldId id="426" r:id="rId40"/>
    <p:sldId id="427" r:id="rId41"/>
    <p:sldId id="428" r:id="rId42"/>
    <p:sldId id="429" r:id="rId43"/>
    <p:sldId id="430" r:id="rId44"/>
    <p:sldId id="431" r:id="rId45"/>
    <p:sldId id="432" r:id="rId46"/>
    <p:sldId id="433" r:id="rId47"/>
    <p:sldId id="434" r:id="rId48"/>
    <p:sldId id="435" r:id="rId49"/>
    <p:sldId id="436" r:id="rId50"/>
    <p:sldId id="437" r:id="rId51"/>
    <p:sldId id="438" r:id="rId52"/>
    <p:sldId id="439" r:id="rId53"/>
    <p:sldId id="440" r:id="rId54"/>
    <p:sldId id="441" r:id="rId55"/>
    <p:sldId id="442" r:id="rId56"/>
    <p:sldId id="443" r:id="rId57"/>
    <p:sldId id="444" r:id="rId58"/>
    <p:sldId id="445" r:id="rId59"/>
    <p:sldId id="446" r:id="rId60"/>
    <p:sldId id="447" r:id="rId61"/>
    <p:sldId id="448" r:id="rId62"/>
    <p:sldId id="449" r:id="rId63"/>
    <p:sldId id="450" r:id="rId64"/>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33"/>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440880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What is Inheritance  ?</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750570" y="1772285"/>
            <a:ext cx="7527290" cy="829945"/>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Inheritance in Java is a mechanism in which one object acquires all the properties and behaviors of a parent object.</a:t>
            </a:r>
            <a:endParaRPr lang="en-US">
              <a:latin typeface="Times New Roman" panose="02020603050405020304" pitchFamily="18" charset="0"/>
              <a:cs typeface="Times New Roman" panose="02020603050405020304" pitchFamily="18" charset="0"/>
            </a:endParaRPr>
          </a:p>
        </p:txBody>
      </p:sp>
      <p:sp>
        <p:nvSpPr>
          <p:cNvPr id="5" name="Text Box 4"/>
          <p:cNvSpPr txBox="1"/>
          <p:nvPr/>
        </p:nvSpPr>
        <p:spPr>
          <a:xfrm>
            <a:off x="643255" y="3884295"/>
            <a:ext cx="8195945" cy="1198880"/>
          </a:xfrm>
          <a:prstGeom prst="rect">
            <a:avLst/>
          </a:prstGeom>
          <a:noFill/>
        </p:spPr>
        <p:txBody>
          <a:bodyPr wrap="square" rtlCol="0" anchor="t">
            <a:spAutoFit/>
          </a:bodyPr>
          <a:p>
            <a:pPr marL="342900" indent="-342900">
              <a:buFont typeface="Wingdings" panose="05000000000000000000" charset="0"/>
              <a:buChar char="Ø"/>
            </a:pPr>
            <a:r>
              <a:rPr lang="en-US">
                <a:latin typeface="Times New Roman" panose="02020603050405020304" pitchFamily="18" charset="0"/>
                <a:cs typeface="Times New Roman" panose="02020603050405020304" pitchFamily="18" charset="0"/>
              </a:rPr>
              <a:t>For Method Overriding (so runtime polymorphism can be achieved).</a:t>
            </a:r>
            <a:endParaRPr lang="en-US">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a:latin typeface="Times New Roman" panose="02020603050405020304" pitchFamily="18" charset="0"/>
                <a:cs typeface="Times New Roman" panose="02020603050405020304" pitchFamily="18" charset="0"/>
              </a:rPr>
              <a:t>For Code Reusability.</a:t>
            </a:r>
            <a:endParaRPr lang="en-US">
              <a:latin typeface="Times New Roman" panose="02020603050405020304" pitchFamily="18" charset="0"/>
              <a:cs typeface="Times New Roman" panose="02020603050405020304" pitchFamily="18" charset="0"/>
            </a:endParaRPr>
          </a:p>
        </p:txBody>
      </p:sp>
      <p:sp>
        <p:nvSpPr>
          <p:cNvPr id="2" name="Text Box 1"/>
          <p:cNvSpPr txBox="1"/>
          <p:nvPr/>
        </p:nvSpPr>
        <p:spPr>
          <a:xfrm>
            <a:off x="772795" y="2800350"/>
            <a:ext cx="750570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Why use inheritance in java ?</a:t>
            </a:r>
            <a:endParaRPr lang="en-US" sz="3200"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740156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Terms used in Inheritance</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82600" y="1772285"/>
            <a:ext cx="8356600" cy="4892675"/>
          </a:xfrm>
          <a:prstGeom prst="rect">
            <a:avLst/>
          </a:prstGeom>
          <a:noFill/>
        </p:spPr>
        <p:txBody>
          <a:bodyPr wrap="square" rtlCol="0" anchor="t">
            <a:spAutoFit/>
          </a:bodyPr>
          <a:p>
            <a:r>
              <a:rPr lang="en-US">
                <a:solidFill>
                  <a:srgbClr val="00B050"/>
                </a:solidFill>
                <a:latin typeface="Times New Roman" panose="02020603050405020304" pitchFamily="18" charset="0"/>
                <a:cs typeface="Times New Roman" panose="02020603050405020304" pitchFamily="18" charset="0"/>
              </a:rPr>
              <a:t>Class:</a:t>
            </a:r>
            <a:r>
              <a:rPr lang="en-US">
                <a:latin typeface="Times New Roman" panose="02020603050405020304" pitchFamily="18" charset="0"/>
                <a:cs typeface="Times New Roman" panose="02020603050405020304" pitchFamily="18" charset="0"/>
              </a:rPr>
              <a:t> A class is a group of objects which have common properties. It is a template or blueprint from which objects are created.</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solidFill>
                  <a:srgbClr val="00B050"/>
                </a:solidFill>
                <a:latin typeface="Times New Roman" panose="02020603050405020304" pitchFamily="18" charset="0"/>
                <a:cs typeface="Times New Roman" panose="02020603050405020304" pitchFamily="18" charset="0"/>
              </a:rPr>
              <a:t>Sub Class/Child Class:</a:t>
            </a:r>
            <a:r>
              <a:rPr lang="en-US">
                <a:latin typeface="Times New Roman" panose="02020603050405020304" pitchFamily="18" charset="0"/>
                <a:cs typeface="Times New Roman" panose="02020603050405020304" pitchFamily="18" charset="0"/>
              </a:rPr>
              <a:t> Subclass is a class which inherits the other class. It is also called a derived class, extended class, or child class.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a:t>
            </a:r>
            <a:r>
              <a:rPr lang="en-US">
                <a:solidFill>
                  <a:srgbClr val="00B050"/>
                </a:solidFill>
                <a:latin typeface="Times New Roman" panose="02020603050405020304" pitchFamily="18" charset="0"/>
                <a:cs typeface="Times New Roman" panose="02020603050405020304" pitchFamily="18" charset="0"/>
              </a:rPr>
              <a:t>Super Class/Parent Class:</a:t>
            </a:r>
            <a:r>
              <a:rPr lang="en-US">
                <a:latin typeface="Times New Roman" panose="02020603050405020304" pitchFamily="18" charset="0"/>
                <a:cs typeface="Times New Roman" panose="02020603050405020304" pitchFamily="18" charset="0"/>
              </a:rPr>
              <a:t> Superclass is the class from where a subclass inherits the features. It is also called a base class or a parent class.</a:t>
            </a:r>
            <a:endParaRPr lang="en-US">
              <a:latin typeface="Times New Roman" panose="02020603050405020304" pitchFamily="18" charset="0"/>
              <a:cs typeface="Times New Roman" panose="02020603050405020304" pitchFamily="18" charset="0"/>
            </a:endParaRPr>
          </a:p>
          <a:p>
            <a:r>
              <a:rPr lang="en-US">
                <a:solidFill>
                  <a:srgbClr val="00B050"/>
                </a:solidFill>
                <a:latin typeface="Times New Roman" panose="02020603050405020304" pitchFamily="18" charset="0"/>
                <a:cs typeface="Times New Roman" panose="02020603050405020304" pitchFamily="18" charset="0"/>
              </a:rPr>
              <a:t>Reusability:</a:t>
            </a:r>
            <a:r>
              <a:rPr lang="en-US">
                <a:latin typeface="Times New Roman" panose="02020603050405020304" pitchFamily="18" charset="0"/>
                <a:cs typeface="Times New Roman" panose="02020603050405020304" pitchFamily="18" charset="0"/>
              </a:rPr>
              <a:t> As the name specifies, reusability is a mechanism which facilitates you to reuse the fields and methods of the existing class when you create a new class. You can use the same fields and methods already defined in the previous class.</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The syntax of Java Inheritance</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843280" y="2011680"/>
            <a:ext cx="7527290"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Subclass-name extends Superclass-name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//methods and fields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extends keyword indicates that you are making a new class that derives from an existing class. The meaning of "extends" is to increase the functionality.</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Java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pic>
        <p:nvPicPr>
          <p:cNvPr id="2" name="Picture 1" descr="inheritance"/>
          <p:cNvPicPr>
            <a:picLocks noChangeAspect="1"/>
          </p:cNvPicPr>
          <p:nvPr/>
        </p:nvPicPr>
        <p:blipFill>
          <a:blip r:embed="rId1"/>
          <a:stretch>
            <a:fillRect/>
          </a:stretch>
        </p:blipFill>
        <p:spPr>
          <a:xfrm>
            <a:off x="1738630" y="2413635"/>
            <a:ext cx="3288665" cy="34302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Java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82905" y="2011680"/>
            <a:ext cx="838073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Employee{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float salary=40000;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Programmer extends Employee{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bonus=10000;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Programmer p=new Programmer();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System.out.println("Programmer salary is:"+p.salary);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System.out.println("Bonus of Programmer is:"+p.bonus);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Java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pic>
        <p:nvPicPr>
          <p:cNvPr id="2" name="Picture 1" descr="typesofinheritance-1"/>
          <p:cNvPicPr>
            <a:picLocks noChangeAspect="1"/>
          </p:cNvPicPr>
          <p:nvPr/>
        </p:nvPicPr>
        <p:blipFill>
          <a:blip r:embed="rId1"/>
          <a:stretch>
            <a:fillRect/>
          </a:stretch>
        </p:blipFill>
        <p:spPr>
          <a:xfrm>
            <a:off x="643255" y="2165350"/>
            <a:ext cx="7547610" cy="34772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Java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pic>
        <p:nvPicPr>
          <p:cNvPr id="4" name="Picture 3" descr="multiple"/>
          <p:cNvPicPr>
            <a:picLocks noChangeAspect="1"/>
          </p:cNvPicPr>
          <p:nvPr/>
        </p:nvPicPr>
        <p:blipFill>
          <a:blip r:embed="rId1"/>
          <a:stretch>
            <a:fillRect/>
          </a:stretch>
        </p:blipFill>
        <p:spPr>
          <a:xfrm>
            <a:off x="803275" y="2120900"/>
            <a:ext cx="7567930" cy="2616200"/>
          </a:xfrm>
          <a:prstGeom prst="rect">
            <a:avLst/>
          </a:prstGeom>
        </p:spPr>
      </p:pic>
      <p:sp>
        <p:nvSpPr>
          <p:cNvPr id="5" name="Text Box 4"/>
          <p:cNvSpPr txBox="1"/>
          <p:nvPr/>
        </p:nvSpPr>
        <p:spPr>
          <a:xfrm>
            <a:off x="962025" y="4876800"/>
            <a:ext cx="7498715" cy="829945"/>
          </a:xfrm>
          <a:prstGeom prst="rect">
            <a:avLst/>
          </a:prstGeom>
          <a:noFill/>
        </p:spPr>
        <p:txBody>
          <a:bodyPr wrap="square" rtlCol="0" anchor="t">
            <a:spAutoFit/>
          </a:bodyPr>
          <a:p>
            <a:r>
              <a:rPr lang="en-US" b="1">
                <a:solidFill>
                  <a:srgbClr val="FF0000"/>
                </a:solidFill>
                <a:latin typeface="Times New Roman" panose="02020603050405020304" pitchFamily="18" charset="0"/>
                <a:cs typeface="Times New Roman" panose="02020603050405020304" pitchFamily="18" charset="0"/>
              </a:rPr>
              <a:t>Note: Multiple inheritance is not supported in Java through class.</a:t>
            </a:r>
            <a:endParaRPr lang="en-US"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34085"/>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Single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56080"/>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eat(){System.out.println("eating...");}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bark(){System.out.println("barking...");}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TestInheritance{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d=new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d.bark();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d.eat();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Multilevel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eat(){System.out.println("eating...");}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bark(){System.out.println("barking...");}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BabyDog extends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weep(){System.out.println("weeping...");}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TestInheritance{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BabyDog d=new BabyDog();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d.weep();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d.bark();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d.eat();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77273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Hierarchical Inheritance Example</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eat(){System.out.println("eating...");}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bark(){System.out.println("barking...");}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Cat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meow(){System.out.println("meowing...");}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TestInheritance3{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Cat c=new Cat();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c.meow();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c.eat();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 //c.bark();//C.T.Error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 Why multiple inheritance is not supported in java?</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To reduce the complexity and simplify the language, multiple inheritance is not supported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Consider a scenario where A, B, and C are three classes. The C class inherits A and B classes. If A and B classes have the same method and you call it from child class object, there will be ambiguity to call the method of A or B class.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Since compile-time errors are better than runtime errors, Java renders compile-time error if you inherit 2 classes. So whether you have same method or different, there will be compile time error.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Inheritance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 Why multiple inheritance is not supported in java?</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msg(){System.out.println("Hello");}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msg(){System.out.println("Welcome");}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C extends A,B{</a:t>
            </a:r>
            <a:r>
              <a:rPr lang="en-US" b="1">
                <a:solidFill>
                  <a:srgbClr val="00B050"/>
                </a:solidFill>
                <a:latin typeface="Times New Roman" panose="02020603050405020304" pitchFamily="18" charset="0"/>
                <a:cs typeface="Times New Roman" panose="02020603050405020304" pitchFamily="18" charset="0"/>
              </a:rPr>
              <a:t>//suppose if it were</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 obj=new C();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obj.msg();/</a:t>
            </a:r>
            <a:r>
              <a:rPr lang="en-US" b="1">
                <a:solidFill>
                  <a:srgbClr val="00B050"/>
                </a:solidFill>
                <a:latin typeface="Times New Roman" panose="02020603050405020304" pitchFamily="18" charset="0"/>
                <a:cs typeface="Times New Roman" panose="02020603050405020304" pitchFamily="18" charset="0"/>
              </a:rPr>
              <a:t>/Now which msg() method would be invoked?  </a:t>
            </a:r>
            <a:endParaRPr lang="en-US" b="1">
              <a:solidFill>
                <a:srgbClr val="00B05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 Aggregation in Java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a class have an entity reference, it is known as Aggregation.</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Consider a situation, Employee object contains many informations such as id, name, emailId etc. It contains one more object named address, which contains its own informations such as city, state, country, zipcode etc. as given below.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FF0000"/>
                </a:solidFill>
                <a:latin typeface="Times New Roman" panose="02020603050405020304" pitchFamily="18" charset="0"/>
                <a:cs typeface="Times New Roman" panose="02020603050405020304" pitchFamily="18" charset="0"/>
              </a:rPr>
              <a:t>class Employee{  </a:t>
            </a:r>
            <a:endParaRPr lang="en-US" b="1">
              <a:solidFill>
                <a:srgbClr val="FF0000"/>
              </a:solidFill>
              <a:latin typeface="Times New Roman" panose="02020603050405020304" pitchFamily="18" charset="0"/>
              <a:cs typeface="Times New Roman" panose="02020603050405020304" pitchFamily="18" charset="0"/>
            </a:endParaRPr>
          </a:p>
          <a:p>
            <a:r>
              <a:rPr lang="en-US" b="1">
                <a:solidFill>
                  <a:srgbClr val="FF0000"/>
                </a:solidFill>
                <a:latin typeface="Times New Roman" panose="02020603050405020304" pitchFamily="18" charset="0"/>
                <a:cs typeface="Times New Roman" panose="02020603050405020304" pitchFamily="18" charset="0"/>
              </a:rPr>
              <a:t>    int id;  </a:t>
            </a:r>
            <a:endParaRPr lang="en-US" b="1">
              <a:solidFill>
                <a:srgbClr val="FF0000"/>
              </a:solidFill>
              <a:latin typeface="Times New Roman" panose="02020603050405020304" pitchFamily="18" charset="0"/>
              <a:cs typeface="Times New Roman" panose="02020603050405020304" pitchFamily="18" charset="0"/>
            </a:endParaRPr>
          </a:p>
          <a:p>
            <a:r>
              <a:rPr lang="en-US" b="1">
                <a:solidFill>
                  <a:srgbClr val="FF0000"/>
                </a:solidFill>
                <a:latin typeface="Times New Roman" panose="02020603050405020304" pitchFamily="18" charset="0"/>
                <a:cs typeface="Times New Roman" panose="02020603050405020304" pitchFamily="18" charset="0"/>
              </a:rPr>
              <a:t>    String name;  </a:t>
            </a:r>
            <a:endParaRPr lang="en-US" b="1">
              <a:solidFill>
                <a:srgbClr val="FF0000"/>
              </a:solidFill>
              <a:latin typeface="Times New Roman" panose="02020603050405020304" pitchFamily="18" charset="0"/>
              <a:cs typeface="Times New Roman" panose="02020603050405020304" pitchFamily="18" charset="0"/>
            </a:endParaRPr>
          </a:p>
          <a:p>
            <a:r>
              <a:rPr lang="en-US" b="1">
                <a:solidFill>
                  <a:srgbClr val="FF0000"/>
                </a:solidFill>
                <a:latin typeface="Times New Roman" panose="02020603050405020304" pitchFamily="18" charset="0"/>
                <a:cs typeface="Times New Roman" panose="02020603050405020304" pitchFamily="18" charset="0"/>
              </a:rPr>
              <a:t>    Address address;</a:t>
            </a:r>
            <a:r>
              <a:rPr lang="en-US" b="1">
                <a:solidFill>
                  <a:srgbClr val="00B050"/>
                </a:solidFill>
                <a:latin typeface="Times New Roman" panose="02020603050405020304" pitchFamily="18" charset="0"/>
                <a:cs typeface="Times New Roman" panose="02020603050405020304" pitchFamily="18" charset="0"/>
              </a:rPr>
              <a:t>//Address is a class </a:t>
            </a:r>
            <a:r>
              <a:rPr lang="en-US" b="1">
                <a:solidFill>
                  <a:srgbClr val="FF0000"/>
                </a:solidFill>
                <a:latin typeface="Times New Roman" panose="02020603050405020304" pitchFamily="18" charset="0"/>
                <a:cs typeface="Times New Roman" panose="02020603050405020304" pitchFamily="18" charset="0"/>
              </a:rPr>
              <a:t> </a:t>
            </a:r>
            <a:endParaRPr lang="en-US" b="1">
              <a:solidFill>
                <a:srgbClr val="FF0000"/>
              </a:solidFill>
              <a:latin typeface="Times New Roman" panose="02020603050405020304" pitchFamily="18" charset="0"/>
              <a:cs typeface="Times New Roman" panose="02020603050405020304" pitchFamily="18" charset="0"/>
            </a:endParaRPr>
          </a:p>
          <a:p>
            <a:r>
              <a:rPr lang="en-US" b="1">
                <a:solidFill>
                  <a:srgbClr val="FF0000"/>
                </a:solidFill>
                <a:latin typeface="Times New Roman" panose="02020603050405020304" pitchFamily="18" charset="0"/>
                <a:cs typeface="Times New Roman" panose="02020603050405020304" pitchFamily="18" charset="0"/>
              </a:rPr>
              <a:t>    }  </a:t>
            </a:r>
            <a:endParaRPr lang="en-US"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Why use Aggregation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2767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For Code Reusability.</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sz="3200" b="1">
                <a:solidFill>
                  <a:srgbClr val="FF0000"/>
                </a:solidFill>
                <a:latin typeface="Times New Roman" panose="02020603050405020304" pitchFamily="18" charset="0"/>
                <a:cs typeface="Times New Roman" panose="02020603050405020304" pitchFamily="18" charset="0"/>
              </a:rPr>
              <a:t>Simple Example of Aggregation :</a:t>
            </a:r>
            <a:endParaRPr lang="en-US" sz="3200" b="1">
              <a:solidFill>
                <a:srgbClr val="FF0000"/>
              </a:solidFill>
              <a:latin typeface="Times New Roman" panose="02020603050405020304" pitchFamily="18" charset="0"/>
              <a:cs typeface="Times New Roman" panose="02020603050405020304" pitchFamily="18" charset="0"/>
            </a:endParaRPr>
          </a:p>
          <a:p>
            <a:endParaRPr lang="en-US" sz="3200" b="1">
              <a:solidFill>
                <a:srgbClr val="FF0000"/>
              </a:solidFill>
              <a:latin typeface="Times New Roman" panose="02020603050405020304" pitchFamily="18" charset="0"/>
              <a:cs typeface="Times New Roman" panose="02020603050405020304" pitchFamily="18" charset="0"/>
            </a:endParaRPr>
          </a:p>
          <a:p>
            <a:endParaRPr lang="en-US" sz="3200" b="1">
              <a:solidFill>
                <a:srgbClr val="FF0000"/>
              </a:solidFill>
              <a:latin typeface="Times New Roman" panose="02020603050405020304" pitchFamily="18" charset="0"/>
              <a:cs typeface="Times New Roman" panose="02020603050405020304" pitchFamily="18" charset="0"/>
            </a:endParaRPr>
          </a:p>
          <a:p>
            <a:endParaRPr lang="en-US" sz="3200" b="1">
              <a:solidFill>
                <a:srgbClr val="FF0000"/>
              </a:solidFill>
              <a:latin typeface="Times New Roman" panose="02020603050405020304" pitchFamily="18" charset="0"/>
              <a:cs typeface="Times New Roman" panose="02020603050405020304" pitchFamily="18" charset="0"/>
            </a:endParaRPr>
          </a:p>
          <a:p>
            <a:endParaRPr lang="en-US" sz="3200" b="1">
              <a:solidFill>
                <a:srgbClr val="FF0000"/>
              </a:solidFill>
              <a:latin typeface="Times New Roman" panose="02020603050405020304" pitchFamily="18" charset="0"/>
              <a:cs typeface="Times New Roman" panose="02020603050405020304" pitchFamily="18" charset="0"/>
            </a:endParaRPr>
          </a:p>
          <a:p>
            <a:endParaRPr lang="en-US" sz="3200" b="1">
              <a:solidFill>
                <a:srgbClr val="FF0000"/>
              </a:solidFill>
              <a:latin typeface="Times New Roman" panose="02020603050405020304" pitchFamily="18" charset="0"/>
              <a:cs typeface="Times New Roman" panose="02020603050405020304" pitchFamily="18" charset="0"/>
            </a:endParaRPr>
          </a:p>
          <a:p>
            <a:endParaRPr lang="en-US" sz="3200" b="1">
              <a:solidFill>
                <a:srgbClr val="FF0000"/>
              </a:solidFill>
              <a:latin typeface="Times New Roman" panose="02020603050405020304" pitchFamily="18" charset="0"/>
              <a:cs typeface="Times New Roman" panose="02020603050405020304" pitchFamily="18" charset="0"/>
            </a:endParaRPr>
          </a:p>
        </p:txBody>
      </p:sp>
      <p:pic>
        <p:nvPicPr>
          <p:cNvPr id="2" name="Picture 1" descr="aggregation"/>
          <p:cNvPicPr>
            <a:picLocks noChangeAspect="1"/>
          </p:cNvPicPr>
          <p:nvPr/>
        </p:nvPicPr>
        <p:blipFill>
          <a:blip r:embed="rId1"/>
          <a:stretch>
            <a:fillRect/>
          </a:stretch>
        </p:blipFill>
        <p:spPr>
          <a:xfrm>
            <a:off x="828040" y="3486785"/>
            <a:ext cx="5099050" cy="23190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Aggregation</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class Operation{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square(int 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return n*n;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Circle{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Operation op;</a:t>
            </a:r>
            <a:r>
              <a:rPr lang="en-US" b="1">
                <a:solidFill>
                  <a:srgbClr val="00B050"/>
                </a:solidFill>
                <a:latin typeface="Times New Roman" panose="02020603050405020304" pitchFamily="18" charset="0"/>
                <a:cs typeface="Times New Roman" panose="02020603050405020304" pitchFamily="18" charset="0"/>
              </a:rPr>
              <a:t>//aggregation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double pi=3.14;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double area(int radius){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op=new Operation();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rsquare=op.square(radius);/</a:t>
            </a:r>
            <a:r>
              <a:rPr lang="en-US" b="1">
                <a:solidFill>
                  <a:srgbClr val="00B050"/>
                </a:solidFill>
                <a:latin typeface="Times New Roman" panose="02020603050405020304" pitchFamily="18" charset="0"/>
                <a:cs typeface="Times New Roman" panose="02020603050405020304" pitchFamily="18" charset="0"/>
              </a:rPr>
              <a:t>/code reusability (i.e. delegates the method call).  </a:t>
            </a:r>
            <a:endParaRPr lang="en-US" b="1">
              <a:solidFill>
                <a:srgbClr val="00B05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return pi*rsquare;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Aggregation</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Circle c=new Circle();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double result=c.area(5);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System.out.println(result);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Aggregation  1</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public class Address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city,state,country;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Address(String city, String state, String country)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this.city = city;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this.state = state;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this.country = country;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Aggregation  1</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public class Emp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int id;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Address address;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Emp(int id, String name,Address address)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this.id = id;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this.name =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this.address=address;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void 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System.out.println(id+"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System.out.println(address.city+" "+address.state+" "+address.country);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Aggregation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Aggregation  1</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public static void main(String[] args)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Address address1=new Address("gzb","UP","india");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Address address2=new Address("gno","UP","india");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Emp e=new Emp(111,"varun",address1);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Emp e2=new Emp(112,"arun",address2);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e2.display();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overloading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we overload java main() method?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Yes, by method overloading. You can have any number of main methods in a class by method overloading. But JVM calls main() method which receives string array as arguments only.</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TestOverloading{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{System.out.println("main with String[]");}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{System.out.println("main with String");}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{System.out.println("main without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overloading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Method Overloading and Type Promotion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771906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One type is promoted to another implicitly if no matching datatype is found. Let's understand the concept by the figure given below:</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pic>
        <p:nvPicPr>
          <p:cNvPr id="2" name="Picture 1" descr="type2"/>
          <p:cNvPicPr>
            <a:picLocks noChangeAspect="1"/>
          </p:cNvPicPr>
          <p:nvPr/>
        </p:nvPicPr>
        <p:blipFill>
          <a:blip r:embed="rId1"/>
          <a:stretch>
            <a:fillRect/>
          </a:stretch>
        </p:blipFill>
        <p:spPr>
          <a:xfrm>
            <a:off x="1062355" y="2976880"/>
            <a:ext cx="7421245" cy="35045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overloading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Method Overloading with TypePromotion</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2440" y="1608455"/>
            <a:ext cx="83070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OverloadingCal{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sum(int a,long b)</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{System.out.println(a+b);}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sum(int a,int b,int c)</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{System.out.println(a+b+c);}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OverloadingCal obj=new OverloadingCal();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obj.sum(20,20);</a:t>
            </a:r>
            <a:r>
              <a:rPr lang="en-US" b="1">
                <a:solidFill>
                  <a:srgbClr val="00B050"/>
                </a:solidFill>
                <a:latin typeface="Times New Roman" panose="02020603050405020304" pitchFamily="18" charset="0"/>
                <a:cs typeface="Times New Roman" panose="02020603050405020304" pitchFamily="18" charset="0"/>
              </a:rPr>
              <a:t>//now second int literal will be promoted to long  </a:t>
            </a:r>
            <a:endParaRPr lang="en-US" b="1">
              <a:solidFill>
                <a:srgbClr val="00B05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obj.sum(20,20,20);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overloading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Method Overloading with Type Promotion in case of ambiguity</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34975" y="2145665"/>
            <a:ext cx="834453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OverloadingCal{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sum(int a,long b)</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{System.out.println("a method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sum(long a,int b)</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{System.out.println("b method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OverloadingCal obj=new OverloadingCal();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obj.sum(20,20);</a:t>
            </a:r>
            <a:r>
              <a:rPr lang="en-US" b="1">
                <a:solidFill>
                  <a:srgbClr val="00B050"/>
                </a:solidFill>
                <a:latin typeface="Times New Roman" panose="02020603050405020304" pitchFamily="18" charset="0"/>
                <a:cs typeface="Times New Roman" panose="02020603050405020304" pitchFamily="18" charset="0"/>
              </a:rPr>
              <a:t>//now ambiguity</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48423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Method Overriding in Java</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501586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subclass (child class) has the same method as declared in the parent class, it is known as method overriding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 other words, If subclass provides the specific implementation of the method that has been provided by one of its parent class, it is known as method overriding.</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sz="2800" b="1">
                <a:solidFill>
                  <a:srgbClr val="FF0000"/>
                </a:solidFill>
                <a:latin typeface="Times New Roman" panose="02020603050405020304" pitchFamily="18" charset="0"/>
                <a:cs typeface="Times New Roman" panose="02020603050405020304" pitchFamily="18" charset="0"/>
              </a:rPr>
              <a:t>Usage of Java Method Overriding :</a:t>
            </a:r>
            <a:endParaRPr lang="en-US" sz="2800" b="1">
              <a:solidFill>
                <a:srgbClr val="FF0000"/>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solidFill>
                  <a:schemeClr val="tx1"/>
                </a:solidFill>
                <a:latin typeface="Times New Roman" panose="02020603050405020304" pitchFamily="18" charset="0"/>
                <a:cs typeface="Times New Roman" panose="02020603050405020304" pitchFamily="18" charset="0"/>
              </a:rPr>
              <a:t>Method overriding is used to provide specific implementation of a method that is already provided by its super class.</a:t>
            </a:r>
            <a:endParaRPr lang="en-US" b="1">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solidFill>
                  <a:schemeClr val="tx1"/>
                </a:solidFill>
                <a:latin typeface="Times New Roman" panose="02020603050405020304" pitchFamily="18" charset="0"/>
                <a:cs typeface="Times New Roman" panose="02020603050405020304" pitchFamily="18" charset="0"/>
              </a:rPr>
              <a:t>Method overriding is used for runtime polymorphism</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Understanding the problem without method overriding</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Vehicle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run(){System.out.println("Vehicle is running");}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Bike extends Vehicle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obj = 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method overriding</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Vehicle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run(){System.out.println("Vehicle is running");}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Bike extends Vehicle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run()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{System.out.println("Bike is running safely");}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obj = 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obj.run();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method overriding 1</a:t>
            </a:r>
            <a:endParaRPr lang="en-US" sz="2800" b="1">
              <a:solidFill>
                <a:srgbClr val="FF0000"/>
              </a:solidFill>
              <a:latin typeface="Times New Roman" panose="02020603050405020304" pitchFamily="18" charset="0"/>
              <a:cs typeface="Times New Roman" panose="02020603050405020304" pitchFamily="18" charset="0"/>
            </a:endParaRPr>
          </a:p>
        </p:txBody>
      </p:sp>
      <p:pic>
        <p:nvPicPr>
          <p:cNvPr id="2" name="Picture 1" descr="bankinheritance"/>
          <p:cNvPicPr>
            <a:picLocks noChangeAspect="1"/>
          </p:cNvPicPr>
          <p:nvPr/>
        </p:nvPicPr>
        <p:blipFill>
          <a:blip r:embed="rId1"/>
          <a:stretch>
            <a:fillRect/>
          </a:stretch>
        </p:blipFill>
        <p:spPr>
          <a:xfrm>
            <a:off x="582295" y="3595370"/>
            <a:ext cx="7701280" cy="2496820"/>
          </a:xfrm>
          <a:prstGeom prst="rect">
            <a:avLst/>
          </a:prstGeom>
        </p:spPr>
      </p:pic>
      <p:sp>
        <p:nvSpPr>
          <p:cNvPr id="5" name="Text Box 4"/>
          <p:cNvSpPr txBox="1"/>
          <p:nvPr/>
        </p:nvSpPr>
        <p:spPr>
          <a:xfrm>
            <a:off x="415925" y="1656080"/>
            <a:ext cx="8603615" cy="156845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Consider a scenario, Bank is a class that provides functionality to get rate of interest. But, rate of interest varies according to banks. For example, SBI, ICICI and AXIS banks could provide 8%, 7% and 9% rate of interest.</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Why we cannot override static method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310769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Because static method is bound with class whereas instance method is bound with object. Static belongs to class area and instance belongs to heap area.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sz="2800" b="1">
                <a:solidFill>
                  <a:srgbClr val="FF0000"/>
                </a:solidFill>
                <a:latin typeface="Times New Roman" panose="02020603050405020304" pitchFamily="18" charset="0"/>
                <a:cs typeface="Times New Roman" panose="02020603050405020304" pitchFamily="18" charset="0"/>
              </a:rPr>
              <a:t>Can we override java main method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No, because main is a static method.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Covariant Return Type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 covariant return type specifies that the return type may vary in the same direction as the subclass.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Before Java5, it was not possible to override any method by changing the return type. But now, since Java5, it is possible to override method by changing the return type if subclass overrides any method whose return type is Non-Primitive but it changes its return type to subclass type.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Simple example of Covariant Return Type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 get(){return this;}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B1 extends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B1 get(){return this;}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message()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{System.out.println("welcome to covariant return type");}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new B1().get().message();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Simple example of Covariant Return Type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As you can see in the above example, the return type of the get() method of A class is A but the return type of the get() method of B1 class is B1. Both methods have different return type but it is method overriding. This is known as covariant return type.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Method overriding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How is Covariant return types implemented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Java doesn't allow the return type based overloading but JVM always allows return type based overloading. JVM uses full signature of a method for lookup/resolution. Full signature means it includes return type in addition to argument types. i.e., a class can have two or more methods differing only by return type. javac uses this fact to implement covariant return types.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super keyword in java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 super keyword in java is a reference variable which is used to refer immediate parent class object.</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Whenever you create the instance of subclass, an instance of parent class is created implicitly which is referred by super reference variable.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Usage of java super Keyword :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304609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super can be used to refer immediate parent class instance variable.</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super can be used to invoke immediate parent class method.</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super() can be used to invoke immediate parent class constructor.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super is used to refer immediate parent class instance variable.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06400" y="1685290"/>
            <a:ext cx="8373110" cy="304609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super can be used to refer immediate parent class instance variable.</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super can be used to invoke immediate parent class method.</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super() can be used to invoke immediate parent class constructor.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super is used to refer immediate parent class instance variable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85445" y="1918970"/>
            <a:ext cx="83731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color="white";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color="black";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printColor(){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System.out.println(color);</a:t>
            </a:r>
            <a:r>
              <a:rPr lang="en-US" b="1">
                <a:solidFill>
                  <a:srgbClr val="00B050"/>
                </a:solidFill>
                <a:latin typeface="Times New Roman" panose="02020603050405020304" pitchFamily="18" charset="0"/>
                <a:cs typeface="Times New Roman" panose="02020603050405020304" pitchFamily="18" charset="0"/>
              </a:rPr>
              <a:t>//prints color of Dog class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System.out.println(super.color);</a:t>
            </a:r>
            <a:r>
              <a:rPr lang="en-US" b="1">
                <a:solidFill>
                  <a:srgbClr val="00B050"/>
                </a:solidFill>
                <a:latin typeface="Times New Roman" panose="02020603050405020304" pitchFamily="18" charset="0"/>
                <a:cs typeface="Times New Roman" panose="02020603050405020304" pitchFamily="18" charset="0"/>
              </a:rPr>
              <a:t>//prints color of Animal class</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d=new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d.printColor();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super can be used to invoke parent class method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85445" y="1612265"/>
            <a:ext cx="8373110"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eat(){System.out.println("eating...");}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eat(){System.out.println("eating bread...");}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bark(){System.out.println("barking...");}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work(){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super.eat();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bark();  }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d=new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d.work();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super is used to invoke parent class constructor</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85445" y="1612265"/>
            <a:ext cx="83731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Animal(){System.out.println("animal is created");}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super();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System.out.println("dog is created");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d=new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Note: super() is added in each class constructor automatically by compiler if there is no super()</a:t>
            </a:r>
            <a:endParaRPr lang="en-US" sz="2800" b="1">
              <a:solidFill>
                <a:srgbClr val="FF0000"/>
              </a:solidFill>
              <a:latin typeface="Times New Roman" panose="02020603050405020304" pitchFamily="18" charset="0"/>
              <a:cs typeface="Times New Roman" panose="02020603050405020304" pitchFamily="18" charset="0"/>
            </a:endParaRPr>
          </a:p>
        </p:txBody>
      </p:sp>
      <p:pic>
        <p:nvPicPr>
          <p:cNvPr id="2" name="Picture 1" descr="java-super"/>
          <p:cNvPicPr>
            <a:picLocks noChangeAspect="1"/>
          </p:cNvPicPr>
          <p:nvPr/>
        </p:nvPicPr>
        <p:blipFill>
          <a:blip r:embed="rId1"/>
          <a:stretch>
            <a:fillRect/>
          </a:stretch>
        </p:blipFill>
        <p:spPr>
          <a:xfrm>
            <a:off x="751840" y="2682875"/>
            <a:ext cx="7054850" cy="2546350"/>
          </a:xfrm>
          <a:prstGeom prst="rect">
            <a:avLst/>
          </a:prstGeom>
        </p:spPr>
      </p:pic>
      <p:sp>
        <p:nvSpPr>
          <p:cNvPr id="5" name="Text Box 4"/>
          <p:cNvSpPr txBox="1"/>
          <p:nvPr/>
        </p:nvSpPr>
        <p:spPr>
          <a:xfrm>
            <a:off x="751840" y="5476240"/>
            <a:ext cx="8026400" cy="119888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As we know well that default constructor is provided by compiler automatically if there is no constructor. But, it also adds super() as the first statement.</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Another example of super keyword where super() is provided by the compiler implicitly.</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71170" y="1918970"/>
            <a:ext cx="83731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Animal(){System.out.println("animal is created");}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Dog extends Animal{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System.out.println("dog is created");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TestSuper{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Dog d=new Dog();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Another example of super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75285" y="1573530"/>
            <a:ext cx="83451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class Person{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int id;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Person(int id,String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this.id=id;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this.name=name;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Emp extends Person{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float salary;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Emp(int id,String name,float salary){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super(id,name);</a:t>
            </a:r>
            <a:r>
              <a:rPr lang="en-US" b="1">
                <a:solidFill>
                  <a:srgbClr val="00B050"/>
                </a:solidFill>
                <a:latin typeface="Times New Roman" panose="02020603050405020304" pitchFamily="18" charset="0"/>
                <a:cs typeface="Times New Roman" panose="02020603050405020304" pitchFamily="18" charset="0"/>
              </a:rPr>
              <a:t>//reusing parent constructor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this.salary=salary;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Another example of super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75285" y="1573530"/>
            <a:ext cx="834517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void display(){System.out.println(id+" "+name+" "+salary);}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TestSuper{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Emp e1=new Emp(1,"ankit",45000f);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e1.display();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854329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Instance initializer block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Instance initializer block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75285" y="1573530"/>
            <a:ext cx="8345170" cy="46462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Instance Initializer block is used to initialize the instance data member. It run each time when object of the class is created.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initialization of the instance variable can be done directly but there can be performed extra operations while initializing the instance variable in the instance initializer block.</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sz="2800" b="1">
                <a:solidFill>
                  <a:srgbClr val="FF0000"/>
                </a:solidFill>
                <a:latin typeface="Times New Roman" panose="02020603050405020304" pitchFamily="18" charset="0"/>
                <a:cs typeface="Times New Roman" panose="02020603050405020304" pitchFamily="18" charset="0"/>
              </a:rPr>
              <a:t>Why use instance initializer block?</a:t>
            </a:r>
            <a:endParaRPr lang="en-US" sz="2800" b="1">
              <a:solidFill>
                <a:srgbClr val="FF0000"/>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Suppose I have to perform some operations while assigning value to instance data member e.g. a for loop to fill a complex array or error handling etc.</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instance initializer block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75285" y="1573530"/>
            <a:ext cx="8345170"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speed;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Bike(){System.out.println("speed is "+speed);}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 {speed=100;}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b1=new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b2=new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Output:speed is 100</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speed is 100</a:t>
            </a:r>
            <a:endParaRPr lang="en-US" b="1">
              <a:solidFill>
                <a:srgbClr val="00B05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What is invoked first, instance initializer block or constructor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99415" y="1918970"/>
            <a:ext cx="834517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speed;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Bike(){System.out.println("constructor is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{System.out.println("instance initializer block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b1=new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b2=new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What is invoked first, instance initializer block or constructor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99415" y="1918970"/>
            <a:ext cx="834517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speed;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Bike(){System.out.println("constructor is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{System.out.println("instance initializer block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b1=new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Bike b2=new Bike();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What is invoked first, instance initializer block or constructor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99415" y="1918970"/>
            <a:ext cx="834517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Output:</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instance initializer block invoked</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constructor is invoked</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instance initializer block invoked</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constructor is invoked</a:t>
            </a:r>
            <a:endParaRPr lang="en-US" b="1">
              <a:solidFill>
                <a:srgbClr val="00B050"/>
              </a:solidFill>
              <a:latin typeface="Times New Roman" panose="02020603050405020304" pitchFamily="18" charset="0"/>
              <a:cs typeface="Times New Roman" panose="02020603050405020304" pitchFamily="18" charset="0"/>
            </a:endParaRPr>
          </a:p>
          <a:p>
            <a:endParaRPr lang="en-US" b="1">
              <a:solidFill>
                <a:srgbClr val="00B050"/>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In the above example, it seems that instance initializer block is firstly invoked but NO. Instance intializer block is invoked at the time of object creation. The java compiler copies the instance initializer block in the constructor after the first statement super(). So firstly, constructor is invoked.</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Note: The java compiler copies the code of instance initializer block in every constructor.</a:t>
            </a:r>
            <a:endParaRPr lang="en-US" sz="2800" b="1">
              <a:solidFill>
                <a:srgbClr val="FF0000"/>
              </a:solidFill>
              <a:latin typeface="Times New Roman" panose="02020603050405020304" pitchFamily="18" charset="0"/>
              <a:cs typeface="Times New Roman" panose="02020603050405020304" pitchFamily="18" charset="0"/>
            </a:endParaRPr>
          </a:p>
        </p:txBody>
      </p:sp>
      <p:pic>
        <p:nvPicPr>
          <p:cNvPr id="2" name="Picture 1" descr="instanceinitializerblock"/>
          <p:cNvPicPr>
            <a:picLocks noChangeAspect="1"/>
          </p:cNvPicPr>
          <p:nvPr/>
        </p:nvPicPr>
        <p:blipFill>
          <a:blip r:embed="rId1"/>
          <a:stretch>
            <a:fillRect/>
          </a:stretch>
        </p:blipFill>
        <p:spPr>
          <a:xfrm>
            <a:off x="818515" y="2050415"/>
            <a:ext cx="7161530" cy="42443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Rules for instance initializer block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99415" y="1918970"/>
            <a:ext cx="834517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There are mainly three rules for the instance initializer block. They are as follows: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charset="0"/>
              <a:buChar char="Ø"/>
            </a:pPr>
            <a:r>
              <a:rPr lang="en-US" b="1">
                <a:latin typeface="Times New Roman" panose="02020603050405020304" pitchFamily="18" charset="0"/>
                <a:cs typeface="Times New Roman" panose="02020603050405020304" pitchFamily="18" charset="0"/>
              </a:rPr>
              <a:t>The instance initializer block is created when instance of the class is created.</a:t>
            </a:r>
            <a:endParaRPr lang="en-US" b="1">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charset="0"/>
              <a:buChar char="Ø"/>
            </a:pPr>
            <a:r>
              <a:rPr lang="en-US" b="1">
                <a:latin typeface="Times New Roman" panose="02020603050405020304" pitchFamily="18" charset="0"/>
                <a:cs typeface="Times New Roman" panose="02020603050405020304" pitchFamily="18" charset="0"/>
              </a:rPr>
              <a:t>The instance initializer block is invoked after the parent class constructor is invoked (i.e. after super() constructor call).</a:t>
            </a:r>
            <a:endParaRPr lang="en-US" b="1">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charset="0"/>
              <a:buChar char="Ø"/>
            </a:pPr>
            <a:r>
              <a:rPr lang="en-US" b="1">
                <a:latin typeface="Times New Roman" panose="02020603050405020304" pitchFamily="18" charset="0"/>
                <a:cs typeface="Times New Roman" panose="02020603050405020304" pitchFamily="18" charset="0"/>
              </a:rPr>
              <a:t>The instance initializer block comes in the order in which they appear.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Program of instance initializer block that is invoked after super()</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99415" y="1918970"/>
            <a:ext cx="83451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{System.out.println("parent class constructor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B2 extends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B2(){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System.out.println("child class constructor invoked");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{System.out.println("instance initializer block is invoked");}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B2 b=new B2();  }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Another example of instance block</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class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System.out.println("parent class constructor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B3 extends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B3(){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System.out.println("child class constructor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super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Another example of instance block</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B3(int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super();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System.out.println("child class constructor invoked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{System.out.println("instance initializer block is invoked");}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B3 b1=new B3();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B3 b2=new B3(10);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Final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The final keyword in java is used to restrict the user. The java final keyword can be used in many context. Final can be: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pPr marL="342900" indent="-342900">
              <a:buClr>
                <a:srgbClr val="FF000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variable</a:t>
            </a:r>
            <a:endParaRPr lang="en-US" b="1">
              <a:latin typeface="Times New Roman" panose="02020603050405020304" pitchFamily="18" charset="0"/>
              <a:cs typeface="Times New Roman" panose="02020603050405020304" pitchFamily="18" charset="0"/>
              <a:sym typeface="+mn-ea"/>
            </a:endParaRPr>
          </a:p>
          <a:p>
            <a:pPr marL="342900" indent="-342900">
              <a:buClr>
                <a:srgbClr val="FF000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method</a:t>
            </a:r>
            <a:endParaRPr lang="en-US" b="1">
              <a:latin typeface="Times New Roman" panose="02020603050405020304" pitchFamily="18" charset="0"/>
              <a:cs typeface="Times New Roman" panose="02020603050405020304" pitchFamily="18" charset="0"/>
              <a:sym typeface="+mn-ea"/>
            </a:endParaRPr>
          </a:p>
          <a:p>
            <a:pPr marL="342900" indent="-342900">
              <a:buClr>
                <a:srgbClr val="FF000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class</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The final keyword can be applied with the variables, a final variable that have no value it is called blank final variable or uninitialized final variable. It can be initialized in the constructor only. The blank final variable can be static also which will be initialized in the static block only.</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final variable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make any variable as final, you cannot change the value of final variable(It will be constant).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final int speedlimit=90;</a:t>
            </a:r>
            <a:r>
              <a:rPr lang="en-US" b="1">
                <a:solidFill>
                  <a:srgbClr val="00B050"/>
                </a:solidFill>
                <a:latin typeface="Times New Roman" panose="02020603050405020304" pitchFamily="18" charset="0"/>
                <a:cs typeface="Times New Roman" panose="02020603050405020304" pitchFamily="18" charset="0"/>
                <a:sym typeface="+mn-ea"/>
              </a:rPr>
              <a:t>//final variable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speedlimit=400;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Bike obj=new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Output:Compile Time Error</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final method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make any method as final, you cannot override it.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final void run(){System.out.println("running");}</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Honda extends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run()</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{System.out.println("running safely with 100kmph");}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Honda honda= new Honda();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honda.run();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Output:Compile Time Error</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final class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make any class as final, you cannot extend it.</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final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Honda1 extends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run()</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{System.out.println("running safely with 100kmph");}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Honda1 honda= new Honda1();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honda.run();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Output:Compile Time Error</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Is final method inherited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Yes, final method is inherited but you cannot override it.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final void run()</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{System.out.println("running...");}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Honda extends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new Honda().run();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 running...</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What is blank or uninitialized final variable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 final variable that is not initialized at the time of declaration is known as blank final variable.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If you want to create a variable that is initialized at the time of creating object and once initialized may not be changed, it is useful. For example PAN CARD number of an employee.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It can be initialized only in constructor.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Student{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id;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String name;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final String PAN_CARD_NUMBER;</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we initialize blank final variable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final int speedlimit;</a:t>
            </a:r>
            <a:r>
              <a:rPr lang="en-US" b="1">
                <a:solidFill>
                  <a:srgbClr val="00B050"/>
                </a:solidFill>
                <a:latin typeface="Times New Roman" panose="02020603050405020304" pitchFamily="18" charset="0"/>
                <a:cs typeface="Times New Roman" panose="02020603050405020304" pitchFamily="18" charset="0"/>
                <a:sym typeface="+mn-ea"/>
              </a:rPr>
              <a:t>//blank final variable</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speedlimit=70;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System.out.println(speedlimit);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new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static blank final variable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A static final variable that is not initialized at the time of declaration is known as static blank final variable. It can be initialized only in static block.</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final int data;</a:t>
            </a:r>
            <a:r>
              <a:rPr lang="en-US" b="1">
                <a:solidFill>
                  <a:srgbClr val="00B050"/>
                </a:solidFill>
                <a:latin typeface="Times New Roman" panose="02020603050405020304" pitchFamily="18" charset="0"/>
                <a:cs typeface="Times New Roman" panose="02020603050405020304" pitchFamily="18" charset="0"/>
                <a:sym typeface="+mn-ea"/>
              </a:rPr>
              <a:t>//static blank final variable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data=50;}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System.out.println(A.data);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What is final parameter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declare any parameter as final, you cannot change the value of it.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cube(final int 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n=n+2;</a:t>
            </a:r>
            <a:r>
              <a:rPr lang="en-US" b="1">
                <a:solidFill>
                  <a:srgbClr val="00B050"/>
                </a:solidFill>
                <a:latin typeface="Times New Roman" panose="02020603050405020304" pitchFamily="18" charset="0"/>
                <a:cs typeface="Times New Roman" panose="02020603050405020304" pitchFamily="18" charset="0"/>
                <a:sym typeface="+mn-ea"/>
              </a:rPr>
              <a:t>//can't be changed as n is final</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n*n*n;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Bike b=new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b.cube(5);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 Compile Time Error  </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95275" y="103505"/>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Final Keyword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95275" y="965835"/>
            <a:ext cx="872426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 Can we declare a constructor final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95275" y="1564005"/>
            <a:ext cx="8345170" cy="4603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No, because constructor is never inherited.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21744</Words>
  <Application>WPS Presentation</Application>
  <PresentationFormat/>
  <Paragraphs>840</Paragraphs>
  <Slides>62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62</vt:i4>
      </vt:variant>
    </vt:vector>
  </HeadingPairs>
  <TitlesOfParts>
    <vt:vector size="72" baseType="lpstr">
      <vt:lpstr>Arial</vt:lpstr>
      <vt:lpstr>SimSun</vt:lpstr>
      <vt:lpstr>Wingdings</vt:lpstr>
      <vt:lpstr>Times New Roman</vt:lpstr>
      <vt:lpstr>Impact</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375</cp:revision>
  <dcterms:created xsi:type="dcterms:W3CDTF">2001-06-04T11:43:00Z</dcterms:created>
  <dcterms:modified xsi:type="dcterms:W3CDTF">2022-02-19T03:25:47Z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28A50557906448A5B26F6D1DE90D3851</vt:lpwstr>
  </property>
</Properties>
</file>