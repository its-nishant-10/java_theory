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36"/>
  </p:handoutMasterIdLst>
  <p:sldIdLst>
    <p:sldId id="260" r:id="rId3"/>
    <p:sldId id="445" r:id="rId4"/>
    <p:sldId id="446" r:id="rId5"/>
    <p:sldId id="447" r:id="rId6"/>
    <p:sldId id="448" r:id="rId7"/>
    <p:sldId id="449" r:id="rId8"/>
    <p:sldId id="450" r:id="rId9"/>
    <p:sldId id="470" r:id="rId10"/>
    <p:sldId id="472" r:id="rId11"/>
    <p:sldId id="473" r:id="rId12"/>
    <p:sldId id="474" r:id="rId13"/>
    <p:sldId id="475" r:id="rId14"/>
    <p:sldId id="476" r:id="rId15"/>
    <p:sldId id="477" r:id="rId16"/>
    <p:sldId id="451" r:id="rId17"/>
    <p:sldId id="452" r:id="rId18"/>
    <p:sldId id="453"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469" r:id="rId3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Polymorphism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rPr>
              <a:t>Polymorphism in Java is a concept by which we can perform a single action in different ways. Polymorphism is derived from 2 Greek words: poly and morphs. The word "poly" means many and "morphs" means forms. So polymorphism means many forms.</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r>
              <a:rPr lang="en-US" b="1">
                <a:latin typeface="Times New Roman" panose="02020603050405020304" pitchFamily="18" charset="0"/>
                <a:cs typeface="Times New Roman" panose="02020603050405020304" pitchFamily="18" charset="0"/>
              </a:rPr>
              <a:t>There are two types of polymorphism in Java: compile-time polymorphism and runtime polymorphism. We can perform polymorphism in java by method overloading and method overriding.</a:t>
            </a:r>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a:p>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Polymorphism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11988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you overload a static method in Java, it is the example of compile time polymorphism. Here, we will focus on runtime polymorphism in java.</a:t>
            </a:r>
            <a:endParaRPr lang="en-US"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Runtime Polymorphism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3046095"/>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sym typeface="+mn-ea"/>
              </a:rPr>
              <a:t>Runtime polymorphism</a:t>
            </a:r>
            <a:r>
              <a:rPr lang="en-US" b="1">
                <a:latin typeface="Times New Roman" panose="02020603050405020304" pitchFamily="18" charset="0"/>
                <a:cs typeface="Times New Roman" panose="02020603050405020304" pitchFamily="18" charset="0"/>
                <a:sym typeface="+mn-ea"/>
              </a:rPr>
              <a:t> or </a:t>
            </a:r>
            <a:r>
              <a:rPr lang="en-US" b="1">
                <a:solidFill>
                  <a:srgbClr val="00B050"/>
                </a:solidFill>
                <a:latin typeface="Times New Roman" panose="02020603050405020304" pitchFamily="18" charset="0"/>
                <a:cs typeface="Times New Roman" panose="02020603050405020304" pitchFamily="18" charset="0"/>
                <a:sym typeface="+mn-ea"/>
              </a:rPr>
              <a:t>Dynamic Method Dispatch</a:t>
            </a:r>
            <a:r>
              <a:rPr lang="en-US" b="1">
                <a:latin typeface="Times New Roman" panose="02020603050405020304" pitchFamily="18" charset="0"/>
                <a:cs typeface="Times New Roman" panose="02020603050405020304" pitchFamily="18" charset="0"/>
                <a:sym typeface="+mn-ea"/>
              </a:rPr>
              <a:t> is a process in which a call to an overridden method is resolved at runtime rather than compile-time.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 this process, an overridden method is called through the reference variable of a superclass. The determination of the method to be called is based on the object being referred to by the reference variable.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Runtime Polymorphism in Java</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3046095"/>
          </a:xfrm>
          <a:prstGeom prst="rect">
            <a:avLst/>
          </a:prstGeom>
          <a:noFill/>
        </p:spPr>
        <p:txBody>
          <a:bodyPr wrap="square" rtlCol="0" anchor="t">
            <a:spAutoFit/>
          </a:bodyPr>
          <a:p>
            <a:r>
              <a:rPr lang="en-US" b="1">
                <a:solidFill>
                  <a:srgbClr val="00B050"/>
                </a:solidFill>
                <a:latin typeface="Times New Roman" panose="02020603050405020304" pitchFamily="18" charset="0"/>
                <a:cs typeface="Times New Roman" panose="02020603050405020304" pitchFamily="18" charset="0"/>
                <a:sym typeface="+mn-ea"/>
              </a:rPr>
              <a:t>Runtime polymorphism</a:t>
            </a:r>
            <a:r>
              <a:rPr lang="en-US" b="1">
                <a:latin typeface="Times New Roman" panose="02020603050405020304" pitchFamily="18" charset="0"/>
                <a:cs typeface="Times New Roman" panose="02020603050405020304" pitchFamily="18" charset="0"/>
                <a:sym typeface="+mn-ea"/>
              </a:rPr>
              <a:t> or </a:t>
            </a:r>
            <a:r>
              <a:rPr lang="en-US" b="1">
                <a:solidFill>
                  <a:srgbClr val="00B050"/>
                </a:solidFill>
                <a:latin typeface="Times New Roman" panose="02020603050405020304" pitchFamily="18" charset="0"/>
                <a:cs typeface="Times New Roman" panose="02020603050405020304" pitchFamily="18" charset="0"/>
                <a:sym typeface="+mn-ea"/>
              </a:rPr>
              <a:t>Dynamic Method Dispatch</a:t>
            </a:r>
            <a:r>
              <a:rPr lang="en-US" b="1">
                <a:latin typeface="Times New Roman" panose="02020603050405020304" pitchFamily="18" charset="0"/>
                <a:cs typeface="Times New Roman" panose="02020603050405020304" pitchFamily="18" charset="0"/>
                <a:sym typeface="+mn-ea"/>
              </a:rPr>
              <a:t> is a process in which a call to an overridden method is resolved at runtime rather than compile-time.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In this process, an overridden method is called through the reference variable of a superclass. The determination of the method to be called is based on the object being referred to by the reference variable.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Upcasting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119888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If the reference variable of Parent class refers to the object of Child class, it is known as upcasting. For example:</a:t>
            </a:r>
            <a:endParaRPr lang="en-US" b="1">
              <a:latin typeface="Times New Roman" panose="02020603050405020304" pitchFamily="18" charset="0"/>
              <a:cs typeface="Times New Roman" panose="02020603050405020304" pitchFamily="18" charset="0"/>
              <a:sym typeface="+mn-ea"/>
            </a:endParaRPr>
          </a:p>
        </p:txBody>
      </p:sp>
      <p:pic>
        <p:nvPicPr>
          <p:cNvPr id="4" name="Picture 3" descr="upcasting-1"/>
          <p:cNvPicPr>
            <a:picLocks noChangeAspect="1"/>
          </p:cNvPicPr>
          <p:nvPr/>
        </p:nvPicPr>
        <p:blipFill>
          <a:blip r:embed="rId1"/>
          <a:stretch>
            <a:fillRect/>
          </a:stretch>
        </p:blipFill>
        <p:spPr>
          <a:xfrm>
            <a:off x="1187450" y="3735070"/>
            <a:ext cx="5262880" cy="22186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Upcasting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156845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 extends A{}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 a=new B();</a:t>
            </a:r>
            <a:r>
              <a:rPr lang="en-US" b="1">
                <a:solidFill>
                  <a:srgbClr val="00B050"/>
                </a:solidFill>
                <a:latin typeface="Times New Roman" panose="02020603050405020304" pitchFamily="18" charset="0"/>
                <a:cs typeface="Times New Roman" panose="02020603050405020304" pitchFamily="18" charset="0"/>
                <a:sym typeface="+mn-ea"/>
              </a:rPr>
              <a:t>//upcasting</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7857490"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Example of Java Runtime Polymorphism</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265680"/>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run(){System.out.println("running");}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Splendor extends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run()</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{System.out.println("running safely with 60km");}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Bike b = new Splendor();</a:t>
            </a:r>
            <a:r>
              <a:rPr lang="en-US" b="1">
                <a:solidFill>
                  <a:srgbClr val="00B050"/>
                </a:solidFill>
                <a:latin typeface="Times New Roman" panose="02020603050405020304" pitchFamily="18" charset="0"/>
                <a:cs typeface="Times New Roman" panose="02020603050405020304" pitchFamily="18" charset="0"/>
                <a:sym typeface="+mn-ea"/>
              </a:rPr>
              <a:t>//upcasting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b.run();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Bank</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Consider a scenario where Bank is a class that provides a method to get the rate of interest. However, the rate of interest may differ according to banks. For example, SBI, ICICI, and AXIS banks are providing 8.4%, 7.3%, and 9.7% rate of interest.</a:t>
            </a:r>
            <a:endParaRPr lang="en-US" b="1">
              <a:latin typeface="Times New Roman" panose="02020603050405020304" pitchFamily="18" charset="0"/>
              <a:cs typeface="Times New Roman" panose="02020603050405020304" pitchFamily="18" charset="0"/>
              <a:sym typeface="+mn-ea"/>
            </a:endParaRPr>
          </a:p>
        </p:txBody>
      </p:sp>
      <p:pic>
        <p:nvPicPr>
          <p:cNvPr id="4" name="Picture 3" descr="bankinheritance"/>
          <p:cNvPicPr>
            <a:picLocks noChangeAspect="1"/>
          </p:cNvPicPr>
          <p:nvPr/>
        </p:nvPicPr>
        <p:blipFill>
          <a:blip r:embed="rId1"/>
          <a:stretch>
            <a:fillRect/>
          </a:stretch>
        </p:blipFill>
        <p:spPr>
          <a:xfrm>
            <a:off x="519430" y="4010025"/>
            <a:ext cx="7626985" cy="2491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Bank</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lass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float getRateOfInterest(){return 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SBI extends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float getRateOfInterest(){return 8.4f;}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ICICI extends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float getRateOfInterest(){return 7.3f;}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AXIS extends Bank{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float getRateOfInterest(){return 9.7f;}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Bank</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TestPolymorphism{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Bank b;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b=new SBI();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System.out.println("SBI Rate of Interest: "+b.getRateOfInterest());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b=new ICICI();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System.out.println("ICICI Rate of Interest: "+b.getRateOfInterest());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b=new AXIS();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System.out.println("AXIS Rate of Interest: "+b.getRateOfInterest());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Shape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Shape{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draw(){System.out.println("drawing...");}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Rectangle extends Shape{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draw(){System.out.println("drawing rectangle...");}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Circle extends Shape{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draw(){System.out.println("drawing circle...");}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Triangle extends Shape{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draw(){System.out.println("drawing triangle...");}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Shape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TestPolymorphism</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Shape 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s=new Rectangle();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s=new Circle();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s=new Triangle();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s.draw();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Animal</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eat(){System.out.println("eating...");}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Dog extends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eat(){System.out.println("eating bread...");}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Cat extends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eat(){System.out.println("eating rat...");}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class Lion extends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void eat(){System.out.println("eating meat...");}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965" y="1239520"/>
            <a:ext cx="785749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Example: Animal</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872615"/>
            <a:ext cx="7725410"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TestPolymorphism</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Animal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a=new 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a=new Cat();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a=new Lion();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85610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with Data Member</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A method is overridden, not the data members, so runtime polymorphism can't be achieved by data members.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speedlimit=90;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Honda extends Bike{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speedlimit=150;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Bike obj=new Honda();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System.out.println(obj.speedlimit);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138430" y="1436370"/>
            <a:ext cx="895413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with Multilevel Inheritance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415417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Animal</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eat()</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{System.out.println("eating");}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Dog extends Animal</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eat()</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{System.out.println("eating fruits");}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138430" y="1436370"/>
            <a:ext cx="895413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with Multilevel Inheritance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class BabyDog extends Dog</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eat()</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{System.out.println("drinking milk");}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Animal a1,a2,a3;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a1=new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a2=new 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a3=new BabyDog();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a1.eat();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a2.eat();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a3.eat();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138430" y="1436370"/>
            <a:ext cx="895413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with Multilevel Inheritance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1938020"/>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Output:</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eating</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eating fruits</a:t>
            </a:r>
            <a:endParaRPr lang="en-US" b="1">
              <a:solidFill>
                <a:srgbClr val="00B050"/>
              </a:solidFill>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drinking Milk</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138430" y="1436370"/>
            <a:ext cx="8954135"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Runtime Polymorphism with Multilevel Inheritance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452310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eat(){System.out.println("animal is eating...");}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Dog extends Animal{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void eat(){System.out.println("dog is eating...");}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BabyDog extends 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Animal a=new BabyDog();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a.eat();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solidFill>
                  <a:srgbClr val="00B050"/>
                </a:solidFill>
                <a:latin typeface="Times New Roman" panose="02020603050405020304" pitchFamily="18" charset="0"/>
                <a:cs typeface="Times New Roman" panose="02020603050405020304" pitchFamily="18" charset="0"/>
                <a:sym typeface="+mn-ea"/>
              </a:rPr>
              <a:t>Output:Dog is eating</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93395" y="1436370"/>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Static Binding and Dynamic Binding</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30460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Connecting a method call to the method body is known as binding.</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There are two types of binding</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Static binding (also known as early binding).</a:t>
            </a: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endParaRPr lang="en-US" b="1">
              <a:latin typeface="Times New Roman" panose="02020603050405020304" pitchFamily="18" charset="0"/>
              <a:cs typeface="Times New Roman" panose="02020603050405020304" pitchFamily="18" charset="0"/>
              <a:sym typeface="+mn-ea"/>
            </a:endParaRPr>
          </a:p>
          <a:p>
            <a:pPr marL="342900" indent="-342900">
              <a:buFont typeface="Wingdings" panose="05000000000000000000" charset="0"/>
              <a:buChar char="Ø"/>
            </a:pPr>
            <a:r>
              <a:rPr lang="en-US" b="1">
                <a:latin typeface="Times New Roman" panose="02020603050405020304" pitchFamily="18" charset="0"/>
                <a:cs typeface="Times New Roman" panose="02020603050405020304" pitchFamily="18" charset="0"/>
                <a:sym typeface="+mn-ea"/>
              </a:rPr>
              <a:t>    Dynamic binding (also known as late binding).</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93395" y="1436370"/>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Understanding Type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87880"/>
            <a:ext cx="7725410" cy="384619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Let's understand the type of instance.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sz="2800" b="1">
                <a:solidFill>
                  <a:srgbClr val="00B050"/>
                </a:solidFill>
                <a:latin typeface="Times New Roman" panose="02020603050405020304" pitchFamily="18" charset="0"/>
                <a:cs typeface="Times New Roman" panose="02020603050405020304" pitchFamily="18" charset="0"/>
                <a:sym typeface="+mn-ea"/>
              </a:rPr>
              <a:t>1) variables have a type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Each variable has a type, it may be primitive and non-primitive.</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int data=30;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Here data variable is a type of int.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93395" y="1436370"/>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Understanding Type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78355"/>
            <a:ext cx="7725410" cy="3476625"/>
          </a:xfrm>
          <a:prstGeom prst="rect">
            <a:avLst/>
          </a:prstGeom>
          <a:noFill/>
        </p:spPr>
        <p:txBody>
          <a:bodyPr wrap="square" rtlCol="0" anchor="t">
            <a:spAutoFit/>
          </a:bodyPr>
          <a:p>
            <a:r>
              <a:rPr lang="en-US" sz="2800" b="1">
                <a:solidFill>
                  <a:srgbClr val="00B050"/>
                </a:solidFill>
                <a:latin typeface="Times New Roman" panose="02020603050405020304" pitchFamily="18" charset="0"/>
                <a:cs typeface="Times New Roman" panose="02020603050405020304" pitchFamily="18" charset="0"/>
                <a:sym typeface="+mn-ea"/>
              </a:rPr>
              <a:t>2) References have a type :</a:t>
            </a:r>
            <a:endParaRPr lang="en-US" b="1">
              <a:latin typeface="Times New Roman" panose="02020603050405020304" pitchFamily="18" charset="0"/>
              <a:cs typeface="Times New Roman" panose="02020603050405020304" pitchFamily="18" charset="0"/>
              <a:sym typeface="+mn-ea"/>
            </a:endParaRPr>
          </a:p>
          <a:p>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main(String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Dog d1;</a:t>
            </a:r>
            <a:r>
              <a:rPr lang="en-US" b="1">
                <a:solidFill>
                  <a:srgbClr val="00B050"/>
                </a:solidFill>
                <a:latin typeface="Times New Roman" panose="02020603050405020304" pitchFamily="18" charset="0"/>
                <a:cs typeface="Times New Roman" panose="02020603050405020304" pitchFamily="18" charset="0"/>
                <a:sym typeface="+mn-ea"/>
              </a:rPr>
              <a:t>//Here d1 is a type of 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Understanding Type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797050"/>
            <a:ext cx="7725410" cy="5015865"/>
          </a:xfrm>
          <a:prstGeom prst="rect">
            <a:avLst/>
          </a:prstGeom>
          <a:noFill/>
        </p:spPr>
        <p:txBody>
          <a:bodyPr wrap="square" rtlCol="0" anchor="t">
            <a:spAutoFit/>
          </a:bodyPr>
          <a:p>
            <a:r>
              <a:rPr lang="en-US" sz="2800" b="1">
                <a:solidFill>
                  <a:srgbClr val="00B050"/>
                </a:solidFill>
                <a:latin typeface="Times New Roman" panose="02020603050405020304" pitchFamily="18" charset="0"/>
                <a:cs typeface="Times New Roman" panose="02020603050405020304" pitchFamily="18" charset="0"/>
                <a:sym typeface="+mn-ea"/>
              </a:rPr>
              <a:t>3) Objects have a type :</a:t>
            </a:r>
            <a:endParaRPr lang="en-US" sz="2800" b="1">
              <a:solidFill>
                <a:srgbClr val="00B050"/>
              </a:solidFill>
              <a:latin typeface="Times New Roman" panose="02020603050405020304" pitchFamily="18" charset="0"/>
              <a:cs typeface="Times New Roman" panose="02020603050405020304" pitchFamily="18" charset="0"/>
              <a:sym typeface="+mn-ea"/>
            </a:endParaRPr>
          </a:p>
          <a:p>
            <a:endParaRPr lang="en-US" sz="2800" b="1">
              <a:solidFill>
                <a:srgbClr val="00B050"/>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An object is an instance of particular java class,but it is also an instance of its superclass.</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Dog extends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d1=new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Here d1 is an instance of Dog class, but it is also an instance of Animal.</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static binding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797050"/>
            <a:ext cx="7725410"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When type of the object is determined at compiled time(by the compiler), it is known as static binding.</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If there is any private, final or static method in a class, there is static binding.</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private void eat()</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{System.out.println("dog is eating...");}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d1=new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d1.eat();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Dynamic binding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797050"/>
            <a:ext cx="7725410"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When type of the object is determined at run-time, it is known as dynamic binding.</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void eat()</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{System.out.println("animal is eating...");}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Dog extends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void eat(){System.out.println("dog is eating...");}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Animal a=new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a.eat();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Dynamic binding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797050"/>
            <a:ext cx="7725410" cy="156845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In the previous example object type cannot be determined by the compiler, because the instance of Dog is also an instance of Animal.So compiler doesn't know its type, only its base type.</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instanceof </a:t>
            </a:r>
            <a:r>
              <a:rPr lang="en-US" sz="2800" b="1">
                <a:solidFill>
                  <a:srgbClr val="C00000"/>
                </a:solidFill>
                <a:latin typeface="Times New Roman" panose="02020603050405020304" pitchFamily="18" charset="0"/>
                <a:cs typeface="Times New Roman" panose="02020603050405020304" pitchFamily="18" charset="0"/>
                <a:sym typeface="+mn-ea"/>
              </a:rPr>
              <a:t>operator</a:t>
            </a:r>
            <a:r>
              <a:rPr lang="en-US" sz="2800" b="1">
                <a:solidFill>
                  <a:srgbClr val="C00000"/>
                </a:solidFill>
                <a:latin typeface="Times New Roman" panose="02020603050405020304" pitchFamily="18" charset="0"/>
                <a:cs typeface="Times New Roman" panose="02020603050405020304" pitchFamily="18" charset="0"/>
              </a:rPr>
              <a: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1797050"/>
            <a:ext cx="7725410" cy="341503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The java instanceof operator is used to test whether the object is an instance of the specified type (class or subclass or interface).</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The instanceof in java is also known as type comparison operator because it compares the instance with type. It returns either true or false. If we apply the instanceof operator with any variable that has null value, it returns false.</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instanceof </a:t>
            </a:r>
            <a:r>
              <a:rPr lang="en-US" sz="2800" b="1">
                <a:solidFill>
                  <a:srgbClr val="C00000"/>
                </a:solidFill>
                <a:latin typeface="Times New Roman" panose="02020603050405020304" pitchFamily="18" charset="0"/>
                <a:cs typeface="Times New Roman" panose="02020603050405020304" pitchFamily="18" charset="0"/>
                <a:sym typeface="+mn-ea"/>
              </a:rPr>
              <a:t>operator</a:t>
            </a:r>
            <a:r>
              <a:rPr lang="en-US" sz="2800" b="1">
                <a:solidFill>
                  <a:srgbClr val="C00000"/>
                </a:solidFill>
                <a:latin typeface="Times New Roman" panose="02020603050405020304" pitchFamily="18" charset="0"/>
                <a:cs typeface="Times New Roman" panose="02020603050405020304" pitchFamily="18" charset="0"/>
              </a:rPr>
              <a: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514985" y="2096770"/>
            <a:ext cx="7725410" cy="304609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class Simple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Simple s=new Simple();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System.out.println(s instanceof Simple);</a:t>
            </a:r>
            <a:r>
              <a:rPr lang="en-US" b="1">
                <a:solidFill>
                  <a:srgbClr val="00B050"/>
                </a:solidFill>
                <a:latin typeface="Times New Roman" panose="02020603050405020304" pitchFamily="18" charset="0"/>
                <a:cs typeface="Times New Roman" panose="02020603050405020304" pitchFamily="18" charset="0"/>
                <a:sym typeface="+mn-ea"/>
              </a:rPr>
              <a:t>//true </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Java instanceof </a:t>
            </a:r>
            <a:r>
              <a:rPr lang="en-US" sz="2800" b="1">
                <a:solidFill>
                  <a:srgbClr val="C00000"/>
                </a:solidFill>
                <a:latin typeface="Times New Roman" panose="02020603050405020304" pitchFamily="18" charset="0"/>
                <a:cs typeface="Times New Roman" panose="02020603050405020304" pitchFamily="18" charset="0"/>
                <a:sym typeface="+mn-ea"/>
              </a:rPr>
              <a:t>operator</a:t>
            </a:r>
            <a:r>
              <a:rPr lang="en-US" sz="2800" b="1">
                <a:solidFill>
                  <a:srgbClr val="C00000"/>
                </a:solidFill>
                <a:latin typeface="Times New Roman" panose="02020603050405020304" pitchFamily="18" charset="0"/>
                <a:cs typeface="Times New Roman" panose="02020603050405020304" pitchFamily="18" charset="0"/>
              </a:rPr>
              <a:t>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514985" y="2096770"/>
            <a:ext cx="7725410" cy="4154170"/>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class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Dog extends Animal</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//Dog inherits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d=new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System.out.println(d instanceof Animal);</a:t>
            </a:r>
            <a:r>
              <a:rPr lang="en-US" b="1">
                <a:solidFill>
                  <a:srgbClr val="00B050"/>
                </a:solidFill>
                <a:latin typeface="Times New Roman" panose="02020603050405020304" pitchFamily="18" charset="0"/>
                <a:cs typeface="Times New Roman" panose="02020603050405020304" pitchFamily="18" charset="0"/>
                <a:sym typeface="+mn-ea"/>
              </a:rPr>
              <a:t>//true </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instanceof in java with a variable that have null value</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514985" y="2096770"/>
            <a:ext cx="7725410" cy="304609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class Dog</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main(String args[])</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d=null;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System.out.println(d instanceof Dog);</a:t>
            </a:r>
            <a:r>
              <a:rPr lang="en-US" b="1">
                <a:solidFill>
                  <a:srgbClr val="00B050"/>
                </a:solidFill>
                <a:latin typeface="Times New Roman" panose="02020603050405020304" pitchFamily="18" charset="0"/>
                <a:cs typeface="Times New Roman" panose="02020603050405020304" pitchFamily="18" charset="0"/>
                <a:sym typeface="+mn-ea"/>
              </a:rPr>
              <a:t>//false </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Downcasting with java instanceof operator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68300" y="1891030"/>
            <a:ext cx="8482965" cy="489267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When Subclass type refers to the object of Parent class, it is known as downcasting. If we perform it directly, compiler gives Compilation error. If you perform it by typecasting, ClassCastException is thrown at runtime. But if we use instanceof operator, downcasting is possible.</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d=new Animal();</a:t>
            </a:r>
            <a:r>
              <a:rPr lang="en-US" b="1">
                <a:solidFill>
                  <a:srgbClr val="00B050"/>
                </a:solidFill>
                <a:latin typeface="Times New Roman" panose="02020603050405020304" pitchFamily="18" charset="0"/>
                <a:cs typeface="Times New Roman" panose="02020603050405020304" pitchFamily="18" charset="0"/>
                <a:sym typeface="+mn-ea"/>
              </a:rPr>
              <a:t>//Compilation error </a:t>
            </a:r>
            <a:r>
              <a:rPr lang="en-US" b="1">
                <a:solidFill>
                  <a:schemeClr val="tx1"/>
                </a:solidFill>
                <a:latin typeface="Times New Roman" panose="02020603050405020304" pitchFamily="18" charset="0"/>
                <a:cs typeface="Times New Roman" panose="02020603050405020304" pitchFamily="18" charset="0"/>
                <a:sym typeface="+mn-ea"/>
              </a:rPr>
              <a:t> </a:t>
            </a:r>
            <a:endParaRPr lang="en-US" b="1">
              <a:solidFill>
                <a:schemeClr val="tx1"/>
              </a:solidFill>
              <a:latin typeface="Times New Roman" panose="02020603050405020304" pitchFamily="18" charset="0"/>
              <a:cs typeface="Times New Roman" panose="02020603050405020304" pitchFamily="18" charset="0"/>
              <a:sym typeface="+mn-ea"/>
            </a:endParaRPr>
          </a:p>
          <a:p>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If we perform downcasting by typecasting, ClassCastException is thrown at runtime.</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d=(Dog)new Animal();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t>
            </a:r>
            <a:r>
              <a:rPr lang="en-US" b="1">
                <a:solidFill>
                  <a:srgbClr val="00B050"/>
                </a:solidFill>
                <a:latin typeface="Times New Roman" panose="02020603050405020304" pitchFamily="18" charset="0"/>
                <a:cs typeface="Times New Roman" panose="02020603050405020304" pitchFamily="18" charset="0"/>
                <a:sym typeface="+mn-ea"/>
              </a:rPr>
              <a:t>//Compiles successfully but ClassCastException is thrown at runtime </a:t>
            </a:r>
            <a:endParaRPr lang="en-US" b="1">
              <a:solidFill>
                <a:srgbClr val="00B05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Possibility of downcasting with instanceof :</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68300" y="1891030"/>
            <a:ext cx="8482965" cy="4523105"/>
          </a:xfrm>
          <a:prstGeom prst="rect">
            <a:avLst/>
          </a:prstGeom>
          <a:noFill/>
        </p:spPr>
        <p:txBody>
          <a:bodyPr wrap="square" rtlCol="0" anchor="t">
            <a:spAutoFit/>
          </a:bodyPr>
          <a:p>
            <a:r>
              <a:rPr lang="en-US" b="1">
                <a:solidFill>
                  <a:schemeClr val="tx1"/>
                </a:solidFill>
                <a:latin typeface="Times New Roman" panose="02020603050405020304" pitchFamily="18" charset="0"/>
                <a:cs typeface="Times New Roman" panose="02020603050405020304" pitchFamily="18" charset="0"/>
                <a:sym typeface="+mn-ea"/>
              </a:rPr>
              <a:t>    class Animal {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class Dog extends Animal</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static void method(Animal a)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if(a instanceof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 d=(Dog)a;</a:t>
            </a:r>
            <a:r>
              <a:rPr lang="en-US" b="1">
                <a:solidFill>
                  <a:srgbClr val="00B050"/>
                </a:solidFill>
                <a:latin typeface="Times New Roman" panose="02020603050405020304" pitchFamily="18" charset="0"/>
                <a:cs typeface="Times New Roman" panose="02020603050405020304" pitchFamily="18" charset="0"/>
                <a:sym typeface="+mn-ea"/>
              </a:rPr>
              <a:t>//downcasting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System.out.println("ok downcasting performed");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public static void main (String [] args) {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Animal a=new Dog();  </a:t>
            </a:r>
            <a:endParaRPr lang="en-US" b="1">
              <a:solidFill>
                <a:schemeClr val="tx1"/>
              </a:solidFill>
              <a:latin typeface="Times New Roman" panose="02020603050405020304" pitchFamily="18" charset="0"/>
              <a:cs typeface="Times New Roman" panose="02020603050405020304" pitchFamily="18" charset="0"/>
              <a:sym typeface="+mn-ea"/>
            </a:endParaRPr>
          </a:p>
          <a:p>
            <a:r>
              <a:rPr lang="en-US" b="1">
                <a:solidFill>
                  <a:schemeClr val="tx1"/>
                </a:solidFill>
                <a:latin typeface="Times New Roman" panose="02020603050405020304" pitchFamily="18" charset="0"/>
                <a:cs typeface="Times New Roman" panose="02020603050405020304" pitchFamily="18" charset="0"/>
                <a:sym typeface="+mn-ea"/>
              </a:rPr>
              <a:t>        Dog.method(a);  }   }  </a:t>
            </a:r>
            <a:endParaRPr lang="en-US" b="1">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Polymorphism in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16230" y="1205865"/>
            <a:ext cx="8599170" cy="521970"/>
          </a:xfrm>
          <a:prstGeom prst="rect">
            <a:avLst/>
          </a:prstGeom>
          <a:noFill/>
        </p:spPr>
        <p:txBody>
          <a:bodyPr wrap="square" rtlCol="0" anchor="t">
            <a:spAutoFit/>
          </a:bodyPr>
          <a:p>
            <a:r>
              <a:rPr lang="en-US" sz="2800" b="1">
                <a:solidFill>
                  <a:srgbClr val="C00000"/>
                </a:solidFill>
                <a:latin typeface="Times New Roman" panose="02020603050405020304" pitchFamily="18" charset="0"/>
                <a:cs typeface="Times New Roman" panose="02020603050405020304" pitchFamily="18" charset="0"/>
              </a:rPr>
              <a:t>Downcasting without the use of java instanceof</a:t>
            </a:r>
            <a:endParaRPr lang="en-US" sz="28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368300" y="1891030"/>
            <a:ext cx="8482965" cy="4892675"/>
          </a:xfrm>
          <a:prstGeom prst="rect">
            <a:avLst/>
          </a:prstGeom>
          <a:noFill/>
        </p:spPr>
        <p:txBody>
          <a:bodyPr wrap="square" rtlCol="0" anchor="t">
            <a:spAutoFit/>
          </a:bodyPr>
          <a:p>
            <a:r>
              <a:rPr lang="en-US" b="1">
                <a:latin typeface="Times New Roman" panose="02020603050405020304" pitchFamily="18" charset="0"/>
                <a:cs typeface="Times New Roman" panose="02020603050405020304" pitchFamily="18" charset="0"/>
                <a:sym typeface="+mn-ea"/>
              </a:rPr>
              <a:t>    class Animal {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class Dog extends Animal</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static void method(Animal 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Dog d=(Dog)a;</a:t>
            </a:r>
            <a:r>
              <a:rPr lang="en-US" b="1">
                <a:solidFill>
                  <a:srgbClr val="00B050"/>
                </a:solidFill>
                <a:latin typeface="Times New Roman" panose="02020603050405020304" pitchFamily="18" charset="0"/>
                <a:cs typeface="Times New Roman" panose="02020603050405020304" pitchFamily="18" charset="0"/>
                <a:sym typeface="+mn-ea"/>
              </a:rPr>
              <a:t>//downcasting</a:t>
            </a:r>
            <a:r>
              <a:rPr lang="en-US" b="1">
                <a:latin typeface="Times New Roman" panose="02020603050405020304" pitchFamily="18" charset="0"/>
                <a:cs typeface="Times New Roman" panose="02020603050405020304" pitchFamily="18" charset="0"/>
                <a:sym typeface="+mn-ea"/>
              </a:rPr>
              <a:t>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System.out.println("ok downcasting performed");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public static void main (String [] args)</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Animal a=new Dog();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Dog.method(a);  </a:t>
            </a:r>
            <a:endParaRPr lang="en-US" b="1">
              <a:latin typeface="Times New Roman" panose="02020603050405020304" pitchFamily="18" charset="0"/>
              <a:cs typeface="Times New Roman" panose="02020603050405020304" pitchFamily="18" charset="0"/>
              <a:sym typeface="+mn-ea"/>
            </a:endParaRPr>
          </a:p>
          <a:p>
            <a:r>
              <a:rPr lang="en-US" b="1">
                <a:latin typeface="Times New Roman" panose="02020603050405020304" pitchFamily="18" charset="0"/>
                <a:cs typeface="Times New Roman" panose="02020603050405020304" pitchFamily="18" charset="0"/>
                <a:sym typeface="+mn-ea"/>
              </a:rPr>
              <a:t>          }}  </a:t>
            </a:r>
            <a:endParaRPr lang="en-US" b="1">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10765</Words>
  <Application>WPS Presentation</Application>
  <PresentationFormat/>
  <Paragraphs>439</Paragraphs>
  <Slides>33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33</vt:i4>
      </vt:variant>
    </vt:vector>
  </HeadingPairs>
  <TitlesOfParts>
    <vt:vector size="43" baseType="lpstr">
      <vt:lpstr>Arial</vt:lpstr>
      <vt:lpstr>SimSun</vt:lpstr>
      <vt:lpstr>Wingdings</vt:lpstr>
      <vt:lpstr>Impact</vt:lpstr>
      <vt:lpstr>Times New Roman</vt:lpstr>
      <vt:lpstr>Microsoft YaHei</vt:lpstr>
      <vt:lpstr>Arial Unicode MS</vt:lpstr>
      <vt:lpstr>Calibri</vt:lpstr>
      <vt:lpstr>Wingdings</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373</cp:revision>
  <dcterms:created xsi:type="dcterms:W3CDTF">2001-06-04T11:43:00Z</dcterms:created>
  <dcterms:modified xsi:type="dcterms:W3CDTF">2018-08-27T08:09:31Z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1033-10.2.0.7456</vt:lpwstr>
  </property>
</Properties>
</file>